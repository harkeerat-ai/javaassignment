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37.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36.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ink/ink1.xml" ContentType="application/inkml+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62" r:id="rId3"/>
    <p:sldId id="257" r:id="rId4"/>
    <p:sldId id="258" r:id="rId5"/>
    <p:sldId id="259" r:id="rId6"/>
    <p:sldId id="260" r:id="rId7"/>
    <p:sldId id="261" r:id="rId8"/>
    <p:sldId id="307" r:id="rId9"/>
    <p:sldId id="308" r:id="rId10"/>
    <p:sldId id="309" r:id="rId11"/>
    <p:sldId id="270" r:id="rId12"/>
    <p:sldId id="271" r:id="rId13"/>
    <p:sldId id="272" r:id="rId14"/>
    <p:sldId id="273" r:id="rId15"/>
    <p:sldId id="315" r:id="rId16"/>
    <p:sldId id="316" r:id="rId17"/>
    <p:sldId id="274" r:id="rId18"/>
    <p:sldId id="275" r:id="rId19"/>
    <p:sldId id="276" r:id="rId20"/>
    <p:sldId id="277" r:id="rId21"/>
    <p:sldId id="278" r:id="rId22"/>
    <p:sldId id="310" r:id="rId23"/>
    <p:sldId id="282" r:id="rId24"/>
    <p:sldId id="283" r:id="rId25"/>
    <p:sldId id="322" r:id="rId26"/>
    <p:sldId id="323" r:id="rId27"/>
    <p:sldId id="324" r:id="rId28"/>
    <p:sldId id="286" r:id="rId29"/>
    <p:sldId id="311" r:id="rId30"/>
    <p:sldId id="287" r:id="rId31"/>
    <p:sldId id="317" r:id="rId32"/>
    <p:sldId id="318" r:id="rId33"/>
    <p:sldId id="319" r:id="rId34"/>
    <p:sldId id="320" r:id="rId35"/>
    <p:sldId id="321" r:id="rId36"/>
    <p:sldId id="312" r:id="rId37"/>
    <p:sldId id="327" r:id="rId38"/>
    <p:sldId id="288" r:id="rId39"/>
    <p:sldId id="326" r:id="rId40"/>
    <p:sldId id="289" r:id="rId41"/>
    <p:sldId id="290" r:id="rId42"/>
    <p:sldId id="291" r:id="rId43"/>
    <p:sldId id="292" r:id="rId44"/>
    <p:sldId id="293" r:id="rId45"/>
    <p:sldId id="295" r:id="rId46"/>
    <p:sldId id="328" r:id="rId47"/>
    <p:sldId id="298" r:id="rId48"/>
    <p:sldId id="306" r:id="rId49"/>
    <p:sldId id="330" r:id="rId50"/>
    <p:sldId id="331"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05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openxmlformats.org/officeDocument/2006/relationships/customXml" Target="../customXml/item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wmf"/></Relationships>
</file>

<file path=ppt/ink/ink1.xml><?xml version="1.0" encoding="utf-8"?>
<inkml:ink xmlns:inkml="http://www.w3.org/2003/InkML">
  <inkml:definitions>
    <inkml:context xml:id="ctx0">
      <inkml:inkSource xml:id="inkSrc0">
        <inkml:traceFormat>
          <inkml:channel name="X" type="integer" max="1280" units="cm"/>
          <inkml:channel name="Y" type="integer" max="800" units="cm"/>
        </inkml:traceFormat>
        <inkml:channelProperties>
          <inkml:channelProperty channel="X" name="resolution" value="28.31858" units="1/cm"/>
          <inkml:channelProperty channel="Y" name="resolution" value="28.36879" units="1/cm"/>
        </inkml:channelProperties>
      </inkml:inkSource>
      <inkml:timestamp xml:id="ts0" timeString="2009-01-05T01:33:48.471"/>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5FF54BE-3EFF-459B-A526-96D11C80BC8B}" type="datetimeFigureOut">
              <a:rPr lang="en-US" smtClean="0"/>
              <a:pPr/>
              <a:t>7/24/2026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B51793-181B-476E-8A15-973FAFEF184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446683DF-F841-4C4C-B64F-6918E8648CBD}" type="slidenum">
              <a:rPr lang="en-US"/>
              <a:pPr/>
              <a:t>8</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en-US" sz="140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707B062A-0004-4778-A850-6E4FE1EDAD65}" type="slidenum">
              <a:rPr lang="en-US"/>
              <a:pPr/>
              <a:t>9</a:t>
            </a:fld>
            <a:endParaRPr lang="en-US"/>
          </a:p>
        </p:txBody>
      </p:sp>
      <p:sp>
        <p:nvSpPr>
          <p:cNvPr id="37891" name="Rectangle 1026"/>
          <p:cNvSpPr>
            <a:spLocks noGrp="1" noRot="1" noChangeAspect="1" noChangeArrowheads="1" noTextEdit="1"/>
          </p:cNvSpPr>
          <p:nvPr>
            <p:ph type="sldImg"/>
          </p:nvPr>
        </p:nvSpPr>
        <p:spPr>
          <a:ln/>
        </p:spPr>
      </p:sp>
      <p:sp>
        <p:nvSpPr>
          <p:cNvPr id="37892" name="Rectangle 1027"/>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8A3B361E-DF6A-4EC1-B0FC-E5862E65327C}" type="slidenum">
              <a:rPr lang="en-US"/>
              <a:pPr/>
              <a:t>10</a:t>
            </a:fld>
            <a:endParaRPr lang="en-US"/>
          </a:p>
        </p:txBody>
      </p:sp>
      <p:sp>
        <p:nvSpPr>
          <p:cNvPr id="36867" name="Rectangle 2"/>
          <p:cNvSpPr>
            <a:spLocks noGrp="1" noRot="1" noChangeAspect="1" noChangeArrowheads="1" noTextEdit="1"/>
          </p:cNvSpPr>
          <p:nvPr>
            <p:ph type="sldImg"/>
          </p:nvPr>
        </p:nvSpPr>
        <p:spPr>
          <a:solidFill>
            <a:srgbClr val="FFFFFF"/>
          </a:solidFill>
          <a:ln/>
        </p:spPr>
      </p:sp>
      <p:sp>
        <p:nvSpPr>
          <p:cNvPr id="36868"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sz="1300" smtClean="0"/>
              <a:t>A difference in return type alone is not sufficient to constitute an overload. It then becomes illegal.</a:t>
            </a:r>
          </a:p>
          <a:p>
            <a:pPr eaLnBrk="1" hangingPunct="1"/>
            <a:r>
              <a:rPr lang="en-US" sz="1300" smtClean="0"/>
              <a:t>The method calls are resolved at compile time using the method signature.</a:t>
            </a:r>
          </a:p>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FC86BCE-0034-463B-845C-51477E525134}" type="slidenum">
              <a:rPr lang="en-US" smtClean="0">
                <a:latin typeface="Arial" pitchFamily="34" charset="0"/>
                <a:cs typeface="Arial" pitchFamily="34" charset="0"/>
              </a:rPr>
              <a:pPr fontAlgn="base">
                <a:spcBef>
                  <a:spcPct val="0"/>
                </a:spcBef>
                <a:spcAft>
                  <a:spcPct val="0"/>
                </a:spcAft>
              </a:pPr>
              <a:t>18</a:t>
            </a:fld>
            <a:endParaRPr lang="en-US" smtClean="0">
              <a:latin typeface="Arial" pitchFamily="34" charset="0"/>
              <a:cs typeface="Arial" pitchFamily="34" charset="0"/>
            </a:endParaRPr>
          </a:p>
        </p:txBody>
      </p:sp>
      <p:sp>
        <p:nvSpPr>
          <p:cNvPr id="1003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035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pitchFamily="34" charset="0"/>
            </a:endParaRPr>
          </a:p>
        </p:txBody>
      </p:sp>
      <p:sp>
        <p:nvSpPr>
          <p:cNvPr id="100357" name="Header Placeholder 4"/>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smtClean="0">
                <a:latin typeface="Arial" pitchFamily="34" charset="0"/>
                <a:cs typeface="Arial" pitchFamily="34" charset="0"/>
              </a:rPr>
              <a:t>Java Programming Handouts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560F226-4AF6-4854-9740-56CC9D673962}" type="slidenum">
              <a:rPr lang="en-US" smtClean="0">
                <a:latin typeface="Arial" pitchFamily="34" charset="0"/>
                <a:cs typeface="Arial" pitchFamily="34" charset="0"/>
              </a:rPr>
              <a:pPr fontAlgn="base">
                <a:spcBef>
                  <a:spcPct val="0"/>
                </a:spcBef>
                <a:spcAft>
                  <a:spcPct val="0"/>
                </a:spcAft>
              </a:pPr>
              <a:t>19</a:t>
            </a:fld>
            <a:endParaRPr lang="en-US" smtClean="0">
              <a:latin typeface="Arial" pitchFamily="34" charset="0"/>
              <a:cs typeface="Arial" pitchFamily="34" charset="0"/>
            </a:endParaRPr>
          </a:p>
        </p:txBody>
      </p:sp>
      <p:sp>
        <p:nvSpPr>
          <p:cNvPr id="10137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138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pitchFamily="34" charset="0"/>
            </a:endParaRPr>
          </a:p>
        </p:txBody>
      </p:sp>
      <p:sp>
        <p:nvSpPr>
          <p:cNvPr id="101381" name="Header Placeholder 4"/>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smtClean="0">
                <a:latin typeface="Arial" pitchFamily="34" charset="0"/>
                <a:cs typeface="Arial" pitchFamily="34" charset="0"/>
              </a:rPr>
              <a:t>Java Programming Handouts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370FFEA-46A9-4EFD-B076-8004FD19DBF2}" type="slidenum">
              <a:rPr lang="en-US" smtClean="0">
                <a:latin typeface="Arial" pitchFamily="34" charset="0"/>
                <a:cs typeface="Arial" pitchFamily="34" charset="0"/>
              </a:rPr>
              <a:pPr fontAlgn="base">
                <a:spcBef>
                  <a:spcPct val="0"/>
                </a:spcBef>
                <a:spcAft>
                  <a:spcPct val="0"/>
                </a:spcAft>
              </a:pPr>
              <a:t>20</a:t>
            </a:fld>
            <a:endParaRPr lang="en-US" smtClean="0">
              <a:latin typeface="Arial" pitchFamily="34" charset="0"/>
              <a:cs typeface="Arial" pitchFamily="34" charset="0"/>
            </a:endParaRPr>
          </a:p>
        </p:txBody>
      </p:sp>
      <p:sp>
        <p:nvSpPr>
          <p:cNvPr id="10240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240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pitchFamily="34" charset="0"/>
            </a:endParaRPr>
          </a:p>
        </p:txBody>
      </p:sp>
      <p:sp>
        <p:nvSpPr>
          <p:cNvPr id="102405" name="Header Placeholder 4"/>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smtClean="0">
                <a:latin typeface="Arial" pitchFamily="34" charset="0"/>
                <a:cs typeface="Arial" pitchFamily="34" charset="0"/>
              </a:rPr>
              <a:t>Java Programming Handouts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721A93A-6EC1-4E17-900A-54228E2D1A88}" type="slidenum">
              <a:rPr lang="en-US" smtClean="0">
                <a:latin typeface="Arial" pitchFamily="34" charset="0"/>
                <a:cs typeface="Arial" pitchFamily="34" charset="0"/>
              </a:rPr>
              <a:pPr fontAlgn="base">
                <a:spcBef>
                  <a:spcPct val="0"/>
                </a:spcBef>
                <a:spcAft>
                  <a:spcPct val="0"/>
                </a:spcAft>
              </a:pPr>
              <a:t>21</a:t>
            </a:fld>
            <a:endParaRPr lang="en-US" smtClean="0">
              <a:latin typeface="Arial" pitchFamily="34" charset="0"/>
              <a:cs typeface="Arial" pitchFamily="34" charset="0"/>
            </a:endParaRPr>
          </a:p>
        </p:txBody>
      </p:sp>
      <p:sp>
        <p:nvSpPr>
          <p:cNvPr id="10342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342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pitchFamily="34" charset="0"/>
            </a:endParaRPr>
          </a:p>
        </p:txBody>
      </p:sp>
      <p:sp>
        <p:nvSpPr>
          <p:cNvPr id="103429" name="Header Placeholder 4"/>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smtClean="0">
                <a:latin typeface="Arial" pitchFamily="34" charset="0"/>
                <a:cs typeface="Arial" pitchFamily="34" charset="0"/>
              </a:rPr>
              <a:t>Java Programming Handouts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94E2431-F116-4947-AF44-8C3B3ECE06A8}" type="slidenum">
              <a:rPr lang="en-US"/>
              <a:pPr fontAlgn="base">
                <a:spcBef>
                  <a:spcPct val="0"/>
                </a:spcBef>
                <a:spcAft>
                  <a:spcPct val="0"/>
                </a:spcAft>
              </a:pPr>
              <a:t>22</a:t>
            </a:fld>
            <a:endParaRPr lang="en-US"/>
          </a:p>
        </p:txBody>
      </p:sp>
      <p:sp>
        <p:nvSpPr>
          <p:cNvPr id="143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3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bwMode="auto">
          <a:noFill/>
          <a:ln>
            <a:solidFill>
              <a:srgbClr val="000000"/>
            </a:solidFill>
            <a:miter lim="800000"/>
            <a:headEnd/>
            <a:tailEnd/>
          </a:ln>
        </p:spPr>
      </p:sp>
      <p:sp>
        <p:nvSpPr>
          <p:cNvPr id="10547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10445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BE1EB14-197E-47D5-9DEF-EBBF3A7A2439}" type="slidenum">
              <a:rPr lang="en-US" smtClean="0"/>
              <a:pPr fontAlgn="base">
                <a:spcBef>
                  <a:spcPct val="0"/>
                </a:spcBef>
                <a:spcAft>
                  <a:spcPct val="0"/>
                </a:spcAft>
                <a:defRPr/>
              </a:pPr>
              <a:t>24</a:t>
            </a:fld>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C9CCAF0-4490-4934-9041-34B123FD67D6}" type="slidenum">
              <a:rPr lang="en-US" smtClean="0"/>
              <a:pPr fontAlgn="base">
                <a:spcBef>
                  <a:spcPct val="0"/>
                </a:spcBef>
                <a:spcAft>
                  <a:spcPct val="0"/>
                </a:spcAft>
                <a:defRPr/>
              </a:pPr>
              <a:t>33</a:t>
            </a:fld>
            <a:endParaRPr lang="en-US" smtClean="0"/>
          </a:p>
        </p:txBody>
      </p:sp>
      <p:sp>
        <p:nvSpPr>
          <p:cNvPr id="10445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445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1847087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FFE2742-7753-49C4-9681-975D8435B316}" type="slidenum">
              <a:rPr lang="en-US"/>
              <a:pPr fontAlgn="base">
                <a:spcBef>
                  <a:spcPct val="0"/>
                </a:spcBef>
                <a:spcAft>
                  <a:spcPct val="0"/>
                </a:spcAft>
              </a:pPr>
              <a:t>34</a:t>
            </a:fld>
            <a:endParaRPr lang="en-US"/>
          </a:p>
        </p:txBody>
      </p:sp>
      <p:sp>
        <p:nvSpPr>
          <p:cNvPr id="122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2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extLst>
      <p:ext uri="{BB962C8B-B14F-4D97-AF65-F5344CB8AC3E}">
        <p14:creationId xmlns:p14="http://schemas.microsoft.com/office/powerpoint/2010/main" val="1040948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C052373-B2D0-4407-B9C7-5CC495AFA061}" type="slidenum">
              <a:rPr lang="en-US"/>
              <a:pPr fontAlgn="base">
                <a:spcBef>
                  <a:spcPct val="0"/>
                </a:spcBef>
                <a:spcAft>
                  <a:spcPct val="0"/>
                </a:spcAft>
              </a:pPr>
              <a:t>35</a:t>
            </a:fld>
            <a:endParaRPr lang="en-US"/>
          </a:p>
        </p:txBody>
      </p:sp>
      <p:sp>
        <p:nvSpPr>
          <p:cNvPr id="133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3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extLst>
      <p:ext uri="{BB962C8B-B14F-4D97-AF65-F5344CB8AC3E}">
        <p14:creationId xmlns:p14="http://schemas.microsoft.com/office/powerpoint/2010/main" val="3748491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C29254F-0196-409A-A3F8-CF412A732EF2}" type="slidenum">
              <a:rPr lang="en-US" smtClean="0">
                <a:latin typeface="Arial" pitchFamily="34" charset="0"/>
                <a:cs typeface="Arial" pitchFamily="34" charset="0"/>
              </a:rPr>
              <a:pPr fontAlgn="base">
                <a:spcBef>
                  <a:spcPct val="0"/>
                </a:spcBef>
                <a:spcAft>
                  <a:spcPct val="0"/>
                </a:spcAft>
              </a:pPr>
              <a:t>37</a:t>
            </a:fld>
            <a:endParaRPr lang="en-US" smtClean="0">
              <a:latin typeface="Arial" pitchFamily="34" charset="0"/>
              <a:cs typeface="Arial" pitchFamily="34" charset="0"/>
            </a:endParaRPr>
          </a:p>
        </p:txBody>
      </p:sp>
      <p:sp>
        <p:nvSpPr>
          <p:cNvPr id="10649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650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latin typeface="Arial" pitchFamily="34" charset="0"/>
              </a:rPr>
              <a:t>The nice thing about the Student constructor is that it doesn’t have to know exactly what the Person constructor does, it can just initialize its private members and then ask Person to do the same; it’s opaque.</a:t>
            </a:r>
          </a:p>
        </p:txBody>
      </p:sp>
      <p:sp>
        <p:nvSpPr>
          <p:cNvPr id="106501" name="Header Placeholder 4"/>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smtClean="0">
                <a:latin typeface="Arial" pitchFamily="34" charset="0"/>
                <a:cs typeface="Arial" pitchFamily="34" charset="0"/>
              </a:rPr>
              <a:t>Java Programming Handouts</a:t>
            </a:r>
          </a:p>
        </p:txBody>
      </p:sp>
    </p:spTree>
    <p:extLst>
      <p:ext uri="{BB962C8B-B14F-4D97-AF65-F5344CB8AC3E}">
        <p14:creationId xmlns:p14="http://schemas.microsoft.com/office/powerpoint/2010/main" val="14676515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C29254F-0196-409A-A3F8-CF412A732EF2}" type="slidenum">
              <a:rPr lang="en-US" smtClean="0">
                <a:latin typeface="Arial" pitchFamily="34" charset="0"/>
                <a:cs typeface="Arial" pitchFamily="34" charset="0"/>
              </a:rPr>
              <a:pPr fontAlgn="base">
                <a:spcBef>
                  <a:spcPct val="0"/>
                </a:spcBef>
                <a:spcAft>
                  <a:spcPct val="0"/>
                </a:spcAft>
              </a:pPr>
              <a:t>38</a:t>
            </a:fld>
            <a:endParaRPr lang="en-US" smtClean="0">
              <a:latin typeface="Arial" pitchFamily="34" charset="0"/>
              <a:cs typeface="Arial" pitchFamily="34" charset="0"/>
            </a:endParaRPr>
          </a:p>
        </p:txBody>
      </p:sp>
      <p:sp>
        <p:nvSpPr>
          <p:cNvPr id="10649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650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latin typeface="Arial" pitchFamily="34" charset="0"/>
              </a:rPr>
              <a:t>The nice thing about the Student constructor is that it doesn’t have to know exactly what the Person constructor does, it can just initialize its private members and then ask Person to do the same; it’s opaque.</a:t>
            </a:r>
          </a:p>
        </p:txBody>
      </p:sp>
      <p:sp>
        <p:nvSpPr>
          <p:cNvPr id="106501" name="Header Placeholder 4"/>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smtClean="0">
                <a:latin typeface="Arial" pitchFamily="34" charset="0"/>
                <a:cs typeface="Arial" pitchFamily="34" charset="0"/>
              </a:rPr>
              <a:t>Java Programming Handouts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C29254F-0196-409A-A3F8-CF412A732EF2}" type="slidenum">
              <a:rPr lang="en-US" smtClean="0">
                <a:latin typeface="Arial" pitchFamily="34" charset="0"/>
                <a:cs typeface="Arial" pitchFamily="34" charset="0"/>
              </a:rPr>
              <a:pPr fontAlgn="base">
                <a:spcBef>
                  <a:spcPct val="0"/>
                </a:spcBef>
                <a:spcAft>
                  <a:spcPct val="0"/>
                </a:spcAft>
              </a:pPr>
              <a:t>39</a:t>
            </a:fld>
            <a:endParaRPr lang="en-US" smtClean="0">
              <a:latin typeface="Arial" pitchFamily="34" charset="0"/>
              <a:cs typeface="Arial" pitchFamily="34" charset="0"/>
            </a:endParaRPr>
          </a:p>
        </p:txBody>
      </p:sp>
      <p:sp>
        <p:nvSpPr>
          <p:cNvPr id="10649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650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latin typeface="Arial" pitchFamily="34" charset="0"/>
              </a:rPr>
              <a:t>The nice thing about the Student constructor is that it doesn’t have to know exactly what the Person constructor does, it can just initialize its private members and then ask Person to do the same; it’s opaque.</a:t>
            </a:r>
          </a:p>
        </p:txBody>
      </p:sp>
      <p:sp>
        <p:nvSpPr>
          <p:cNvPr id="106501" name="Header Placeholder 4"/>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smtClean="0">
                <a:latin typeface="Arial" pitchFamily="34" charset="0"/>
                <a:cs typeface="Arial" pitchFamily="34" charset="0"/>
              </a:rPr>
              <a:t>Java Programming Handouts</a:t>
            </a:r>
          </a:p>
        </p:txBody>
      </p:sp>
    </p:spTree>
    <p:extLst>
      <p:ext uri="{BB962C8B-B14F-4D97-AF65-F5344CB8AC3E}">
        <p14:creationId xmlns:p14="http://schemas.microsoft.com/office/powerpoint/2010/main" val="41499168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93A63BF-B6C7-446A-853B-9F4CB392D921}" type="slidenum">
              <a:rPr lang="en-US" smtClean="0">
                <a:latin typeface="Arial" pitchFamily="34" charset="0"/>
                <a:cs typeface="Arial" pitchFamily="34" charset="0"/>
              </a:rPr>
              <a:pPr fontAlgn="base">
                <a:spcBef>
                  <a:spcPct val="0"/>
                </a:spcBef>
                <a:spcAft>
                  <a:spcPct val="0"/>
                </a:spcAft>
              </a:pPr>
              <a:t>42</a:t>
            </a:fld>
            <a:endParaRPr lang="en-US" smtClean="0">
              <a:latin typeface="Arial" pitchFamily="34" charset="0"/>
              <a:cs typeface="Arial" pitchFamily="34" charset="0"/>
            </a:endParaRPr>
          </a:p>
        </p:txBody>
      </p:sp>
      <p:sp>
        <p:nvSpPr>
          <p:cNvPr id="1075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75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pitchFamily="34" charset="0"/>
            </a:endParaRPr>
          </a:p>
        </p:txBody>
      </p:sp>
      <p:sp>
        <p:nvSpPr>
          <p:cNvPr id="107525" name="Header Placeholder 4"/>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smtClean="0">
                <a:latin typeface="Arial" pitchFamily="34" charset="0"/>
                <a:cs typeface="Arial" pitchFamily="34" charset="0"/>
              </a:rPr>
              <a:t>Java Programming Handouts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683EF25-6FBF-4C64-A9B0-1AB9790E6CFE}" type="slidenum">
              <a:rPr lang="en-US" smtClean="0">
                <a:latin typeface="Arial" pitchFamily="34" charset="0"/>
                <a:cs typeface="Arial" pitchFamily="34" charset="0"/>
              </a:rPr>
              <a:pPr fontAlgn="base">
                <a:spcBef>
                  <a:spcPct val="0"/>
                </a:spcBef>
                <a:spcAft>
                  <a:spcPct val="0"/>
                </a:spcAft>
              </a:pPr>
              <a:t>43</a:t>
            </a:fld>
            <a:endParaRPr lang="en-US" smtClean="0">
              <a:latin typeface="Arial" pitchFamily="34" charset="0"/>
              <a:cs typeface="Arial" pitchFamily="34" charset="0"/>
            </a:endParaRPr>
          </a:p>
        </p:txBody>
      </p:sp>
      <p:sp>
        <p:nvSpPr>
          <p:cNvPr id="1085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85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pitchFamily="34" charset="0"/>
            </a:endParaRPr>
          </a:p>
        </p:txBody>
      </p:sp>
      <p:sp>
        <p:nvSpPr>
          <p:cNvPr id="108549" name="Header Placeholder 4"/>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en-US" smtClean="0">
                <a:latin typeface="Arial" pitchFamily="34" charset="0"/>
                <a:cs typeface="Arial" pitchFamily="34" charset="0"/>
              </a:rPr>
              <a:t>Java Programming Handouts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D99A6D4-9DAB-4C27-84B9-4F1737044112}" type="datetime1">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D7648F-5E86-43D2-9AA4-C0B293D1DEA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6C7D5C-31AB-4774-AD6C-9EBD7B45A6A9}" type="datetime1">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D7648F-5E86-43D2-9AA4-C0B293D1DEA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F13ECF0-36E6-4FBC-8DD3-2B053C50775D}" type="datetime1">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D7648F-5E86-43D2-9AA4-C0B293D1DEA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79B8FC3-7FBE-4EF4-9929-227B5BE38197}" type="datetime1">
              <a:rPr lang="en-US" smtClean="0"/>
              <a:pPr/>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D7648F-5E86-43D2-9AA4-C0B293D1DEA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29A8C6A-E18C-43C8-9AE7-A4979F6B275F}" type="datetime1">
              <a:rPr lang="en-US" smtClean="0"/>
              <a:pPr/>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D7648F-5E86-43D2-9AA4-C0B293D1DEA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D6B5EB7-4827-48FA-8E28-035F7F37A9E7}" type="datetime1">
              <a:rPr lang="en-US" smtClean="0"/>
              <a:pPr/>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D7648F-5E86-43D2-9AA4-C0B293D1DEA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6300A4-7D17-41DE-9044-17BD9C586D4D}" type="datetime1">
              <a:rPr lang="en-US" smtClean="0"/>
              <a:pPr/>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D7648F-5E86-43D2-9AA4-C0B293D1DEA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D74DA2C-99F3-44D3-B30A-DF343985DE4C}" type="datetime1">
              <a:rPr lang="en-US" smtClean="0"/>
              <a:pPr/>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D7648F-5E86-43D2-9AA4-C0B293D1DEA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9AE505-1FED-497A-94CF-91E18A6A8635}" type="datetime1">
              <a:rPr lang="en-US" smtClean="0"/>
              <a:pPr/>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D7648F-5E86-43D2-9AA4-C0B293D1DEA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073501-3B46-4645-B3E1-58968A2C8190}" type="datetime1">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D7648F-5E86-43D2-9AA4-C0B293D1DEA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75B4ED-DB73-4FD6-ACD9-F5269344FFCE}" type="datetime1">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D7648F-5E86-43D2-9AA4-C0B293D1DEA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pPr>
              <a:defRPr/>
            </a:pPr>
            <a:fld id="{1EAE9976-6997-41B1-87B2-D8A50CC0D084}" type="datetime1">
              <a:rPr lang="en-US" smtClean="0"/>
              <a:pPr>
                <a:defRPr/>
              </a:pPr>
              <a:t>7/24/2026</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pPr>
              <a:defRPr/>
            </a:pPr>
            <a:fld id="{9CD7F671-5A23-4577-A5FE-0569514B908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62C345-130A-4B58-82E4-03A0BDA84B09}" type="datetime1">
              <a:rPr lang="en-US" smtClean="0"/>
              <a:pPr/>
              <a:t>7/24/2026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D7648F-5E86-43D2-9AA4-C0B293D1DEA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customXml" Target="../ink/ink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8.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9.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2286000"/>
            <a:ext cx="6400800" cy="1752600"/>
          </a:xfrm>
        </p:spPr>
        <p:txBody>
          <a:bodyPr>
            <a:normAutofit/>
          </a:bodyPr>
          <a:lstStyle/>
          <a:p>
            <a:r>
              <a:rPr lang="en-US" sz="4800" b="1" dirty="0" smtClean="0"/>
              <a:t>Objects &amp; Classes</a:t>
            </a:r>
            <a:endParaRPr lang="en-US" sz="48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800"/>
            <a:ext cx="8763000" cy="5867400"/>
          </a:xfrm>
        </p:spPr>
        <p:txBody>
          <a:bodyPr>
            <a:noAutofit/>
          </a:bodyPr>
          <a:lstStyle/>
          <a:p>
            <a:r>
              <a:rPr lang="en-US" sz="2800" dirty="0" smtClean="0"/>
              <a:t>Classes</a:t>
            </a:r>
          </a:p>
          <a:p>
            <a:r>
              <a:rPr lang="en-US" sz="2800" dirty="0" smtClean="0"/>
              <a:t>Instance variables</a:t>
            </a:r>
          </a:p>
          <a:p>
            <a:r>
              <a:rPr lang="en-US" sz="2800" dirty="0" smtClean="0"/>
              <a:t> Methods</a:t>
            </a:r>
          </a:p>
          <a:p>
            <a:r>
              <a:rPr lang="en-US" sz="2800" dirty="0" smtClean="0"/>
              <a:t>Constructors</a:t>
            </a:r>
          </a:p>
          <a:p>
            <a:r>
              <a:rPr lang="en-US" sz="2800" dirty="0" smtClean="0"/>
              <a:t>Access </a:t>
            </a:r>
            <a:r>
              <a:rPr lang="en-US" sz="2800" dirty="0" err="1" smtClean="0"/>
              <a:t>Specifiers</a:t>
            </a:r>
            <a:endParaRPr lang="en-US" sz="2800" dirty="0" smtClean="0"/>
          </a:p>
          <a:p>
            <a:r>
              <a:rPr lang="en-US" sz="2800" dirty="0" smtClean="0"/>
              <a:t>Abstract Classes and Wrapper Classes</a:t>
            </a:r>
          </a:p>
          <a:p>
            <a:r>
              <a:rPr lang="en-US" sz="2800" dirty="0" err="1" smtClean="0"/>
              <a:t>Autoboxing</a:t>
            </a:r>
            <a:r>
              <a:rPr lang="en-US" sz="2800" dirty="0" smtClean="0"/>
              <a:t> and </a:t>
            </a:r>
            <a:r>
              <a:rPr lang="en-US" sz="2800" dirty="0" err="1" smtClean="0"/>
              <a:t>Unboxing</a:t>
            </a:r>
            <a:endParaRPr lang="en-US" sz="2800" dirty="0" smtClean="0"/>
          </a:p>
          <a:p>
            <a:r>
              <a:rPr lang="en-US" sz="2800" dirty="0" smtClean="0"/>
              <a:t>Inheritance, Polymorphism, Method Overriding</a:t>
            </a:r>
          </a:p>
          <a:p>
            <a:r>
              <a:rPr lang="en-US" sz="2800" dirty="0" smtClean="0"/>
              <a:t> Use of Static</a:t>
            </a:r>
          </a:p>
          <a:p>
            <a:r>
              <a:rPr lang="en-US" sz="2800" dirty="0" smtClean="0"/>
              <a:t> final, super and this keyword</a:t>
            </a:r>
          </a:p>
          <a:p>
            <a:r>
              <a:rPr lang="en-US" sz="2800" dirty="0" smtClean="0"/>
              <a:t>String and mutable string</a:t>
            </a:r>
            <a:endParaRPr lang="en-US" sz="2800" dirty="0"/>
          </a:p>
        </p:txBody>
      </p:sp>
      <p:sp>
        <p:nvSpPr>
          <p:cNvPr id="4" name="Title 1"/>
          <p:cNvSpPr txBox="1">
            <a:spLocks noGrp="1"/>
          </p:cNvSpPr>
          <p:nvPr>
            <p:ph type="title"/>
          </p:nvPr>
        </p:nvSpPr>
        <p:spPr>
          <a:xfrm>
            <a:off x="0" y="0"/>
            <a:ext cx="9144000" cy="715962"/>
          </a:xfrm>
          <a:prstGeom prst="rect">
            <a:avLst/>
          </a:prstGeom>
        </p:spPr>
        <p:style>
          <a:lnRef idx="1">
            <a:schemeClr val="accent1"/>
          </a:lnRef>
          <a:fillRef idx="2">
            <a:schemeClr val="accent1"/>
          </a:fillRef>
          <a:effectRef idx="1">
            <a:schemeClr val="accent1"/>
          </a:effectRef>
          <a:fontRef idx="minor">
            <a:schemeClr val="dk1"/>
          </a:fontRef>
        </p:style>
        <p:txBody>
          <a:bodyPr anchor="ctr">
            <a:normAutofit fontScale="90000"/>
          </a:bodyPr>
          <a:lstStyle/>
          <a:p>
            <a:pPr algn="ctr" fontAlgn="auto">
              <a:spcBef>
                <a:spcPts val="0"/>
              </a:spcBef>
              <a:spcAft>
                <a:spcPts val="0"/>
              </a:spcAft>
              <a:defRPr/>
            </a:pPr>
            <a:r>
              <a:rPr lang="en-US" b="1" dirty="0" smtClean="0">
                <a:solidFill>
                  <a:schemeClr val="accent1">
                    <a:lumMod val="75000"/>
                  </a:schemeClr>
                </a:solidFill>
                <a:effectLst>
                  <a:outerShdw blurRad="38100" dist="38100" dir="2700000" algn="tl">
                    <a:srgbClr val="000000">
                      <a:alpha val="43137"/>
                    </a:srgbClr>
                  </a:outerShdw>
                </a:effectLst>
              </a:rPr>
              <a:t>Syllabus</a:t>
            </a:r>
            <a:endParaRPr lang="en-US" sz="4400" b="1" dirty="0">
              <a:solidFill>
                <a:schemeClr val="accent1">
                  <a:lumMod val="75000"/>
                </a:schemeClr>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3810000" cy="5562600"/>
          </a:xfrm>
        </p:spPr>
        <p:txBody>
          <a:bodyPr rtlCol="0">
            <a:normAutofit lnSpcReduction="10000"/>
          </a:bodyPr>
          <a:lstStyle/>
          <a:p>
            <a:pPr eaLnBrk="1" fontAlgn="auto" hangingPunct="1">
              <a:spcAft>
                <a:spcPts val="0"/>
              </a:spcAft>
              <a:buFont typeface="Arial" pitchFamily="34" charset="0"/>
              <a:buChar char="•"/>
              <a:defRPr/>
            </a:pPr>
            <a:r>
              <a:rPr lang="en-US" dirty="0" smtClean="0"/>
              <a:t>Class is a collection of variables and methods where as variable defines a state and method defines behavior of an object.</a:t>
            </a:r>
          </a:p>
          <a:p>
            <a:pPr eaLnBrk="1" fontAlgn="auto" hangingPunct="1">
              <a:spcAft>
                <a:spcPts val="0"/>
              </a:spcAft>
              <a:buFont typeface="Arial" pitchFamily="34" charset="0"/>
              <a:buChar char="•"/>
              <a:defRPr/>
            </a:pPr>
            <a:r>
              <a:rPr lang="en-US" dirty="0" smtClean="0"/>
              <a:t>It is a blue print of an object</a:t>
            </a:r>
          </a:p>
          <a:p>
            <a:pPr eaLnBrk="1" fontAlgn="auto" hangingPunct="1">
              <a:spcAft>
                <a:spcPts val="0"/>
              </a:spcAft>
              <a:buFont typeface="Arial" pitchFamily="34" charset="0"/>
              <a:buChar char="•"/>
              <a:defRPr/>
            </a:pPr>
            <a:r>
              <a:rPr lang="en-US" dirty="0" smtClean="0"/>
              <a:t>It is used to construct the object</a:t>
            </a:r>
          </a:p>
          <a:p>
            <a:pPr eaLnBrk="1" fontAlgn="auto" hangingPunct="1">
              <a:spcAft>
                <a:spcPts val="0"/>
              </a:spcAft>
              <a:buFont typeface="Arial" pitchFamily="34" charset="0"/>
              <a:buChar char="•"/>
              <a:defRPr/>
            </a:pPr>
            <a:endParaRPr lang="en-US" dirty="0"/>
          </a:p>
        </p:txBody>
      </p:sp>
      <p:sp>
        <p:nvSpPr>
          <p:cNvPr id="4" name="Title 1"/>
          <p:cNvSpPr txBox="1">
            <a:spLocks/>
          </p:cNvSpPr>
          <p:nvPr/>
        </p:nvSpPr>
        <p:spPr>
          <a:xfrm>
            <a:off x="0" y="274638"/>
            <a:ext cx="9144000" cy="563562"/>
          </a:xfrm>
          <a:prstGeom prst="rect">
            <a:avLst/>
          </a:prstGeom>
        </p:spPr>
        <p:style>
          <a:lnRef idx="1">
            <a:schemeClr val="accent1"/>
          </a:lnRef>
          <a:fillRef idx="2">
            <a:schemeClr val="accent1"/>
          </a:fillRef>
          <a:effectRef idx="1">
            <a:schemeClr val="accent1"/>
          </a:effectRef>
          <a:fontRef idx="minor">
            <a:schemeClr val="dk1"/>
          </a:fontRef>
        </p:style>
        <p:txBody>
          <a:bodyPr anchor="ctr">
            <a:normAutofit fontScale="82500" lnSpcReduction="20000"/>
          </a:bodyPr>
          <a:lstStyle/>
          <a:p>
            <a:pPr algn="ctr" fontAlgn="auto">
              <a:spcBef>
                <a:spcPts val="0"/>
              </a:spcBef>
              <a:spcAft>
                <a:spcPts val="0"/>
              </a:spcAft>
              <a:defRPr/>
            </a:pPr>
            <a:r>
              <a:rPr lang="en-US" sz="4400" b="1" dirty="0">
                <a:solidFill>
                  <a:schemeClr val="accent1">
                    <a:lumMod val="75000"/>
                  </a:schemeClr>
                </a:solidFill>
                <a:effectLst>
                  <a:outerShdw blurRad="38100" dist="38100" dir="2700000" algn="tl">
                    <a:srgbClr val="000000">
                      <a:alpha val="43137"/>
                    </a:srgbClr>
                  </a:outerShdw>
                </a:effectLst>
              </a:rPr>
              <a:t>Class and Object</a:t>
            </a:r>
          </a:p>
        </p:txBody>
      </p:sp>
      <p:sp>
        <p:nvSpPr>
          <p:cNvPr id="5" name="Rectangle 4"/>
          <p:cNvSpPr/>
          <p:nvPr/>
        </p:nvSpPr>
        <p:spPr>
          <a:xfrm>
            <a:off x="5257800" y="1676400"/>
            <a:ext cx="23622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2400" dirty="0"/>
              <a:t>Size</a:t>
            </a:r>
          </a:p>
          <a:p>
            <a:pPr fontAlgn="auto">
              <a:spcBef>
                <a:spcPts val="0"/>
              </a:spcBef>
              <a:spcAft>
                <a:spcPts val="0"/>
              </a:spcAft>
              <a:defRPr/>
            </a:pPr>
            <a:r>
              <a:rPr lang="en-US" sz="2400" dirty="0"/>
              <a:t>Age</a:t>
            </a:r>
          </a:p>
          <a:p>
            <a:pPr fontAlgn="auto">
              <a:spcBef>
                <a:spcPts val="0"/>
              </a:spcBef>
              <a:spcAft>
                <a:spcPts val="0"/>
              </a:spcAft>
              <a:defRPr/>
            </a:pPr>
            <a:r>
              <a:rPr lang="en-US" sz="2400" dirty="0"/>
              <a:t>Breed</a:t>
            </a:r>
          </a:p>
          <a:p>
            <a:pPr fontAlgn="auto">
              <a:spcBef>
                <a:spcPts val="0"/>
              </a:spcBef>
              <a:spcAft>
                <a:spcPts val="0"/>
              </a:spcAft>
              <a:defRPr/>
            </a:pPr>
            <a:endParaRPr lang="en-US" sz="2400" dirty="0"/>
          </a:p>
        </p:txBody>
      </p:sp>
      <p:sp>
        <p:nvSpPr>
          <p:cNvPr id="6" name="Rectangle 5"/>
          <p:cNvSpPr/>
          <p:nvPr/>
        </p:nvSpPr>
        <p:spPr>
          <a:xfrm>
            <a:off x="5105400" y="1143000"/>
            <a:ext cx="2590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dirty="0"/>
              <a:t>Dog</a:t>
            </a:r>
          </a:p>
        </p:txBody>
      </p:sp>
      <p:sp>
        <p:nvSpPr>
          <p:cNvPr id="7" name="Rectangle 6"/>
          <p:cNvSpPr/>
          <p:nvPr/>
        </p:nvSpPr>
        <p:spPr>
          <a:xfrm>
            <a:off x="5257800" y="2819400"/>
            <a:ext cx="23622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2800" dirty="0"/>
              <a:t>Bark()</a:t>
            </a:r>
          </a:p>
        </p:txBody>
      </p:sp>
      <p:sp>
        <p:nvSpPr>
          <p:cNvPr id="8" name="Right Brace 7"/>
          <p:cNvSpPr/>
          <p:nvPr/>
        </p:nvSpPr>
        <p:spPr>
          <a:xfrm>
            <a:off x="6705600" y="1752600"/>
            <a:ext cx="1143000" cy="914400"/>
          </a:xfrm>
          <a:prstGeom prst="rightBrace">
            <a:avLst/>
          </a:prstGeom>
          <a:solidFill>
            <a:schemeClr val="bg1"/>
          </a:solidFill>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9" name="Right Brace 8"/>
          <p:cNvSpPr/>
          <p:nvPr/>
        </p:nvSpPr>
        <p:spPr>
          <a:xfrm>
            <a:off x="6705600" y="2895600"/>
            <a:ext cx="1143000" cy="914400"/>
          </a:xfrm>
          <a:prstGeom prst="rightBrace">
            <a:avLst/>
          </a:prstGeom>
          <a:solidFill>
            <a:schemeClr val="bg1"/>
          </a:solidFill>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5369" name="TextBox 9"/>
          <p:cNvSpPr txBox="1">
            <a:spLocks noChangeArrowheads="1"/>
          </p:cNvSpPr>
          <p:nvPr/>
        </p:nvSpPr>
        <p:spPr bwMode="auto">
          <a:xfrm>
            <a:off x="8001000" y="1981200"/>
            <a:ext cx="1143000" cy="369888"/>
          </a:xfrm>
          <a:prstGeom prst="rect">
            <a:avLst/>
          </a:prstGeom>
          <a:noFill/>
          <a:ln w="9525">
            <a:noFill/>
            <a:miter lim="800000"/>
            <a:headEnd/>
            <a:tailEnd/>
          </a:ln>
        </p:spPr>
        <p:txBody>
          <a:bodyPr>
            <a:spAutoFit/>
          </a:bodyPr>
          <a:lstStyle/>
          <a:p>
            <a:r>
              <a:rPr lang="en-US">
                <a:latin typeface="Calibri" pitchFamily="34" charset="0"/>
              </a:rPr>
              <a:t>Knows</a:t>
            </a:r>
          </a:p>
        </p:txBody>
      </p:sp>
      <p:sp>
        <p:nvSpPr>
          <p:cNvPr id="15370" name="TextBox 10"/>
          <p:cNvSpPr txBox="1">
            <a:spLocks noChangeArrowheads="1"/>
          </p:cNvSpPr>
          <p:nvPr/>
        </p:nvSpPr>
        <p:spPr bwMode="auto">
          <a:xfrm>
            <a:off x="8001000" y="3200400"/>
            <a:ext cx="1143000" cy="369888"/>
          </a:xfrm>
          <a:prstGeom prst="rect">
            <a:avLst/>
          </a:prstGeom>
          <a:noFill/>
          <a:ln w="9525">
            <a:noFill/>
            <a:miter lim="800000"/>
            <a:headEnd/>
            <a:tailEnd/>
          </a:ln>
        </p:spPr>
        <p:txBody>
          <a:bodyPr>
            <a:spAutoFit/>
          </a:bodyPr>
          <a:lstStyle/>
          <a:p>
            <a:r>
              <a:rPr lang="en-US">
                <a:latin typeface="Calibri" pitchFamily="34" charset="0"/>
              </a:rPr>
              <a:t>Does</a:t>
            </a:r>
          </a:p>
        </p:txBody>
      </p:sp>
      <p:sp>
        <p:nvSpPr>
          <p:cNvPr id="12" name="TextBox 11"/>
          <p:cNvSpPr txBox="1"/>
          <p:nvPr/>
        </p:nvSpPr>
        <p:spPr>
          <a:xfrm>
            <a:off x="4191000" y="3886200"/>
            <a:ext cx="4953000" cy="2308225"/>
          </a:xfrm>
          <a:prstGeom prst="rect">
            <a:avLst/>
          </a:prstGeom>
          <a:noFill/>
          <a:ln>
            <a:solidFill>
              <a:schemeClr val="accent1">
                <a:shade val="95000"/>
                <a:satMod val="105000"/>
              </a:schemeClr>
            </a:solidFill>
          </a:ln>
        </p:spPr>
        <p:txBody>
          <a:bodyPr>
            <a:spAutoFit/>
          </a:bodyPr>
          <a:lstStyle/>
          <a:p>
            <a:pPr fontAlgn="auto">
              <a:spcBef>
                <a:spcPts val="0"/>
              </a:spcBef>
              <a:spcAft>
                <a:spcPts val="0"/>
              </a:spcAft>
              <a:defRPr/>
            </a:pPr>
            <a:r>
              <a:rPr lang="en-US" b="1" dirty="0">
                <a:latin typeface="+mn-lt"/>
                <a:cs typeface="+mn-cs"/>
              </a:rPr>
              <a:t>public void bark(){</a:t>
            </a:r>
          </a:p>
          <a:p>
            <a:pPr fontAlgn="auto">
              <a:spcBef>
                <a:spcPts val="0"/>
              </a:spcBef>
              <a:spcAft>
                <a:spcPts val="0"/>
              </a:spcAft>
              <a:defRPr/>
            </a:pPr>
            <a:r>
              <a:rPr lang="en-US" dirty="0">
                <a:latin typeface="+mn-lt"/>
                <a:cs typeface="+mn-cs"/>
              </a:rPr>
              <a:t>        if(age &lt;= 2)</a:t>
            </a:r>
          </a:p>
          <a:p>
            <a:pPr fontAlgn="auto">
              <a:spcBef>
                <a:spcPts val="0"/>
              </a:spcBef>
              <a:spcAft>
                <a:spcPts val="0"/>
              </a:spcAft>
              <a:defRPr/>
            </a:pPr>
            <a:r>
              <a:rPr lang="en-US" dirty="0">
                <a:latin typeface="+mn-lt"/>
                <a:cs typeface="+mn-cs"/>
              </a:rPr>
              <a:t>            </a:t>
            </a:r>
            <a:r>
              <a:rPr lang="en-US" dirty="0" err="1">
                <a:latin typeface="+mn-lt"/>
                <a:cs typeface="+mn-cs"/>
              </a:rPr>
              <a:t>System.out.println</a:t>
            </a:r>
            <a:r>
              <a:rPr lang="en-US" dirty="0">
                <a:latin typeface="+mn-lt"/>
                <a:cs typeface="+mn-cs"/>
              </a:rPr>
              <a:t>("</a:t>
            </a:r>
            <a:r>
              <a:rPr lang="en-US" dirty="0" err="1">
                <a:latin typeface="+mn-lt"/>
                <a:cs typeface="+mn-cs"/>
              </a:rPr>
              <a:t>Chiiii</a:t>
            </a:r>
            <a:r>
              <a:rPr lang="en-US" dirty="0">
                <a:latin typeface="+mn-lt"/>
                <a:cs typeface="+mn-cs"/>
              </a:rPr>
              <a:t>.......</a:t>
            </a:r>
            <a:r>
              <a:rPr lang="en-US" dirty="0" err="1">
                <a:latin typeface="+mn-lt"/>
                <a:cs typeface="+mn-cs"/>
              </a:rPr>
              <a:t>Chiiiii</a:t>
            </a:r>
            <a:r>
              <a:rPr lang="en-US" dirty="0">
                <a:latin typeface="+mn-lt"/>
                <a:cs typeface="+mn-cs"/>
              </a:rPr>
              <a:t>");</a:t>
            </a:r>
          </a:p>
          <a:p>
            <a:pPr fontAlgn="auto">
              <a:spcBef>
                <a:spcPts val="0"/>
              </a:spcBef>
              <a:spcAft>
                <a:spcPts val="0"/>
              </a:spcAft>
              <a:defRPr/>
            </a:pPr>
            <a:r>
              <a:rPr lang="en-US" dirty="0">
                <a:latin typeface="+mn-lt"/>
                <a:cs typeface="+mn-cs"/>
              </a:rPr>
              <a:t>        else if (age &lt;= 5)</a:t>
            </a:r>
          </a:p>
          <a:p>
            <a:pPr fontAlgn="auto">
              <a:spcBef>
                <a:spcPts val="0"/>
              </a:spcBef>
              <a:spcAft>
                <a:spcPts val="0"/>
              </a:spcAft>
              <a:defRPr/>
            </a:pPr>
            <a:r>
              <a:rPr lang="en-US" dirty="0">
                <a:latin typeface="+mn-lt"/>
                <a:cs typeface="+mn-cs"/>
              </a:rPr>
              <a:t>            </a:t>
            </a:r>
            <a:r>
              <a:rPr lang="en-US" dirty="0" err="1">
                <a:latin typeface="+mn-lt"/>
                <a:cs typeface="+mn-cs"/>
              </a:rPr>
              <a:t>System.out.println</a:t>
            </a:r>
            <a:r>
              <a:rPr lang="en-US" dirty="0">
                <a:latin typeface="+mn-lt"/>
                <a:cs typeface="+mn-cs"/>
              </a:rPr>
              <a:t>("</a:t>
            </a:r>
            <a:r>
              <a:rPr lang="en-US" dirty="0" err="1">
                <a:latin typeface="+mn-lt"/>
                <a:cs typeface="+mn-cs"/>
              </a:rPr>
              <a:t>Rufff</a:t>
            </a:r>
            <a:r>
              <a:rPr lang="en-US" dirty="0">
                <a:latin typeface="+mn-lt"/>
                <a:cs typeface="+mn-cs"/>
              </a:rPr>
              <a:t>.......</a:t>
            </a:r>
            <a:r>
              <a:rPr lang="en-US" dirty="0" err="1">
                <a:latin typeface="+mn-lt"/>
                <a:cs typeface="+mn-cs"/>
              </a:rPr>
              <a:t>Rufff</a:t>
            </a:r>
            <a:r>
              <a:rPr lang="en-US" dirty="0">
                <a:latin typeface="+mn-lt"/>
                <a:cs typeface="+mn-cs"/>
              </a:rPr>
              <a:t>");</a:t>
            </a:r>
          </a:p>
          <a:p>
            <a:pPr fontAlgn="auto">
              <a:spcBef>
                <a:spcPts val="0"/>
              </a:spcBef>
              <a:spcAft>
                <a:spcPts val="0"/>
              </a:spcAft>
              <a:defRPr/>
            </a:pPr>
            <a:r>
              <a:rPr lang="en-US" dirty="0">
                <a:latin typeface="+mn-lt"/>
                <a:cs typeface="+mn-cs"/>
              </a:rPr>
              <a:t>        else</a:t>
            </a:r>
          </a:p>
          <a:p>
            <a:pPr fontAlgn="auto">
              <a:spcBef>
                <a:spcPts val="0"/>
              </a:spcBef>
              <a:spcAft>
                <a:spcPts val="0"/>
              </a:spcAft>
              <a:defRPr/>
            </a:pPr>
            <a:r>
              <a:rPr lang="en-US" dirty="0">
                <a:latin typeface="+mn-lt"/>
                <a:cs typeface="+mn-cs"/>
              </a:rPr>
              <a:t>            </a:t>
            </a:r>
            <a:r>
              <a:rPr lang="en-US" dirty="0" err="1">
                <a:latin typeface="+mn-lt"/>
                <a:cs typeface="+mn-cs"/>
              </a:rPr>
              <a:t>System.out.println</a:t>
            </a:r>
            <a:r>
              <a:rPr lang="en-US" dirty="0">
                <a:latin typeface="+mn-lt"/>
                <a:cs typeface="+mn-cs"/>
              </a:rPr>
              <a:t>("</a:t>
            </a:r>
            <a:r>
              <a:rPr lang="en-US" dirty="0" err="1">
                <a:latin typeface="+mn-lt"/>
                <a:cs typeface="+mn-cs"/>
              </a:rPr>
              <a:t>Bhoooo</a:t>
            </a:r>
            <a:r>
              <a:rPr lang="en-US" dirty="0">
                <a:latin typeface="+mn-lt"/>
                <a:cs typeface="+mn-cs"/>
              </a:rPr>
              <a:t>.......</a:t>
            </a:r>
            <a:r>
              <a:rPr lang="en-US" dirty="0" err="1">
                <a:latin typeface="+mn-lt"/>
                <a:cs typeface="+mn-cs"/>
              </a:rPr>
              <a:t>Bhoooo</a:t>
            </a:r>
            <a:r>
              <a:rPr lang="en-US" dirty="0">
                <a:latin typeface="+mn-lt"/>
                <a:cs typeface="+mn-cs"/>
              </a:rPr>
              <a:t>");</a:t>
            </a:r>
          </a:p>
          <a:p>
            <a:pPr fontAlgn="auto">
              <a:spcBef>
                <a:spcPts val="0"/>
              </a:spcBef>
              <a:spcAft>
                <a:spcPts val="0"/>
              </a:spcAft>
              <a:defRPr/>
            </a:pPr>
            <a:r>
              <a:rPr lang="en-US" dirty="0">
                <a:latin typeface="+mn-lt"/>
                <a:cs typeface="+mn-cs"/>
              </a:rPr>
              <a:t>    </a:t>
            </a:r>
            <a:r>
              <a:rPr lang="en-US" b="1" dirty="0">
                <a:latin typeface="+mn-lt"/>
                <a:cs typeface="+mn-c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274638"/>
            <a:ext cx="9144000" cy="563562"/>
          </a:xfrm>
          <a:prstGeom prst="rect">
            <a:avLst/>
          </a:prstGeom>
        </p:spPr>
        <p:style>
          <a:lnRef idx="1">
            <a:schemeClr val="accent1"/>
          </a:lnRef>
          <a:fillRef idx="2">
            <a:schemeClr val="accent1"/>
          </a:fillRef>
          <a:effectRef idx="1">
            <a:schemeClr val="accent1"/>
          </a:effectRef>
          <a:fontRef idx="minor">
            <a:schemeClr val="dk1"/>
          </a:fontRef>
        </p:style>
        <p:txBody>
          <a:bodyPr anchor="ctr">
            <a:normAutofit fontScale="82500" lnSpcReduction="20000"/>
          </a:bodyPr>
          <a:lstStyle/>
          <a:p>
            <a:pPr fontAlgn="auto">
              <a:spcBef>
                <a:spcPts val="0"/>
              </a:spcBef>
              <a:spcAft>
                <a:spcPts val="0"/>
              </a:spcAft>
              <a:defRPr/>
            </a:pPr>
            <a:r>
              <a:rPr lang="en-US" sz="4400" b="1" dirty="0">
                <a:solidFill>
                  <a:schemeClr val="accent1">
                    <a:lumMod val="75000"/>
                  </a:schemeClr>
                </a:solidFill>
                <a:effectLst>
                  <a:outerShdw blurRad="38100" dist="38100" dir="2700000" algn="tl">
                    <a:srgbClr val="000000">
                      <a:alpha val="43137"/>
                    </a:srgbClr>
                  </a:outerShdw>
                </a:effectLst>
              </a:rPr>
              <a:t>Class and Object </a:t>
            </a:r>
            <a:r>
              <a:rPr lang="en-US" sz="2900" b="1" dirty="0">
                <a:solidFill>
                  <a:schemeClr val="accent1">
                    <a:lumMod val="75000"/>
                  </a:schemeClr>
                </a:solidFill>
                <a:effectLst>
                  <a:outerShdw blurRad="38100" dist="38100" dir="2700000" algn="tl">
                    <a:srgbClr val="000000">
                      <a:alpha val="43137"/>
                    </a:srgbClr>
                  </a:outerShdw>
                </a:effectLst>
              </a:rPr>
              <a:t>continue</a:t>
            </a:r>
            <a:r>
              <a:rPr lang="en-US" sz="4400" b="1" dirty="0">
                <a:solidFill>
                  <a:schemeClr val="accent1">
                    <a:lumMod val="75000"/>
                  </a:schemeClr>
                </a:solidFill>
                <a:effectLst>
                  <a:outerShdw blurRad="38100" dist="38100" dir="2700000" algn="tl">
                    <a:srgbClr val="000000">
                      <a:alpha val="43137"/>
                    </a:srgbClr>
                  </a:outerShdw>
                </a:effectLst>
              </a:rPr>
              <a:t>……</a:t>
            </a:r>
          </a:p>
        </p:txBody>
      </p:sp>
      <p:sp>
        <p:nvSpPr>
          <p:cNvPr id="5" name="Rectangle 4"/>
          <p:cNvSpPr/>
          <p:nvPr/>
        </p:nvSpPr>
        <p:spPr>
          <a:xfrm>
            <a:off x="5257800" y="1676400"/>
            <a:ext cx="23622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2400" dirty="0" err="1"/>
              <a:t>Acct_id</a:t>
            </a:r>
            <a:endParaRPr lang="en-US" sz="2400" dirty="0"/>
          </a:p>
          <a:p>
            <a:pPr fontAlgn="auto">
              <a:spcBef>
                <a:spcPts val="0"/>
              </a:spcBef>
              <a:spcAft>
                <a:spcPts val="0"/>
              </a:spcAft>
              <a:defRPr/>
            </a:pPr>
            <a:r>
              <a:rPr lang="en-US" sz="2400" dirty="0" err="1"/>
              <a:t>Acct_type</a:t>
            </a:r>
            <a:endParaRPr lang="en-US" sz="2400" dirty="0"/>
          </a:p>
          <a:p>
            <a:pPr fontAlgn="auto">
              <a:spcBef>
                <a:spcPts val="0"/>
              </a:spcBef>
              <a:spcAft>
                <a:spcPts val="0"/>
              </a:spcAft>
              <a:defRPr/>
            </a:pPr>
            <a:r>
              <a:rPr lang="en-US" sz="2400" dirty="0"/>
              <a:t>Balance</a:t>
            </a:r>
          </a:p>
          <a:p>
            <a:pPr fontAlgn="auto">
              <a:spcBef>
                <a:spcPts val="0"/>
              </a:spcBef>
              <a:spcAft>
                <a:spcPts val="0"/>
              </a:spcAft>
              <a:defRPr/>
            </a:pPr>
            <a:endParaRPr lang="en-US" sz="2400" dirty="0"/>
          </a:p>
        </p:txBody>
      </p:sp>
      <p:sp>
        <p:nvSpPr>
          <p:cNvPr id="6" name="Rectangle 5"/>
          <p:cNvSpPr/>
          <p:nvPr/>
        </p:nvSpPr>
        <p:spPr>
          <a:xfrm>
            <a:off x="5105400" y="1143000"/>
            <a:ext cx="2590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dirty="0"/>
              <a:t>Account</a:t>
            </a:r>
          </a:p>
        </p:txBody>
      </p:sp>
      <p:sp>
        <p:nvSpPr>
          <p:cNvPr id="7" name="Rectangle 6"/>
          <p:cNvSpPr/>
          <p:nvPr/>
        </p:nvSpPr>
        <p:spPr>
          <a:xfrm>
            <a:off x="5257800" y="2819400"/>
            <a:ext cx="23622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2800" dirty="0" err="1"/>
              <a:t>checkBalance</a:t>
            </a:r>
            <a:r>
              <a:rPr lang="en-US" sz="2800" dirty="0"/>
              <a:t>()</a:t>
            </a:r>
          </a:p>
        </p:txBody>
      </p:sp>
      <p:sp>
        <p:nvSpPr>
          <p:cNvPr id="8" name="Right Brace 7"/>
          <p:cNvSpPr/>
          <p:nvPr/>
        </p:nvSpPr>
        <p:spPr>
          <a:xfrm>
            <a:off x="7315200" y="1752600"/>
            <a:ext cx="533400" cy="914400"/>
          </a:xfrm>
          <a:prstGeom prst="rightBrace">
            <a:avLst/>
          </a:prstGeom>
          <a:solidFill>
            <a:schemeClr val="bg1"/>
          </a:solidFill>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9" name="Right Brace 8"/>
          <p:cNvSpPr/>
          <p:nvPr/>
        </p:nvSpPr>
        <p:spPr>
          <a:xfrm>
            <a:off x="7467600" y="2895600"/>
            <a:ext cx="381000" cy="914400"/>
          </a:xfrm>
          <a:prstGeom prst="rightBrace">
            <a:avLst/>
          </a:prstGeom>
          <a:solidFill>
            <a:schemeClr val="bg1"/>
          </a:solidFill>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6392" name="TextBox 9"/>
          <p:cNvSpPr txBox="1">
            <a:spLocks noChangeArrowheads="1"/>
          </p:cNvSpPr>
          <p:nvPr/>
        </p:nvSpPr>
        <p:spPr bwMode="auto">
          <a:xfrm>
            <a:off x="8001000" y="1981200"/>
            <a:ext cx="1143000" cy="369888"/>
          </a:xfrm>
          <a:prstGeom prst="rect">
            <a:avLst/>
          </a:prstGeom>
          <a:noFill/>
          <a:ln w="9525">
            <a:noFill/>
            <a:miter lim="800000"/>
            <a:headEnd/>
            <a:tailEnd/>
          </a:ln>
        </p:spPr>
        <p:txBody>
          <a:bodyPr>
            <a:spAutoFit/>
          </a:bodyPr>
          <a:lstStyle/>
          <a:p>
            <a:r>
              <a:rPr lang="en-US">
                <a:latin typeface="Calibri" pitchFamily="34" charset="0"/>
              </a:rPr>
              <a:t>Knows</a:t>
            </a:r>
          </a:p>
        </p:txBody>
      </p:sp>
      <p:sp>
        <p:nvSpPr>
          <p:cNvPr id="16393" name="TextBox 10"/>
          <p:cNvSpPr txBox="1">
            <a:spLocks noChangeArrowheads="1"/>
          </p:cNvSpPr>
          <p:nvPr/>
        </p:nvSpPr>
        <p:spPr bwMode="auto">
          <a:xfrm>
            <a:off x="8001000" y="3200400"/>
            <a:ext cx="1143000" cy="369888"/>
          </a:xfrm>
          <a:prstGeom prst="rect">
            <a:avLst/>
          </a:prstGeom>
          <a:noFill/>
          <a:ln w="9525">
            <a:noFill/>
            <a:miter lim="800000"/>
            <a:headEnd/>
            <a:tailEnd/>
          </a:ln>
        </p:spPr>
        <p:txBody>
          <a:bodyPr>
            <a:spAutoFit/>
          </a:bodyPr>
          <a:lstStyle/>
          <a:p>
            <a:r>
              <a:rPr lang="en-US">
                <a:latin typeface="Calibri" pitchFamily="34" charset="0"/>
              </a:rPr>
              <a:t>Does</a:t>
            </a:r>
          </a:p>
        </p:txBody>
      </p:sp>
      <p:sp>
        <p:nvSpPr>
          <p:cNvPr id="12" name="TextBox 11"/>
          <p:cNvSpPr txBox="1"/>
          <p:nvPr/>
        </p:nvSpPr>
        <p:spPr>
          <a:xfrm>
            <a:off x="4648200" y="3886200"/>
            <a:ext cx="4495800" cy="2586038"/>
          </a:xfrm>
          <a:prstGeom prst="rect">
            <a:avLst/>
          </a:prstGeom>
          <a:noFill/>
          <a:ln>
            <a:solidFill>
              <a:schemeClr val="accent1">
                <a:shade val="95000"/>
                <a:satMod val="105000"/>
              </a:schemeClr>
            </a:solidFill>
          </a:ln>
        </p:spPr>
        <p:txBody>
          <a:bodyPr>
            <a:spAutoFit/>
          </a:bodyPr>
          <a:lstStyle/>
          <a:p>
            <a:pPr fontAlgn="auto">
              <a:spcBef>
                <a:spcPts val="0"/>
              </a:spcBef>
              <a:spcAft>
                <a:spcPts val="0"/>
              </a:spcAft>
              <a:defRPr/>
            </a:pPr>
            <a:r>
              <a:rPr lang="en-US" b="1" dirty="0">
                <a:latin typeface="+mn-lt"/>
                <a:cs typeface="+mn-cs"/>
              </a:rPr>
              <a:t>public void </a:t>
            </a:r>
            <a:r>
              <a:rPr lang="en-US" b="1" dirty="0" err="1">
                <a:latin typeface="+mn-lt"/>
                <a:cs typeface="+mn-cs"/>
              </a:rPr>
              <a:t>checkBalance</a:t>
            </a:r>
            <a:r>
              <a:rPr lang="en-US" b="1" dirty="0">
                <a:latin typeface="+mn-lt"/>
                <a:cs typeface="+mn-cs"/>
              </a:rPr>
              <a:t>(){</a:t>
            </a:r>
          </a:p>
          <a:p>
            <a:pPr fontAlgn="auto">
              <a:spcBef>
                <a:spcPts val="0"/>
              </a:spcBef>
              <a:spcAft>
                <a:spcPts val="0"/>
              </a:spcAft>
              <a:defRPr/>
            </a:pPr>
            <a:r>
              <a:rPr lang="en-US" dirty="0">
                <a:latin typeface="+mn-lt"/>
                <a:cs typeface="+mn-cs"/>
              </a:rPr>
              <a:t>        if(</a:t>
            </a:r>
            <a:r>
              <a:rPr lang="en-US" dirty="0" err="1">
                <a:latin typeface="+mn-lt"/>
                <a:cs typeface="+mn-cs"/>
              </a:rPr>
              <a:t>acct_type.equals</a:t>
            </a:r>
            <a:r>
              <a:rPr lang="en-US" dirty="0">
                <a:latin typeface="+mn-lt"/>
                <a:cs typeface="+mn-cs"/>
              </a:rPr>
              <a:t>("saving") &amp;&amp; balance &lt;= 500)</a:t>
            </a:r>
          </a:p>
          <a:p>
            <a:pPr fontAlgn="auto">
              <a:spcBef>
                <a:spcPts val="0"/>
              </a:spcBef>
              <a:spcAft>
                <a:spcPts val="0"/>
              </a:spcAft>
              <a:defRPr/>
            </a:pPr>
            <a:r>
              <a:rPr lang="en-US" dirty="0">
                <a:latin typeface="+mn-lt"/>
                <a:cs typeface="+mn-cs"/>
              </a:rPr>
              <a:t>            </a:t>
            </a:r>
            <a:r>
              <a:rPr lang="en-US" dirty="0" err="1">
                <a:latin typeface="+mn-lt"/>
                <a:cs typeface="+mn-cs"/>
              </a:rPr>
              <a:t>System.out.println</a:t>
            </a:r>
            <a:r>
              <a:rPr lang="en-US" dirty="0">
                <a:latin typeface="+mn-lt"/>
                <a:cs typeface="+mn-cs"/>
              </a:rPr>
              <a:t>("You do not have </a:t>
            </a:r>
            <a:r>
              <a:rPr lang="en-US" dirty="0" err="1">
                <a:latin typeface="+mn-lt"/>
                <a:cs typeface="+mn-cs"/>
              </a:rPr>
              <a:t>suffiecient</a:t>
            </a:r>
            <a:r>
              <a:rPr lang="en-US" dirty="0">
                <a:latin typeface="+mn-lt"/>
                <a:cs typeface="+mn-cs"/>
              </a:rPr>
              <a:t> balance!!!");</a:t>
            </a:r>
          </a:p>
          <a:p>
            <a:pPr fontAlgn="auto">
              <a:spcBef>
                <a:spcPts val="0"/>
              </a:spcBef>
              <a:spcAft>
                <a:spcPts val="0"/>
              </a:spcAft>
              <a:defRPr/>
            </a:pPr>
            <a:r>
              <a:rPr lang="en-US" dirty="0">
                <a:latin typeface="+mn-lt"/>
                <a:cs typeface="+mn-cs"/>
              </a:rPr>
              <a:t>        else</a:t>
            </a:r>
          </a:p>
          <a:p>
            <a:pPr fontAlgn="auto">
              <a:spcBef>
                <a:spcPts val="0"/>
              </a:spcBef>
              <a:spcAft>
                <a:spcPts val="0"/>
              </a:spcAft>
              <a:defRPr/>
            </a:pPr>
            <a:r>
              <a:rPr lang="en-US" dirty="0">
                <a:latin typeface="+mn-lt"/>
                <a:cs typeface="+mn-cs"/>
              </a:rPr>
              <a:t>            </a:t>
            </a:r>
            <a:r>
              <a:rPr lang="en-US" dirty="0" err="1">
                <a:latin typeface="+mn-lt"/>
                <a:cs typeface="+mn-cs"/>
              </a:rPr>
              <a:t>System.out.println</a:t>
            </a:r>
            <a:r>
              <a:rPr lang="en-US" dirty="0">
                <a:latin typeface="+mn-lt"/>
                <a:cs typeface="+mn-cs"/>
              </a:rPr>
              <a:t>("You have </a:t>
            </a:r>
            <a:r>
              <a:rPr lang="en-US" dirty="0" err="1">
                <a:latin typeface="+mn-lt"/>
                <a:cs typeface="+mn-cs"/>
              </a:rPr>
              <a:t>suffiecient</a:t>
            </a:r>
            <a:r>
              <a:rPr lang="en-US" dirty="0">
                <a:latin typeface="+mn-lt"/>
                <a:cs typeface="+mn-cs"/>
              </a:rPr>
              <a:t> balance!!! you can withdraw");</a:t>
            </a:r>
          </a:p>
          <a:p>
            <a:pPr fontAlgn="auto">
              <a:spcBef>
                <a:spcPts val="0"/>
              </a:spcBef>
              <a:spcAft>
                <a:spcPts val="0"/>
              </a:spcAft>
              <a:defRPr/>
            </a:pPr>
            <a:r>
              <a:rPr lang="en-US" b="1" dirty="0">
                <a:latin typeface="+mn-lt"/>
                <a:cs typeface="+mn-cs"/>
              </a:rPr>
              <a:t>    }</a:t>
            </a:r>
          </a:p>
        </p:txBody>
      </p:sp>
      <p:sp>
        <p:nvSpPr>
          <p:cNvPr id="14" name="Rectangle 13"/>
          <p:cNvSpPr/>
          <p:nvPr/>
        </p:nvSpPr>
        <p:spPr>
          <a:xfrm>
            <a:off x="304800" y="1524000"/>
            <a:ext cx="23622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2000" dirty="0"/>
              <a:t>Name</a:t>
            </a:r>
          </a:p>
          <a:p>
            <a:pPr fontAlgn="auto">
              <a:spcBef>
                <a:spcPts val="0"/>
              </a:spcBef>
              <a:spcAft>
                <a:spcPts val="0"/>
              </a:spcAft>
              <a:defRPr/>
            </a:pPr>
            <a:r>
              <a:rPr lang="en-US" sz="2000" dirty="0"/>
              <a:t>Designation</a:t>
            </a:r>
          </a:p>
          <a:p>
            <a:pPr fontAlgn="auto">
              <a:spcBef>
                <a:spcPts val="0"/>
              </a:spcBef>
              <a:spcAft>
                <a:spcPts val="0"/>
              </a:spcAft>
              <a:defRPr/>
            </a:pPr>
            <a:r>
              <a:rPr lang="en-US" sz="2000" dirty="0" err="1"/>
              <a:t>Emp_id</a:t>
            </a:r>
            <a:endParaRPr lang="en-US" sz="2000" dirty="0"/>
          </a:p>
          <a:p>
            <a:pPr fontAlgn="auto">
              <a:spcBef>
                <a:spcPts val="0"/>
              </a:spcBef>
              <a:spcAft>
                <a:spcPts val="0"/>
              </a:spcAft>
              <a:defRPr/>
            </a:pPr>
            <a:r>
              <a:rPr lang="en-US" sz="2000" dirty="0"/>
              <a:t>DOJ</a:t>
            </a:r>
          </a:p>
          <a:p>
            <a:pPr fontAlgn="auto">
              <a:spcBef>
                <a:spcPts val="0"/>
              </a:spcBef>
              <a:spcAft>
                <a:spcPts val="0"/>
              </a:spcAft>
              <a:defRPr/>
            </a:pPr>
            <a:endParaRPr lang="en-US" sz="2000" dirty="0"/>
          </a:p>
        </p:txBody>
      </p:sp>
      <p:sp>
        <p:nvSpPr>
          <p:cNvPr id="15" name="Rectangle 14"/>
          <p:cNvSpPr/>
          <p:nvPr/>
        </p:nvSpPr>
        <p:spPr>
          <a:xfrm>
            <a:off x="228600" y="990600"/>
            <a:ext cx="2590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dirty="0"/>
              <a:t>Employee</a:t>
            </a:r>
          </a:p>
        </p:txBody>
      </p:sp>
      <p:sp>
        <p:nvSpPr>
          <p:cNvPr id="16" name="Rectangle 15"/>
          <p:cNvSpPr/>
          <p:nvPr/>
        </p:nvSpPr>
        <p:spPr>
          <a:xfrm>
            <a:off x="304800" y="2743200"/>
            <a:ext cx="23622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2400" dirty="0" err="1"/>
              <a:t>getPayband</a:t>
            </a:r>
            <a:r>
              <a:rPr lang="en-US" sz="2400" dirty="0"/>
              <a:t>()</a:t>
            </a:r>
          </a:p>
          <a:p>
            <a:pPr fontAlgn="auto">
              <a:spcBef>
                <a:spcPts val="0"/>
              </a:spcBef>
              <a:spcAft>
                <a:spcPts val="0"/>
              </a:spcAft>
              <a:defRPr/>
            </a:pPr>
            <a:r>
              <a:rPr lang="en-US" sz="2400" dirty="0" err="1"/>
              <a:t>getExperience</a:t>
            </a:r>
            <a:r>
              <a:rPr lang="en-US" sz="2400" dirty="0"/>
              <a:t>()</a:t>
            </a:r>
          </a:p>
        </p:txBody>
      </p:sp>
      <p:sp>
        <p:nvSpPr>
          <p:cNvPr id="17" name="Right Brace 16"/>
          <p:cNvSpPr/>
          <p:nvPr/>
        </p:nvSpPr>
        <p:spPr>
          <a:xfrm>
            <a:off x="2362200" y="1676400"/>
            <a:ext cx="533400" cy="914400"/>
          </a:xfrm>
          <a:prstGeom prst="rightBrace">
            <a:avLst/>
          </a:prstGeom>
          <a:solidFill>
            <a:schemeClr val="bg1"/>
          </a:solidFill>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8" name="Right Brace 17"/>
          <p:cNvSpPr/>
          <p:nvPr/>
        </p:nvSpPr>
        <p:spPr>
          <a:xfrm>
            <a:off x="2438400" y="2743200"/>
            <a:ext cx="533400" cy="914400"/>
          </a:xfrm>
          <a:prstGeom prst="rightBrace">
            <a:avLst/>
          </a:prstGeom>
          <a:solidFill>
            <a:schemeClr val="bg1"/>
          </a:solidFill>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6400" name="TextBox 18"/>
          <p:cNvSpPr txBox="1">
            <a:spLocks noChangeArrowheads="1"/>
          </p:cNvSpPr>
          <p:nvPr/>
        </p:nvSpPr>
        <p:spPr bwMode="auto">
          <a:xfrm>
            <a:off x="3048000" y="1905000"/>
            <a:ext cx="1143000" cy="369888"/>
          </a:xfrm>
          <a:prstGeom prst="rect">
            <a:avLst/>
          </a:prstGeom>
          <a:noFill/>
          <a:ln w="9525">
            <a:noFill/>
            <a:miter lim="800000"/>
            <a:headEnd/>
            <a:tailEnd/>
          </a:ln>
        </p:spPr>
        <p:txBody>
          <a:bodyPr>
            <a:spAutoFit/>
          </a:bodyPr>
          <a:lstStyle/>
          <a:p>
            <a:r>
              <a:rPr lang="en-US">
                <a:latin typeface="Calibri" pitchFamily="34" charset="0"/>
              </a:rPr>
              <a:t>Knows</a:t>
            </a:r>
          </a:p>
        </p:txBody>
      </p:sp>
      <p:sp>
        <p:nvSpPr>
          <p:cNvPr id="16401" name="TextBox 19"/>
          <p:cNvSpPr txBox="1">
            <a:spLocks noChangeArrowheads="1"/>
          </p:cNvSpPr>
          <p:nvPr/>
        </p:nvSpPr>
        <p:spPr bwMode="auto">
          <a:xfrm>
            <a:off x="3048000" y="3124200"/>
            <a:ext cx="1143000" cy="369888"/>
          </a:xfrm>
          <a:prstGeom prst="rect">
            <a:avLst/>
          </a:prstGeom>
          <a:noFill/>
          <a:ln w="9525">
            <a:noFill/>
            <a:miter lim="800000"/>
            <a:headEnd/>
            <a:tailEnd/>
          </a:ln>
        </p:spPr>
        <p:txBody>
          <a:bodyPr>
            <a:spAutoFit/>
          </a:bodyPr>
          <a:lstStyle/>
          <a:p>
            <a:r>
              <a:rPr lang="en-US">
                <a:latin typeface="Calibri" pitchFamily="34" charset="0"/>
              </a:rPr>
              <a:t>Does</a:t>
            </a:r>
          </a:p>
        </p:txBody>
      </p:sp>
      <p:sp>
        <p:nvSpPr>
          <p:cNvPr id="21" name="TextBox 20"/>
          <p:cNvSpPr txBox="1"/>
          <p:nvPr/>
        </p:nvSpPr>
        <p:spPr>
          <a:xfrm>
            <a:off x="0" y="4038600"/>
            <a:ext cx="4572000" cy="2586038"/>
          </a:xfrm>
          <a:prstGeom prst="rect">
            <a:avLst/>
          </a:prstGeom>
          <a:noFill/>
          <a:ln>
            <a:solidFill>
              <a:schemeClr val="accent1">
                <a:shade val="95000"/>
                <a:satMod val="105000"/>
              </a:schemeClr>
            </a:solidFill>
          </a:ln>
        </p:spPr>
        <p:txBody>
          <a:bodyPr>
            <a:spAutoFit/>
          </a:bodyPr>
          <a:lstStyle/>
          <a:p>
            <a:pPr fontAlgn="auto">
              <a:spcBef>
                <a:spcPts val="0"/>
              </a:spcBef>
              <a:spcAft>
                <a:spcPts val="0"/>
              </a:spcAft>
              <a:defRPr/>
            </a:pPr>
            <a:r>
              <a:rPr lang="en-US" b="1" dirty="0">
                <a:latin typeface="+mn-lt"/>
                <a:cs typeface="+mn-cs"/>
              </a:rPr>
              <a:t>public String </a:t>
            </a:r>
            <a:r>
              <a:rPr lang="en-US" b="1" dirty="0" err="1">
                <a:latin typeface="+mn-lt"/>
                <a:cs typeface="+mn-cs"/>
              </a:rPr>
              <a:t>getPayband</a:t>
            </a:r>
            <a:r>
              <a:rPr lang="en-US" b="1" dirty="0">
                <a:latin typeface="+mn-lt"/>
                <a:cs typeface="+mn-cs"/>
              </a:rPr>
              <a:t>(){</a:t>
            </a:r>
          </a:p>
          <a:p>
            <a:pPr fontAlgn="auto">
              <a:spcBef>
                <a:spcPts val="0"/>
              </a:spcBef>
              <a:spcAft>
                <a:spcPts val="0"/>
              </a:spcAft>
              <a:defRPr/>
            </a:pPr>
            <a:r>
              <a:rPr lang="en-US" dirty="0">
                <a:latin typeface="+mn-lt"/>
                <a:cs typeface="+mn-cs"/>
              </a:rPr>
              <a:t>            if(</a:t>
            </a:r>
            <a:r>
              <a:rPr lang="en-US" dirty="0" err="1">
                <a:latin typeface="+mn-lt"/>
                <a:cs typeface="+mn-cs"/>
              </a:rPr>
              <a:t>designation.equals</a:t>
            </a:r>
            <a:r>
              <a:rPr lang="en-US" dirty="0">
                <a:latin typeface="+mn-lt"/>
                <a:cs typeface="+mn-cs"/>
              </a:rPr>
              <a:t>("director"))</a:t>
            </a:r>
          </a:p>
          <a:p>
            <a:pPr fontAlgn="auto">
              <a:spcBef>
                <a:spcPts val="0"/>
              </a:spcBef>
              <a:spcAft>
                <a:spcPts val="0"/>
              </a:spcAft>
              <a:defRPr/>
            </a:pPr>
            <a:r>
              <a:rPr lang="en-US" dirty="0">
                <a:latin typeface="+mn-lt"/>
                <a:cs typeface="+mn-cs"/>
              </a:rPr>
              <a:t>                return "37100 -- 65000";</a:t>
            </a:r>
          </a:p>
          <a:p>
            <a:pPr fontAlgn="auto">
              <a:spcBef>
                <a:spcPts val="0"/>
              </a:spcBef>
              <a:spcAft>
                <a:spcPts val="0"/>
              </a:spcAft>
              <a:defRPr/>
            </a:pPr>
            <a:r>
              <a:rPr lang="en-US" dirty="0">
                <a:latin typeface="+mn-lt"/>
                <a:cs typeface="+mn-cs"/>
              </a:rPr>
              <a:t>            else if(</a:t>
            </a:r>
            <a:r>
              <a:rPr lang="en-US" dirty="0" err="1">
                <a:latin typeface="+mn-lt"/>
                <a:cs typeface="+mn-cs"/>
              </a:rPr>
              <a:t>designation.equals</a:t>
            </a:r>
            <a:r>
              <a:rPr lang="en-US" dirty="0">
                <a:latin typeface="+mn-lt"/>
                <a:cs typeface="+mn-cs"/>
              </a:rPr>
              <a:t>("Assistant professor"))</a:t>
            </a:r>
          </a:p>
          <a:p>
            <a:pPr fontAlgn="auto">
              <a:spcBef>
                <a:spcPts val="0"/>
              </a:spcBef>
              <a:spcAft>
                <a:spcPts val="0"/>
              </a:spcAft>
              <a:defRPr/>
            </a:pPr>
            <a:r>
              <a:rPr lang="en-US" dirty="0">
                <a:latin typeface="+mn-lt"/>
                <a:cs typeface="+mn-cs"/>
              </a:rPr>
              <a:t>                return "15600 -- 37100";</a:t>
            </a:r>
          </a:p>
          <a:p>
            <a:pPr fontAlgn="auto">
              <a:spcBef>
                <a:spcPts val="0"/>
              </a:spcBef>
              <a:spcAft>
                <a:spcPts val="0"/>
              </a:spcAft>
              <a:defRPr/>
            </a:pPr>
            <a:r>
              <a:rPr lang="en-US" dirty="0">
                <a:latin typeface="+mn-lt"/>
                <a:cs typeface="+mn-cs"/>
              </a:rPr>
              <a:t>            else</a:t>
            </a:r>
          </a:p>
          <a:p>
            <a:pPr fontAlgn="auto">
              <a:spcBef>
                <a:spcPts val="0"/>
              </a:spcBef>
              <a:spcAft>
                <a:spcPts val="0"/>
              </a:spcAft>
              <a:defRPr/>
            </a:pPr>
            <a:r>
              <a:rPr lang="en-US" dirty="0">
                <a:latin typeface="+mn-lt"/>
                <a:cs typeface="+mn-cs"/>
              </a:rPr>
              <a:t>                return "9200 --18300 ";</a:t>
            </a:r>
          </a:p>
          <a:p>
            <a:pPr fontAlgn="auto">
              <a:spcBef>
                <a:spcPts val="0"/>
              </a:spcBef>
              <a:spcAft>
                <a:spcPts val="0"/>
              </a:spcAft>
              <a:defRPr/>
            </a:pPr>
            <a:r>
              <a:rPr lang="en-US" b="1" dirty="0">
                <a:latin typeface="+mn-lt"/>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p:cNvSpPr>
            <a:spLocks noGrp="1"/>
          </p:cNvSpPr>
          <p:nvPr>
            <p:ph idx="1"/>
          </p:nvPr>
        </p:nvSpPr>
        <p:spPr>
          <a:xfrm>
            <a:off x="228600" y="1066800"/>
            <a:ext cx="3810000" cy="5562600"/>
          </a:xfrm>
        </p:spPr>
        <p:txBody>
          <a:bodyPr/>
          <a:lstStyle/>
          <a:p>
            <a:pPr eaLnBrk="1" hangingPunct="1"/>
            <a:r>
              <a:rPr lang="en-US" smtClean="0"/>
              <a:t>Object is an instance of  class</a:t>
            </a:r>
          </a:p>
          <a:p>
            <a:pPr eaLnBrk="1" hangingPunct="1"/>
            <a:endParaRPr lang="en-US" smtClean="0"/>
          </a:p>
        </p:txBody>
      </p:sp>
      <p:sp>
        <p:nvSpPr>
          <p:cNvPr id="13" name="Title 1"/>
          <p:cNvSpPr txBox="1">
            <a:spLocks/>
          </p:cNvSpPr>
          <p:nvPr/>
        </p:nvSpPr>
        <p:spPr>
          <a:xfrm>
            <a:off x="0" y="274638"/>
            <a:ext cx="9144000" cy="563562"/>
          </a:xfrm>
          <a:prstGeom prst="rect">
            <a:avLst/>
          </a:prstGeom>
        </p:spPr>
        <p:style>
          <a:lnRef idx="1">
            <a:schemeClr val="accent1"/>
          </a:lnRef>
          <a:fillRef idx="2">
            <a:schemeClr val="accent1"/>
          </a:fillRef>
          <a:effectRef idx="1">
            <a:schemeClr val="accent1"/>
          </a:effectRef>
          <a:fontRef idx="minor">
            <a:schemeClr val="dk1"/>
          </a:fontRef>
        </p:style>
        <p:txBody>
          <a:bodyPr anchor="ctr">
            <a:normAutofit fontScale="82500" lnSpcReduction="20000"/>
          </a:bodyPr>
          <a:lstStyle/>
          <a:p>
            <a:pPr fontAlgn="auto">
              <a:spcBef>
                <a:spcPts val="0"/>
              </a:spcBef>
              <a:spcAft>
                <a:spcPts val="0"/>
              </a:spcAft>
              <a:defRPr/>
            </a:pPr>
            <a:r>
              <a:rPr lang="en-US" sz="4400" b="1" dirty="0">
                <a:solidFill>
                  <a:schemeClr val="accent1">
                    <a:lumMod val="75000"/>
                  </a:schemeClr>
                </a:solidFill>
                <a:effectLst>
                  <a:outerShdw blurRad="38100" dist="38100" dir="2700000" algn="tl">
                    <a:srgbClr val="000000">
                      <a:alpha val="43137"/>
                    </a:srgbClr>
                  </a:outerShdw>
                </a:effectLst>
              </a:rPr>
              <a:t>Class and Object </a:t>
            </a:r>
            <a:r>
              <a:rPr lang="en-US" sz="2900" b="1" dirty="0">
                <a:solidFill>
                  <a:schemeClr val="accent1">
                    <a:lumMod val="75000"/>
                  </a:schemeClr>
                </a:solidFill>
                <a:effectLst>
                  <a:outerShdw blurRad="38100" dist="38100" dir="2700000" algn="tl">
                    <a:srgbClr val="000000">
                      <a:alpha val="43137"/>
                    </a:srgbClr>
                  </a:outerShdw>
                </a:effectLst>
              </a:rPr>
              <a:t>continue</a:t>
            </a:r>
            <a:r>
              <a:rPr lang="en-US" sz="4400" b="1" dirty="0">
                <a:solidFill>
                  <a:schemeClr val="accent1">
                    <a:lumMod val="75000"/>
                  </a:schemeClr>
                </a:solidFill>
                <a:effectLst>
                  <a:outerShdw blurRad="38100" dist="38100" dir="2700000" algn="tl">
                    <a:srgbClr val="000000">
                      <a:alpha val="43137"/>
                    </a:srgbClr>
                  </a:outerShdw>
                </a:effectLst>
              </a:rPr>
              <a:t>……</a:t>
            </a:r>
          </a:p>
        </p:txBody>
      </p:sp>
      <p:pic>
        <p:nvPicPr>
          <p:cNvPr id="17412" name="Picture 2" descr="C:\Users\shree\Desktop\FDP JAVA\employee.jpg"/>
          <p:cNvPicPr>
            <a:picLocks noChangeAspect="1" noChangeArrowheads="1"/>
          </p:cNvPicPr>
          <p:nvPr/>
        </p:nvPicPr>
        <p:blipFill>
          <a:blip r:embed="rId2"/>
          <a:srcRect/>
          <a:stretch>
            <a:fillRect/>
          </a:stretch>
        </p:blipFill>
        <p:spPr bwMode="auto">
          <a:xfrm>
            <a:off x="1981200" y="2057400"/>
            <a:ext cx="6858000" cy="3462338"/>
          </a:xfrm>
          <a:prstGeom prst="rect">
            <a:avLst/>
          </a:prstGeom>
          <a:noFill/>
          <a:ln w="9525">
            <a:noFill/>
            <a:miter lim="800000"/>
            <a:headEnd/>
            <a:tailEnd/>
          </a:ln>
        </p:spPr>
      </p:pic>
      <p:sp>
        <p:nvSpPr>
          <p:cNvPr id="17413" name="TextBox 4"/>
          <p:cNvSpPr txBox="1">
            <a:spLocks noChangeArrowheads="1"/>
          </p:cNvSpPr>
          <p:nvPr/>
        </p:nvSpPr>
        <p:spPr bwMode="auto">
          <a:xfrm>
            <a:off x="2895600" y="5791200"/>
            <a:ext cx="1447800" cy="400050"/>
          </a:xfrm>
          <a:prstGeom prst="rect">
            <a:avLst/>
          </a:prstGeom>
          <a:noFill/>
          <a:ln w="9525">
            <a:solidFill>
              <a:schemeClr val="accent1"/>
            </a:solidFill>
            <a:miter lim="800000"/>
            <a:headEnd/>
            <a:tailEnd/>
          </a:ln>
        </p:spPr>
        <p:txBody>
          <a:bodyPr>
            <a:spAutoFit/>
          </a:bodyPr>
          <a:lstStyle/>
          <a:p>
            <a:r>
              <a:rPr lang="en-US" sz="2000" b="1">
                <a:latin typeface="Calibri" pitchFamily="34" charset="0"/>
              </a:rPr>
              <a:t>Emp Obj 1</a:t>
            </a:r>
          </a:p>
        </p:txBody>
      </p:sp>
      <p:sp>
        <p:nvSpPr>
          <p:cNvPr id="17414" name="TextBox 5"/>
          <p:cNvSpPr txBox="1">
            <a:spLocks noChangeArrowheads="1"/>
          </p:cNvSpPr>
          <p:nvPr/>
        </p:nvSpPr>
        <p:spPr bwMode="auto">
          <a:xfrm>
            <a:off x="4495800" y="5791200"/>
            <a:ext cx="1447800" cy="400050"/>
          </a:xfrm>
          <a:prstGeom prst="rect">
            <a:avLst/>
          </a:prstGeom>
          <a:noFill/>
          <a:ln w="9525">
            <a:solidFill>
              <a:schemeClr val="accent1"/>
            </a:solidFill>
            <a:miter lim="800000"/>
            <a:headEnd/>
            <a:tailEnd/>
          </a:ln>
        </p:spPr>
        <p:txBody>
          <a:bodyPr>
            <a:spAutoFit/>
          </a:bodyPr>
          <a:lstStyle/>
          <a:p>
            <a:r>
              <a:rPr lang="en-US" sz="2000" b="1">
                <a:latin typeface="Calibri" pitchFamily="34" charset="0"/>
              </a:rPr>
              <a:t>Emp Obj 2</a:t>
            </a:r>
          </a:p>
        </p:txBody>
      </p:sp>
      <p:sp>
        <p:nvSpPr>
          <p:cNvPr id="17415" name="TextBox 6"/>
          <p:cNvSpPr txBox="1">
            <a:spLocks noChangeArrowheads="1"/>
          </p:cNvSpPr>
          <p:nvPr/>
        </p:nvSpPr>
        <p:spPr bwMode="auto">
          <a:xfrm>
            <a:off x="6096000" y="5791200"/>
            <a:ext cx="1447800" cy="400050"/>
          </a:xfrm>
          <a:prstGeom prst="rect">
            <a:avLst/>
          </a:prstGeom>
          <a:noFill/>
          <a:ln w="9525">
            <a:solidFill>
              <a:schemeClr val="accent1"/>
            </a:solidFill>
            <a:miter lim="800000"/>
            <a:headEnd/>
            <a:tailEnd/>
          </a:ln>
        </p:spPr>
        <p:txBody>
          <a:bodyPr>
            <a:spAutoFit/>
          </a:bodyPr>
          <a:lstStyle/>
          <a:p>
            <a:r>
              <a:rPr lang="en-US" sz="2000" b="1">
                <a:latin typeface="Calibri" pitchFamily="34" charset="0"/>
              </a:rPr>
              <a:t>Emp Obj 3</a:t>
            </a:r>
          </a:p>
        </p:txBody>
      </p:sp>
      <p:sp>
        <p:nvSpPr>
          <p:cNvPr id="17416" name="TextBox 7"/>
          <p:cNvSpPr txBox="1">
            <a:spLocks noChangeArrowheads="1"/>
          </p:cNvSpPr>
          <p:nvPr/>
        </p:nvSpPr>
        <p:spPr bwMode="auto">
          <a:xfrm>
            <a:off x="7696200" y="5791200"/>
            <a:ext cx="1447800" cy="400050"/>
          </a:xfrm>
          <a:prstGeom prst="rect">
            <a:avLst/>
          </a:prstGeom>
          <a:noFill/>
          <a:ln w="9525">
            <a:solidFill>
              <a:schemeClr val="accent1"/>
            </a:solidFill>
            <a:miter lim="800000"/>
            <a:headEnd/>
            <a:tailEnd/>
          </a:ln>
        </p:spPr>
        <p:txBody>
          <a:bodyPr>
            <a:spAutoFit/>
          </a:bodyPr>
          <a:lstStyle/>
          <a:p>
            <a:r>
              <a:rPr lang="en-US" sz="2000" b="1">
                <a:latin typeface="Calibri" pitchFamily="34" charset="0"/>
              </a:rPr>
              <a:t>Emp Obj 4</a:t>
            </a:r>
          </a:p>
        </p:txBody>
      </p:sp>
      <p:cxnSp>
        <p:nvCxnSpPr>
          <p:cNvPr id="10" name="Straight Arrow Connector 9"/>
          <p:cNvCxnSpPr>
            <a:stCxn id="17413" idx="0"/>
          </p:cNvCxnSpPr>
          <p:nvPr/>
        </p:nvCxnSpPr>
        <p:spPr>
          <a:xfrm flipV="1">
            <a:off x="3619500" y="5029200"/>
            <a:ext cx="38100" cy="76200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8305800" y="4343400"/>
            <a:ext cx="304800" cy="144780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7086600" y="4648200"/>
            <a:ext cx="152400" cy="114300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5638800" y="4495800"/>
            <a:ext cx="76200" cy="129540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304800" y="1143000"/>
            <a:ext cx="8610600" cy="1371600"/>
          </a:xfrm>
        </p:spPr>
        <p:txBody>
          <a:bodyPr/>
          <a:lstStyle/>
          <a:p>
            <a:pPr eaLnBrk="1" hangingPunct="1"/>
            <a:r>
              <a:rPr lang="en-US" smtClean="0"/>
              <a:t>Java allocates memory to an object dynamically</a:t>
            </a:r>
          </a:p>
          <a:p>
            <a:pPr eaLnBrk="1" hangingPunct="1"/>
            <a:r>
              <a:rPr lang="en-US" smtClean="0"/>
              <a:t>Object creation in java has three steps.</a:t>
            </a:r>
          </a:p>
          <a:p>
            <a:pPr eaLnBrk="1" hangingPunct="1"/>
            <a:endParaRPr lang="en-US" smtClean="0"/>
          </a:p>
        </p:txBody>
      </p:sp>
      <p:sp>
        <p:nvSpPr>
          <p:cNvPr id="4" name="Title 1"/>
          <p:cNvSpPr txBox="1">
            <a:spLocks/>
          </p:cNvSpPr>
          <p:nvPr/>
        </p:nvSpPr>
        <p:spPr>
          <a:xfrm>
            <a:off x="0" y="274638"/>
            <a:ext cx="9144000" cy="563562"/>
          </a:xfrm>
          <a:prstGeom prst="rect">
            <a:avLst/>
          </a:prstGeom>
        </p:spPr>
        <p:style>
          <a:lnRef idx="1">
            <a:schemeClr val="accent1"/>
          </a:lnRef>
          <a:fillRef idx="2">
            <a:schemeClr val="accent1"/>
          </a:fillRef>
          <a:effectRef idx="1">
            <a:schemeClr val="accent1"/>
          </a:effectRef>
          <a:fontRef idx="minor">
            <a:schemeClr val="dk1"/>
          </a:fontRef>
        </p:style>
        <p:txBody>
          <a:bodyPr anchor="ctr">
            <a:normAutofit fontScale="82500" lnSpcReduction="20000"/>
          </a:bodyPr>
          <a:lstStyle/>
          <a:p>
            <a:pPr fontAlgn="auto">
              <a:spcBef>
                <a:spcPts val="0"/>
              </a:spcBef>
              <a:spcAft>
                <a:spcPts val="0"/>
              </a:spcAft>
              <a:defRPr/>
            </a:pPr>
            <a:r>
              <a:rPr lang="en-US" sz="4400" b="1" dirty="0">
                <a:solidFill>
                  <a:schemeClr val="accent1">
                    <a:lumMod val="75000"/>
                  </a:schemeClr>
                </a:solidFill>
                <a:effectLst>
                  <a:outerShdw blurRad="38100" dist="38100" dir="2700000" algn="tl">
                    <a:srgbClr val="000000">
                      <a:alpha val="43137"/>
                    </a:srgbClr>
                  </a:outerShdw>
                </a:effectLst>
              </a:rPr>
              <a:t>Object and memory allocation</a:t>
            </a:r>
          </a:p>
        </p:txBody>
      </p:sp>
      <p:sp>
        <p:nvSpPr>
          <p:cNvPr id="18436" name="Content Placeholder 2"/>
          <p:cNvSpPr txBox="1">
            <a:spLocks/>
          </p:cNvSpPr>
          <p:nvPr/>
        </p:nvSpPr>
        <p:spPr bwMode="auto">
          <a:xfrm>
            <a:off x="0" y="3581400"/>
            <a:ext cx="2438400" cy="1371600"/>
          </a:xfrm>
          <a:prstGeom prst="rect">
            <a:avLst/>
          </a:prstGeom>
          <a:noFill/>
          <a:ln w="9525">
            <a:noFill/>
            <a:miter lim="800000"/>
            <a:headEnd/>
            <a:tailEnd/>
          </a:ln>
        </p:spPr>
        <p:txBody>
          <a:bodyPr/>
          <a:lstStyle/>
          <a:p>
            <a:pPr marL="342900" indent="-342900">
              <a:spcBef>
                <a:spcPct val="20000"/>
              </a:spcBef>
              <a:buFont typeface="Arial" charset="0"/>
              <a:buChar char="•"/>
            </a:pPr>
            <a:r>
              <a:rPr lang="en-US" sz="3200">
                <a:latin typeface="Calibri" pitchFamily="34" charset="0"/>
              </a:rPr>
              <a:t>Create a reference</a:t>
            </a:r>
          </a:p>
          <a:p>
            <a:pPr marL="342900" indent="-342900">
              <a:spcBef>
                <a:spcPct val="20000"/>
              </a:spcBef>
              <a:buFont typeface="Arial" charset="0"/>
              <a:buChar char="•"/>
            </a:pPr>
            <a:endParaRPr lang="en-US" sz="3200">
              <a:latin typeface="Calibri" pitchFamily="34" charset="0"/>
            </a:endParaRPr>
          </a:p>
        </p:txBody>
      </p:sp>
      <p:sp>
        <p:nvSpPr>
          <p:cNvPr id="18437" name="Content Placeholder 2"/>
          <p:cNvSpPr txBox="1">
            <a:spLocks/>
          </p:cNvSpPr>
          <p:nvPr/>
        </p:nvSpPr>
        <p:spPr bwMode="auto">
          <a:xfrm>
            <a:off x="2819400" y="3581400"/>
            <a:ext cx="2438400" cy="1371600"/>
          </a:xfrm>
          <a:prstGeom prst="rect">
            <a:avLst/>
          </a:prstGeom>
          <a:noFill/>
          <a:ln w="9525">
            <a:noFill/>
            <a:miter lim="800000"/>
            <a:headEnd/>
            <a:tailEnd/>
          </a:ln>
        </p:spPr>
        <p:txBody>
          <a:bodyPr/>
          <a:lstStyle/>
          <a:p>
            <a:pPr marL="342900" indent="-342900">
              <a:spcBef>
                <a:spcPct val="20000"/>
              </a:spcBef>
              <a:buFont typeface="Arial" charset="0"/>
              <a:buChar char="•"/>
            </a:pPr>
            <a:r>
              <a:rPr lang="en-US" sz="3200">
                <a:latin typeface="Calibri" pitchFamily="34" charset="0"/>
              </a:rPr>
              <a:t>Create object</a:t>
            </a:r>
          </a:p>
          <a:p>
            <a:pPr marL="342900" indent="-342900">
              <a:spcBef>
                <a:spcPct val="20000"/>
              </a:spcBef>
              <a:buFont typeface="Arial" charset="0"/>
              <a:buChar char="•"/>
            </a:pPr>
            <a:endParaRPr lang="en-US" sz="3200">
              <a:latin typeface="Calibri" pitchFamily="34" charset="0"/>
            </a:endParaRPr>
          </a:p>
        </p:txBody>
      </p:sp>
      <p:sp>
        <p:nvSpPr>
          <p:cNvPr id="7" name="Content Placeholder 2"/>
          <p:cNvSpPr txBox="1">
            <a:spLocks/>
          </p:cNvSpPr>
          <p:nvPr/>
        </p:nvSpPr>
        <p:spPr>
          <a:xfrm>
            <a:off x="5791200" y="3581400"/>
            <a:ext cx="2438400" cy="1371600"/>
          </a:xfrm>
          <a:prstGeom prst="rect">
            <a:avLst/>
          </a:prstGeom>
        </p:spPr>
        <p:txBody>
          <a:bodyPr>
            <a:normAutofit fontScale="92500" lnSpcReduction="10000"/>
          </a:bodyPr>
          <a:lstStyle/>
          <a:p>
            <a:pPr marL="342900" indent="-342900" fontAlgn="auto">
              <a:spcBef>
                <a:spcPct val="20000"/>
              </a:spcBef>
              <a:spcAft>
                <a:spcPts val="0"/>
              </a:spcAft>
              <a:buFont typeface="Arial" pitchFamily="34" charset="0"/>
              <a:buChar char="•"/>
              <a:defRPr/>
            </a:pPr>
            <a:r>
              <a:rPr lang="en-US" sz="3200" dirty="0">
                <a:latin typeface="+mn-lt"/>
                <a:cs typeface="+mn-cs"/>
              </a:rPr>
              <a:t>Assign object to a reference</a:t>
            </a:r>
          </a:p>
          <a:p>
            <a:pPr marL="342900" indent="-342900" fontAlgn="auto">
              <a:spcBef>
                <a:spcPct val="20000"/>
              </a:spcBef>
              <a:spcAft>
                <a:spcPts val="0"/>
              </a:spcAft>
              <a:buFont typeface="Arial" pitchFamily="34" charset="0"/>
              <a:buChar char="•"/>
              <a:defRPr/>
            </a:pPr>
            <a:endParaRPr lang="en-US" sz="3200" dirty="0">
              <a:latin typeface="+mn-lt"/>
              <a:cs typeface="+mn-cs"/>
            </a:endParaRPr>
          </a:p>
        </p:txBody>
      </p:sp>
      <p:sp>
        <p:nvSpPr>
          <p:cNvPr id="8" name="Oval 7"/>
          <p:cNvSpPr/>
          <p:nvPr/>
        </p:nvSpPr>
        <p:spPr>
          <a:xfrm>
            <a:off x="457200" y="25146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1</a:t>
            </a:r>
          </a:p>
        </p:txBody>
      </p:sp>
      <p:sp>
        <p:nvSpPr>
          <p:cNvPr id="9" name="Oval 8"/>
          <p:cNvSpPr/>
          <p:nvPr/>
        </p:nvSpPr>
        <p:spPr>
          <a:xfrm>
            <a:off x="3352800" y="25146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2</a:t>
            </a:r>
          </a:p>
        </p:txBody>
      </p:sp>
      <p:sp>
        <p:nvSpPr>
          <p:cNvPr id="10" name="Oval 9"/>
          <p:cNvSpPr/>
          <p:nvPr/>
        </p:nvSpPr>
        <p:spPr>
          <a:xfrm>
            <a:off x="6324600" y="25146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3</a:t>
            </a:r>
          </a:p>
        </p:txBody>
      </p:sp>
      <p:sp>
        <p:nvSpPr>
          <p:cNvPr id="11" name="Rectangle 10"/>
          <p:cNvSpPr/>
          <p:nvPr/>
        </p:nvSpPr>
        <p:spPr>
          <a:xfrm>
            <a:off x="304800" y="5486400"/>
            <a:ext cx="2667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dirty="0"/>
              <a:t>Employee  xyz</a:t>
            </a:r>
          </a:p>
        </p:txBody>
      </p:sp>
      <p:sp>
        <p:nvSpPr>
          <p:cNvPr id="12" name="Rectangle 11"/>
          <p:cNvSpPr/>
          <p:nvPr/>
        </p:nvSpPr>
        <p:spPr>
          <a:xfrm>
            <a:off x="5715000" y="5486400"/>
            <a:ext cx="2667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dirty="0"/>
              <a:t>New Employee();</a:t>
            </a:r>
          </a:p>
        </p:txBody>
      </p:sp>
      <p:sp>
        <p:nvSpPr>
          <p:cNvPr id="13" name="Rectangle 12"/>
          <p:cNvSpPr/>
          <p:nvPr/>
        </p:nvSpPr>
        <p:spPr>
          <a:xfrm>
            <a:off x="3962400" y="5638800"/>
            <a:ext cx="990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44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a:spLocks noGrp="1"/>
          </p:cNvSpPr>
          <p:nvPr>
            <p:ph idx="1"/>
          </p:nvPr>
        </p:nvSpPr>
        <p:spPr>
          <a:xfrm>
            <a:off x="228600" y="990600"/>
            <a:ext cx="8686800" cy="685800"/>
          </a:xfrm>
        </p:spPr>
        <p:txBody>
          <a:bodyPr/>
          <a:lstStyle/>
          <a:p>
            <a:pPr eaLnBrk="1" hangingPunct="1"/>
            <a:r>
              <a:rPr lang="en-US" smtClean="0"/>
              <a:t>Reference is allocated in stack and object in heap</a:t>
            </a:r>
          </a:p>
        </p:txBody>
      </p:sp>
      <p:sp>
        <p:nvSpPr>
          <p:cNvPr id="4" name="Title 1"/>
          <p:cNvSpPr txBox="1">
            <a:spLocks/>
          </p:cNvSpPr>
          <p:nvPr/>
        </p:nvSpPr>
        <p:spPr>
          <a:xfrm>
            <a:off x="0" y="274638"/>
            <a:ext cx="9144000" cy="563562"/>
          </a:xfrm>
          <a:prstGeom prst="rect">
            <a:avLst/>
          </a:prstGeom>
        </p:spPr>
        <p:style>
          <a:lnRef idx="1">
            <a:schemeClr val="accent1"/>
          </a:lnRef>
          <a:fillRef idx="2">
            <a:schemeClr val="accent1"/>
          </a:fillRef>
          <a:effectRef idx="1">
            <a:schemeClr val="accent1"/>
          </a:effectRef>
          <a:fontRef idx="minor">
            <a:schemeClr val="dk1"/>
          </a:fontRef>
        </p:style>
        <p:txBody>
          <a:bodyPr anchor="ctr">
            <a:normAutofit fontScale="82500" lnSpcReduction="20000"/>
          </a:bodyPr>
          <a:lstStyle/>
          <a:p>
            <a:pPr fontAlgn="auto">
              <a:spcBef>
                <a:spcPts val="0"/>
              </a:spcBef>
              <a:spcAft>
                <a:spcPts val="0"/>
              </a:spcAft>
              <a:defRPr/>
            </a:pPr>
            <a:r>
              <a:rPr lang="en-US" sz="4400" b="1" dirty="0">
                <a:solidFill>
                  <a:schemeClr val="accent1">
                    <a:lumMod val="75000"/>
                  </a:schemeClr>
                </a:solidFill>
                <a:effectLst>
                  <a:outerShdw blurRad="38100" dist="38100" dir="2700000" algn="tl">
                    <a:srgbClr val="000000">
                      <a:alpha val="43137"/>
                    </a:srgbClr>
                  </a:outerShdw>
                </a:effectLst>
              </a:rPr>
              <a:t>Object and memory allocation</a:t>
            </a:r>
          </a:p>
        </p:txBody>
      </p:sp>
      <p:sp>
        <p:nvSpPr>
          <p:cNvPr id="5" name="Rectangle 4"/>
          <p:cNvSpPr/>
          <p:nvPr/>
        </p:nvSpPr>
        <p:spPr>
          <a:xfrm>
            <a:off x="3048000" y="3048000"/>
            <a:ext cx="1676400" cy="3276600"/>
          </a:xfrm>
          <a:prstGeom prst="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a:off x="5334000" y="1905000"/>
            <a:ext cx="3276600" cy="3276600"/>
          </a:xfrm>
          <a:prstGeom prst="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9462" name="TextBox 6"/>
          <p:cNvSpPr txBox="1">
            <a:spLocks noChangeArrowheads="1"/>
          </p:cNvSpPr>
          <p:nvPr/>
        </p:nvSpPr>
        <p:spPr bwMode="auto">
          <a:xfrm>
            <a:off x="3048000" y="3048000"/>
            <a:ext cx="1676400" cy="584200"/>
          </a:xfrm>
          <a:prstGeom prst="rect">
            <a:avLst/>
          </a:prstGeom>
          <a:noFill/>
          <a:ln w="9525">
            <a:noFill/>
            <a:miter lim="800000"/>
            <a:headEnd/>
            <a:tailEnd/>
          </a:ln>
        </p:spPr>
        <p:txBody>
          <a:bodyPr>
            <a:spAutoFit/>
          </a:bodyPr>
          <a:lstStyle/>
          <a:p>
            <a:r>
              <a:rPr lang="en-US" sz="3200">
                <a:latin typeface="Calibri" pitchFamily="34" charset="0"/>
              </a:rPr>
              <a:t>xyz</a:t>
            </a:r>
          </a:p>
        </p:txBody>
      </p:sp>
      <p:sp>
        <p:nvSpPr>
          <p:cNvPr id="8" name="Oval 7"/>
          <p:cNvSpPr/>
          <p:nvPr/>
        </p:nvSpPr>
        <p:spPr>
          <a:xfrm>
            <a:off x="6248400" y="1981200"/>
            <a:ext cx="22860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Name</a:t>
            </a:r>
          </a:p>
          <a:p>
            <a:pPr algn="ctr" fontAlgn="auto">
              <a:spcBef>
                <a:spcPts val="0"/>
              </a:spcBef>
              <a:spcAft>
                <a:spcPts val="0"/>
              </a:spcAft>
              <a:defRPr/>
            </a:pPr>
            <a:r>
              <a:rPr lang="en-US" dirty="0"/>
              <a:t> designation</a:t>
            </a:r>
          </a:p>
        </p:txBody>
      </p:sp>
      <p:cxnSp>
        <p:nvCxnSpPr>
          <p:cNvPr id="10" name="Straight Arrow Connector 9"/>
          <p:cNvCxnSpPr/>
          <p:nvPr/>
        </p:nvCxnSpPr>
        <p:spPr>
          <a:xfrm flipV="1">
            <a:off x="3657600" y="2590800"/>
            <a:ext cx="2590800" cy="6858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465" name="TextBox 10"/>
          <p:cNvSpPr txBox="1">
            <a:spLocks noChangeArrowheads="1"/>
          </p:cNvSpPr>
          <p:nvPr/>
        </p:nvSpPr>
        <p:spPr bwMode="auto">
          <a:xfrm>
            <a:off x="228600" y="1828800"/>
            <a:ext cx="3810000" cy="400050"/>
          </a:xfrm>
          <a:prstGeom prst="rect">
            <a:avLst/>
          </a:prstGeom>
          <a:noFill/>
          <a:ln w="9525">
            <a:noFill/>
            <a:miter lim="800000"/>
            <a:headEnd/>
            <a:tailEnd/>
          </a:ln>
        </p:spPr>
        <p:txBody>
          <a:bodyPr>
            <a:spAutoFit/>
          </a:bodyPr>
          <a:lstStyle/>
          <a:p>
            <a:r>
              <a:rPr lang="en-US" sz="2000" b="1">
                <a:latin typeface="Calibri" pitchFamily="34" charset="0"/>
              </a:rPr>
              <a:t>Employee xyz = new Employee()</a:t>
            </a:r>
          </a:p>
        </p:txBody>
      </p:sp>
      <p:sp>
        <p:nvSpPr>
          <p:cNvPr id="12" name="TextBox 11"/>
          <p:cNvSpPr txBox="1">
            <a:spLocks noChangeArrowheads="1"/>
          </p:cNvSpPr>
          <p:nvPr/>
        </p:nvSpPr>
        <p:spPr bwMode="auto">
          <a:xfrm>
            <a:off x="228600" y="2209800"/>
            <a:ext cx="3810000" cy="400050"/>
          </a:xfrm>
          <a:prstGeom prst="rect">
            <a:avLst/>
          </a:prstGeom>
          <a:noFill/>
          <a:ln w="9525">
            <a:noFill/>
            <a:miter lim="800000"/>
            <a:headEnd/>
            <a:tailEnd/>
          </a:ln>
        </p:spPr>
        <p:txBody>
          <a:bodyPr>
            <a:spAutoFit/>
          </a:bodyPr>
          <a:lstStyle/>
          <a:p>
            <a:r>
              <a:rPr lang="en-US" sz="2000" b="1">
                <a:latin typeface="Calibri" pitchFamily="34" charset="0"/>
              </a:rPr>
              <a:t>Employee abc = xyz;</a:t>
            </a:r>
          </a:p>
        </p:txBody>
      </p:sp>
      <p:sp>
        <p:nvSpPr>
          <p:cNvPr id="13" name="TextBox 12"/>
          <p:cNvSpPr txBox="1">
            <a:spLocks noChangeArrowheads="1"/>
          </p:cNvSpPr>
          <p:nvPr/>
        </p:nvSpPr>
        <p:spPr bwMode="auto">
          <a:xfrm>
            <a:off x="3048000" y="3606800"/>
            <a:ext cx="1676400" cy="584200"/>
          </a:xfrm>
          <a:prstGeom prst="rect">
            <a:avLst/>
          </a:prstGeom>
          <a:noFill/>
          <a:ln w="9525">
            <a:noFill/>
            <a:miter lim="800000"/>
            <a:headEnd/>
            <a:tailEnd/>
          </a:ln>
        </p:spPr>
        <p:txBody>
          <a:bodyPr>
            <a:spAutoFit/>
          </a:bodyPr>
          <a:lstStyle/>
          <a:p>
            <a:r>
              <a:rPr lang="en-US" sz="3200">
                <a:latin typeface="Calibri" pitchFamily="34" charset="0"/>
              </a:rPr>
              <a:t>abc</a:t>
            </a:r>
          </a:p>
        </p:txBody>
      </p:sp>
      <p:cxnSp>
        <p:nvCxnSpPr>
          <p:cNvPr id="14" name="Straight Arrow Connector 13"/>
          <p:cNvCxnSpPr/>
          <p:nvPr/>
        </p:nvCxnSpPr>
        <p:spPr>
          <a:xfrm flipV="1">
            <a:off x="3657600" y="2743200"/>
            <a:ext cx="2819400" cy="1219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469" name="TextBox 15"/>
          <p:cNvSpPr txBox="1">
            <a:spLocks noChangeArrowheads="1"/>
          </p:cNvSpPr>
          <p:nvPr/>
        </p:nvSpPr>
        <p:spPr bwMode="auto">
          <a:xfrm>
            <a:off x="3124200" y="6324600"/>
            <a:ext cx="1676400" cy="523875"/>
          </a:xfrm>
          <a:prstGeom prst="rect">
            <a:avLst/>
          </a:prstGeom>
          <a:noFill/>
          <a:ln w="9525">
            <a:noFill/>
            <a:miter lim="800000"/>
            <a:headEnd/>
            <a:tailEnd/>
          </a:ln>
        </p:spPr>
        <p:txBody>
          <a:bodyPr>
            <a:spAutoFit/>
          </a:bodyPr>
          <a:lstStyle/>
          <a:p>
            <a:r>
              <a:rPr lang="en-US" sz="2800" b="1">
                <a:latin typeface="Calibri" pitchFamily="34" charset="0"/>
              </a:rPr>
              <a:t>Stack</a:t>
            </a:r>
          </a:p>
        </p:txBody>
      </p:sp>
      <p:sp>
        <p:nvSpPr>
          <p:cNvPr id="19470" name="TextBox 16"/>
          <p:cNvSpPr txBox="1">
            <a:spLocks noChangeArrowheads="1"/>
          </p:cNvSpPr>
          <p:nvPr/>
        </p:nvSpPr>
        <p:spPr bwMode="auto">
          <a:xfrm>
            <a:off x="6324600" y="5257800"/>
            <a:ext cx="1676400" cy="584200"/>
          </a:xfrm>
          <a:prstGeom prst="rect">
            <a:avLst/>
          </a:prstGeom>
          <a:noFill/>
          <a:ln w="9525">
            <a:noFill/>
            <a:miter lim="800000"/>
            <a:headEnd/>
            <a:tailEnd/>
          </a:ln>
        </p:spPr>
        <p:txBody>
          <a:bodyPr>
            <a:spAutoFit/>
          </a:bodyPr>
          <a:lstStyle/>
          <a:p>
            <a:r>
              <a:rPr lang="en-US" sz="3200" b="1">
                <a:latin typeface="Calibri" pitchFamily="34" charset="0"/>
              </a:rPr>
              <a:t>Heap</a:t>
            </a:r>
          </a:p>
        </p:txBody>
      </p:sp>
      <p:sp>
        <p:nvSpPr>
          <p:cNvPr id="18" name="TextBox 17"/>
          <p:cNvSpPr txBox="1">
            <a:spLocks noChangeArrowheads="1"/>
          </p:cNvSpPr>
          <p:nvPr/>
        </p:nvSpPr>
        <p:spPr bwMode="auto">
          <a:xfrm>
            <a:off x="228600" y="2724150"/>
            <a:ext cx="3810000" cy="400050"/>
          </a:xfrm>
          <a:prstGeom prst="rect">
            <a:avLst/>
          </a:prstGeom>
          <a:noFill/>
          <a:ln w="9525">
            <a:noFill/>
            <a:miter lim="800000"/>
            <a:headEnd/>
            <a:tailEnd/>
          </a:ln>
        </p:spPr>
        <p:txBody>
          <a:bodyPr>
            <a:spAutoFit/>
          </a:bodyPr>
          <a:lstStyle/>
          <a:p>
            <a:r>
              <a:rPr lang="en-US" sz="2000" b="1">
                <a:latin typeface="Calibri" pitchFamily="34" charset="0"/>
              </a:rPr>
              <a:t>Employee xyz = null;</a:t>
            </a:r>
          </a:p>
        </p:txBody>
      </p:sp>
      <p:sp>
        <p:nvSpPr>
          <p:cNvPr id="19" name="TextBox 18"/>
          <p:cNvSpPr txBox="1">
            <a:spLocks noChangeArrowheads="1"/>
          </p:cNvSpPr>
          <p:nvPr/>
        </p:nvSpPr>
        <p:spPr bwMode="auto">
          <a:xfrm>
            <a:off x="304800" y="3352800"/>
            <a:ext cx="3810000" cy="400050"/>
          </a:xfrm>
          <a:prstGeom prst="rect">
            <a:avLst/>
          </a:prstGeom>
          <a:noFill/>
          <a:ln w="9525">
            <a:noFill/>
            <a:miter lim="800000"/>
            <a:headEnd/>
            <a:tailEnd/>
          </a:ln>
        </p:spPr>
        <p:txBody>
          <a:bodyPr>
            <a:spAutoFit/>
          </a:bodyPr>
          <a:lstStyle/>
          <a:p>
            <a:r>
              <a:rPr lang="en-US" sz="2000" b="1">
                <a:latin typeface="Calibri" pitchFamily="34" charset="0"/>
              </a:rPr>
              <a:t>xyz = new Employee();</a:t>
            </a:r>
          </a:p>
        </p:txBody>
      </p:sp>
      <p:sp>
        <p:nvSpPr>
          <p:cNvPr id="20" name="Oval 19"/>
          <p:cNvSpPr/>
          <p:nvPr/>
        </p:nvSpPr>
        <p:spPr>
          <a:xfrm>
            <a:off x="6324600" y="3200400"/>
            <a:ext cx="22860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Name</a:t>
            </a:r>
          </a:p>
          <a:p>
            <a:pPr algn="ctr" fontAlgn="auto">
              <a:spcBef>
                <a:spcPts val="0"/>
              </a:spcBef>
              <a:spcAft>
                <a:spcPts val="0"/>
              </a:spcAft>
              <a:defRPr/>
            </a:pPr>
            <a:r>
              <a:rPr lang="en-US" dirty="0"/>
              <a:t> designation</a:t>
            </a:r>
          </a:p>
        </p:txBody>
      </p:sp>
      <p:cxnSp>
        <p:nvCxnSpPr>
          <p:cNvPr id="22" name="Straight Arrow Connector 21"/>
          <p:cNvCxnSpPr>
            <a:stCxn id="8" idx="0"/>
          </p:cNvCxnSpPr>
          <p:nvPr/>
        </p:nvCxnSpPr>
        <p:spPr>
          <a:xfrm flipV="1">
            <a:off x="7391400" y="1600200"/>
            <a:ext cx="1524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8001000" y="4038600"/>
            <a:ext cx="53340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476" name="TextBox 24"/>
          <p:cNvSpPr txBox="1">
            <a:spLocks noChangeArrowheads="1"/>
          </p:cNvSpPr>
          <p:nvPr/>
        </p:nvSpPr>
        <p:spPr bwMode="auto">
          <a:xfrm>
            <a:off x="7620000" y="1371600"/>
            <a:ext cx="914400" cy="400050"/>
          </a:xfrm>
          <a:prstGeom prst="rect">
            <a:avLst/>
          </a:prstGeom>
          <a:noFill/>
          <a:ln w="9525">
            <a:noFill/>
            <a:miter lim="800000"/>
            <a:headEnd/>
            <a:tailEnd/>
          </a:ln>
        </p:spPr>
        <p:txBody>
          <a:bodyPr>
            <a:spAutoFit/>
          </a:bodyPr>
          <a:lstStyle/>
          <a:p>
            <a:r>
              <a:rPr lang="en-US" sz="2000" b="1">
                <a:latin typeface="Calibri" pitchFamily="34" charset="0"/>
              </a:rPr>
              <a:t>Obj 1</a:t>
            </a:r>
          </a:p>
        </p:txBody>
      </p:sp>
      <p:sp>
        <p:nvSpPr>
          <p:cNvPr id="26" name="TextBox 25"/>
          <p:cNvSpPr txBox="1">
            <a:spLocks noChangeArrowheads="1"/>
          </p:cNvSpPr>
          <p:nvPr/>
        </p:nvSpPr>
        <p:spPr bwMode="auto">
          <a:xfrm>
            <a:off x="8077200" y="5543550"/>
            <a:ext cx="914400" cy="400050"/>
          </a:xfrm>
          <a:prstGeom prst="rect">
            <a:avLst/>
          </a:prstGeom>
          <a:noFill/>
          <a:ln w="9525">
            <a:noFill/>
            <a:miter lim="800000"/>
            <a:headEnd/>
            <a:tailEnd/>
          </a:ln>
        </p:spPr>
        <p:txBody>
          <a:bodyPr>
            <a:spAutoFit/>
          </a:bodyPr>
          <a:lstStyle/>
          <a:p>
            <a:r>
              <a:rPr lang="en-US" sz="2000" b="1">
                <a:latin typeface="Calibri" pitchFamily="34" charset="0"/>
              </a:rPr>
              <a:t>Obj 2</a:t>
            </a:r>
          </a:p>
        </p:txBody>
      </p:sp>
      <p:cxnSp>
        <p:nvCxnSpPr>
          <p:cNvPr id="27" name="Straight Arrow Connector 26"/>
          <p:cNvCxnSpPr>
            <a:endCxn id="20" idx="2"/>
          </p:cNvCxnSpPr>
          <p:nvPr/>
        </p:nvCxnSpPr>
        <p:spPr>
          <a:xfrm>
            <a:off x="3657600" y="3276600"/>
            <a:ext cx="2667000" cy="38100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par>
                                <p:cTn id="13" presetID="3" presetClass="entr" presetSubtype="1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linds(horizontal)">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blinds(horizontal)">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nodeType="clickEffect">
                                  <p:stCondLst>
                                    <p:cond delay="0"/>
                                  </p:stCondLst>
                                  <p:childTnLst>
                                    <p:animEffect transition="out" filter="blinds(horizontal)">
                                      <p:cBhvr>
                                        <p:cTn id="24" dur="500"/>
                                        <p:tgtEl>
                                          <p:spTgt spid="10"/>
                                        </p:tgtEl>
                                      </p:cBhvr>
                                    </p:animEffect>
                                    <p:set>
                                      <p:cBhvr>
                                        <p:cTn id="25" dur="1" fill="hold">
                                          <p:stCondLst>
                                            <p:cond delay="499"/>
                                          </p:stCondLst>
                                        </p:cTn>
                                        <p:tgtEl>
                                          <p:spTgt spid="10"/>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blinds(horizontal)">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blinds(horizontal)">
                                      <p:cBhvr>
                                        <p:cTn id="35" dur="500"/>
                                        <p:tgtEl>
                                          <p:spTgt spid="20"/>
                                        </p:tgtEl>
                                      </p:cBhvr>
                                    </p:animEffect>
                                  </p:childTnLst>
                                </p:cTn>
                              </p:par>
                              <p:par>
                                <p:cTn id="36" presetID="3" presetClass="entr" presetSubtype="10" fill="hold"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blinds(horizontal)">
                                      <p:cBhvr>
                                        <p:cTn id="38" dur="500"/>
                                        <p:tgtEl>
                                          <p:spTgt spid="23"/>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blinds(horizontal)">
                                      <p:cBhvr>
                                        <p:cTn id="41" dur="500"/>
                                        <p:tgtEl>
                                          <p:spTgt spid="26"/>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blinds(horizontal)">
                                      <p:cBhvr>
                                        <p:cTn id="4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8" grpId="0"/>
      <p:bldP spid="19" grpId="0"/>
      <p:bldP spid="20" grpId="0" animBg="1"/>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1026"/>
          <p:cNvSpPr>
            <a:spLocks noGrp="1" noChangeArrowheads="1"/>
          </p:cNvSpPr>
          <p:nvPr>
            <p:ph type="title"/>
          </p:nvPr>
        </p:nvSpPr>
        <p:spPr>
          <a:xfrm>
            <a:off x="1295400" y="304800"/>
            <a:ext cx="7315200" cy="685800"/>
          </a:xfrm>
        </p:spPr>
        <p:txBody>
          <a:bodyPr>
            <a:normAutofit fontScale="90000"/>
          </a:bodyPr>
          <a:lstStyle/>
          <a:p>
            <a:pPr eaLnBrk="1" hangingPunct="1">
              <a:defRPr/>
            </a:pPr>
            <a:r>
              <a:rPr lang="en-US" dirty="0" smtClean="0"/>
              <a:t>Constructor</a:t>
            </a:r>
          </a:p>
        </p:txBody>
      </p:sp>
      <p:sp>
        <p:nvSpPr>
          <p:cNvPr id="15364" name="Rectangle 1027"/>
          <p:cNvSpPr>
            <a:spLocks noGrp="1" noChangeArrowheads="1"/>
          </p:cNvSpPr>
          <p:nvPr>
            <p:ph type="body" idx="1"/>
          </p:nvPr>
        </p:nvSpPr>
        <p:spPr>
          <a:xfrm>
            <a:off x="457200" y="1219200"/>
            <a:ext cx="8229600" cy="4906963"/>
          </a:xfrm>
        </p:spPr>
        <p:txBody>
          <a:bodyPr>
            <a:normAutofit lnSpcReduction="10000"/>
          </a:bodyPr>
          <a:lstStyle/>
          <a:p>
            <a:pPr eaLnBrk="1" hangingPunct="1">
              <a:spcBef>
                <a:spcPct val="50000"/>
              </a:spcBef>
            </a:pPr>
            <a:r>
              <a:rPr lang="en-US" dirty="0" smtClean="0"/>
              <a:t>Constructor is a special method with same name as it’s class name</a:t>
            </a:r>
          </a:p>
          <a:p>
            <a:pPr eaLnBrk="1" hangingPunct="1">
              <a:spcBef>
                <a:spcPct val="50000"/>
              </a:spcBef>
            </a:pPr>
            <a:r>
              <a:rPr lang="en-US" dirty="0" smtClean="0"/>
              <a:t>No return type for constructor. Not even void</a:t>
            </a:r>
          </a:p>
          <a:p>
            <a:pPr eaLnBrk="1" hangingPunct="1">
              <a:spcBef>
                <a:spcPct val="50000"/>
              </a:spcBef>
            </a:pPr>
            <a:r>
              <a:rPr lang="en-US" dirty="0" smtClean="0"/>
              <a:t>Constructors are implicitly called when objects are created</a:t>
            </a:r>
          </a:p>
          <a:p>
            <a:pPr eaLnBrk="1" hangingPunct="1">
              <a:spcBef>
                <a:spcPct val="50000"/>
              </a:spcBef>
            </a:pPr>
            <a:r>
              <a:rPr lang="en-US" dirty="0" smtClean="0"/>
              <a:t>A constructor without  input  parameter is default constructor</a:t>
            </a:r>
          </a:p>
          <a:p>
            <a:pPr eaLnBrk="1" hangingPunct="1">
              <a:spcBef>
                <a:spcPct val="50000"/>
              </a:spcBef>
            </a:pPr>
            <a:r>
              <a:rPr lang="en-US" dirty="0" smtClean="0"/>
              <a:t>Constructor can be overloaded</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228601" y="533400"/>
            <a:ext cx="8382000" cy="1065213"/>
          </a:xfrm>
        </p:spPr>
        <p:txBody>
          <a:bodyPr>
            <a:normAutofit/>
          </a:bodyPr>
          <a:lstStyle/>
          <a:p>
            <a:pPr eaLnBrk="1" hangingPunct="1">
              <a:defRPr/>
            </a:pPr>
            <a:r>
              <a:rPr lang="en-US" dirty="0" smtClean="0"/>
              <a:t>Class Date: Constructors</a:t>
            </a:r>
          </a:p>
        </p:txBody>
      </p:sp>
      <p:sp>
        <p:nvSpPr>
          <p:cNvPr id="17412" name="Rectangle 3"/>
          <p:cNvSpPr>
            <a:spLocks noGrp="1" noChangeArrowheads="1"/>
          </p:cNvSpPr>
          <p:nvPr>
            <p:ph type="body" sz="half" idx="1"/>
          </p:nvPr>
        </p:nvSpPr>
        <p:spPr>
          <a:xfrm>
            <a:off x="304800" y="1524000"/>
            <a:ext cx="4267200" cy="4835525"/>
          </a:xfrm>
        </p:spPr>
        <p:txBody>
          <a:bodyPr/>
          <a:lstStyle/>
          <a:p>
            <a:pPr eaLnBrk="1" hangingPunct="1">
              <a:lnSpc>
                <a:spcPct val="80000"/>
              </a:lnSpc>
              <a:buSzTx/>
              <a:buFontTx/>
              <a:buNone/>
            </a:pPr>
            <a:r>
              <a:rPr lang="en-US" sz="1800" dirty="0" smtClean="0"/>
              <a:t>class Date {</a:t>
            </a:r>
          </a:p>
          <a:p>
            <a:pPr lvl="1" eaLnBrk="1" hangingPunct="1">
              <a:lnSpc>
                <a:spcPct val="80000"/>
              </a:lnSpc>
              <a:buSzTx/>
              <a:buFontTx/>
              <a:buNone/>
            </a:pPr>
            <a:r>
              <a:rPr lang="en-US" sz="1800" dirty="0" smtClean="0"/>
              <a:t>    </a:t>
            </a:r>
            <a:r>
              <a:rPr lang="en-US" sz="1800" dirty="0" err="1" smtClean="0"/>
              <a:t>int</a:t>
            </a:r>
            <a:r>
              <a:rPr lang="en-US" sz="1800" dirty="0" smtClean="0"/>
              <a:t> </a:t>
            </a:r>
            <a:r>
              <a:rPr lang="en-US" sz="1800" dirty="0" err="1" smtClean="0"/>
              <a:t>dd</a:t>
            </a:r>
            <a:r>
              <a:rPr lang="en-US" sz="1800" dirty="0" smtClean="0"/>
              <a:t>, mm, </a:t>
            </a:r>
            <a:r>
              <a:rPr lang="en-US" sz="1800" dirty="0" err="1" smtClean="0"/>
              <a:t>yy</a:t>
            </a:r>
            <a:r>
              <a:rPr lang="en-US" sz="1800" dirty="0" smtClean="0"/>
              <a:t>;</a:t>
            </a:r>
          </a:p>
          <a:p>
            <a:pPr lvl="1" eaLnBrk="1" hangingPunct="1">
              <a:lnSpc>
                <a:spcPct val="80000"/>
              </a:lnSpc>
              <a:buSzTx/>
              <a:buFontTx/>
              <a:buNone/>
            </a:pPr>
            <a:endParaRPr lang="en-US" sz="1800" dirty="0" smtClean="0"/>
          </a:p>
          <a:p>
            <a:pPr lvl="1" eaLnBrk="1" hangingPunct="1">
              <a:lnSpc>
                <a:spcPct val="80000"/>
              </a:lnSpc>
              <a:buSzTx/>
              <a:buFontTx/>
              <a:buNone/>
            </a:pPr>
            <a:r>
              <a:rPr lang="en-US" sz="1800" dirty="0" smtClean="0"/>
              <a:t>public Date(){</a:t>
            </a:r>
          </a:p>
          <a:p>
            <a:pPr lvl="1" eaLnBrk="1" hangingPunct="1">
              <a:lnSpc>
                <a:spcPct val="80000"/>
              </a:lnSpc>
              <a:buSzTx/>
              <a:buFontTx/>
              <a:buNone/>
            </a:pPr>
            <a:r>
              <a:rPr lang="en-US" sz="1800" dirty="0" smtClean="0"/>
              <a:t>	</a:t>
            </a:r>
            <a:r>
              <a:rPr lang="en-US" sz="1800" dirty="0" err="1" smtClean="0"/>
              <a:t>dd</a:t>
            </a:r>
            <a:r>
              <a:rPr lang="en-US" sz="1800" dirty="0" smtClean="0"/>
              <a:t> = mm = </a:t>
            </a:r>
            <a:r>
              <a:rPr lang="en-US" sz="1800" dirty="0" err="1" smtClean="0"/>
              <a:t>yy</a:t>
            </a:r>
            <a:r>
              <a:rPr lang="en-US" sz="1800" dirty="0" smtClean="0"/>
              <a:t> = 0;</a:t>
            </a:r>
          </a:p>
          <a:p>
            <a:pPr lvl="1" eaLnBrk="1" hangingPunct="1">
              <a:lnSpc>
                <a:spcPct val="80000"/>
              </a:lnSpc>
              <a:buSzTx/>
              <a:buFontTx/>
              <a:buNone/>
            </a:pPr>
            <a:r>
              <a:rPr lang="en-US" sz="1800" dirty="0" smtClean="0"/>
              <a:t>}</a:t>
            </a:r>
          </a:p>
          <a:p>
            <a:pPr lvl="1" eaLnBrk="1" hangingPunct="1">
              <a:lnSpc>
                <a:spcPct val="80000"/>
              </a:lnSpc>
              <a:buSzTx/>
              <a:buFontTx/>
              <a:buNone/>
            </a:pPr>
            <a:r>
              <a:rPr lang="en-US" sz="1800" dirty="0" smtClean="0"/>
              <a:t>public Date(</a:t>
            </a:r>
            <a:r>
              <a:rPr lang="en-US" sz="1800" dirty="0" err="1" smtClean="0"/>
              <a:t>int</a:t>
            </a:r>
            <a:r>
              <a:rPr lang="en-US" sz="1800" dirty="0" smtClean="0"/>
              <a:t> d, </a:t>
            </a:r>
            <a:r>
              <a:rPr lang="en-US" sz="1800" dirty="0" err="1" smtClean="0"/>
              <a:t>int</a:t>
            </a:r>
            <a:r>
              <a:rPr lang="en-US" sz="1800" dirty="0" smtClean="0"/>
              <a:t> m, </a:t>
            </a:r>
            <a:r>
              <a:rPr lang="en-US" sz="1800" dirty="0" err="1" smtClean="0"/>
              <a:t>int</a:t>
            </a:r>
            <a:r>
              <a:rPr lang="en-US" sz="1800" dirty="0" smtClean="0"/>
              <a:t> y){</a:t>
            </a:r>
          </a:p>
          <a:p>
            <a:pPr lvl="2" eaLnBrk="1" hangingPunct="1">
              <a:lnSpc>
                <a:spcPct val="80000"/>
              </a:lnSpc>
              <a:buSzTx/>
              <a:buFontTx/>
              <a:buNone/>
            </a:pPr>
            <a:r>
              <a:rPr lang="en-US" sz="1800" dirty="0" err="1" smtClean="0"/>
              <a:t>dd</a:t>
            </a:r>
            <a:r>
              <a:rPr lang="en-US" sz="1800" dirty="0" smtClean="0"/>
              <a:t> = d;</a:t>
            </a:r>
          </a:p>
          <a:p>
            <a:pPr lvl="2" eaLnBrk="1" hangingPunct="1">
              <a:lnSpc>
                <a:spcPct val="80000"/>
              </a:lnSpc>
              <a:buSzTx/>
              <a:buFontTx/>
              <a:buNone/>
            </a:pPr>
            <a:r>
              <a:rPr lang="en-US" sz="1800" dirty="0" smtClean="0"/>
              <a:t>mm = m;</a:t>
            </a:r>
          </a:p>
          <a:p>
            <a:pPr lvl="2" eaLnBrk="1" hangingPunct="1">
              <a:lnSpc>
                <a:spcPct val="80000"/>
              </a:lnSpc>
              <a:buSzTx/>
              <a:buFontTx/>
              <a:buNone/>
            </a:pPr>
            <a:r>
              <a:rPr lang="en-US" sz="1800" dirty="0" err="1" smtClean="0"/>
              <a:t>yy</a:t>
            </a:r>
            <a:r>
              <a:rPr lang="en-US" sz="1800" dirty="0" smtClean="0"/>
              <a:t> = y;</a:t>
            </a:r>
          </a:p>
          <a:p>
            <a:pPr lvl="2" eaLnBrk="1" hangingPunct="1">
              <a:lnSpc>
                <a:spcPct val="80000"/>
              </a:lnSpc>
              <a:buSzTx/>
              <a:buFontTx/>
              <a:buNone/>
            </a:pPr>
            <a:r>
              <a:rPr lang="en-US" sz="1800" dirty="0" smtClean="0"/>
              <a:t>}</a:t>
            </a:r>
          </a:p>
          <a:p>
            <a:pPr lvl="1" eaLnBrk="1" hangingPunct="1">
              <a:lnSpc>
                <a:spcPct val="80000"/>
              </a:lnSpc>
              <a:buSzTx/>
              <a:buFontTx/>
              <a:buNone/>
            </a:pPr>
            <a:r>
              <a:rPr lang="en-US" sz="1800" dirty="0" smtClean="0"/>
              <a:t>public void </a:t>
            </a:r>
            <a:r>
              <a:rPr lang="en-US" sz="1800" dirty="0" err="1" smtClean="0"/>
              <a:t>dispDate</a:t>
            </a:r>
            <a:r>
              <a:rPr lang="en-US" sz="1800" dirty="0" smtClean="0"/>
              <a:t>(){</a:t>
            </a:r>
          </a:p>
          <a:p>
            <a:pPr lvl="1" eaLnBrk="1" hangingPunct="1">
              <a:lnSpc>
                <a:spcPct val="80000"/>
              </a:lnSpc>
              <a:buSzTx/>
              <a:buFontTx/>
              <a:buNone/>
            </a:pPr>
            <a:r>
              <a:rPr lang="en-US" sz="1800" dirty="0" smtClean="0"/>
              <a:t>		</a:t>
            </a:r>
            <a:r>
              <a:rPr lang="en-US" sz="1800" dirty="0" err="1" smtClean="0"/>
              <a:t>System.out.println</a:t>
            </a:r>
            <a:r>
              <a:rPr lang="en-US" sz="1800" dirty="0" smtClean="0"/>
              <a:t>(“Date is : “ + </a:t>
            </a:r>
            <a:r>
              <a:rPr lang="en-US" sz="1800" dirty="0" err="1" smtClean="0"/>
              <a:t>dd</a:t>
            </a:r>
            <a:r>
              <a:rPr lang="en-US" sz="1800" dirty="0" smtClean="0"/>
              <a:t> +”-”+ mm +”-”+ </a:t>
            </a:r>
            <a:r>
              <a:rPr lang="en-US" sz="1800" dirty="0" err="1" smtClean="0"/>
              <a:t>yy</a:t>
            </a:r>
            <a:r>
              <a:rPr lang="en-US" sz="1800" dirty="0" smtClean="0"/>
              <a:t>);</a:t>
            </a:r>
          </a:p>
          <a:p>
            <a:pPr lvl="1" eaLnBrk="1" hangingPunct="1">
              <a:lnSpc>
                <a:spcPct val="80000"/>
              </a:lnSpc>
              <a:buSzTx/>
              <a:buFontTx/>
              <a:buNone/>
            </a:pPr>
            <a:r>
              <a:rPr lang="en-US" sz="1800" dirty="0" smtClean="0"/>
              <a:t>}</a:t>
            </a:r>
            <a:endParaRPr lang="en-US" sz="1600" dirty="0" smtClean="0"/>
          </a:p>
        </p:txBody>
      </p:sp>
      <p:sp>
        <p:nvSpPr>
          <p:cNvPr id="17413" name="Rectangle 4"/>
          <p:cNvSpPr>
            <a:spLocks noGrp="1" noChangeArrowheads="1"/>
          </p:cNvSpPr>
          <p:nvPr>
            <p:ph type="body" sz="half" idx="2"/>
          </p:nvPr>
        </p:nvSpPr>
        <p:spPr>
          <a:xfrm>
            <a:off x="4267200" y="1447800"/>
            <a:ext cx="4648199" cy="4913313"/>
          </a:xfrm>
        </p:spPr>
        <p:txBody>
          <a:bodyPr/>
          <a:lstStyle/>
          <a:p>
            <a:pPr eaLnBrk="1" hangingPunct="1">
              <a:lnSpc>
                <a:spcPct val="90000"/>
              </a:lnSpc>
              <a:buFontTx/>
              <a:buNone/>
            </a:pPr>
            <a:r>
              <a:rPr lang="en-US" sz="2000" dirty="0" smtClean="0"/>
              <a:t>public static void main(String </a:t>
            </a:r>
            <a:r>
              <a:rPr lang="en-US" sz="2000" dirty="0" err="1" smtClean="0"/>
              <a:t>args</a:t>
            </a:r>
            <a:r>
              <a:rPr lang="en-US" sz="2000" dirty="0" smtClean="0"/>
              <a:t>[ ])</a:t>
            </a:r>
          </a:p>
          <a:p>
            <a:pPr eaLnBrk="1" hangingPunct="1">
              <a:lnSpc>
                <a:spcPct val="90000"/>
              </a:lnSpc>
              <a:buFontTx/>
              <a:buNone/>
            </a:pPr>
            <a:r>
              <a:rPr lang="en-US" sz="2000" dirty="0" smtClean="0"/>
              <a:t>{</a:t>
            </a:r>
          </a:p>
          <a:p>
            <a:pPr eaLnBrk="1" hangingPunct="1">
              <a:lnSpc>
                <a:spcPct val="90000"/>
              </a:lnSpc>
              <a:buFontTx/>
              <a:buNone/>
            </a:pPr>
            <a:r>
              <a:rPr lang="en-US" sz="2000" dirty="0" smtClean="0"/>
              <a:t>		Date d1;</a:t>
            </a:r>
          </a:p>
          <a:p>
            <a:pPr eaLnBrk="1" hangingPunct="1">
              <a:lnSpc>
                <a:spcPct val="90000"/>
              </a:lnSpc>
              <a:buFontTx/>
              <a:buNone/>
            </a:pPr>
            <a:r>
              <a:rPr lang="en-US" sz="2000" dirty="0" smtClean="0"/>
              <a:t>		d1 = new Date();</a:t>
            </a:r>
          </a:p>
          <a:p>
            <a:pPr eaLnBrk="1" hangingPunct="1">
              <a:lnSpc>
                <a:spcPct val="90000"/>
              </a:lnSpc>
              <a:buFontTx/>
              <a:buNone/>
            </a:pPr>
            <a:r>
              <a:rPr lang="en-US" sz="2000" dirty="0" smtClean="0"/>
              <a:t>		d1.dispDate();</a:t>
            </a:r>
          </a:p>
          <a:p>
            <a:pPr eaLnBrk="1" hangingPunct="1">
              <a:lnSpc>
                <a:spcPct val="90000"/>
              </a:lnSpc>
              <a:buFontTx/>
              <a:buNone/>
            </a:pPr>
            <a:endParaRPr lang="en-US" sz="2000" dirty="0" smtClean="0"/>
          </a:p>
          <a:p>
            <a:pPr eaLnBrk="1" hangingPunct="1">
              <a:lnSpc>
                <a:spcPct val="90000"/>
              </a:lnSpc>
              <a:buFontTx/>
              <a:buNone/>
            </a:pPr>
            <a:r>
              <a:rPr lang="en-US" sz="2000" dirty="0" smtClean="0"/>
              <a:t>		Date d2 = new</a:t>
            </a:r>
          </a:p>
          <a:p>
            <a:pPr eaLnBrk="1" hangingPunct="1">
              <a:lnSpc>
                <a:spcPct val="90000"/>
              </a:lnSpc>
              <a:buFontTx/>
              <a:buNone/>
            </a:pPr>
            <a:r>
              <a:rPr lang="en-US" sz="2000" dirty="0" smtClean="0"/>
              <a:t>			 Date(17,7,2017);</a:t>
            </a:r>
          </a:p>
          <a:p>
            <a:pPr eaLnBrk="1" hangingPunct="1">
              <a:lnSpc>
                <a:spcPct val="90000"/>
              </a:lnSpc>
              <a:buFontTx/>
              <a:buNone/>
            </a:pPr>
            <a:r>
              <a:rPr lang="en-US" sz="2000" dirty="0" smtClean="0"/>
              <a:t>		d2.dispDate();</a:t>
            </a:r>
          </a:p>
          <a:p>
            <a:pPr eaLnBrk="1" hangingPunct="1">
              <a:lnSpc>
                <a:spcPct val="90000"/>
              </a:lnSpc>
              <a:buFontTx/>
              <a:buNone/>
            </a:pPr>
            <a:r>
              <a:rPr lang="en-US" sz="2000" dirty="0" smtClean="0"/>
              <a:t>}</a:t>
            </a:r>
          </a:p>
          <a:p>
            <a:pPr eaLnBrk="1" hangingPunct="1">
              <a:lnSpc>
                <a:spcPct val="90000"/>
              </a:lnSpc>
              <a:buFontTx/>
              <a:buNone/>
            </a:pPr>
            <a:r>
              <a:rPr lang="en-US" sz="2000" dirty="0" smtClean="0"/>
              <a:t>}</a:t>
            </a:r>
            <a:endParaRPr lang="en-US" sz="180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2">
                                            <p:txEl>
                                              <p:pRg st="0" end="0"/>
                                            </p:txEl>
                                          </p:spTgt>
                                        </p:tgtEl>
                                        <p:attrNameLst>
                                          <p:attrName>style.visibility</p:attrName>
                                        </p:attrNameLst>
                                      </p:cBhvr>
                                      <p:to>
                                        <p:strVal val="visible"/>
                                      </p:to>
                                    </p:set>
                                    <p:anim calcmode="lin" valueType="num">
                                      <p:cBhvr additive="base">
                                        <p:cTn id="7" dur="500" fill="hold"/>
                                        <p:tgtEl>
                                          <p:spTgt spid="174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412">
                                            <p:txEl>
                                              <p:pRg st="1" end="1"/>
                                            </p:txEl>
                                          </p:spTgt>
                                        </p:tgtEl>
                                        <p:attrNameLst>
                                          <p:attrName>style.visibility</p:attrName>
                                        </p:attrNameLst>
                                      </p:cBhvr>
                                      <p:to>
                                        <p:strVal val="visible"/>
                                      </p:to>
                                    </p:set>
                                    <p:anim calcmode="lin" valueType="num">
                                      <p:cBhvr additive="base">
                                        <p:cTn id="11" dur="500" fill="hold"/>
                                        <p:tgtEl>
                                          <p:spTgt spid="1741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41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412">
                                            <p:txEl>
                                              <p:pRg st="3" end="3"/>
                                            </p:txEl>
                                          </p:spTgt>
                                        </p:tgtEl>
                                        <p:attrNameLst>
                                          <p:attrName>style.visibility</p:attrName>
                                        </p:attrNameLst>
                                      </p:cBhvr>
                                      <p:to>
                                        <p:strVal val="visible"/>
                                      </p:to>
                                    </p:set>
                                    <p:anim calcmode="lin" valueType="num">
                                      <p:cBhvr additive="base">
                                        <p:cTn id="15" dur="500" fill="hold"/>
                                        <p:tgtEl>
                                          <p:spTgt spid="1741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41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7412">
                                            <p:txEl>
                                              <p:pRg st="4" end="4"/>
                                            </p:txEl>
                                          </p:spTgt>
                                        </p:tgtEl>
                                        <p:attrNameLst>
                                          <p:attrName>style.visibility</p:attrName>
                                        </p:attrNameLst>
                                      </p:cBhvr>
                                      <p:to>
                                        <p:strVal val="visible"/>
                                      </p:to>
                                    </p:set>
                                    <p:anim calcmode="lin" valueType="num">
                                      <p:cBhvr additive="base">
                                        <p:cTn id="19" dur="500" fill="hold"/>
                                        <p:tgtEl>
                                          <p:spTgt spid="1741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7412">
                                            <p:txEl>
                                              <p:pRg st="5" end="5"/>
                                            </p:txEl>
                                          </p:spTgt>
                                        </p:tgtEl>
                                        <p:attrNameLst>
                                          <p:attrName>style.visibility</p:attrName>
                                        </p:attrNameLst>
                                      </p:cBhvr>
                                      <p:to>
                                        <p:strVal val="visible"/>
                                      </p:to>
                                    </p:set>
                                    <p:anim calcmode="lin" valueType="num">
                                      <p:cBhvr additive="base">
                                        <p:cTn id="23" dur="500" fill="hold"/>
                                        <p:tgtEl>
                                          <p:spTgt spid="1741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7412">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412">
                                            <p:txEl>
                                              <p:pRg st="6" end="6"/>
                                            </p:txEl>
                                          </p:spTgt>
                                        </p:tgtEl>
                                        <p:attrNameLst>
                                          <p:attrName>style.visibility</p:attrName>
                                        </p:attrNameLst>
                                      </p:cBhvr>
                                      <p:to>
                                        <p:strVal val="visible"/>
                                      </p:to>
                                    </p:set>
                                    <p:anim calcmode="lin" valueType="num">
                                      <p:cBhvr additive="base">
                                        <p:cTn id="27" dur="500" fill="hold"/>
                                        <p:tgtEl>
                                          <p:spTgt spid="17412">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7412">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412">
                                            <p:txEl>
                                              <p:pRg st="7" end="7"/>
                                            </p:txEl>
                                          </p:spTgt>
                                        </p:tgtEl>
                                        <p:attrNameLst>
                                          <p:attrName>style.visibility</p:attrName>
                                        </p:attrNameLst>
                                      </p:cBhvr>
                                      <p:to>
                                        <p:strVal val="visible"/>
                                      </p:to>
                                    </p:set>
                                    <p:anim calcmode="lin" valueType="num">
                                      <p:cBhvr additive="base">
                                        <p:cTn id="31" dur="500" fill="hold"/>
                                        <p:tgtEl>
                                          <p:spTgt spid="1741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412">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7412">
                                            <p:txEl>
                                              <p:pRg st="8" end="8"/>
                                            </p:txEl>
                                          </p:spTgt>
                                        </p:tgtEl>
                                        <p:attrNameLst>
                                          <p:attrName>style.visibility</p:attrName>
                                        </p:attrNameLst>
                                      </p:cBhvr>
                                      <p:to>
                                        <p:strVal val="visible"/>
                                      </p:to>
                                    </p:set>
                                    <p:anim calcmode="lin" valueType="num">
                                      <p:cBhvr additive="base">
                                        <p:cTn id="35" dur="500" fill="hold"/>
                                        <p:tgtEl>
                                          <p:spTgt spid="17412">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7412">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7412">
                                            <p:txEl>
                                              <p:pRg st="9" end="9"/>
                                            </p:txEl>
                                          </p:spTgt>
                                        </p:tgtEl>
                                        <p:attrNameLst>
                                          <p:attrName>style.visibility</p:attrName>
                                        </p:attrNameLst>
                                      </p:cBhvr>
                                      <p:to>
                                        <p:strVal val="visible"/>
                                      </p:to>
                                    </p:set>
                                    <p:anim calcmode="lin" valueType="num">
                                      <p:cBhvr additive="base">
                                        <p:cTn id="39" dur="500" fill="hold"/>
                                        <p:tgtEl>
                                          <p:spTgt spid="17412">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7412">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7412">
                                            <p:txEl>
                                              <p:pRg st="10" end="10"/>
                                            </p:txEl>
                                          </p:spTgt>
                                        </p:tgtEl>
                                        <p:attrNameLst>
                                          <p:attrName>style.visibility</p:attrName>
                                        </p:attrNameLst>
                                      </p:cBhvr>
                                      <p:to>
                                        <p:strVal val="visible"/>
                                      </p:to>
                                    </p:set>
                                    <p:anim calcmode="lin" valueType="num">
                                      <p:cBhvr additive="base">
                                        <p:cTn id="43" dur="500" fill="hold"/>
                                        <p:tgtEl>
                                          <p:spTgt spid="17412">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7412">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7412">
                                            <p:txEl>
                                              <p:pRg st="11" end="11"/>
                                            </p:txEl>
                                          </p:spTgt>
                                        </p:tgtEl>
                                        <p:attrNameLst>
                                          <p:attrName>style.visibility</p:attrName>
                                        </p:attrNameLst>
                                      </p:cBhvr>
                                      <p:to>
                                        <p:strVal val="visible"/>
                                      </p:to>
                                    </p:set>
                                    <p:anim calcmode="lin" valueType="num">
                                      <p:cBhvr additive="base">
                                        <p:cTn id="47" dur="500" fill="hold"/>
                                        <p:tgtEl>
                                          <p:spTgt spid="17412">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7412">
                                            <p:txEl>
                                              <p:pRg st="11" end="11"/>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7412">
                                            <p:txEl>
                                              <p:pRg st="12" end="12"/>
                                            </p:txEl>
                                          </p:spTgt>
                                        </p:tgtEl>
                                        <p:attrNameLst>
                                          <p:attrName>style.visibility</p:attrName>
                                        </p:attrNameLst>
                                      </p:cBhvr>
                                      <p:to>
                                        <p:strVal val="visible"/>
                                      </p:to>
                                    </p:set>
                                    <p:anim calcmode="lin" valueType="num">
                                      <p:cBhvr additive="base">
                                        <p:cTn id="51" dur="500" fill="hold"/>
                                        <p:tgtEl>
                                          <p:spTgt spid="17412">
                                            <p:txEl>
                                              <p:pRg st="12" end="1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7412">
                                            <p:txEl>
                                              <p:pRg st="12" end="12"/>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7412">
                                            <p:txEl>
                                              <p:pRg st="13" end="13"/>
                                            </p:txEl>
                                          </p:spTgt>
                                        </p:tgtEl>
                                        <p:attrNameLst>
                                          <p:attrName>style.visibility</p:attrName>
                                        </p:attrNameLst>
                                      </p:cBhvr>
                                      <p:to>
                                        <p:strVal val="visible"/>
                                      </p:to>
                                    </p:set>
                                    <p:anim calcmode="lin" valueType="num">
                                      <p:cBhvr additive="base">
                                        <p:cTn id="55" dur="500" fill="hold"/>
                                        <p:tgtEl>
                                          <p:spTgt spid="17412">
                                            <p:txEl>
                                              <p:pRg st="13" end="1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7412">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7413">
                                            <p:txEl>
                                              <p:pRg st="0" end="0"/>
                                            </p:txEl>
                                          </p:spTgt>
                                        </p:tgtEl>
                                        <p:attrNameLst>
                                          <p:attrName>style.visibility</p:attrName>
                                        </p:attrNameLst>
                                      </p:cBhvr>
                                      <p:to>
                                        <p:strVal val="visible"/>
                                      </p:to>
                                    </p:set>
                                    <p:animEffect transition="in" filter="blinds(horizontal)">
                                      <p:cBhvr>
                                        <p:cTn id="61" dur="500"/>
                                        <p:tgtEl>
                                          <p:spTgt spid="17413">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17413">
                                            <p:txEl>
                                              <p:pRg st="1" end="1"/>
                                            </p:txEl>
                                          </p:spTgt>
                                        </p:tgtEl>
                                        <p:attrNameLst>
                                          <p:attrName>style.visibility</p:attrName>
                                        </p:attrNameLst>
                                      </p:cBhvr>
                                      <p:to>
                                        <p:strVal val="visible"/>
                                      </p:to>
                                    </p:set>
                                    <p:animEffect transition="in" filter="blinds(horizontal)">
                                      <p:cBhvr>
                                        <p:cTn id="66" dur="500"/>
                                        <p:tgtEl>
                                          <p:spTgt spid="17413">
                                            <p:txEl>
                                              <p:pRg st="1" end="1"/>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17413">
                                            <p:txEl>
                                              <p:pRg st="2" end="2"/>
                                            </p:txEl>
                                          </p:spTgt>
                                        </p:tgtEl>
                                        <p:attrNameLst>
                                          <p:attrName>style.visibility</p:attrName>
                                        </p:attrNameLst>
                                      </p:cBhvr>
                                      <p:to>
                                        <p:strVal val="visible"/>
                                      </p:to>
                                    </p:set>
                                    <p:animEffect transition="in" filter="blinds(horizontal)">
                                      <p:cBhvr>
                                        <p:cTn id="71" dur="500"/>
                                        <p:tgtEl>
                                          <p:spTgt spid="17413">
                                            <p:txEl>
                                              <p:pRg st="2" end="2"/>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7413">
                                            <p:txEl>
                                              <p:pRg st="3" end="3"/>
                                            </p:txEl>
                                          </p:spTgt>
                                        </p:tgtEl>
                                        <p:attrNameLst>
                                          <p:attrName>style.visibility</p:attrName>
                                        </p:attrNameLst>
                                      </p:cBhvr>
                                      <p:to>
                                        <p:strVal val="visible"/>
                                      </p:to>
                                    </p:set>
                                    <p:animEffect transition="in" filter="blinds(horizontal)">
                                      <p:cBhvr>
                                        <p:cTn id="76" dur="500"/>
                                        <p:tgtEl>
                                          <p:spTgt spid="17413">
                                            <p:txEl>
                                              <p:pRg st="3" end="3"/>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17413">
                                            <p:txEl>
                                              <p:pRg st="4" end="4"/>
                                            </p:txEl>
                                          </p:spTgt>
                                        </p:tgtEl>
                                        <p:attrNameLst>
                                          <p:attrName>style.visibility</p:attrName>
                                        </p:attrNameLst>
                                      </p:cBhvr>
                                      <p:to>
                                        <p:strVal val="visible"/>
                                      </p:to>
                                    </p:set>
                                    <p:animEffect transition="in" filter="blinds(horizontal)">
                                      <p:cBhvr>
                                        <p:cTn id="81" dur="500"/>
                                        <p:tgtEl>
                                          <p:spTgt spid="17413">
                                            <p:txEl>
                                              <p:pRg st="4" end="4"/>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17413">
                                            <p:txEl>
                                              <p:pRg st="6" end="6"/>
                                            </p:txEl>
                                          </p:spTgt>
                                        </p:tgtEl>
                                        <p:attrNameLst>
                                          <p:attrName>style.visibility</p:attrName>
                                        </p:attrNameLst>
                                      </p:cBhvr>
                                      <p:to>
                                        <p:strVal val="visible"/>
                                      </p:to>
                                    </p:set>
                                    <p:animEffect transition="in" filter="blinds(horizontal)">
                                      <p:cBhvr>
                                        <p:cTn id="86" dur="500"/>
                                        <p:tgtEl>
                                          <p:spTgt spid="17413">
                                            <p:txEl>
                                              <p:pRg st="6" end="6"/>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17413">
                                            <p:txEl>
                                              <p:pRg st="7" end="7"/>
                                            </p:txEl>
                                          </p:spTgt>
                                        </p:tgtEl>
                                        <p:attrNameLst>
                                          <p:attrName>style.visibility</p:attrName>
                                        </p:attrNameLst>
                                      </p:cBhvr>
                                      <p:to>
                                        <p:strVal val="visible"/>
                                      </p:to>
                                    </p:set>
                                    <p:animEffect transition="in" filter="blinds(horizontal)">
                                      <p:cBhvr>
                                        <p:cTn id="91" dur="500"/>
                                        <p:tgtEl>
                                          <p:spTgt spid="17413">
                                            <p:txEl>
                                              <p:pRg st="7" end="7"/>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7413">
                                            <p:txEl>
                                              <p:pRg st="8" end="8"/>
                                            </p:txEl>
                                          </p:spTgt>
                                        </p:tgtEl>
                                        <p:attrNameLst>
                                          <p:attrName>style.visibility</p:attrName>
                                        </p:attrNameLst>
                                      </p:cBhvr>
                                      <p:to>
                                        <p:strVal val="visible"/>
                                      </p:to>
                                    </p:set>
                                    <p:animEffect transition="in" filter="blinds(horizontal)">
                                      <p:cBhvr>
                                        <p:cTn id="96" dur="500"/>
                                        <p:tgtEl>
                                          <p:spTgt spid="17413">
                                            <p:txEl>
                                              <p:pRg st="8" end="8"/>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17413">
                                            <p:txEl>
                                              <p:pRg st="9" end="9"/>
                                            </p:txEl>
                                          </p:spTgt>
                                        </p:tgtEl>
                                        <p:attrNameLst>
                                          <p:attrName>style.visibility</p:attrName>
                                        </p:attrNameLst>
                                      </p:cBhvr>
                                      <p:to>
                                        <p:strVal val="visible"/>
                                      </p:to>
                                    </p:set>
                                    <p:animEffect transition="in" filter="blinds(horizontal)">
                                      <p:cBhvr>
                                        <p:cTn id="101" dur="500"/>
                                        <p:tgtEl>
                                          <p:spTgt spid="17413">
                                            <p:txEl>
                                              <p:pRg st="9" end="9"/>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17413">
                                            <p:txEl>
                                              <p:pRg st="10" end="10"/>
                                            </p:txEl>
                                          </p:spTgt>
                                        </p:tgtEl>
                                        <p:attrNameLst>
                                          <p:attrName>style.visibility</p:attrName>
                                        </p:attrNameLst>
                                      </p:cBhvr>
                                      <p:to>
                                        <p:strVal val="visible"/>
                                      </p:to>
                                    </p:set>
                                    <p:animEffect transition="in" filter="blinds(horizontal)">
                                      <p:cBhvr>
                                        <p:cTn id="106" dur="500"/>
                                        <p:tgtEl>
                                          <p:spTgt spid="1741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build="p"/>
      <p:bldP spid="1741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1026"/>
          <p:cNvSpPr>
            <a:spLocks noGrp="1" noChangeArrowheads="1"/>
          </p:cNvSpPr>
          <p:nvPr>
            <p:ph type="title"/>
          </p:nvPr>
        </p:nvSpPr>
        <p:spPr>
          <a:xfrm>
            <a:off x="838200" y="304800"/>
            <a:ext cx="7545387" cy="685800"/>
          </a:xfrm>
        </p:spPr>
        <p:txBody>
          <a:bodyPr>
            <a:normAutofit fontScale="90000"/>
          </a:bodyPr>
          <a:lstStyle/>
          <a:p>
            <a:pPr eaLnBrk="1" hangingPunct="1">
              <a:defRPr/>
            </a:pPr>
            <a:r>
              <a:rPr lang="en-US" b="0" dirty="0" smtClean="0"/>
              <a:t>Method overloading</a:t>
            </a:r>
          </a:p>
        </p:txBody>
      </p:sp>
      <p:sp>
        <p:nvSpPr>
          <p:cNvPr id="16388" name="Rectangle 1027"/>
          <p:cNvSpPr>
            <a:spLocks noGrp="1" noChangeArrowheads="1"/>
          </p:cNvSpPr>
          <p:nvPr>
            <p:ph type="body" idx="1"/>
          </p:nvPr>
        </p:nvSpPr>
        <p:spPr/>
        <p:txBody>
          <a:bodyPr/>
          <a:lstStyle/>
          <a:p>
            <a:pPr eaLnBrk="1" hangingPunct="1"/>
            <a:r>
              <a:rPr lang="en-US" smtClean="0"/>
              <a:t>Reusing the same name for a method.</a:t>
            </a:r>
          </a:p>
          <a:p>
            <a:pPr eaLnBrk="1" hangingPunct="1"/>
            <a:r>
              <a:rPr lang="en-US" smtClean="0"/>
              <a:t>Arguments (&amp; possibly return type) should be different.</a:t>
            </a:r>
          </a:p>
          <a:p>
            <a:pPr eaLnBrk="1" hangingPunct="1"/>
            <a:r>
              <a:rPr lang="en-US" smtClean="0"/>
              <a:t>The method calls are resolved at compile time using the method signature.</a:t>
            </a:r>
          </a:p>
          <a:p>
            <a:pPr eaLnBrk="1" hangingPunct="1"/>
            <a:r>
              <a:rPr lang="en-US" smtClean="0"/>
              <a:t>Compile time error occurs if compiler can’t match the args or if more than one match is possible.</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sz="half" idx="1"/>
          </p:nvPr>
        </p:nvSpPr>
        <p:spPr/>
        <p:txBody>
          <a:bodyPr/>
          <a:lstStyle/>
          <a:p>
            <a:pPr>
              <a:lnSpc>
                <a:spcPct val="90000"/>
              </a:lnSpc>
              <a:buFont typeface="Wingdings" pitchFamily="2" charset="2"/>
              <a:buChar char="Ø"/>
            </a:pPr>
            <a:endParaRPr lang="en-US" sz="1800" smtClean="0">
              <a:latin typeface="Trebuchet MS" pitchFamily="34" charset="0"/>
            </a:endParaRPr>
          </a:p>
          <a:p>
            <a:pPr>
              <a:lnSpc>
                <a:spcPct val="90000"/>
              </a:lnSpc>
            </a:pPr>
            <a:endParaRPr lang="en-US" sz="2800" smtClean="0"/>
          </a:p>
        </p:txBody>
      </p:sp>
      <p:sp>
        <p:nvSpPr>
          <p:cNvPr id="5124" name="Rectangle 4"/>
          <p:cNvSpPr>
            <a:spLocks noChangeArrowheads="1"/>
          </p:cNvSpPr>
          <p:nvPr/>
        </p:nvSpPr>
        <p:spPr bwMode="auto">
          <a:xfrm>
            <a:off x="0" y="0"/>
            <a:ext cx="9144000" cy="1066800"/>
          </a:xfrm>
          <a:prstGeom prst="rect">
            <a:avLst/>
          </a:prstGeom>
          <a:solidFill>
            <a:schemeClr val="accent2"/>
          </a:solidFill>
          <a:ln w="9525">
            <a:solidFill>
              <a:schemeClr val="tx1"/>
            </a:solidFill>
            <a:miter lim="800000"/>
            <a:headEnd/>
            <a:tailEnd/>
          </a:ln>
        </p:spPr>
        <p:txBody>
          <a:bodyPr wrap="none" anchor="ctr"/>
          <a:lstStyle/>
          <a:p>
            <a:r>
              <a:rPr lang="en-US" sz="2000">
                <a:solidFill>
                  <a:schemeClr val="bg1"/>
                </a:solidFill>
                <a:latin typeface="Trebuchet MS" pitchFamily="34" charset="0"/>
              </a:rPr>
              <a:t>Java Modifiers</a:t>
            </a:r>
          </a:p>
        </p:txBody>
      </p:sp>
      <p:graphicFrame>
        <p:nvGraphicFramePr>
          <p:cNvPr id="38071" name="Group 183"/>
          <p:cNvGraphicFramePr>
            <a:graphicFrameLocks noGrp="1"/>
          </p:cNvGraphicFramePr>
          <p:nvPr>
            <p:ph sz="half" idx="2"/>
            <p:extLst>
              <p:ext uri="{D42A27DB-BD31-4B8C-83A1-F6EECF244321}">
                <p14:modId xmlns:p14="http://schemas.microsoft.com/office/powerpoint/2010/main" val="3727398314"/>
              </p:ext>
            </p:extLst>
          </p:nvPr>
        </p:nvGraphicFramePr>
        <p:xfrm>
          <a:off x="0" y="1147646"/>
          <a:ext cx="4038600" cy="5306985"/>
        </p:xfrm>
        <a:graphic>
          <a:graphicData uri="http://schemas.openxmlformats.org/drawingml/2006/table">
            <a:tbl>
              <a:tblPr/>
              <a:tblGrid>
                <a:gridCol w="638426">
                  <a:extLst>
                    <a:ext uri="{9D8B030D-6E8A-4147-A177-3AD203B41FA5}">
                      <a16:colId xmlns:a16="http://schemas.microsoft.com/office/drawing/2014/main" val="20000"/>
                    </a:ext>
                  </a:extLst>
                </a:gridCol>
                <a:gridCol w="580774">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tblGrid>
              <a:tr h="60743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900" b="1" i="0" u="none" strike="noStrike" cap="none" normalizeH="0" baseline="0" dirty="0" smtClean="0">
                          <a:ln>
                            <a:noFill/>
                          </a:ln>
                          <a:solidFill>
                            <a:schemeClr val="hlink"/>
                          </a:solidFill>
                          <a:effectLst/>
                          <a:latin typeface="Trebuchet MS" pitchFamily="34" charset="0"/>
                          <a:cs typeface="Arial" pitchFamily="34" charset="0"/>
                        </a:rPr>
                        <a:t>Modifier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900" b="1" i="0" u="none" strike="noStrike" cap="none" normalizeH="0" baseline="0" dirty="0" smtClean="0">
                          <a:ln>
                            <a:noFill/>
                          </a:ln>
                          <a:solidFill>
                            <a:schemeClr val="hlink"/>
                          </a:solidFill>
                          <a:effectLst/>
                          <a:latin typeface="Trebuchet MS" pitchFamily="34" charset="0"/>
                          <a:cs typeface="Arial" pitchFamily="34" charset="0"/>
                        </a:rPr>
                        <a:t>Class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900" b="1" i="0" u="none" strike="noStrike" cap="none" normalizeH="0" baseline="0" dirty="0" smtClean="0">
                          <a:ln>
                            <a:noFill/>
                          </a:ln>
                          <a:solidFill>
                            <a:schemeClr val="hlink"/>
                          </a:solidFill>
                          <a:effectLst/>
                          <a:latin typeface="Trebuchet MS" pitchFamily="34" charset="0"/>
                          <a:cs typeface="Arial" pitchFamily="34" charset="0"/>
                        </a:rPr>
                        <a:t>Class Variables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900" b="1" i="0" u="none" strike="noStrike" cap="none" normalizeH="0" baseline="0" dirty="0" smtClean="0">
                          <a:ln>
                            <a:noFill/>
                          </a:ln>
                          <a:solidFill>
                            <a:schemeClr val="hlink"/>
                          </a:solidFill>
                          <a:effectLst/>
                          <a:latin typeface="Trebuchet MS" pitchFamily="34" charset="0"/>
                          <a:cs typeface="Arial" pitchFamily="34" charset="0"/>
                        </a:rPr>
                        <a:t>Methods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900" b="1" i="0" u="none" strike="noStrike" cap="none" normalizeH="0" baseline="0" dirty="0" smtClean="0">
                          <a:ln>
                            <a:noFill/>
                          </a:ln>
                          <a:solidFill>
                            <a:schemeClr val="hlink"/>
                          </a:solidFill>
                          <a:effectLst/>
                          <a:latin typeface="Trebuchet MS" pitchFamily="34" charset="0"/>
                          <a:cs typeface="Arial" pitchFamily="34" charset="0"/>
                        </a:rPr>
                        <a:t>Method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900" b="1" i="0" u="none" strike="noStrike" cap="none" normalizeH="0" baseline="0" dirty="0" smtClean="0">
                          <a:ln>
                            <a:noFill/>
                          </a:ln>
                          <a:solidFill>
                            <a:schemeClr val="hlink"/>
                          </a:solidFill>
                          <a:effectLst/>
                          <a:latin typeface="Trebuchet MS" pitchFamily="34" charset="0"/>
                          <a:cs typeface="Arial" pitchFamily="34" charset="0"/>
                        </a:rPr>
                        <a:t>Variables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69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smtClean="0">
                          <a:ln>
                            <a:noFill/>
                          </a:ln>
                          <a:solidFill>
                            <a:srgbClr val="990000"/>
                          </a:solidFill>
                          <a:effectLst/>
                          <a:latin typeface="Trebuchet MS" pitchFamily="34" charset="0"/>
                          <a:cs typeface="Arial" pitchFamily="34" charset="0"/>
                        </a:rPr>
                        <a:t>public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69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smtClean="0">
                          <a:ln>
                            <a:noFill/>
                          </a:ln>
                          <a:solidFill>
                            <a:srgbClr val="990000"/>
                          </a:solidFill>
                          <a:effectLst/>
                          <a:latin typeface="Trebuchet MS" pitchFamily="34" charset="0"/>
                          <a:cs typeface="Arial" pitchFamily="34" charset="0"/>
                        </a:rPr>
                        <a:t>private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0" u="none" strike="noStrike" cap="none" normalizeH="0" baseline="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dirty="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69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smtClean="0">
                          <a:ln>
                            <a:noFill/>
                          </a:ln>
                          <a:solidFill>
                            <a:srgbClr val="990000"/>
                          </a:solidFill>
                          <a:effectLst/>
                          <a:latin typeface="Trebuchet MS" pitchFamily="34" charset="0"/>
                          <a:cs typeface="Arial" pitchFamily="34" charset="0"/>
                        </a:rPr>
                        <a:t>protected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0" u="none" strike="noStrike" cap="none" normalizeH="0" baseline="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dirty="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69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1" u="none" strike="noStrike" cap="none" normalizeH="0" baseline="0" dirty="0" smtClean="0">
                          <a:ln>
                            <a:noFill/>
                          </a:ln>
                          <a:solidFill>
                            <a:srgbClr val="990000"/>
                          </a:solidFill>
                          <a:effectLst/>
                          <a:latin typeface="Trebuchet MS" pitchFamily="34" charset="0"/>
                          <a:cs typeface="Arial" pitchFamily="34" charset="0"/>
                        </a:rPr>
                        <a:t>default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1" u="none" strike="noStrike" cap="none" normalizeH="0" baseline="0" dirty="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1" u="none" strike="noStrike" cap="none" normalizeH="0" baseline="0" dirty="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1" u="none" strike="noStrike" cap="none" normalizeH="0" baseline="0" dirty="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0" u="none" strike="noStrike" cap="none" normalizeH="0" baseline="0" dirty="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69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smtClean="0">
                          <a:ln>
                            <a:noFill/>
                          </a:ln>
                          <a:solidFill>
                            <a:schemeClr val="tx1"/>
                          </a:solidFill>
                          <a:effectLst/>
                          <a:latin typeface="Trebuchet MS" pitchFamily="34" charset="0"/>
                          <a:cs typeface="Arial" pitchFamily="34" charset="0"/>
                        </a:rPr>
                        <a:t>final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1"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1"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dirty="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69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smtClean="0">
                          <a:ln>
                            <a:noFill/>
                          </a:ln>
                          <a:solidFill>
                            <a:schemeClr val="tx1"/>
                          </a:solidFill>
                          <a:effectLst/>
                          <a:latin typeface="Trebuchet MS" pitchFamily="34" charset="0"/>
                          <a:cs typeface="Arial" pitchFamily="34" charset="0"/>
                        </a:rPr>
                        <a:t>abstract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1"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1" u="none" strike="noStrike" cap="none" normalizeH="0" baseline="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0" u="none" strike="noStrike" cap="none" normalizeH="0" baseline="0" dirty="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69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err="1" smtClean="0">
                          <a:ln>
                            <a:noFill/>
                          </a:ln>
                          <a:solidFill>
                            <a:schemeClr val="tx1"/>
                          </a:solidFill>
                          <a:effectLst/>
                          <a:latin typeface="Trebuchet MS" pitchFamily="34" charset="0"/>
                          <a:cs typeface="Arial" pitchFamily="34" charset="0"/>
                        </a:rPr>
                        <a:t>strictfp</a:t>
                      </a:r>
                      <a:endParaRPr kumimoji="0" lang="en-US" sz="1100" b="0" i="0" u="none" strike="noStrike" cap="none" normalizeH="0" baseline="0" dirty="0" smtClean="0">
                        <a:ln>
                          <a:noFill/>
                        </a:ln>
                        <a:solidFill>
                          <a:schemeClr val="tx1"/>
                        </a:solidFill>
                        <a:effectLst/>
                        <a:latin typeface="Trebuchet MS" pitchFamily="34" charset="0"/>
                        <a:cs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1"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1" u="none" strike="noStrike" cap="none" normalizeH="0" baseline="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0" u="none" strike="noStrike" cap="none" normalizeH="0" baseline="0" dirty="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69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smtClean="0">
                          <a:ln>
                            <a:noFill/>
                          </a:ln>
                          <a:solidFill>
                            <a:schemeClr val="tx1"/>
                          </a:solidFill>
                          <a:effectLst/>
                          <a:latin typeface="Trebuchet MS" pitchFamily="34" charset="0"/>
                          <a:cs typeface="Arial" pitchFamily="34" charset="0"/>
                        </a:rPr>
                        <a:t>transient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1" u="none" strike="noStrike" cap="none" normalizeH="0" baseline="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1"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0" u="none" strike="noStrike" cap="none" normalizeH="0" baseline="0" dirty="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0" u="none" strike="noStrike" cap="none" normalizeH="0" baseline="0" dirty="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5461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smtClean="0">
                          <a:ln>
                            <a:noFill/>
                          </a:ln>
                          <a:solidFill>
                            <a:schemeClr val="tx1"/>
                          </a:solidFill>
                          <a:effectLst/>
                          <a:latin typeface="Trebuchet MS" pitchFamily="34" charset="0"/>
                          <a:cs typeface="Arial" pitchFamily="34" charset="0"/>
                        </a:rPr>
                        <a:t>synchronized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1" u="none" strike="noStrike" cap="none" normalizeH="0" baseline="0" dirty="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1" u="none" strike="noStrike" cap="none" normalizeH="0" baseline="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0" u="none" strike="noStrike" cap="none" normalizeH="0" baseline="0" dirty="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69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smtClean="0">
                          <a:ln>
                            <a:noFill/>
                          </a:ln>
                          <a:solidFill>
                            <a:schemeClr val="tx1"/>
                          </a:solidFill>
                          <a:effectLst/>
                          <a:latin typeface="Trebuchet MS" pitchFamily="34" charset="0"/>
                          <a:cs typeface="Arial" pitchFamily="34" charset="0"/>
                        </a:rPr>
                        <a:t>native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1" u="none" strike="noStrike" cap="none" normalizeH="0" baseline="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1" u="none" strike="noStrike" cap="none" normalizeH="0" baseline="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0" u="none" strike="noStrike" cap="none" normalizeH="0" baseline="0" dirty="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69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smtClean="0">
                          <a:ln>
                            <a:noFill/>
                          </a:ln>
                          <a:solidFill>
                            <a:schemeClr val="tx1"/>
                          </a:solidFill>
                          <a:effectLst/>
                          <a:latin typeface="Trebuchet MS" pitchFamily="34" charset="0"/>
                          <a:cs typeface="Arial" pitchFamily="34" charset="0"/>
                        </a:rPr>
                        <a:t>volatile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1" u="none" strike="noStrike" cap="none" normalizeH="0" baseline="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1"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0" u="none" strike="noStrike" cap="none" normalizeH="0" baseline="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0" u="none" strike="noStrike" cap="none" normalizeH="0" baseline="0" dirty="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69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smtClean="0">
                          <a:ln>
                            <a:noFill/>
                          </a:ln>
                          <a:solidFill>
                            <a:schemeClr val="tx1"/>
                          </a:solidFill>
                          <a:effectLst/>
                          <a:latin typeface="Trebuchet MS" pitchFamily="34" charset="0"/>
                          <a:cs typeface="Arial" pitchFamily="34" charset="0"/>
                        </a:rPr>
                        <a:t>static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1"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1"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r>
                        <a:rPr kumimoji="0" lang="en-US" sz="1400" b="0" i="0" u="none" strike="noStrike" cap="none" normalizeH="0" baseline="0" smtClean="0">
                          <a:ln>
                            <a:noFill/>
                          </a:ln>
                          <a:solidFill>
                            <a:schemeClr val="tx1"/>
                          </a:solidFill>
                          <a:effectLst/>
                          <a:latin typeface="Trebuchet MS" pitchFamily="34" charset="0"/>
                          <a:cs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Pct val="150000"/>
                        <a:buFont typeface="Wingdings" pitchFamily="2" charset="2"/>
                        <a:buChar char="ü"/>
                        <a:tabLst/>
                      </a:pPr>
                      <a:endParaRPr kumimoji="0" lang="en-US" sz="1400" b="0" i="0" u="none" strike="noStrike" cap="none" normalizeH="0" baseline="0" dirty="0" smtClean="0">
                        <a:ln>
                          <a:noFill/>
                        </a:ln>
                        <a:solidFill>
                          <a:schemeClr val="tx1"/>
                        </a:solidFill>
                        <a:effectLst/>
                        <a:latin typeface="Trebuchet MS" pitchFamily="34"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92153324"/>
              </p:ext>
            </p:extLst>
          </p:nvPr>
        </p:nvGraphicFramePr>
        <p:xfrm>
          <a:off x="3962400" y="2057400"/>
          <a:ext cx="5638800" cy="2602621"/>
        </p:xfrm>
        <a:graphic>
          <a:graphicData uri="http://schemas.openxmlformats.org/drawingml/2006/table">
            <a:tbl>
              <a:tblPr/>
              <a:tblGrid>
                <a:gridCol w="1127760">
                  <a:extLst>
                    <a:ext uri="{9D8B030D-6E8A-4147-A177-3AD203B41FA5}">
                      <a16:colId xmlns:a16="http://schemas.microsoft.com/office/drawing/2014/main" val="3777611044"/>
                    </a:ext>
                  </a:extLst>
                </a:gridCol>
                <a:gridCol w="1127760">
                  <a:extLst>
                    <a:ext uri="{9D8B030D-6E8A-4147-A177-3AD203B41FA5}">
                      <a16:colId xmlns:a16="http://schemas.microsoft.com/office/drawing/2014/main" val="1790767049"/>
                    </a:ext>
                  </a:extLst>
                </a:gridCol>
                <a:gridCol w="1127760">
                  <a:extLst>
                    <a:ext uri="{9D8B030D-6E8A-4147-A177-3AD203B41FA5}">
                      <a16:colId xmlns:a16="http://schemas.microsoft.com/office/drawing/2014/main" val="3607281658"/>
                    </a:ext>
                  </a:extLst>
                </a:gridCol>
                <a:gridCol w="1127760">
                  <a:extLst>
                    <a:ext uri="{9D8B030D-6E8A-4147-A177-3AD203B41FA5}">
                      <a16:colId xmlns:a16="http://schemas.microsoft.com/office/drawing/2014/main" val="84705825"/>
                    </a:ext>
                  </a:extLst>
                </a:gridCol>
                <a:gridCol w="1127760">
                  <a:extLst>
                    <a:ext uri="{9D8B030D-6E8A-4147-A177-3AD203B41FA5}">
                      <a16:colId xmlns:a16="http://schemas.microsoft.com/office/drawing/2014/main" val="210898883"/>
                    </a:ext>
                  </a:extLst>
                </a:gridCol>
              </a:tblGrid>
              <a:tr h="904755">
                <a:tc>
                  <a:txBody>
                    <a:bodyPr/>
                    <a:lstStyle/>
                    <a:p>
                      <a:r>
                        <a:rPr lang="en-IN"/>
                        <a:t>Modifier</a:t>
                      </a:r>
                    </a:p>
                  </a:txBody>
                  <a:tcPr anchor="ctr">
                    <a:lnL>
                      <a:noFill/>
                    </a:lnL>
                    <a:lnR>
                      <a:noFill/>
                    </a:lnR>
                    <a:lnT>
                      <a:noFill/>
                    </a:lnT>
                    <a:lnB>
                      <a:noFill/>
                    </a:lnB>
                  </a:tcPr>
                </a:tc>
                <a:tc>
                  <a:txBody>
                    <a:bodyPr/>
                    <a:lstStyle/>
                    <a:p>
                      <a:pPr algn="ctr"/>
                      <a:r>
                        <a:rPr lang="en-IN"/>
                        <a:t>Same Class</a:t>
                      </a:r>
                    </a:p>
                  </a:txBody>
                  <a:tcPr anchor="ctr">
                    <a:lnL>
                      <a:noFill/>
                    </a:lnL>
                    <a:lnR>
                      <a:noFill/>
                    </a:lnR>
                    <a:lnT>
                      <a:noFill/>
                    </a:lnT>
                    <a:lnB>
                      <a:noFill/>
                    </a:lnB>
                  </a:tcPr>
                </a:tc>
                <a:tc>
                  <a:txBody>
                    <a:bodyPr/>
                    <a:lstStyle/>
                    <a:p>
                      <a:pPr algn="ctr"/>
                      <a:r>
                        <a:rPr lang="en-IN"/>
                        <a:t>Same Package</a:t>
                      </a:r>
                    </a:p>
                  </a:txBody>
                  <a:tcPr anchor="ctr">
                    <a:lnL>
                      <a:noFill/>
                    </a:lnL>
                    <a:lnR>
                      <a:noFill/>
                    </a:lnR>
                    <a:lnT>
                      <a:noFill/>
                    </a:lnT>
                    <a:lnB>
                      <a:noFill/>
                    </a:lnB>
                  </a:tcPr>
                </a:tc>
                <a:tc>
                  <a:txBody>
                    <a:bodyPr/>
                    <a:lstStyle/>
                    <a:p>
                      <a:pPr algn="ctr"/>
                      <a:r>
                        <a:rPr lang="en-IN" dirty="0"/>
                        <a:t>Subclass (Different Package)</a:t>
                      </a:r>
                    </a:p>
                  </a:txBody>
                  <a:tcPr anchor="ctr">
                    <a:lnL>
                      <a:noFill/>
                    </a:lnL>
                    <a:lnR>
                      <a:noFill/>
                    </a:lnR>
                    <a:lnT>
                      <a:noFill/>
                    </a:lnT>
                    <a:lnB>
                      <a:noFill/>
                    </a:lnB>
                  </a:tcPr>
                </a:tc>
                <a:tc>
                  <a:txBody>
                    <a:bodyPr/>
                    <a:lstStyle/>
                    <a:p>
                      <a:pPr algn="ctr"/>
                      <a:r>
                        <a:rPr lang="en-IN"/>
                        <a:t>Other Packages</a:t>
                      </a:r>
                    </a:p>
                  </a:txBody>
                  <a:tcPr anchor="ctr">
                    <a:lnL>
                      <a:noFill/>
                    </a:lnL>
                    <a:lnR>
                      <a:noFill/>
                    </a:lnR>
                    <a:lnT>
                      <a:noFill/>
                    </a:lnT>
                    <a:lnB>
                      <a:noFill/>
                    </a:lnB>
                  </a:tcPr>
                </a:tc>
                <a:extLst>
                  <a:ext uri="{0D108BD9-81ED-4DB2-BD59-A6C34878D82A}">
                    <a16:rowId xmlns:a16="http://schemas.microsoft.com/office/drawing/2014/main" val="1626486342"/>
                  </a:ext>
                </a:extLst>
              </a:tr>
              <a:tr h="337681">
                <a:tc>
                  <a:txBody>
                    <a:bodyPr/>
                    <a:lstStyle/>
                    <a:p>
                      <a:r>
                        <a:rPr lang="en-IN" b="1"/>
                        <a:t>public</a:t>
                      </a:r>
                      <a:endParaRPr lang="en-IN"/>
                    </a:p>
                  </a:txBody>
                  <a:tcPr anchor="ctr">
                    <a:lnL>
                      <a:noFill/>
                    </a:lnL>
                    <a:lnR>
                      <a:noFill/>
                    </a:lnR>
                    <a:lnT>
                      <a:noFill/>
                    </a:lnT>
                    <a:lnB>
                      <a:noFill/>
                    </a:lnB>
                  </a:tcPr>
                </a:tc>
                <a:tc>
                  <a:txBody>
                    <a:bodyPr/>
                    <a:lstStyle/>
                    <a:p>
                      <a:pPr algn="ctr"/>
                      <a:r>
                        <a:rPr lang="en-IN"/>
                        <a:t>✔</a:t>
                      </a:r>
                    </a:p>
                  </a:txBody>
                  <a:tcPr anchor="ctr">
                    <a:lnL>
                      <a:noFill/>
                    </a:lnL>
                    <a:lnR>
                      <a:noFill/>
                    </a:lnR>
                    <a:lnT>
                      <a:noFill/>
                    </a:lnT>
                    <a:lnB>
                      <a:noFill/>
                    </a:lnB>
                  </a:tcPr>
                </a:tc>
                <a:tc>
                  <a:txBody>
                    <a:bodyPr/>
                    <a:lstStyle/>
                    <a:p>
                      <a:pPr algn="ctr"/>
                      <a:r>
                        <a:rPr lang="en-IN"/>
                        <a:t>✔</a:t>
                      </a:r>
                    </a:p>
                  </a:txBody>
                  <a:tcPr anchor="ctr">
                    <a:lnL>
                      <a:noFill/>
                    </a:lnL>
                    <a:lnR>
                      <a:noFill/>
                    </a:lnR>
                    <a:lnT>
                      <a:noFill/>
                    </a:lnT>
                    <a:lnB>
                      <a:noFill/>
                    </a:lnB>
                  </a:tcPr>
                </a:tc>
                <a:tc>
                  <a:txBody>
                    <a:bodyPr/>
                    <a:lstStyle/>
                    <a:p>
                      <a:pPr algn="ctr"/>
                      <a:r>
                        <a:rPr lang="en-IN" dirty="0"/>
                        <a:t>✔</a:t>
                      </a:r>
                    </a:p>
                  </a:txBody>
                  <a:tcPr anchor="ctr">
                    <a:lnL>
                      <a:noFill/>
                    </a:lnL>
                    <a:lnR>
                      <a:noFill/>
                    </a:lnR>
                    <a:lnT>
                      <a:noFill/>
                    </a:lnT>
                    <a:lnB>
                      <a:noFill/>
                    </a:lnB>
                  </a:tcPr>
                </a:tc>
                <a:tc>
                  <a:txBody>
                    <a:bodyPr/>
                    <a:lstStyle/>
                    <a:p>
                      <a:pPr algn="ctr"/>
                      <a:r>
                        <a:rPr lang="en-IN"/>
                        <a:t>✔</a:t>
                      </a:r>
                    </a:p>
                  </a:txBody>
                  <a:tcPr anchor="ctr">
                    <a:lnL>
                      <a:noFill/>
                    </a:lnL>
                    <a:lnR>
                      <a:noFill/>
                    </a:lnR>
                    <a:lnT>
                      <a:noFill/>
                    </a:lnT>
                    <a:lnB>
                      <a:noFill/>
                    </a:lnB>
                  </a:tcPr>
                </a:tc>
                <a:extLst>
                  <a:ext uri="{0D108BD9-81ED-4DB2-BD59-A6C34878D82A}">
                    <a16:rowId xmlns:a16="http://schemas.microsoft.com/office/drawing/2014/main" val="815749369"/>
                  </a:ext>
                </a:extLst>
              </a:tr>
              <a:tr h="590941">
                <a:tc>
                  <a:txBody>
                    <a:bodyPr/>
                    <a:lstStyle/>
                    <a:p>
                      <a:r>
                        <a:rPr lang="en-IN" b="1" dirty="0" smtClean="0"/>
                        <a:t>protected</a:t>
                      </a:r>
                      <a:endParaRPr lang="en-IN" dirty="0"/>
                    </a:p>
                  </a:txBody>
                  <a:tcPr anchor="ctr">
                    <a:lnL>
                      <a:noFill/>
                    </a:lnL>
                    <a:lnR>
                      <a:noFill/>
                    </a:lnR>
                    <a:lnT>
                      <a:noFill/>
                    </a:lnT>
                    <a:lnB>
                      <a:noFill/>
                    </a:lnB>
                  </a:tcPr>
                </a:tc>
                <a:tc>
                  <a:txBody>
                    <a:bodyPr/>
                    <a:lstStyle/>
                    <a:p>
                      <a:pPr algn="ctr"/>
                      <a:r>
                        <a:rPr lang="en-IN" dirty="0"/>
                        <a:t>✔</a:t>
                      </a:r>
                    </a:p>
                  </a:txBody>
                  <a:tcPr anchor="ctr">
                    <a:lnL>
                      <a:noFill/>
                    </a:lnL>
                    <a:lnR>
                      <a:noFill/>
                    </a:lnR>
                    <a:lnT>
                      <a:noFill/>
                    </a:lnT>
                    <a:lnB>
                      <a:noFill/>
                    </a:lnB>
                  </a:tcPr>
                </a:tc>
                <a:tc>
                  <a:txBody>
                    <a:bodyPr/>
                    <a:lstStyle/>
                    <a:p>
                      <a:pPr algn="ctr"/>
                      <a:r>
                        <a:rPr lang="en-IN" dirty="0"/>
                        <a:t>✔</a:t>
                      </a:r>
                    </a:p>
                  </a:txBody>
                  <a:tcPr anchor="ctr">
                    <a:lnL>
                      <a:noFill/>
                    </a:lnL>
                    <a:lnR>
                      <a:noFill/>
                    </a:lnR>
                    <a:lnT>
                      <a:noFill/>
                    </a:lnT>
                    <a:lnB>
                      <a:noFill/>
                    </a:lnB>
                  </a:tcPr>
                </a:tc>
                <a:tc>
                  <a:txBody>
                    <a:bodyPr/>
                    <a:lstStyle/>
                    <a:p>
                      <a:pPr algn="ctr"/>
                      <a:r>
                        <a:rPr lang="en-IN"/>
                        <a:t>✔</a:t>
                      </a:r>
                    </a:p>
                  </a:txBody>
                  <a:tcPr anchor="ctr">
                    <a:lnL>
                      <a:noFill/>
                    </a:lnL>
                    <a:lnR>
                      <a:noFill/>
                    </a:lnR>
                    <a:lnT>
                      <a:noFill/>
                    </a:lnT>
                    <a:lnB>
                      <a:noFill/>
                    </a:lnB>
                  </a:tcPr>
                </a:tc>
                <a:tc>
                  <a:txBody>
                    <a:bodyPr/>
                    <a:lstStyle/>
                    <a:p>
                      <a:pPr algn="ctr"/>
                      <a:r>
                        <a:rPr lang="en-IN"/>
                        <a:t>✘</a:t>
                      </a:r>
                    </a:p>
                  </a:txBody>
                  <a:tcPr anchor="ctr">
                    <a:lnL>
                      <a:noFill/>
                    </a:lnL>
                    <a:lnR>
                      <a:noFill/>
                    </a:lnR>
                    <a:lnT>
                      <a:noFill/>
                    </a:lnT>
                    <a:lnB>
                      <a:noFill/>
                    </a:lnB>
                  </a:tcPr>
                </a:tc>
                <a:extLst>
                  <a:ext uri="{0D108BD9-81ED-4DB2-BD59-A6C34878D82A}">
                    <a16:rowId xmlns:a16="http://schemas.microsoft.com/office/drawing/2014/main" val="849046838"/>
                  </a:ext>
                </a:extLst>
              </a:tr>
              <a:tr h="337681">
                <a:tc>
                  <a:txBody>
                    <a:bodyPr/>
                    <a:lstStyle/>
                    <a:p>
                      <a:r>
                        <a:rPr lang="en-IN" b="1" dirty="0"/>
                        <a:t>default</a:t>
                      </a:r>
                      <a:endParaRPr lang="en-IN" dirty="0"/>
                    </a:p>
                  </a:txBody>
                  <a:tcPr anchor="ctr">
                    <a:lnL>
                      <a:noFill/>
                    </a:lnL>
                    <a:lnR>
                      <a:noFill/>
                    </a:lnR>
                    <a:lnT>
                      <a:noFill/>
                    </a:lnT>
                    <a:lnB>
                      <a:noFill/>
                    </a:lnB>
                  </a:tcPr>
                </a:tc>
                <a:tc>
                  <a:txBody>
                    <a:bodyPr/>
                    <a:lstStyle/>
                    <a:p>
                      <a:pPr algn="ctr"/>
                      <a:r>
                        <a:rPr lang="en-IN"/>
                        <a:t>✔</a:t>
                      </a:r>
                    </a:p>
                  </a:txBody>
                  <a:tcPr anchor="ctr">
                    <a:lnL>
                      <a:noFill/>
                    </a:lnL>
                    <a:lnR>
                      <a:noFill/>
                    </a:lnR>
                    <a:lnT>
                      <a:noFill/>
                    </a:lnT>
                    <a:lnB>
                      <a:noFill/>
                    </a:lnB>
                  </a:tcPr>
                </a:tc>
                <a:tc>
                  <a:txBody>
                    <a:bodyPr/>
                    <a:lstStyle/>
                    <a:p>
                      <a:pPr algn="ctr"/>
                      <a:r>
                        <a:rPr lang="en-IN"/>
                        <a:t>✔</a:t>
                      </a:r>
                    </a:p>
                  </a:txBody>
                  <a:tcPr anchor="ctr">
                    <a:lnL>
                      <a:noFill/>
                    </a:lnL>
                    <a:lnR>
                      <a:noFill/>
                    </a:lnR>
                    <a:lnT>
                      <a:noFill/>
                    </a:lnT>
                    <a:lnB>
                      <a:noFill/>
                    </a:lnB>
                  </a:tcPr>
                </a:tc>
                <a:tc>
                  <a:txBody>
                    <a:bodyPr/>
                    <a:lstStyle/>
                    <a:p>
                      <a:pPr algn="ctr"/>
                      <a:r>
                        <a:rPr lang="en-IN"/>
                        <a:t>✘</a:t>
                      </a:r>
                    </a:p>
                  </a:txBody>
                  <a:tcPr anchor="ctr">
                    <a:lnL>
                      <a:noFill/>
                    </a:lnL>
                    <a:lnR>
                      <a:noFill/>
                    </a:lnR>
                    <a:lnT>
                      <a:noFill/>
                    </a:lnT>
                    <a:lnB>
                      <a:noFill/>
                    </a:lnB>
                  </a:tcPr>
                </a:tc>
                <a:tc>
                  <a:txBody>
                    <a:bodyPr/>
                    <a:lstStyle/>
                    <a:p>
                      <a:pPr algn="ctr"/>
                      <a:r>
                        <a:rPr lang="en-IN"/>
                        <a:t>✘</a:t>
                      </a:r>
                    </a:p>
                  </a:txBody>
                  <a:tcPr anchor="ctr">
                    <a:lnL>
                      <a:noFill/>
                    </a:lnL>
                    <a:lnR>
                      <a:noFill/>
                    </a:lnR>
                    <a:lnT>
                      <a:noFill/>
                    </a:lnT>
                    <a:lnB>
                      <a:noFill/>
                    </a:lnB>
                  </a:tcPr>
                </a:tc>
                <a:extLst>
                  <a:ext uri="{0D108BD9-81ED-4DB2-BD59-A6C34878D82A}">
                    <a16:rowId xmlns:a16="http://schemas.microsoft.com/office/drawing/2014/main" val="1084299520"/>
                  </a:ext>
                </a:extLst>
              </a:tr>
              <a:tr h="337681">
                <a:tc>
                  <a:txBody>
                    <a:bodyPr/>
                    <a:lstStyle/>
                    <a:p>
                      <a:r>
                        <a:rPr lang="en-IN" b="1"/>
                        <a:t>private</a:t>
                      </a:r>
                      <a:endParaRPr lang="en-IN"/>
                    </a:p>
                  </a:txBody>
                  <a:tcPr anchor="ctr">
                    <a:lnL>
                      <a:noFill/>
                    </a:lnL>
                    <a:lnR>
                      <a:noFill/>
                    </a:lnR>
                    <a:lnT>
                      <a:noFill/>
                    </a:lnT>
                    <a:lnB>
                      <a:noFill/>
                    </a:lnB>
                  </a:tcPr>
                </a:tc>
                <a:tc>
                  <a:txBody>
                    <a:bodyPr/>
                    <a:lstStyle/>
                    <a:p>
                      <a:pPr algn="ctr"/>
                      <a:r>
                        <a:rPr lang="en-IN"/>
                        <a:t>✔</a:t>
                      </a:r>
                    </a:p>
                  </a:txBody>
                  <a:tcPr anchor="ctr">
                    <a:lnL>
                      <a:noFill/>
                    </a:lnL>
                    <a:lnR>
                      <a:noFill/>
                    </a:lnR>
                    <a:lnT>
                      <a:noFill/>
                    </a:lnT>
                    <a:lnB>
                      <a:noFill/>
                    </a:lnB>
                  </a:tcPr>
                </a:tc>
                <a:tc>
                  <a:txBody>
                    <a:bodyPr/>
                    <a:lstStyle/>
                    <a:p>
                      <a:pPr algn="ctr"/>
                      <a:r>
                        <a:rPr lang="en-IN"/>
                        <a:t>✘</a:t>
                      </a:r>
                    </a:p>
                  </a:txBody>
                  <a:tcPr anchor="ctr">
                    <a:lnL>
                      <a:noFill/>
                    </a:lnL>
                    <a:lnR>
                      <a:noFill/>
                    </a:lnR>
                    <a:lnT>
                      <a:noFill/>
                    </a:lnT>
                    <a:lnB>
                      <a:noFill/>
                    </a:lnB>
                  </a:tcPr>
                </a:tc>
                <a:tc>
                  <a:txBody>
                    <a:bodyPr/>
                    <a:lstStyle/>
                    <a:p>
                      <a:pPr algn="ctr"/>
                      <a:r>
                        <a:rPr lang="en-IN"/>
                        <a:t>✘</a:t>
                      </a:r>
                    </a:p>
                  </a:txBody>
                  <a:tcPr anchor="ctr">
                    <a:lnL>
                      <a:noFill/>
                    </a:lnL>
                    <a:lnR>
                      <a:noFill/>
                    </a:lnR>
                    <a:lnT>
                      <a:noFill/>
                    </a:lnT>
                    <a:lnB>
                      <a:noFill/>
                    </a:lnB>
                  </a:tcPr>
                </a:tc>
                <a:tc>
                  <a:txBody>
                    <a:bodyPr/>
                    <a:lstStyle/>
                    <a:p>
                      <a:pPr algn="ctr"/>
                      <a:r>
                        <a:rPr lang="en-IN" dirty="0"/>
                        <a:t>✘</a:t>
                      </a:r>
                    </a:p>
                  </a:txBody>
                  <a:tcPr anchor="ctr">
                    <a:lnL>
                      <a:noFill/>
                    </a:lnL>
                    <a:lnR>
                      <a:noFill/>
                    </a:lnR>
                    <a:lnT>
                      <a:noFill/>
                    </a:lnT>
                    <a:lnB>
                      <a:noFill/>
                    </a:lnB>
                  </a:tcPr>
                </a:tc>
                <a:extLst>
                  <a:ext uri="{0D108BD9-81ED-4DB2-BD59-A6C34878D82A}">
                    <a16:rowId xmlns:a16="http://schemas.microsoft.com/office/drawing/2014/main" val="210382855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type="body" sz="half" idx="1"/>
          </p:nvPr>
        </p:nvSpPr>
        <p:spPr/>
        <p:txBody>
          <a:bodyPr/>
          <a:lstStyle/>
          <a:p>
            <a:pPr>
              <a:lnSpc>
                <a:spcPct val="90000"/>
              </a:lnSpc>
              <a:buFont typeface="Wingdings" pitchFamily="2" charset="2"/>
              <a:buChar char="Ø"/>
            </a:pPr>
            <a:endParaRPr lang="en-US" sz="1800" smtClean="0">
              <a:latin typeface="Trebuchet MS" pitchFamily="34" charset="0"/>
            </a:endParaRPr>
          </a:p>
          <a:p>
            <a:pPr>
              <a:lnSpc>
                <a:spcPct val="90000"/>
              </a:lnSpc>
            </a:pPr>
            <a:endParaRPr lang="en-US" sz="2800" smtClean="0"/>
          </a:p>
        </p:txBody>
      </p:sp>
      <p:sp>
        <p:nvSpPr>
          <p:cNvPr id="1029" name="Rectangle 4"/>
          <p:cNvSpPr>
            <a:spLocks noChangeArrowheads="1"/>
          </p:cNvSpPr>
          <p:nvPr/>
        </p:nvSpPr>
        <p:spPr bwMode="auto">
          <a:xfrm>
            <a:off x="0" y="0"/>
            <a:ext cx="9144000" cy="1066800"/>
          </a:xfrm>
          <a:prstGeom prst="rect">
            <a:avLst/>
          </a:prstGeom>
          <a:solidFill>
            <a:schemeClr val="accent2"/>
          </a:solidFill>
          <a:ln w="9525">
            <a:solidFill>
              <a:schemeClr val="tx1"/>
            </a:solidFill>
            <a:miter lim="800000"/>
            <a:headEnd/>
            <a:tailEnd/>
          </a:ln>
        </p:spPr>
        <p:txBody>
          <a:bodyPr wrap="none" anchor="ctr"/>
          <a:lstStyle/>
          <a:p>
            <a:r>
              <a:rPr lang="en-US" sz="2000">
                <a:solidFill>
                  <a:schemeClr val="bg1"/>
                </a:solidFill>
                <a:latin typeface="Trebuchet MS" pitchFamily="34" charset="0"/>
              </a:rPr>
              <a:t>Modifiers – Class</a:t>
            </a:r>
          </a:p>
        </p:txBody>
      </p:sp>
      <p:sp>
        <p:nvSpPr>
          <p:cNvPr id="1030" name="Rectangle 92"/>
          <p:cNvSpPr>
            <a:spLocks noChangeArrowheads="1"/>
          </p:cNvSpPr>
          <p:nvPr/>
        </p:nvSpPr>
        <p:spPr bwMode="auto">
          <a:xfrm>
            <a:off x="457200" y="1600200"/>
            <a:ext cx="8229600" cy="4525963"/>
          </a:xfrm>
          <a:prstGeom prst="rect">
            <a:avLst/>
          </a:prstGeom>
          <a:noFill/>
          <a:ln w="9525">
            <a:noFill/>
            <a:miter lim="800000"/>
            <a:headEnd/>
            <a:tailEnd/>
          </a:ln>
        </p:spPr>
        <p:txBody>
          <a:bodyPr/>
          <a:lstStyle/>
          <a:p>
            <a:pPr marL="342900" indent="-342900">
              <a:lnSpc>
                <a:spcPct val="80000"/>
              </a:lnSpc>
              <a:spcBef>
                <a:spcPct val="20000"/>
              </a:spcBef>
              <a:buClr>
                <a:srgbClr val="FF9900"/>
              </a:buClr>
              <a:buSzPct val="125000"/>
              <a:buFontTx/>
              <a:buChar char="•"/>
            </a:pPr>
            <a:r>
              <a:rPr lang="en-US">
                <a:latin typeface="Trebuchet MS" pitchFamily="34" charset="0"/>
              </a:rPr>
              <a:t>public </a:t>
            </a:r>
          </a:p>
          <a:p>
            <a:pPr marL="742950" lvl="1" indent="-285750">
              <a:lnSpc>
                <a:spcPct val="80000"/>
              </a:lnSpc>
              <a:spcBef>
                <a:spcPct val="20000"/>
              </a:spcBef>
              <a:buClr>
                <a:srgbClr val="FF9900"/>
              </a:buClr>
              <a:buSzPct val="125000"/>
              <a:buFontTx/>
              <a:buChar char="–"/>
            </a:pPr>
            <a:r>
              <a:rPr lang="en-US" sz="1600">
                <a:latin typeface="Trebuchet MS" pitchFamily="34" charset="0"/>
              </a:rPr>
              <a:t>Class can be accessed from any other class present in any package</a:t>
            </a:r>
          </a:p>
          <a:p>
            <a:pPr marL="742950" lvl="1" indent="-285750">
              <a:lnSpc>
                <a:spcPct val="80000"/>
              </a:lnSpc>
              <a:spcBef>
                <a:spcPct val="20000"/>
              </a:spcBef>
              <a:buClr>
                <a:srgbClr val="FF9900"/>
              </a:buClr>
              <a:buSzPct val="125000"/>
            </a:pPr>
            <a:endParaRPr lang="en-US" sz="1600">
              <a:latin typeface="Trebuchet MS" pitchFamily="34" charset="0"/>
            </a:endParaRPr>
          </a:p>
          <a:p>
            <a:pPr marL="342900" indent="-342900">
              <a:lnSpc>
                <a:spcPct val="80000"/>
              </a:lnSpc>
              <a:spcBef>
                <a:spcPct val="20000"/>
              </a:spcBef>
              <a:buClr>
                <a:srgbClr val="FF9900"/>
              </a:buClr>
              <a:buSzPct val="125000"/>
              <a:buFontTx/>
              <a:buChar char="•"/>
            </a:pPr>
            <a:r>
              <a:rPr lang="en-US">
                <a:latin typeface="Trebuchet MS" pitchFamily="34" charset="0"/>
              </a:rPr>
              <a:t>default</a:t>
            </a:r>
          </a:p>
          <a:p>
            <a:pPr marL="742950" lvl="1" indent="-285750">
              <a:lnSpc>
                <a:spcPct val="80000"/>
              </a:lnSpc>
              <a:spcBef>
                <a:spcPct val="20000"/>
              </a:spcBef>
              <a:buClr>
                <a:srgbClr val="FF9900"/>
              </a:buClr>
              <a:buSzPct val="125000"/>
              <a:buFontTx/>
              <a:buChar char="–"/>
            </a:pPr>
            <a:r>
              <a:rPr lang="en-US" sz="1600">
                <a:latin typeface="Trebuchet MS" pitchFamily="34" charset="0"/>
              </a:rPr>
              <a:t>Class can be accessed only from within the same package. Classes outside the package in which the class is defined cannot access this class</a:t>
            </a:r>
          </a:p>
          <a:p>
            <a:pPr marL="742950" lvl="1" indent="-285750">
              <a:lnSpc>
                <a:spcPct val="80000"/>
              </a:lnSpc>
              <a:spcBef>
                <a:spcPct val="20000"/>
              </a:spcBef>
              <a:buClr>
                <a:srgbClr val="FF9900"/>
              </a:buClr>
              <a:buSzPct val="125000"/>
            </a:pPr>
            <a:endParaRPr lang="en-US" sz="1600">
              <a:latin typeface="Trebuchet MS" pitchFamily="34" charset="0"/>
            </a:endParaRPr>
          </a:p>
          <a:p>
            <a:pPr marL="342900" indent="-342900">
              <a:lnSpc>
                <a:spcPct val="80000"/>
              </a:lnSpc>
              <a:spcBef>
                <a:spcPct val="20000"/>
              </a:spcBef>
              <a:buClr>
                <a:srgbClr val="FF9900"/>
              </a:buClr>
              <a:buSzPct val="125000"/>
              <a:buFontTx/>
              <a:buChar char="•"/>
            </a:pPr>
            <a:r>
              <a:rPr lang="en-US">
                <a:latin typeface="Trebuchet MS" pitchFamily="34" charset="0"/>
              </a:rPr>
              <a:t>final </a:t>
            </a:r>
          </a:p>
          <a:p>
            <a:pPr marL="742950" lvl="1" indent="-285750">
              <a:lnSpc>
                <a:spcPct val="80000"/>
              </a:lnSpc>
              <a:spcBef>
                <a:spcPct val="20000"/>
              </a:spcBef>
              <a:buClr>
                <a:srgbClr val="FF9900"/>
              </a:buClr>
              <a:buSzPct val="125000"/>
              <a:buFontTx/>
              <a:buChar char="–"/>
            </a:pPr>
            <a:r>
              <a:rPr lang="en-US" sz="1600">
                <a:latin typeface="Trebuchet MS" pitchFamily="34" charset="0"/>
              </a:rPr>
              <a:t>This class cannot be sub-classed, one cannot extend this class</a:t>
            </a:r>
          </a:p>
          <a:p>
            <a:pPr marL="742950" lvl="1" indent="-285750">
              <a:lnSpc>
                <a:spcPct val="80000"/>
              </a:lnSpc>
              <a:spcBef>
                <a:spcPct val="20000"/>
              </a:spcBef>
              <a:buClr>
                <a:srgbClr val="FF9900"/>
              </a:buClr>
              <a:buSzPct val="125000"/>
            </a:pPr>
            <a:endParaRPr lang="en-US" sz="1600">
              <a:latin typeface="Trebuchet MS" pitchFamily="34" charset="0"/>
            </a:endParaRPr>
          </a:p>
          <a:p>
            <a:pPr marL="342900" indent="-342900">
              <a:lnSpc>
                <a:spcPct val="80000"/>
              </a:lnSpc>
              <a:spcBef>
                <a:spcPct val="20000"/>
              </a:spcBef>
              <a:buClr>
                <a:srgbClr val="FF9900"/>
              </a:buClr>
              <a:buSzPct val="125000"/>
              <a:buFontTx/>
              <a:buChar char="•"/>
            </a:pPr>
            <a:r>
              <a:rPr lang="en-US">
                <a:latin typeface="Trebuchet MS" pitchFamily="34" charset="0"/>
              </a:rPr>
              <a:t>abstract</a:t>
            </a:r>
          </a:p>
          <a:p>
            <a:pPr marL="742950" lvl="1" indent="-285750">
              <a:lnSpc>
                <a:spcPct val="80000"/>
              </a:lnSpc>
              <a:spcBef>
                <a:spcPct val="20000"/>
              </a:spcBef>
              <a:buClr>
                <a:srgbClr val="FF9900"/>
              </a:buClr>
              <a:buSzPct val="125000"/>
              <a:buFontTx/>
              <a:buChar char="–"/>
            </a:pPr>
            <a:r>
              <a:rPr lang="en-US" sz="1600">
                <a:latin typeface="Trebuchet MS" pitchFamily="34" charset="0"/>
              </a:rPr>
              <a:t>Class cannot be instantiated, need to sub-classs/extend.</a:t>
            </a:r>
          </a:p>
          <a:p>
            <a:pPr marL="742950" lvl="1" indent="-285750">
              <a:lnSpc>
                <a:spcPct val="80000"/>
              </a:lnSpc>
              <a:spcBef>
                <a:spcPct val="20000"/>
              </a:spcBef>
              <a:buClr>
                <a:srgbClr val="FF9900"/>
              </a:buClr>
              <a:buSzPct val="125000"/>
            </a:pPr>
            <a:endParaRPr lang="en-US" sz="1600">
              <a:latin typeface="Trebuchet MS" pitchFamily="34" charset="0"/>
            </a:endParaRPr>
          </a:p>
          <a:p>
            <a:pPr marL="342900" indent="-342900">
              <a:lnSpc>
                <a:spcPct val="80000"/>
              </a:lnSpc>
              <a:spcBef>
                <a:spcPct val="20000"/>
              </a:spcBef>
              <a:buClr>
                <a:srgbClr val="FF9900"/>
              </a:buClr>
              <a:buSzPct val="125000"/>
              <a:buFontTx/>
              <a:buChar char="•"/>
            </a:pPr>
            <a:r>
              <a:rPr lang="en-US">
                <a:latin typeface="Trebuchet MS" pitchFamily="34" charset="0"/>
              </a:rPr>
              <a:t> strictfp</a:t>
            </a:r>
          </a:p>
          <a:p>
            <a:pPr marL="742950" lvl="1" indent="-285750">
              <a:lnSpc>
                <a:spcPct val="80000"/>
              </a:lnSpc>
              <a:spcBef>
                <a:spcPct val="20000"/>
              </a:spcBef>
              <a:buClr>
                <a:srgbClr val="FF9900"/>
              </a:buClr>
              <a:buSzPct val="125000"/>
              <a:buFontTx/>
              <a:buChar char="–"/>
            </a:pPr>
            <a:r>
              <a:rPr lang="en-US" sz="1600">
                <a:latin typeface="Trebuchet MS" pitchFamily="34" charset="0"/>
              </a:rPr>
              <a:t>Conforms that all methods in the class will conform to IEEE standard rules for floating points</a:t>
            </a:r>
          </a:p>
          <a:p>
            <a:pPr marL="342900" indent="-342900">
              <a:lnSpc>
                <a:spcPct val="80000"/>
              </a:lnSpc>
              <a:spcBef>
                <a:spcPct val="20000"/>
              </a:spcBef>
              <a:buClr>
                <a:srgbClr val="FF9900"/>
              </a:buClr>
              <a:buSzPct val="125000"/>
              <a:buFontTx/>
              <a:buChar char="•"/>
            </a:pPr>
            <a:endParaRPr lang="en-US">
              <a:latin typeface="Trebuchet MS" pitchFamily="34" charset="0"/>
            </a:endParaRPr>
          </a:p>
          <a:p>
            <a:pPr marL="342900" indent="-342900">
              <a:lnSpc>
                <a:spcPct val="80000"/>
              </a:lnSpc>
              <a:spcBef>
                <a:spcPct val="20000"/>
              </a:spcBef>
              <a:buClr>
                <a:srgbClr val="FF9900"/>
              </a:buClr>
              <a:buSzPct val="125000"/>
              <a:buFontTx/>
              <a:buChar char="•"/>
            </a:pPr>
            <a:endParaRPr lang="en-US">
              <a:latin typeface="Trebuchet MS" pitchFamily="34" charset="0"/>
            </a:endParaRPr>
          </a:p>
          <a:p>
            <a:pPr marL="342900" indent="-342900">
              <a:lnSpc>
                <a:spcPct val="80000"/>
              </a:lnSpc>
              <a:spcBef>
                <a:spcPct val="20000"/>
              </a:spcBef>
              <a:buClr>
                <a:srgbClr val="FF9900"/>
              </a:buClr>
              <a:buSzPct val="125000"/>
              <a:buFontTx/>
              <a:buChar char="•"/>
            </a:pPr>
            <a:endParaRPr lang="en-US">
              <a:latin typeface="Trebuchet MS" pitchFamily="34" charset="0"/>
            </a:endParaRPr>
          </a:p>
          <a:p>
            <a:pPr marL="742950" lvl="1" indent="-285750">
              <a:lnSpc>
                <a:spcPct val="80000"/>
              </a:lnSpc>
              <a:spcBef>
                <a:spcPct val="20000"/>
              </a:spcBef>
              <a:buClr>
                <a:srgbClr val="FF9900"/>
              </a:buClr>
              <a:buSzPct val="125000"/>
              <a:buFontTx/>
              <a:buChar char="–"/>
            </a:pPr>
            <a:endParaRPr lang="en-US" sz="1600">
              <a:latin typeface="Trebuchet MS" pitchFamily="34" charset="0"/>
            </a:endParaRPr>
          </a:p>
          <a:p>
            <a:pPr marL="342900" indent="-342900">
              <a:lnSpc>
                <a:spcPct val="80000"/>
              </a:lnSpc>
              <a:spcBef>
                <a:spcPct val="20000"/>
              </a:spcBef>
              <a:buClr>
                <a:srgbClr val="FF9900"/>
              </a:buClr>
              <a:buSzPct val="125000"/>
            </a:pPr>
            <a:endParaRPr lang="en-US">
              <a:latin typeface="Trebuchet MS" pitchFamily="34" charset="0"/>
            </a:endParaRPr>
          </a:p>
        </p:txBody>
      </p:sp>
      <mc:AlternateContent xmlns:mc="http://schemas.openxmlformats.org/markup-compatibility/2006" xmlns:p14="http://schemas.microsoft.com/office/powerpoint/2010/main">
        <mc:Choice Requires="p14">
          <p:contentPart p14:bwMode="auto" r:id="rId2">
            <p14:nvContentPartPr>
              <p14:cNvPr id="1026" name="Ink 2"/>
              <p14:cNvContentPartPr>
                <a14:cpLocks xmlns:a14="http://schemas.microsoft.com/office/drawing/2010/main" noRot="1" noChangeAspect="1" noEditPoints="1" noChangeArrowheads="1" noChangeShapeType="1"/>
              </p14:cNvContentPartPr>
              <p14:nvPr/>
            </p14:nvContentPartPr>
            <p14:xfrm>
              <a:off x="154412950" y="183603900"/>
              <a:ext cx="0" cy="0"/>
            </p14:xfrm>
          </p:contentPart>
        </mc:Choice>
        <mc:Fallback xmlns="">
          <p:pic>
            <p:nvPicPr>
              <p:cNvPr id="1026" name="Ink 2"/>
              <p:cNvPicPr>
                <a:picLocks noRot="1" noChangeAspect="1" noEditPoints="1" noChangeArrowheads="1" noChangeShapeType="1"/>
              </p:cNvPicPr>
              <p:nvPr/>
            </p:nvPicPr>
            <p:blipFill>
              <a:blip r:embed="rId3"/>
              <a:stretch>
                <a:fillRect/>
              </a:stretch>
            </p:blipFill>
            <p:spPr>
              <a:xfrm>
                <a:off x="154412950" y="183603900"/>
                <a:ext cx="0" cy="0"/>
              </a:xfrm>
              <a:prstGeom prst="rect">
                <a:avLst/>
              </a:prstGeom>
            </p:spPr>
          </p:pic>
        </mc:Fallback>
      </mc:AlternateContent>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body" sz="half" idx="1"/>
          </p:nvPr>
        </p:nvSpPr>
        <p:spPr/>
        <p:txBody>
          <a:bodyPr/>
          <a:lstStyle/>
          <a:p>
            <a:pPr>
              <a:lnSpc>
                <a:spcPct val="90000"/>
              </a:lnSpc>
              <a:buFont typeface="Wingdings" pitchFamily="2" charset="2"/>
              <a:buChar char="Ø"/>
            </a:pPr>
            <a:endParaRPr lang="en-US" sz="1800" smtClean="0">
              <a:latin typeface="Trebuchet MS" pitchFamily="34" charset="0"/>
            </a:endParaRPr>
          </a:p>
          <a:p>
            <a:pPr>
              <a:lnSpc>
                <a:spcPct val="90000"/>
              </a:lnSpc>
            </a:pPr>
            <a:endParaRPr lang="en-US" sz="2800" smtClean="0"/>
          </a:p>
        </p:txBody>
      </p:sp>
      <p:sp>
        <p:nvSpPr>
          <p:cNvPr id="6148" name="Rectangle 3"/>
          <p:cNvSpPr>
            <a:spLocks noChangeArrowheads="1"/>
          </p:cNvSpPr>
          <p:nvPr/>
        </p:nvSpPr>
        <p:spPr bwMode="auto">
          <a:xfrm>
            <a:off x="0" y="0"/>
            <a:ext cx="9144000" cy="1066800"/>
          </a:xfrm>
          <a:prstGeom prst="rect">
            <a:avLst/>
          </a:prstGeom>
          <a:solidFill>
            <a:schemeClr val="accent2"/>
          </a:solidFill>
          <a:ln w="9525">
            <a:solidFill>
              <a:schemeClr val="tx1"/>
            </a:solidFill>
            <a:miter lim="800000"/>
            <a:headEnd/>
            <a:tailEnd/>
          </a:ln>
        </p:spPr>
        <p:txBody>
          <a:bodyPr wrap="none" anchor="ctr"/>
          <a:lstStyle/>
          <a:p>
            <a:r>
              <a:rPr lang="en-US" sz="2000">
                <a:solidFill>
                  <a:schemeClr val="bg1"/>
                </a:solidFill>
                <a:latin typeface="Trebuchet MS" pitchFamily="34" charset="0"/>
              </a:rPr>
              <a:t>Modifiers – Class Attributes</a:t>
            </a:r>
          </a:p>
        </p:txBody>
      </p:sp>
      <p:sp>
        <p:nvSpPr>
          <p:cNvPr id="6149" name="Rectangle 4"/>
          <p:cNvSpPr>
            <a:spLocks noChangeArrowheads="1"/>
          </p:cNvSpPr>
          <p:nvPr/>
        </p:nvSpPr>
        <p:spPr bwMode="auto">
          <a:xfrm>
            <a:off x="457200" y="1600200"/>
            <a:ext cx="8229600" cy="4525963"/>
          </a:xfrm>
          <a:prstGeom prst="rect">
            <a:avLst/>
          </a:prstGeom>
          <a:noFill/>
          <a:ln w="9525">
            <a:noFill/>
            <a:miter lim="800000"/>
            <a:headEnd/>
            <a:tailEnd/>
          </a:ln>
        </p:spPr>
        <p:txBody>
          <a:bodyPr/>
          <a:lstStyle/>
          <a:p>
            <a:pPr marL="342900" indent="-342900">
              <a:lnSpc>
                <a:spcPct val="80000"/>
              </a:lnSpc>
              <a:spcBef>
                <a:spcPct val="20000"/>
              </a:spcBef>
              <a:buClr>
                <a:srgbClr val="FF9900"/>
              </a:buClr>
              <a:buSzPct val="125000"/>
              <a:buFontTx/>
              <a:buChar char="•"/>
            </a:pPr>
            <a:r>
              <a:rPr lang="en-US">
                <a:latin typeface="Trebuchet MS" pitchFamily="34" charset="0"/>
              </a:rPr>
              <a:t>public </a:t>
            </a:r>
          </a:p>
          <a:p>
            <a:pPr marL="742950" lvl="1" indent="-285750">
              <a:lnSpc>
                <a:spcPct val="80000"/>
              </a:lnSpc>
              <a:spcBef>
                <a:spcPct val="20000"/>
              </a:spcBef>
              <a:buClr>
                <a:srgbClr val="FF9900"/>
              </a:buClr>
              <a:buSzPct val="125000"/>
              <a:buFontTx/>
              <a:buChar char="–"/>
            </a:pPr>
            <a:r>
              <a:rPr lang="en-US" sz="1600">
                <a:latin typeface="Trebuchet MS" pitchFamily="34" charset="0"/>
              </a:rPr>
              <a:t>Attribute can be accessed from any other class present in any package</a:t>
            </a:r>
          </a:p>
          <a:p>
            <a:pPr marL="342900" indent="-342900">
              <a:lnSpc>
                <a:spcPct val="80000"/>
              </a:lnSpc>
              <a:spcBef>
                <a:spcPct val="20000"/>
              </a:spcBef>
              <a:buClr>
                <a:srgbClr val="FF9900"/>
              </a:buClr>
              <a:buSzPct val="125000"/>
              <a:buFontTx/>
              <a:buChar char="•"/>
            </a:pPr>
            <a:r>
              <a:rPr lang="en-US">
                <a:latin typeface="Trebuchet MS" pitchFamily="34" charset="0"/>
              </a:rPr>
              <a:t>private</a:t>
            </a:r>
          </a:p>
          <a:p>
            <a:pPr marL="742950" lvl="1" indent="-285750">
              <a:lnSpc>
                <a:spcPct val="80000"/>
              </a:lnSpc>
              <a:spcBef>
                <a:spcPct val="20000"/>
              </a:spcBef>
              <a:buClr>
                <a:srgbClr val="FF9900"/>
              </a:buClr>
              <a:buSzPct val="125000"/>
              <a:buFontTx/>
              <a:buChar char="–"/>
            </a:pPr>
            <a:r>
              <a:rPr lang="en-US" sz="1600">
                <a:latin typeface="Trebuchet MS" pitchFamily="34" charset="0"/>
              </a:rPr>
              <a:t>Attribute can be accessed from only within the class</a:t>
            </a:r>
          </a:p>
          <a:p>
            <a:pPr marL="342900" indent="-342900">
              <a:lnSpc>
                <a:spcPct val="80000"/>
              </a:lnSpc>
              <a:spcBef>
                <a:spcPct val="20000"/>
              </a:spcBef>
              <a:buClr>
                <a:srgbClr val="FF9900"/>
              </a:buClr>
              <a:buSzPct val="125000"/>
              <a:buFontTx/>
              <a:buChar char="•"/>
            </a:pPr>
            <a:r>
              <a:rPr lang="en-US">
                <a:latin typeface="Trebuchet MS" pitchFamily="34" charset="0"/>
              </a:rPr>
              <a:t>protected</a:t>
            </a:r>
          </a:p>
          <a:p>
            <a:pPr marL="742950" lvl="1" indent="-285750">
              <a:lnSpc>
                <a:spcPct val="80000"/>
              </a:lnSpc>
              <a:spcBef>
                <a:spcPct val="20000"/>
              </a:spcBef>
              <a:buClr>
                <a:srgbClr val="FF9900"/>
              </a:buClr>
              <a:buSzPct val="125000"/>
              <a:buFontTx/>
              <a:buChar char="–"/>
            </a:pPr>
            <a:r>
              <a:rPr lang="en-US" sz="1600">
                <a:latin typeface="Trebuchet MS" pitchFamily="34" charset="0"/>
              </a:rPr>
              <a:t>Attribute can be accessed from all classes in the same package and sub-classes.</a:t>
            </a:r>
          </a:p>
          <a:p>
            <a:pPr marL="342900" indent="-342900">
              <a:lnSpc>
                <a:spcPct val="80000"/>
              </a:lnSpc>
              <a:spcBef>
                <a:spcPct val="20000"/>
              </a:spcBef>
              <a:buClr>
                <a:srgbClr val="FF9900"/>
              </a:buClr>
              <a:buSzPct val="125000"/>
              <a:buFontTx/>
              <a:buChar char="•"/>
            </a:pPr>
            <a:r>
              <a:rPr lang="en-US">
                <a:latin typeface="Trebuchet MS" pitchFamily="34" charset="0"/>
              </a:rPr>
              <a:t>default</a:t>
            </a:r>
          </a:p>
          <a:p>
            <a:pPr marL="742950" lvl="1" indent="-285750">
              <a:lnSpc>
                <a:spcPct val="80000"/>
              </a:lnSpc>
              <a:spcBef>
                <a:spcPct val="20000"/>
              </a:spcBef>
              <a:buClr>
                <a:srgbClr val="FF9900"/>
              </a:buClr>
              <a:buSzPct val="125000"/>
              <a:buFontTx/>
              <a:buChar char="–"/>
            </a:pPr>
            <a:r>
              <a:rPr lang="en-US" sz="1600">
                <a:latin typeface="Trebuchet MS" pitchFamily="34" charset="0"/>
              </a:rPr>
              <a:t>Attribute can be accessed only from within the same package.</a:t>
            </a:r>
          </a:p>
          <a:p>
            <a:pPr marL="342900" indent="-342900">
              <a:lnSpc>
                <a:spcPct val="80000"/>
              </a:lnSpc>
              <a:spcBef>
                <a:spcPct val="20000"/>
              </a:spcBef>
              <a:buClr>
                <a:srgbClr val="FF9900"/>
              </a:buClr>
              <a:buSzPct val="125000"/>
              <a:buFontTx/>
              <a:buChar char="•"/>
            </a:pPr>
            <a:r>
              <a:rPr lang="en-US">
                <a:latin typeface="Trebuchet MS" pitchFamily="34" charset="0"/>
              </a:rPr>
              <a:t>final </a:t>
            </a:r>
          </a:p>
          <a:p>
            <a:pPr marL="742950" lvl="1" indent="-285750">
              <a:lnSpc>
                <a:spcPct val="80000"/>
              </a:lnSpc>
              <a:spcBef>
                <a:spcPct val="20000"/>
              </a:spcBef>
              <a:buClr>
                <a:srgbClr val="FF9900"/>
              </a:buClr>
              <a:buSzPct val="125000"/>
              <a:buFontTx/>
              <a:buChar char="–"/>
            </a:pPr>
            <a:r>
              <a:rPr lang="en-US" sz="1600">
                <a:latin typeface="Trebuchet MS" pitchFamily="34" charset="0"/>
              </a:rPr>
              <a:t>This value of the attribute cannot be changed, can assign only 1 value</a:t>
            </a:r>
          </a:p>
          <a:p>
            <a:pPr marL="342900" indent="-342900">
              <a:lnSpc>
                <a:spcPct val="80000"/>
              </a:lnSpc>
              <a:spcBef>
                <a:spcPct val="20000"/>
              </a:spcBef>
              <a:buClr>
                <a:srgbClr val="FF9900"/>
              </a:buClr>
              <a:buSzPct val="125000"/>
              <a:buFontTx/>
              <a:buChar char="•"/>
            </a:pPr>
            <a:r>
              <a:rPr lang="en-US">
                <a:latin typeface="Trebuchet MS" pitchFamily="34" charset="0"/>
              </a:rPr>
              <a:t>transient</a:t>
            </a:r>
          </a:p>
          <a:p>
            <a:pPr marL="742950" lvl="1" indent="-285750">
              <a:lnSpc>
                <a:spcPct val="80000"/>
              </a:lnSpc>
              <a:spcBef>
                <a:spcPct val="20000"/>
              </a:spcBef>
              <a:buClr>
                <a:srgbClr val="FF9900"/>
              </a:buClr>
              <a:buSzPct val="125000"/>
              <a:buFontTx/>
              <a:buChar char="–"/>
            </a:pPr>
            <a:r>
              <a:rPr lang="en-US" sz="1600">
                <a:latin typeface="Trebuchet MS" pitchFamily="34" charset="0"/>
              </a:rPr>
              <a:t>The attribute value cannot be serialized</a:t>
            </a:r>
          </a:p>
          <a:p>
            <a:pPr marL="342900" indent="-342900">
              <a:lnSpc>
                <a:spcPct val="80000"/>
              </a:lnSpc>
              <a:spcBef>
                <a:spcPct val="20000"/>
              </a:spcBef>
              <a:buClr>
                <a:srgbClr val="FF9900"/>
              </a:buClr>
              <a:buSzPct val="125000"/>
              <a:buFontTx/>
              <a:buChar char="•"/>
            </a:pPr>
            <a:r>
              <a:rPr lang="en-US">
                <a:latin typeface="Trebuchet MS" pitchFamily="34" charset="0"/>
              </a:rPr>
              <a:t> volatile</a:t>
            </a:r>
          </a:p>
          <a:p>
            <a:pPr marL="742950" lvl="1" indent="-285750">
              <a:lnSpc>
                <a:spcPct val="80000"/>
              </a:lnSpc>
              <a:spcBef>
                <a:spcPct val="20000"/>
              </a:spcBef>
              <a:buClr>
                <a:srgbClr val="FF9900"/>
              </a:buClr>
              <a:buSzPct val="125000"/>
              <a:buFontTx/>
              <a:buChar char="–"/>
            </a:pPr>
            <a:r>
              <a:rPr lang="en-US" sz="1600">
                <a:latin typeface="Trebuchet MS" pitchFamily="34" charset="0"/>
              </a:rPr>
              <a:t>Thread always reconciles its own copy of attribute with master.</a:t>
            </a:r>
          </a:p>
          <a:p>
            <a:pPr marL="342900" indent="-342900">
              <a:lnSpc>
                <a:spcPct val="80000"/>
              </a:lnSpc>
              <a:spcBef>
                <a:spcPct val="20000"/>
              </a:spcBef>
              <a:buClr>
                <a:srgbClr val="FF9900"/>
              </a:buClr>
              <a:buSzPct val="125000"/>
              <a:buFontTx/>
              <a:buChar char="•"/>
            </a:pPr>
            <a:r>
              <a:rPr lang="en-US">
                <a:latin typeface="Trebuchet MS" pitchFamily="34" charset="0"/>
              </a:rPr>
              <a:t>static</a:t>
            </a:r>
          </a:p>
          <a:p>
            <a:pPr marL="742950" lvl="1" indent="-285750">
              <a:lnSpc>
                <a:spcPct val="80000"/>
              </a:lnSpc>
              <a:spcBef>
                <a:spcPct val="20000"/>
              </a:spcBef>
              <a:buClr>
                <a:srgbClr val="FF9900"/>
              </a:buClr>
              <a:buSzPct val="125000"/>
              <a:buFontTx/>
              <a:buChar char="–"/>
            </a:pPr>
            <a:r>
              <a:rPr lang="en-US" sz="1600">
                <a:latin typeface="Trebuchet MS" pitchFamily="34" charset="0"/>
              </a:rPr>
              <a:t>Only one value of the attribute per class</a:t>
            </a:r>
          </a:p>
          <a:p>
            <a:pPr marL="342900" indent="-342900">
              <a:lnSpc>
                <a:spcPct val="80000"/>
              </a:lnSpc>
              <a:spcBef>
                <a:spcPct val="20000"/>
              </a:spcBef>
              <a:buClr>
                <a:srgbClr val="FF9900"/>
              </a:buClr>
              <a:buSzPct val="125000"/>
              <a:buFontTx/>
              <a:buChar char="•"/>
            </a:pPr>
            <a:endParaRPr lang="en-US">
              <a:latin typeface="Trebuchet MS" pitchFamily="34" charset="0"/>
            </a:endParaRPr>
          </a:p>
          <a:p>
            <a:pPr marL="342900" indent="-342900">
              <a:lnSpc>
                <a:spcPct val="80000"/>
              </a:lnSpc>
              <a:spcBef>
                <a:spcPct val="20000"/>
              </a:spcBef>
              <a:buClr>
                <a:srgbClr val="FF9900"/>
              </a:buClr>
              <a:buSzPct val="125000"/>
              <a:buFontTx/>
              <a:buChar char="•"/>
            </a:pPr>
            <a:endParaRPr lang="en-US">
              <a:latin typeface="Trebuchet MS" pitchFamily="34" charset="0"/>
            </a:endParaRPr>
          </a:p>
          <a:p>
            <a:pPr marL="342900" indent="-342900">
              <a:lnSpc>
                <a:spcPct val="80000"/>
              </a:lnSpc>
              <a:spcBef>
                <a:spcPct val="20000"/>
              </a:spcBef>
              <a:buClr>
                <a:srgbClr val="FF9900"/>
              </a:buClr>
              <a:buSzPct val="125000"/>
              <a:buFontTx/>
              <a:buChar char="•"/>
            </a:pPr>
            <a:endParaRPr lang="en-US">
              <a:latin typeface="Trebuchet MS" pitchFamily="34" charset="0"/>
            </a:endParaRPr>
          </a:p>
          <a:p>
            <a:pPr marL="742950" lvl="1" indent="-285750">
              <a:lnSpc>
                <a:spcPct val="80000"/>
              </a:lnSpc>
              <a:spcBef>
                <a:spcPct val="20000"/>
              </a:spcBef>
              <a:buClr>
                <a:srgbClr val="FF9900"/>
              </a:buClr>
              <a:buSzPct val="125000"/>
              <a:buFontTx/>
              <a:buChar char="–"/>
            </a:pPr>
            <a:endParaRPr lang="en-US" sz="1600">
              <a:latin typeface="Trebuchet MS" pitchFamily="34" charset="0"/>
            </a:endParaRPr>
          </a:p>
          <a:p>
            <a:pPr marL="342900" indent="-342900">
              <a:lnSpc>
                <a:spcPct val="80000"/>
              </a:lnSpc>
              <a:spcBef>
                <a:spcPct val="20000"/>
              </a:spcBef>
              <a:buClr>
                <a:srgbClr val="FF9900"/>
              </a:buClr>
              <a:buSzPct val="125000"/>
            </a:pPr>
            <a:endParaRPr lang="en-US">
              <a:latin typeface="Trebuchet MS"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body" sz="half" idx="1"/>
          </p:nvPr>
        </p:nvSpPr>
        <p:spPr/>
        <p:txBody>
          <a:bodyPr/>
          <a:lstStyle/>
          <a:p>
            <a:pPr>
              <a:lnSpc>
                <a:spcPct val="90000"/>
              </a:lnSpc>
              <a:buFont typeface="Wingdings" pitchFamily="2" charset="2"/>
              <a:buChar char="Ø"/>
            </a:pPr>
            <a:endParaRPr lang="en-US" sz="1800" smtClean="0">
              <a:latin typeface="Trebuchet MS" pitchFamily="34" charset="0"/>
            </a:endParaRPr>
          </a:p>
          <a:p>
            <a:pPr>
              <a:lnSpc>
                <a:spcPct val="90000"/>
              </a:lnSpc>
            </a:pPr>
            <a:endParaRPr lang="en-US" sz="2800" smtClean="0"/>
          </a:p>
        </p:txBody>
      </p:sp>
      <p:sp>
        <p:nvSpPr>
          <p:cNvPr id="7172" name="Rectangle 3"/>
          <p:cNvSpPr>
            <a:spLocks noChangeArrowheads="1"/>
          </p:cNvSpPr>
          <p:nvPr/>
        </p:nvSpPr>
        <p:spPr bwMode="auto">
          <a:xfrm>
            <a:off x="0" y="0"/>
            <a:ext cx="9144000" cy="1066800"/>
          </a:xfrm>
          <a:prstGeom prst="rect">
            <a:avLst/>
          </a:prstGeom>
          <a:solidFill>
            <a:schemeClr val="accent2"/>
          </a:solidFill>
          <a:ln w="9525">
            <a:solidFill>
              <a:schemeClr val="tx1"/>
            </a:solidFill>
            <a:miter lim="800000"/>
            <a:headEnd/>
            <a:tailEnd/>
          </a:ln>
        </p:spPr>
        <p:txBody>
          <a:bodyPr wrap="none" anchor="ctr"/>
          <a:lstStyle/>
          <a:p>
            <a:pPr lvl="1"/>
            <a:r>
              <a:rPr lang="en-US" sz="2000">
                <a:solidFill>
                  <a:schemeClr val="bg1"/>
                </a:solidFill>
                <a:latin typeface="Trebuchet MS" pitchFamily="34" charset="0"/>
              </a:rPr>
              <a:t>Modifiers – Methods</a:t>
            </a:r>
          </a:p>
        </p:txBody>
      </p:sp>
      <p:sp>
        <p:nvSpPr>
          <p:cNvPr id="7173" name="Rectangle 4"/>
          <p:cNvSpPr>
            <a:spLocks noChangeArrowheads="1"/>
          </p:cNvSpPr>
          <p:nvPr/>
        </p:nvSpPr>
        <p:spPr bwMode="auto">
          <a:xfrm>
            <a:off x="381000" y="1219200"/>
            <a:ext cx="8229600" cy="4525963"/>
          </a:xfrm>
          <a:prstGeom prst="rect">
            <a:avLst/>
          </a:prstGeom>
          <a:noFill/>
          <a:ln w="9525">
            <a:noFill/>
            <a:miter lim="800000"/>
            <a:headEnd/>
            <a:tailEnd/>
          </a:ln>
        </p:spPr>
        <p:txBody>
          <a:bodyPr/>
          <a:lstStyle/>
          <a:p>
            <a:pPr marL="342900" indent="-342900">
              <a:lnSpc>
                <a:spcPct val="80000"/>
              </a:lnSpc>
              <a:spcBef>
                <a:spcPct val="20000"/>
              </a:spcBef>
              <a:buClr>
                <a:srgbClr val="FF9900"/>
              </a:buClr>
              <a:buSzPct val="125000"/>
              <a:buFontTx/>
              <a:buChar char="•"/>
            </a:pPr>
            <a:r>
              <a:rPr lang="en-US">
                <a:latin typeface="Trebuchet MS" pitchFamily="34" charset="0"/>
              </a:rPr>
              <a:t>public </a:t>
            </a:r>
          </a:p>
          <a:p>
            <a:pPr marL="742950" lvl="1" indent="-285750">
              <a:lnSpc>
                <a:spcPct val="80000"/>
              </a:lnSpc>
              <a:spcBef>
                <a:spcPct val="20000"/>
              </a:spcBef>
              <a:buClr>
                <a:srgbClr val="FF9900"/>
              </a:buClr>
              <a:buSzPct val="125000"/>
              <a:buFontTx/>
              <a:buChar char="–"/>
            </a:pPr>
            <a:r>
              <a:rPr lang="en-US" sz="1600">
                <a:latin typeface="Trebuchet MS" pitchFamily="34" charset="0"/>
              </a:rPr>
              <a:t>Method can be accessed from any other class present in any package</a:t>
            </a:r>
          </a:p>
          <a:p>
            <a:pPr marL="342900" indent="-342900">
              <a:lnSpc>
                <a:spcPct val="80000"/>
              </a:lnSpc>
              <a:spcBef>
                <a:spcPct val="20000"/>
              </a:spcBef>
              <a:buClr>
                <a:srgbClr val="FF9900"/>
              </a:buClr>
              <a:buSzPct val="125000"/>
              <a:buFontTx/>
              <a:buChar char="•"/>
            </a:pPr>
            <a:r>
              <a:rPr lang="en-US">
                <a:latin typeface="Trebuchet MS" pitchFamily="34" charset="0"/>
              </a:rPr>
              <a:t>private</a:t>
            </a:r>
          </a:p>
          <a:p>
            <a:pPr marL="742950" lvl="1" indent="-285750">
              <a:lnSpc>
                <a:spcPct val="80000"/>
              </a:lnSpc>
              <a:spcBef>
                <a:spcPct val="20000"/>
              </a:spcBef>
              <a:buClr>
                <a:srgbClr val="FF9900"/>
              </a:buClr>
              <a:buSzPct val="125000"/>
              <a:buFontTx/>
              <a:buChar char="–"/>
            </a:pPr>
            <a:r>
              <a:rPr lang="en-US" sz="1600">
                <a:latin typeface="Trebuchet MS" pitchFamily="34" charset="0"/>
              </a:rPr>
              <a:t>Method can be accessed from only within the class</a:t>
            </a:r>
          </a:p>
          <a:p>
            <a:pPr marL="342900" indent="-342900">
              <a:lnSpc>
                <a:spcPct val="80000"/>
              </a:lnSpc>
              <a:spcBef>
                <a:spcPct val="20000"/>
              </a:spcBef>
              <a:buClr>
                <a:srgbClr val="FF9900"/>
              </a:buClr>
              <a:buSzPct val="125000"/>
              <a:buFontTx/>
              <a:buChar char="•"/>
            </a:pPr>
            <a:r>
              <a:rPr lang="en-US">
                <a:latin typeface="Trebuchet MS" pitchFamily="34" charset="0"/>
              </a:rPr>
              <a:t>protected</a:t>
            </a:r>
          </a:p>
          <a:p>
            <a:pPr marL="742950" lvl="1" indent="-285750">
              <a:lnSpc>
                <a:spcPct val="80000"/>
              </a:lnSpc>
              <a:spcBef>
                <a:spcPct val="20000"/>
              </a:spcBef>
              <a:buClr>
                <a:srgbClr val="FF9900"/>
              </a:buClr>
              <a:buSzPct val="125000"/>
              <a:buFontTx/>
              <a:buChar char="–"/>
            </a:pPr>
            <a:r>
              <a:rPr lang="en-US" sz="1600">
                <a:latin typeface="Trebuchet MS" pitchFamily="34" charset="0"/>
              </a:rPr>
              <a:t>Method can be accessed from all classes in the same package and sub-classes.</a:t>
            </a:r>
          </a:p>
          <a:p>
            <a:pPr marL="342900" indent="-342900">
              <a:lnSpc>
                <a:spcPct val="80000"/>
              </a:lnSpc>
              <a:spcBef>
                <a:spcPct val="20000"/>
              </a:spcBef>
              <a:buClr>
                <a:srgbClr val="FF9900"/>
              </a:buClr>
              <a:buSzPct val="125000"/>
              <a:buFontTx/>
              <a:buChar char="•"/>
            </a:pPr>
            <a:r>
              <a:rPr lang="en-US">
                <a:latin typeface="Trebuchet MS" pitchFamily="34" charset="0"/>
              </a:rPr>
              <a:t>default</a:t>
            </a:r>
          </a:p>
          <a:p>
            <a:pPr marL="742950" lvl="1" indent="-285750">
              <a:lnSpc>
                <a:spcPct val="80000"/>
              </a:lnSpc>
              <a:spcBef>
                <a:spcPct val="20000"/>
              </a:spcBef>
              <a:buClr>
                <a:srgbClr val="FF9900"/>
              </a:buClr>
              <a:buSzPct val="125000"/>
              <a:buFontTx/>
              <a:buChar char="–"/>
            </a:pPr>
            <a:r>
              <a:rPr lang="en-US" sz="1600">
                <a:latin typeface="Trebuchet MS" pitchFamily="34" charset="0"/>
              </a:rPr>
              <a:t>Method can be accessed only from within the same package.</a:t>
            </a:r>
          </a:p>
          <a:p>
            <a:pPr marL="342900" indent="-342900">
              <a:lnSpc>
                <a:spcPct val="80000"/>
              </a:lnSpc>
              <a:spcBef>
                <a:spcPct val="20000"/>
              </a:spcBef>
              <a:buClr>
                <a:srgbClr val="FF9900"/>
              </a:buClr>
              <a:buSzPct val="125000"/>
              <a:buFontTx/>
              <a:buChar char="•"/>
            </a:pPr>
            <a:r>
              <a:rPr lang="en-US">
                <a:latin typeface="Trebuchet MS" pitchFamily="34" charset="0"/>
              </a:rPr>
              <a:t>final </a:t>
            </a:r>
          </a:p>
          <a:p>
            <a:pPr marL="742950" lvl="1" indent="-285750">
              <a:lnSpc>
                <a:spcPct val="80000"/>
              </a:lnSpc>
              <a:spcBef>
                <a:spcPct val="20000"/>
              </a:spcBef>
              <a:buClr>
                <a:srgbClr val="FF9900"/>
              </a:buClr>
              <a:buSzPct val="125000"/>
              <a:buFontTx/>
              <a:buChar char="–"/>
            </a:pPr>
            <a:r>
              <a:rPr lang="en-US" sz="1600">
                <a:latin typeface="Trebuchet MS" pitchFamily="34" charset="0"/>
              </a:rPr>
              <a:t>The method cannot be overridden</a:t>
            </a:r>
          </a:p>
          <a:p>
            <a:pPr marL="342900" indent="-342900">
              <a:lnSpc>
                <a:spcPct val="80000"/>
              </a:lnSpc>
              <a:spcBef>
                <a:spcPct val="20000"/>
              </a:spcBef>
              <a:buClr>
                <a:srgbClr val="FF9900"/>
              </a:buClr>
              <a:buSzPct val="125000"/>
              <a:buFontTx/>
              <a:buChar char="•"/>
            </a:pPr>
            <a:r>
              <a:rPr lang="en-US">
                <a:latin typeface="Trebuchet MS" pitchFamily="34" charset="0"/>
              </a:rPr>
              <a:t>abstract</a:t>
            </a:r>
          </a:p>
          <a:p>
            <a:pPr marL="742950" lvl="1" indent="-285750">
              <a:lnSpc>
                <a:spcPct val="80000"/>
              </a:lnSpc>
              <a:spcBef>
                <a:spcPct val="20000"/>
              </a:spcBef>
              <a:buClr>
                <a:srgbClr val="FF9900"/>
              </a:buClr>
              <a:buSzPct val="125000"/>
              <a:buFontTx/>
              <a:buChar char="–"/>
            </a:pPr>
            <a:r>
              <a:rPr lang="en-US" sz="1600">
                <a:latin typeface="Trebuchet MS" pitchFamily="34" charset="0"/>
              </a:rPr>
              <a:t>Only provides the method declaration</a:t>
            </a:r>
          </a:p>
          <a:p>
            <a:pPr marL="342900" indent="-342900">
              <a:lnSpc>
                <a:spcPct val="80000"/>
              </a:lnSpc>
              <a:spcBef>
                <a:spcPct val="20000"/>
              </a:spcBef>
              <a:buClr>
                <a:srgbClr val="FF9900"/>
              </a:buClr>
              <a:buSzPct val="125000"/>
              <a:buFontTx/>
              <a:buChar char="•"/>
            </a:pPr>
            <a:r>
              <a:rPr lang="en-US">
                <a:latin typeface="Trebuchet MS" pitchFamily="34" charset="0"/>
              </a:rPr>
              <a:t> strictfp</a:t>
            </a:r>
          </a:p>
          <a:p>
            <a:pPr marL="742950" lvl="1" indent="-285750">
              <a:lnSpc>
                <a:spcPct val="80000"/>
              </a:lnSpc>
              <a:spcBef>
                <a:spcPct val="20000"/>
              </a:spcBef>
              <a:buClr>
                <a:srgbClr val="FF9900"/>
              </a:buClr>
              <a:buSzPct val="125000"/>
              <a:buFontTx/>
              <a:buChar char="–"/>
            </a:pPr>
            <a:r>
              <a:rPr lang="en-US" sz="1600">
                <a:latin typeface="Trebuchet MS" pitchFamily="34" charset="0"/>
              </a:rPr>
              <a:t>Method conforms to IEEE standard rules for floating points</a:t>
            </a:r>
          </a:p>
          <a:p>
            <a:pPr marL="342900" indent="-342900">
              <a:lnSpc>
                <a:spcPct val="80000"/>
              </a:lnSpc>
              <a:spcBef>
                <a:spcPct val="20000"/>
              </a:spcBef>
              <a:buClr>
                <a:srgbClr val="FF9900"/>
              </a:buClr>
              <a:buSzPct val="125000"/>
              <a:buFontTx/>
              <a:buChar char="•"/>
            </a:pPr>
            <a:r>
              <a:rPr lang="en-US">
                <a:latin typeface="Trebuchet MS" pitchFamily="34" charset="0"/>
              </a:rPr>
              <a:t>synchronized</a:t>
            </a:r>
          </a:p>
          <a:p>
            <a:pPr marL="742950" lvl="1" indent="-285750">
              <a:lnSpc>
                <a:spcPct val="80000"/>
              </a:lnSpc>
              <a:spcBef>
                <a:spcPct val="20000"/>
              </a:spcBef>
              <a:buClr>
                <a:srgbClr val="FF9900"/>
              </a:buClr>
              <a:buSzPct val="125000"/>
              <a:buFontTx/>
              <a:buChar char="–"/>
            </a:pPr>
            <a:r>
              <a:rPr lang="en-US" sz="1600">
                <a:latin typeface="Trebuchet MS" pitchFamily="34" charset="0"/>
              </a:rPr>
              <a:t>Only one thread can access the method at a time</a:t>
            </a:r>
          </a:p>
          <a:p>
            <a:pPr marL="342900" indent="-342900">
              <a:lnSpc>
                <a:spcPct val="80000"/>
              </a:lnSpc>
              <a:spcBef>
                <a:spcPct val="20000"/>
              </a:spcBef>
              <a:buClr>
                <a:srgbClr val="FF9900"/>
              </a:buClr>
              <a:buSzPct val="125000"/>
              <a:buFontTx/>
              <a:buChar char="•"/>
            </a:pPr>
            <a:r>
              <a:rPr lang="en-US">
                <a:latin typeface="Trebuchet MS" pitchFamily="34" charset="0"/>
              </a:rPr>
              <a:t>native</a:t>
            </a:r>
          </a:p>
          <a:p>
            <a:pPr marL="742950" lvl="1" indent="-285750">
              <a:lnSpc>
                <a:spcPct val="80000"/>
              </a:lnSpc>
              <a:spcBef>
                <a:spcPct val="20000"/>
              </a:spcBef>
              <a:buClr>
                <a:srgbClr val="FF9900"/>
              </a:buClr>
              <a:buSzPct val="125000"/>
              <a:buFontTx/>
              <a:buChar char="–"/>
            </a:pPr>
            <a:r>
              <a:rPr lang="en-US" sz="1600">
                <a:latin typeface="Trebuchet MS" pitchFamily="34" charset="0"/>
              </a:rPr>
              <a:t>Method is implemented in platform dependent language</a:t>
            </a:r>
          </a:p>
          <a:p>
            <a:pPr marL="342900" indent="-342900">
              <a:lnSpc>
                <a:spcPct val="80000"/>
              </a:lnSpc>
              <a:spcBef>
                <a:spcPct val="20000"/>
              </a:spcBef>
              <a:buClr>
                <a:srgbClr val="FF9900"/>
              </a:buClr>
              <a:buSzPct val="125000"/>
              <a:buFontTx/>
              <a:buChar char="•"/>
            </a:pPr>
            <a:r>
              <a:rPr lang="en-US">
                <a:latin typeface="Trebuchet MS" pitchFamily="34" charset="0"/>
              </a:rPr>
              <a:t>static</a:t>
            </a:r>
          </a:p>
          <a:p>
            <a:pPr marL="742950" lvl="1" indent="-285750">
              <a:lnSpc>
                <a:spcPct val="80000"/>
              </a:lnSpc>
              <a:spcBef>
                <a:spcPct val="20000"/>
              </a:spcBef>
              <a:buClr>
                <a:srgbClr val="FF9900"/>
              </a:buClr>
              <a:buSzPct val="125000"/>
              <a:buFontTx/>
              <a:buChar char="–"/>
            </a:pPr>
            <a:r>
              <a:rPr lang="en-US" sz="1600">
                <a:latin typeface="Trebuchet MS" pitchFamily="34" charset="0"/>
              </a:rPr>
              <a:t>Cannot access only static members.</a:t>
            </a:r>
          </a:p>
          <a:p>
            <a:pPr marL="742950" lvl="1" indent="-285750">
              <a:lnSpc>
                <a:spcPct val="80000"/>
              </a:lnSpc>
              <a:spcBef>
                <a:spcPct val="20000"/>
              </a:spcBef>
              <a:buClr>
                <a:srgbClr val="FF9900"/>
              </a:buClr>
              <a:buSzPct val="125000"/>
              <a:buFontTx/>
              <a:buChar char="–"/>
            </a:pPr>
            <a:endParaRPr lang="en-US" sz="1600">
              <a:latin typeface="Trebuchet MS" pitchFamily="34" charset="0"/>
            </a:endParaRPr>
          </a:p>
          <a:p>
            <a:pPr marL="342900" indent="-342900">
              <a:lnSpc>
                <a:spcPct val="80000"/>
              </a:lnSpc>
              <a:spcBef>
                <a:spcPct val="20000"/>
              </a:spcBef>
              <a:buClr>
                <a:srgbClr val="FF9900"/>
              </a:buClr>
              <a:buSzPct val="125000"/>
              <a:buFontTx/>
              <a:buChar char="•"/>
            </a:pPr>
            <a:endParaRPr lang="en-US">
              <a:latin typeface="Trebuchet MS" pitchFamily="34" charset="0"/>
            </a:endParaRPr>
          </a:p>
          <a:p>
            <a:pPr marL="342900" indent="-342900">
              <a:lnSpc>
                <a:spcPct val="80000"/>
              </a:lnSpc>
              <a:spcBef>
                <a:spcPct val="20000"/>
              </a:spcBef>
              <a:buClr>
                <a:srgbClr val="FF9900"/>
              </a:buClr>
              <a:buSzPct val="125000"/>
              <a:buFontTx/>
              <a:buChar char="•"/>
            </a:pPr>
            <a:endParaRPr lang="en-US">
              <a:latin typeface="Trebuchet MS" pitchFamily="34" charset="0"/>
            </a:endParaRPr>
          </a:p>
          <a:p>
            <a:pPr marL="342900" indent="-342900">
              <a:lnSpc>
                <a:spcPct val="80000"/>
              </a:lnSpc>
              <a:spcBef>
                <a:spcPct val="20000"/>
              </a:spcBef>
              <a:buClr>
                <a:srgbClr val="FF9900"/>
              </a:buClr>
              <a:buSzPct val="125000"/>
              <a:buFontTx/>
              <a:buChar char="•"/>
            </a:pPr>
            <a:endParaRPr lang="en-US">
              <a:latin typeface="Trebuchet MS" pitchFamily="34" charset="0"/>
            </a:endParaRPr>
          </a:p>
          <a:p>
            <a:pPr marL="742950" lvl="1" indent="-285750">
              <a:lnSpc>
                <a:spcPct val="80000"/>
              </a:lnSpc>
              <a:spcBef>
                <a:spcPct val="20000"/>
              </a:spcBef>
              <a:buClr>
                <a:srgbClr val="FF9900"/>
              </a:buClr>
              <a:buSzPct val="125000"/>
              <a:buFontTx/>
              <a:buChar char="–"/>
            </a:pPr>
            <a:endParaRPr lang="en-US" sz="1600">
              <a:latin typeface="Trebuchet MS" pitchFamily="34" charset="0"/>
            </a:endParaRPr>
          </a:p>
          <a:p>
            <a:pPr marL="342900" indent="-342900">
              <a:lnSpc>
                <a:spcPct val="80000"/>
              </a:lnSpc>
              <a:spcBef>
                <a:spcPct val="20000"/>
              </a:spcBef>
              <a:buClr>
                <a:srgbClr val="FF9900"/>
              </a:buClr>
              <a:buSzPct val="125000"/>
            </a:pPr>
            <a:endParaRPr lang="en-US">
              <a:latin typeface="Trebuchet MS"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143000" y="170412"/>
            <a:ext cx="803425" cy="369332"/>
          </a:xfrm>
          <a:noFill/>
        </p:spPr>
        <p:txBody>
          <a:bodyPr wrap="none" rtlCol="0">
            <a:spAutoFit/>
          </a:bodyPr>
          <a:lstStyle/>
          <a:p>
            <a:pPr algn="l"/>
            <a:r>
              <a:rPr lang="en-US" sz="1800" dirty="0">
                <a:latin typeface="+mn-lt"/>
                <a:ea typeface="+mn-ea"/>
                <a:cs typeface="+mn-cs"/>
              </a:rPr>
              <a:t>Public </a:t>
            </a:r>
            <a:endParaRPr lang="en-IN" sz="1800" dirty="0">
              <a:latin typeface="+mn-lt"/>
              <a:ea typeface="+mn-ea"/>
              <a:cs typeface="+mn-cs"/>
            </a:endParaRPr>
          </a:p>
        </p:txBody>
      </p:sp>
      <p:pic>
        <p:nvPicPr>
          <p:cNvPr id="8" name="Content Placeholder 7"/>
          <p:cNvPicPr>
            <a:picLocks noGrp="1" noChangeAspect="1"/>
          </p:cNvPicPr>
          <p:nvPr>
            <p:ph idx="1"/>
          </p:nvPr>
        </p:nvPicPr>
        <p:blipFill>
          <a:blip r:embed="rId2"/>
          <a:stretch>
            <a:fillRect/>
          </a:stretch>
        </p:blipFill>
        <p:spPr>
          <a:xfrm>
            <a:off x="76200" y="609600"/>
            <a:ext cx="4495800" cy="1704975"/>
          </a:xfrm>
          <a:prstGeom prst="rect">
            <a:avLst/>
          </a:prstGeom>
        </p:spPr>
      </p:pic>
      <p:pic>
        <p:nvPicPr>
          <p:cNvPr id="9" name="Picture 8"/>
          <p:cNvPicPr>
            <a:picLocks noChangeAspect="1"/>
          </p:cNvPicPr>
          <p:nvPr/>
        </p:nvPicPr>
        <p:blipFill>
          <a:blip r:embed="rId3"/>
          <a:stretch>
            <a:fillRect/>
          </a:stretch>
        </p:blipFill>
        <p:spPr>
          <a:xfrm>
            <a:off x="76200" y="2362200"/>
            <a:ext cx="4495800" cy="1704975"/>
          </a:xfrm>
          <a:prstGeom prst="rect">
            <a:avLst/>
          </a:prstGeom>
        </p:spPr>
      </p:pic>
      <p:pic>
        <p:nvPicPr>
          <p:cNvPr id="10" name="Picture 9"/>
          <p:cNvPicPr>
            <a:picLocks noChangeAspect="1"/>
          </p:cNvPicPr>
          <p:nvPr/>
        </p:nvPicPr>
        <p:blipFill>
          <a:blip r:embed="rId4"/>
          <a:stretch>
            <a:fillRect/>
          </a:stretch>
        </p:blipFill>
        <p:spPr>
          <a:xfrm>
            <a:off x="4607169" y="609600"/>
            <a:ext cx="4495800" cy="4572000"/>
          </a:xfrm>
          <a:prstGeom prst="rect">
            <a:avLst/>
          </a:prstGeom>
        </p:spPr>
      </p:pic>
      <p:sp>
        <p:nvSpPr>
          <p:cNvPr id="11" name="TextBox 10"/>
          <p:cNvSpPr txBox="1"/>
          <p:nvPr/>
        </p:nvSpPr>
        <p:spPr>
          <a:xfrm>
            <a:off x="6096000" y="234834"/>
            <a:ext cx="835485" cy="369332"/>
          </a:xfrm>
          <a:prstGeom prst="rect">
            <a:avLst/>
          </a:prstGeom>
          <a:noFill/>
        </p:spPr>
        <p:txBody>
          <a:bodyPr wrap="none" rtlCol="0">
            <a:spAutoFit/>
          </a:bodyPr>
          <a:lstStyle/>
          <a:p>
            <a:r>
              <a:rPr lang="en-US" dirty="0" smtClean="0"/>
              <a:t>Private</a:t>
            </a:r>
            <a:endParaRPr lang="en-IN" dirty="0"/>
          </a:p>
        </p:txBody>
      </p:sp>
      <p:pic>
        <p:nvPicPr>
          <p:cNvPr id="12" name="Picture 11"/>
          <p:cNvPicPr>
            <a:picLocks noChangeAspect="1"/>
          </p:cNvPicPr>
          <p:nvPr/>
        </p:nvPicPr>
        <p:blipFill>
          <a:blip r:embed="rId5"/>
          <a:stretch>
            <a:fillRect/>
          </a:stretch>
        </p:blipFill>
        <p:spPr>
          <a:xfrm>
            <a:off x="3459285" y="5181600"/>
            <a:ext cx="5670061" cy="1548880"/>
          </a:xfrm>
          <a:prstGeom prst="rect">
            <a:avLst/>
          </a:prstGeom>
        </p:spPr>
      </p:pic>
    </p:spTree>
    <p:extLst>
      <p:ext uri="{BB962C8B-B14F-4D97-AF65-F5344CB8AC3E}">
        <p14:creationId xmlns:p14="http://schemas.microsoft.com/office/powerpoint/2010/main" val="277058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ppt_x"/>
                                          </p:val>
                                        </p:tav>
                                        <p:tav tm="100000">
                                          <p:val>
                                            <p:strVal val="#ppt_x"/>
                                          </p:val>
                                        </p:tav>
                                      </p:tavLst>
                                    </p:anim>
                                    <p:anim calcmode="lin" valueType="num">
                                      <p:cBhvr additive="base">
                                        <p:cTn id="1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72123"/>
            <a:ext cx="8229600" cy="487362"/>
          </a:xfrm>
        </p:spPr>
        <p:txBody>
          <a:bodyPr>
            <a:normAutofit fontScale="90000"/>
          </a:bodyPr>
          <a:lstStyle/>
          <a:p>
            <a:r>
              <a:rPr lang="en-US" dirty="0" smtClean="0"/>
              <a:t>default</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76200" y="762000"/>
            <a:ext cx="4724400" cy="3648075"/>
          </a:xfrm>
          <a:prstGeom prst="rect">
            <a:avLst/>
          </a:prstGeom>
        </p:spPr>
      </p:pic>
      <p:pic>
        <p:nvPicPr>
          <p:cNvPr id="5" name="Picture 4"/>
          <p:cNvPicPr>
            <a:picLocks noChangeAspect="1"/>
          </p:cNvPicPr>
          <p:nvPr/>
        </p:nvPicPr>
        <p:blipFill>
          <a:blip r:embed="rId3"/>
          <a:stretch>
            <a:fillRect/>
          </a:stretch>
        </p:blipFill>
        <p:spPr>
          <a:xfrm>
            <a:off x="3033346" y="4267200"/>
            <a:ext cx="6034454" cy="2481625"/>
          </a:xfrm>
          <a:prstGeom prst="rect">
            <a:avLst/>
          </a:prstGeom>
        </p:spPr>
      </p:pic>
    </p:spTree>
    <p:extLst>
      <p:ext uri="{BB962C8B-B14F-4D97-AF65-F5344CB8AC3E}">
        <p14:creationId xmlns:p14="http://schemas.microsoft.com/office/powerpoint/2010/main" val="3379170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p:cNvSpPr>
            <a:spLocks noGrp="1"/>
          </p:cNvSpPr>
          <p:nvPr>
            <p:ph idx="1"/>
          </p:nvPr>
        </p:nvSpPr>
        <p:spPr>
          <a:xfrm>
            <a:off x="228600" y="1066800"/>
            <a:ext cx="8686800" cy="4800600"/>
          </a:xfrm>
        </p:spPr>
        <p:txBody>
          <a:bodyPr/>
          <a:lstStyle/>
          <a:p>
            <a:pPr eaLnBrk="1" hangingPunct="1"/>
            <a:r>
              <a:rPr lang="en-US" smtClean="0"/>
              <a:t>Inherit properties of parent class in to child class</a:t>
            </a:r>
          </a:p>
          <a:p>
            <a:pPr eaLnBrk="1" hangingPunct="1"/>
            <a:r>
              <a:rPr lang="en-US" smtClean="0"/>
              <a:t>Inheritance is used when more specific version of a class is required</a:t>
            </a:r>
          </a:p>
          <a:p>
            <a:pPr eaLnBrk="1" hangingPunct="1"/>
            <a:r>
              <a:rPr lang="en-US" smtClean="0"/>
              <a:t>Inheritance represent by IS-A relationship</a:t>
            </a:r>
          </a:p>
          <a:p>
            <a:pPr lvl="1" eaLnBrk="1" hangingPunct="1"/>
            <a:r>
              <a:rPr lang="en-US" smtClean="0"/>
              <a:t>Ex. Employee IS-A person</a:t>
            </a:r>
          </a:p>
          <a:p>
            <a:pPr lvl="1" eaLnBrk="1" hangingPunct="1"/>
            <a:r>
              <a:rPr lang="en-US" smtClean="0"/>
              <a:t>Savingaccount IS-A Account</a:t>
            </a:r>
          </a:p>
          <a:p>
            <a:pPr lvl="1" eaLnBrk="1" hangingPunct="1"/>
            <a:r>
              <a:rPr lang="en-US" smtClean="0"/>
              <a:t>Peon IS-A employee</a:t>
            </a:r>
          </a:p>
          <a:p>
            <a:pPr lvl="1" eaLnBrk="1" hangingPunct="1"/>
            <a:r>
              <a:rPr lang="en-US" smtClean="0"/>
              <a:t>ETC</a:t>
            </a:r>
          </a:p>
        </p:txBody>
      </p:sp>
      <p:sp>
        <p:nvSpPr>
          <p:cNvPr id="4" name="Title 1"/>
          <p:cNvSpPr txBox="1">
            <a:spLocks/>
          </p:cNvSpPr>
          <p:nvPr/>
        </p:nvSpPr>
        <p:spPr>
          <a:xfrm>
            <a:off x="0" y="274638"/>
            <a:ext cx="9144000" cy="563562"/>
          </a:xfrm>
          <a:prstGeom prst="rect">
            <a:avLst/>
          </a:prstGeom>
        </p:spPr>
        <p:style>
          <a:lnRef idx="1">
            <a:schemeClr val="accent1"/>
          </a:lnRef>
          <a:fillRef idx="2">
            <a:schemeClr val="accent1"/>
          </a:fillRef>
          <a:effectRef idx="1">
            <a:schemeClr val="accent1"/>
          </a:effectRef>
          <a:fontRef idx="minor">
            <a:schemeClr val="dk1"/>
          </a:fontRef>
        </p:style>
        <p:txBody>
          <a:bodyPr anchor="ctr">
            <a:normAutofit fontScale="82500" lnSpcReduction="20000"/>
          </a:bodyPr>
          <a:lstStyle/>
          <a:p>
            <a:pPr fontAlgn="auto">
              <a:spcBef>
                <a:spcPts val="0"/>
              </a:spcBef>
              <a:spcAft>
                <a:spcPts val="0"/>
              </a:spcAft>
              <a:defRPr/>
            </a:pPr>
            <a:r>
              <a:rPr lang="en-US" sz="4400" b="1" dirty="0">
                <a:solidFill>
                  <a:schemeClr val="accent1">
                    <a:lumMod val="75000"/>
                  </a:schemeClr>
                </a:solidFill>
                <a:effectLst>
                  <a:outerShdw blurRad="38100" dist="38100" dir="2700000" algn="tl">
                    <a:srgbClr val="000000">
                      <a:alpha val="43137"/>
                    </a:srgbClr>
                  </a:outerShdw>
                </a:effectLst>
              </a:rPr>
              <a:t>Exploring OOPS - Inheritance</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sz="half" idx="1"/>
          </p:nvPr>
        </p:nvSpPr>
        <p:spPr>
          <a:xfrm>
            <a:off x="685800" y="1371600"/>
            <a:ext cx="8153400" cy="4343400"/>
          </a:xfrm>
          <a:solidFill>
            <a:srgbClr val="006666">
              <a:alpha val="39999"/>
            </a:srgbClr>
          </a:solidFill>
          <a:scene3d>
            <a:camera prst="legacyPerspectiveBottom"/>
            <a:lightRig rig="legacyFlat3" dir="t"/>
          </a:scene3d>
          <a:sp3d extrusionH="887400" prstMaterial="legacyMatte">
            <a:bevelT w="13500" h="13500" prst="angle"/>
            <a:bevelB w="13500" h="13500" prst="angle"/>
            <a:extrusionClr>
              <a:srgbClr val="006666"/>
            </a:extrusionClr>
          </a:sp3d>
        </p:spPr>
        <p:txBody>
          <a:bodyPr>
            <a:flatTx/>
          </a:bodyPr>
          <a:lstStyle/>
          <a:p>
            <a:pPr marL="284163" indent="-284163" eaLnBrk="1" hangingPunct="1"/>
            <a:endParaRPr lang="en-US" sz="1600" b="1" smtClean="0"/>
          </a:p>
          <a:p>
            <a:pPr marL="284163" indent="-284163" eaLnBrk="1" hangingPunct="1">
              <a:spcBef>
                <a:spcPct val="0"/>
              </a:spcBef>
              <a:buFontTx/>
              <a:buNone/>
            </a:pPr>
            <a:r>
              <a:rPr lang="en-US" sz="1600" b="1" smtClean="0"/>
              <a:t>  </a:t>
            </a:r>
          </a:p>
          <a:p>
            <a:pPr marL="284163" indent="-284163" eaLnBrk="1" hangingPunct="1">
              <a:spcBef>
                <a:spcPct val="0"/>
              </a:spcBef>
            </a:pPr>
            <a:r>
              <a:rPr lang="en-US" sz="1600" b="1" smtClean="0"/>
              <a:t> </a:t>
            </a:r>
            <a:r>
              <a:rPr lang="en-US" sz="2400" b="1" smtClean="0">
                <a:solidFill>
                  <a:schemeClr val="bg1"/>
                </a:solidFill>
              </a:rPr>
              <a:t>The ability of a class of objects to inherit the properties and             </a:t>
            </a:r>
          </a:p>
          <a:p>
            <a:pPr marL="284163" indent="-284163" eaLnBrk="1" hangingPunct="1">
              <a:spcBef>
                <a:spcPct val="0"/>
              </a:spcBef>
              <a:buFontTx/>
              <a:buNone/>
            </a:pPr>
            <a:r>
              <a:rPr lang="en-US" sz="2400" b="1" smtClean="0">
                <a:solidFill>
                  <a:schemeClr val="bg1"/>
                </a:solidFill>
              </a:rPr>
              <a:t>     methods from another class, called its parent , base or super  class.</a:t>
            </a:r>
          </a:p>
          <a:p>
            <a:pPr marL="284163" indent="-284163" eaLnBrk="1" hangingPunct="1">
              <a:spcBef>
                <a:spcPct val="0"/>
              </a:spcBef>
              <a:buFontTx/>
              <a:buNone/>
            </a:pPr>
            <a:endParaRPr lang="en-US" sz="2400" b="1" smtClean="0">
              <a:solidFill>
                <a:schemeClr val="bg1"/>
              </a:solidFill>
            </a:endParaRPr>
          </a:p>
          <a:p>
            <a:pPr marL="284163" indent="-284163" eaLnBrk="1" hangingPunct="1">
              <a:spcBef>
                <a:spcPct val="0"/>
              </a:spcBef>
            </a:pPr>
            <a:r>
              <a:rPr lang="en-US" sz="2400" b="1" smtClean="0">
                <a:solidFill>
                  <a:schemeClr val="bg1"/>
                </a:solidFill>
              </a:rPr>
              <a:t>  The class that inherits the data members and methods is known as subclass or child class.</a:t>
            </a:r>
          </a:p>
          <a:p>
            <a:pPr marL="284163" indent="-284163" eaLnBrk="1" hangingPunct="1">
              <a:spcBef>
                <a:spcPct val="0"/>
              </a:spcBef>
              <a:buFontTx/>
              <a:buNone/>
            </a:pPr>
            <a:endParaRPr lang="en-US" sz="2400" b="1" smtClean="0">
              <a:solidFill>
                <a:schemeClr val="bg1"/>
              </a:solidFill>
            </a:endParaRPr>
          </a:p>
          <a:p>
            <a:pPr marL="284163" indent="-284163" eaLnBrk="1" hangingPunct="1">
              <a:spcBef>
                <a:spcPct val="0"/>
              </a:spcBef>
            </a:pPr>
            <a:r>
              <a:rPr lang="en-US" sz="2400" b="1" smtClean="0">
                <a:solidFill>
                  <a:schemeClr val="bg1"/>
                </a:solidFill>
              </a:rPr>
              <a:t>  In Java, a class can only extend one parent.</a:t>
            </a:r>
          </a:p>
        </p:txBody>
      </p:sp>
      <p:sp>
        <p:nvSpPr>
          <p:cNvPr id="4102" name="Rectangle 6"/>
          <p:cNvSpPr>
            <a:spLocks noChangeArrowheads="1"/>
          </p:cNvSpPr>
          <p:nvPr/>
        </p:nvSpPr>
        <p:spPr bwMode="auto">
          <a:xfrm>
            <a:off x="1822450" y="5851525"/>
            <a:ext cx="5029200" cy="517525"/>
          </a:xfrm>
          <a:prstGeom prst="rect">
            <a:avLst/>
          </a:prstGeom>
          <a:solidFill>
            <a:srgbClr val="FF0000">
              <a:alpha val="39999"/>
            </a:srgbClr>
          </a:solidFill>
          <a:ln w="9525">
            <a:miter lim="800000"/>
            <a:headEnd/>
            <a:tailEnd/>
          </a:ln>
          <a:scene3d>
            <a:camera prst="legacyPerspectiveBottom"/>
            <a:lightRig rig="legacyFlat3" dir="t"/>
          </a:scene3d>
          <a:sp3d extrusionH="290500" prstMaterial="legacyMatte">
            <a:bevelT w="13500" h="13500" prst="angle"/>
            <a:bevelB w="13500" h="13500" prst="angle"/>
            <a:extrusionClr>
              <a:srgbClr val="FF0000"/>
            </a:extrusionClr>
          </a:sp3d>
        </p:spPr>
        <p:txBody>
          <a:bodyPr wrap="none" anchor="ctr">
            <a:flatTx/>
          </a:bodyPr>
          <a:lstStyle/>
          <a:p>
            <a:r>
              <a:rPr lang="en-US">
                <a:latin typeface="Calibri" pitchFamily="34" charset="0"/>
              </a:rPr>
              <a:t>No Multiple Inheritance In Java</a:t>
            </a:r>
          </a:p>
        </p:txBody>
      </p:sp>
      <p:sp>
        <p:nvSpPr>
          <p:cNvPr id="18437" name="Rectangle 4"/>
          <p:cNvSpPr>
            <a:spLocks noChangeArrowheads="1"/>
          </p:cNvSpPr>
          <p:nvPr/>
        </p:nvSpPr>
        <p:spPr bwMode="auto">
          <a:xfrm>
            <a:off x="0" y="685800"/>
            <a:ext cx="9144000" cy="498475"/>
          </a:xfrm>
          <a:prstGeom prst="rect">
            <a:avLst/>
          </a:prstGeom>
          <a:solidFill>
            <a:srgbClr val="0066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006666"/>
            </a:extrusionClr>
          </a:sp3d>
        </p:spPr>
        <p:txBody>
          <a:bodyPr lIns="92075" tIns="46038" rIns="92075" bIns="46038" anchor="b">
            <a:flatTx/>
          </a:bodyPr>
          <a:lstStyle/>
          <a:p>
            <a:pPr>
              <a:lnSpc>
                <a:spcPct val="90000"/>
              </a:lnSpc>
            </a:pPr>
            <a:r>
              <a:rPr lang="en-US" sz="2800">
                <a:solidFill>
                  <a:schemeClr val="bg1"/>
                </a:solidFill>
                <a:latin typeface="Calibri" pitchFamily="34" charset="0"/>
              </a:rPr>
              <a:t>What is Inheritance</a:t>
            </a:r>
          </a:p>
        </p:txBody>
      </p:sp>
      <p:grpSp>
        <p:nvGrpSpPr>
          <p:cNvPr id="2" name="Group 12"/>
          <p:cNvGrpSpPr>
            <a:grpSpLocks/>
          </p:cNvGrpSpPr>
          <p:nvPr/>
        </p:nvGrpSpPr>
        <p:grpSpPr bwMode="auto">
          <a:xfrm>
            <a:off x="838200" y="5867400"/>
            <a:ext cx="990600" cy="533400"/>
            <a:chOff x="4800" y="3552"/>
            <a:chExt cx="720" cy="480"/>
          </a:xfrm>
        </p:grpSpPr>
        <p:sp>
          <p:nvSpPr>
            <p:cNvPr id="18439" name="Rectangle 11"/>
            <p:cNvSpPr>
              <a:spLocks noChangeArrowheads="1"/>
            </p:cNvSpPr>
            <p:nvPr/>
          </p:nvSpPr>
          <p:spPr bwMode="auto">
            <a:xfrm>
              <a:off x="4800" y="3552"/>
              <a:ext cx="720" cy="480"/>
            </a:xfrm>
            <a:prstGeom prst="rect">
              <a:avLst/>
            </a:prstGeom>
            <a:solidFill>
              <a:srgbClr val="FF0000"/>
            </a:solidFill>
            <a:ln w="12700">
              <a:noFill/>
              <a:miter lim="800000"/>
              <a:headEnd type="none" w="sm" len="sm"/>
              <a:tailEnd type="none" w="sm" len="sm"/>
            </a:ln>
          </p:spPr>
          <p:txBody>
            <a:bodyPr wrap="none" anchor="ctr"/>
            <a:lstStyle/>
            <a:p>
              <a:endParaRPr lang="en-SG">
                <a:latin typeface="Calibri" pitchFamily="34" charset="0"/>
              </a:endParaRPr>
            </a:p>
          </p:txBody>
        </p:sp>
        <p:pic>
          <p:nvPicPr>
            <p:cNvPr id="18440" name="Picture 9" descr="cross2"/>
            <p:cNvPicPr>
              <a:picLocks noChangeAspect="1" noChangeArrowheads="1"/>
            </p:cNvPicPr>
            <p:nvPr/>
          </p:nvPicPr>
          <p:blipFill>
            <a:blip r:embed="rId3"/>
            <a:srcRect/>
            <a:stretch>
              <a:fillRect/>
            </a:stretch>
          </p:blipFill>
          <p:spPr bwMode="auto">
            <a:xfrm>
              <a:off x="4864" y="3610"/>
              <a:ext cx="570" cy="384"/>
            </a:xfrm>
            <a:prstGeom prst="rect">
              <a:avLst/>
            </a:prstGeom>
            <a:noFill/>
            <a:ln w="9525">
              <a:noFill/>
              <a:miter lim="800000"/>
              <a:headEnd/>
              <a:tailEnd/>
            </a:ln>
          </p:spPr>
        </p:pic>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099">
                                            <p:bg/>
                                          </p:spTgt>
                                        </p:tgtEl>
                                        <p:attrNameLst>
                                          <p:attrName>style.visibility</p:attrName>
                                        </p:attrNameLst>
                                      </p:cBhvr>
                                      <p:to>
                                        <p:strVal val="visible"/>
                                      </p:to>
                                    </p:set>
                                    <p:animEffect transition="in" filter="wipe(up)">
                                      <p:cBhvr>
                                        <p:cTn id="7" dur="1000"/>
                                        <p:tgtEl>
                                          <p:spTgt spid="4099">
                                            <p:bg/>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099">
                                            <p:txEl>
                                              <p:pRg st="1" end="1"/>
                                            </p:txEl>
                                          </p:spTgt>
                                        </p:tgtEl>
                                        <p:attrNameLst>
                                          <p:attrName>style.visibility</p:attrName>
                                        </p:attrNameLst>
                                      </p:cBhvr>
                                      <p:to>
                                        <p:strVal val="visible"/>
                                      </p:to>
                                    </p:set>
                                    <p:animEffect transition="in" filter="wipe(up)">
                                      <p:cBhvr>
                                        <p:cTn id="10" dur="1000"/>
                                        <p:tgtEl>
                                          <p:spTgt spid="409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2" presetClass="entr" presetSubtype="1" fill="hold" grpId="0" nodeType="click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animEffect transition="in" filter="slide(fromTop)">
                                      <p:cBhvr>
                                        <p:cTn id="15" dur="1000"/>
                                        <p:tgtEl>
                                          <p:spTgt spid="4099">
                                            <p:txEl>
                                              <p:pRg st="2" end="2"/>
                                            </p:txEl>
                                          </p:spTgt>
                                        </p:tgtEl>
                                      </p:cBhvr>
                                    </p:animEffect>
                                  </p:childTnLst>
                                </p:cTn>
                              </p:par>
                              <p:par>
                                <p:cTn id="16" presetID="12" presetClass="entr" presetSubtype="1" fill="hold" grpId="0" nodeType="withEffect">
                                  <p:stCondLst>
                                    <p:cond delay="0"/>
                                  </p:stCondLst>
                                  <p:childTnLst>
                                    <p:set>
                                      <p:cBhvr>
                                        <p:cTn id="17" dur="1" fill="hold">
                                          <p:stCondLst>
                                            <p:cond delay="0"/>
                                          </p:stCondLst>
                                        </p:cTn>
                                        <p:tgtEl>
                                          <p:spTgt spid="4099">
                                            <p:txEl>
                                              <p:pRg st="3" end="3"/>
                                            </p:txEl>
                                          </p:spTgt>
                                        </p:tgtEl>
                                        <p:attrNameLst>
                                          <p:attrName>style.visibility</p:attrName>
                                        </p:attrNameLst>
                                      </p:cBhvr>
                                      <p:to>
                                        <p:strVal val="visible"/>
                                      </p:to>
                                    </p:set>
                                    <p:animEffect transition="in" filter="slide(fromTop)">
                                      <p:cBhvr>
                                        <p:cTn id="18" dur="1000"/>
                                        <p:tgtEl>
                                          <p:spTgt spid="409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1" fill="hold" grpId="0" nodeType="clickEffect">
                                  <p:stCondLst>
                                    <p:cond delay="0"/>
                                  </p:stCondLst>
                                  <p:childTnLst>
                                    <p:set>
                                      <p:cBhvr>
                                        <p:cTn id="22" dur="1" fill="hold">
                                          <p:stCondLst>
                                            <p:cond delay="0"/>
                                          </p:stCondLst>
                                        </p:cTn>
                                        <p:tgtEl>
                                          <p:spTgt spid="4099">
                                            <p:txEl>
                                              <p:pRg st="5" end="5"/>
                                            </p:txEl>
                                          </p:spTgt>
                                        </p:tgtEl>
                                        <p:attrNameLst>
                                          <p:attrName>style.visibility</p:attrName>
                                        </p:attrNameLst>
                                      </p:cBhvr>
                                      <p:to>
                                        <p:strVal val="visible"/>
                                      </p:to>
                                    </p:set>
                                    <p:animEffect transition="in" filter="slide(fromTop)">
                                      <p:cBhvr>
                                        <p:cTn id="23" dur="1000"/>
                                        <p:tgtEl>
                                          <p:spTgt spid="4099">
                                            <p:txEl>
                                              <p:pRg st="5" end="5"/>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1" fill="hold" grpId="0" nodeType="clickEffect">
                                  <p:stCondLst>
                                    <p:cond delay="0"/>
                                  </p:stCondLst>
                                  <p:childTnLst>
                                    <p:set>
                                      <p:cBhvr>
                                        <p:cTn id="27" dur="1" fill="hold">
                                          <p:stCondLst>
                                            <p:cond delay="0"/>
                                          </p:stCondLst>
                                        </p:cTn>
                                        <p:tgtEl>
                                          <p:spTgt spid="4099">
                                            <p:txEl>
                                              <p:pRg st="7" end="7"/>
                                            </p:txEl>
                                          </p:spTgt>
                                        </p:tgtEl>
                                        <p:attrNameLst>
                                          <p:attrName>style.visibility</p:attrName>
                                        </p:attrNameLst>
                                      </p:cBhvr>
                                      <p:to>
                                        <p:strVal val="visible"/>
                                      </p:to>
                                    </p:set>
                                    <p:animEffect transition="in" filter="slide(fromTop)">
                                      <p:cBhvr>
                                        <p:cTn id="28" dur="1000"/>
                                        <p:tgtEl>
                                          <p:spTgt spid="4099">
                                            <p:txEl>
                                              <p:pRg st="7" end="7"/>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left)">
                                      <p:cBhvr>
                                        <p:cTn id="33" dur="1000"/>
                                        <p:tgtEl>
                                          <p:spTgt spid="2"/>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4102"/>
                                        </p:tgtEl>
                                        <p:attrNameLst>
                                          <p:attrName>style.visibility</p:attrName>
                                        </p:attrNameLst>
                                      </p:cBhvr>
                                      <p:to>
                                        <p:strVal val="visible"/>
                                      </p:to>
                                    </p:set>
                                    <p:animEffect transition="in" filter="wipe(left)">
                                      <p:cBhvr>
                                        <p:cTn id="36" dur="1000"/>
                                        <p:tgtEl>
                                          <p:spTgt spid="4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allAtOnce" animBg="1"/>
      <p:bldP spid="410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3"/>
          <p:cNvSpPr>
            <a:spLocks noChangeArrowheads="1"/>
          </p:cNvSpPr>
          <p:nvPr/>
        </p:nvSpPr>
        <p:spPr bwMode="auto">
          <a:xfrm>
            <a:off x="0" y="2667000"/>
            <a:ext cx="4267200" cy="4191000"/>
          </a:xfrm>
          <a:prstGeom prst="rect">
            <a:avLst/>
          </a:prstGeom>
          <a:solidFill>
            <a:schemeClr val="accent1">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accent1"/>
            </a:extrusionClr>
          </a:sp3d>
        </p:spPr>
        <p:txBody>
          <a:bodyPr wrap="none" anchor="ctr">
            <a:flatTx/>
          </a:bodyPr>
          <a:lstStyle/>
          <a:p>
            <a:pPr>
              <a:spcBef>
                <a:spcPct val="20000"/>
              </a:spcBef>
            </a:pPr>
            <a:r>
              <a:rPr lang="en-US" sz="2400">
                <a:solidFill>
                  <a:schemeClr val="bg1"/>
                </a:solidFill>
                <a:latin typeface="Calibri" pitchFamily="34" charset="0"/>
              </a:rPr>
              <a:t>public class Person {</a:t>
            </a:r>
          </a:p>
          <a:p>
            <a:pPr>
              <a:spcBef>
                <a:spcPct val="20000"/>
              </a:spcBef>
            </a:pPr>
            <a:r>
              <a:rPr lang="en-US" sz="2400">
                <a:solidFill>
                  <a:schemeClr val="bg1"/>
                </a:solidFill>
                <a:latin typeface="Calibri" pitchFamily="34" charset="0"/>
              </a:rPr>
              <a:t>    private String name;</a:t>
            </a:r>
          </a:p>
          <a:p>
            <a:pPr>
              <a:spcBef>
                <a:spcPct val="20000"/>
              </a:spcBef>
            </a:pPr>
            <a:r>
              <a:rPr lang="en-US" sz="2400">
                <a:solidFill>
                  <a:schemeClr val="bg1"/>
                </a:solidFill>
                <a:latin typeface="Calibri" pitchFamily="34" charset="0"/>
              </a:rPr>
              <a:t>        public void setName(String name) {</a:t>
            </a:r>
          </a:p>
          <a:p>
            <a:pPr>
              <a:spcBef>
                <a:spcPct val="20000"/>
              </a:spcBef>
            </a:pPr>
            <a:r>
              <a:rPr lang="en-US" sz="2400">
                <a:solidFill>
                  <a:schemeClr val="bg1"/>
                </a:solidFill>
                <a:latin typeface="Calibri" pitchFamily="34" charset="0"/>
              </a:rPr>
              <a:t>        this.name = name;</a:t>
            </a:r>
          </a:p>
          <a:p>
            <a:pPr>
              <a:spcBef>
                <a:spcPct val="20000"/>
              </a:spcBef>
            </a:pPr>
            <a:r>
              <a:rPr lang="en-US" sz="2400">
                <a:solidFill>
                  <a:schemeClr val="bg1"/>
                </a:solidFill>
                <a:latin typeface="Calibri" pitchFamily="34" charset="0"/>
              </a:rPr>
              <a:t>       }</a:t>
            </a:r>
          </a:p>
          <a:p>
            <a:pPr>
              <a:spcBef>
                <a:spcPct val="20000"/>
              </a:spcBef>
            </a:pPr>
            <a:r>
              <a:rPr lang="en-US" sz="2400">
                <a:solidFill>
                  <a:schemeClr val="bg1"/>
                </a:solidFill>
                <a:latin typeface="Calibri" pitchFamily="34" charset="0"/>
              </a:rPr>
              <a:t>        public String getName() {</a:t>
            </a:r>
          </a:p>
          <a:p>
            <a:pPr>
              <a:spcBef>
                <a:spcPct val="20000"/>
              </a:spcBef>
            </a:pPr>
            <a:r>
              <a:rPr lang="en-US" sz="2400">
                <a:solidFill>
                  <a:schemeClr val="bg1"/>
                </a:solidFill>
                <a:latin typeface="Calibri" pitchFamily="34" charset="0"/>
              </a:rPr>
              <a:t>        return name;</a:t>
            </a:r>
          </a:p>
          <a:p>
            <a:pPr>
              <a:spcBef>
                <a:spcPct val="20000"/>
              </a:spcBef>
            </a:pPr>
            <a:r>
              <a:rPr lang="en-US" sz="2400">
                <a:solidFill>
                  <a:schemeClr val="bg1"/>
                </a:solidFill>
                <a:latin typeface="Calibri" pitchFamily="34" charset="0"/>
              </a:rPr>
              <a:t>       }</a:t>
            </a:r>
          </a:p>
          <a:p>
            <a:pPr>
              <a:spcBef>
                <a:spcPct val="20000"/>
              </a:spcBef>
            </a:pPr>
            <a:r>
              <a:rPr lang="en-US" sz="2400">
                <a:solidFill>
                  <a:schemeClr val="bg1"/>
                </a:solidFill>
                <a:latin typeface="Calibri" pitchFamily="34" charset="0"/>
              </a:rPr>
              <a:t>  </a:t>
            </a:r>
            <a:r>
              <a:rPr lang="en-US">
                <a:solidFill>
                  <a:schemeClr val="bg1"/>
                </a:solidFill>
                <a:latin typeface="Calibri" pitchFamily="34" charset="0"/>
              </a:rPr>
              <a:t>}</a:t>
            </a:r>
          </a:p>
        </p:txBody>
      </p:sp>
      <p:sp>
        <p:nvSpPr>
          <p:cNvPr id="187396" name="Rectangle 4"/>
          <p:cNvSpPr>
            <a:spLocks noChangeArrowheads="1"/>
          </p:cNvSpPr>
          <p:nvPr/>
        </p:nvSpPr>
        <p:spPr bwMode="auto">
          <a:xfrm>
            <a:off x="4714875" y="2590800"/>
            <a:ext cx="4429125" cy="4267200"/>
          </a:xfrm>
          <a:prstGeom prst="rect">
            <a:avLst/>
          </a:prstGeom>
          <a:solidFill>
            <a:schemeClr val="accent1">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accent1"/>
            </a:extrusionClr>
          </a:sp3d>
        </p:spPr>
        <p:txBody>
          <a:bodyPr wrap="none" anchor="ctr">
            <a:flatTx/>
          </a:bodyPr>
          <a:lstStyle/>
          <a:p>
            <a:pPr>
              <a:spcBef>
                <a:spcPct val="20000"/>
              </a:spcBef>
            </a:pPr>
            <a:r>
              <a:rPr lang="en-US" sz="2000">
                <a:solidFill>
                  <a:schemeClr val="bg1"/>
                </a:solidFill>
                <a:latin typeface="Calibri" pitchFamily="34" charset="0"/>
              </a:rPr>
              <a:t>public class Employee extends Person {</a:t>
            </a:r>
          </a:p>
          <a:p>
            <a:pPr>
              <a:spcBef>
                <a:spcPct val="20000"/>
              </a:spcBef>
            </a:pPr>
            <a:r>
              <a:rPr lang="en-US" sz="2000">
                <a:solidFill>
                  <a:schemeClr val="bg1"/>
                </a:solidFill>
                <a:latin typeface="Calibri" pitchFamily="34" charset="0"/>
              </a:rPr>
              <a:t>    private String eid;</a:t>
            </a:r>
          </a:p>
          <a:p>
            <a:pPr>
              <a:spcBef>
                <a:spcPct val="20000"/>
              </a:spcBef>
            </a:pPr>
            <a:r>
              <a:rPr lang="en-US" sz="2000">
                <a:solidFill>
                  <a:schemeClr val="bg1"/>
                </a:solidFill>
                <a:latin typeface="Calibri" pitchFamily="34" charset="0"/>
              </a:rPr>
              <a:t>    public void setEid(String eid) {</a:t>
            </a:r>
          </a:p>
          <a:p>
            <a:pPr>
              <a:spcBef>
                <a:spcPct val="20000"/>
              </a:spcBef>
            </a:pPr>
            <a:r>
              <a:rPr lang="en-US" sz="2000">
                <a:solidFill>
                  <a:schemeClr val="bg1"/>
                </a:solidFill>
                <a:latin typeface="Calibri" pitchFamily="34" charset="0"/>
              </a:rPr>
              <a:t>        this.eid=eid;</a:t>
            </a:r>
          </a:p>
          <a:p>
            <a:pPr>
              <a:spcBef>
                <a:spcPct val="20000"/>
              </a:spcBef>
            </a:pPr>
            <a:r>
              <a:rPr lang="en-US" sz="2000">
                <a:solidFill>
                  <a:schemeClr val="bg1"/>
                </a:solidFill>
                <a:latin typeface="Calibri" pitchFamily="34" charset="0"/>
              </a:rPr>
              <a:t>    }</a:t>
            </a:r>
          </a:p>
          <a:p>
            <a:pPr>
              <a:spcBef>
                <a:spcPct val="20000"/>
              </a:spcBef>
            </a:pPr>
            <a:r>
              <a:rPr lang="en-US" sz="2000">
                <a:solidFill>
                  <a:schemeClr val="bg1"/>
                </a:solidFill>
                <a:latin typeface="Calibri" pitchFamily="34" charset="0"/>
              </a:rPr>
              <a:t>        public String getEid() {</a:t>
            </a:r>
          </a:p>
          <a:p>
            <a:pPr>
              <a:spcBef>
                <a:spcPct val="20000"/>
              </a:spcBef>
            </a:pPr>
            <a:r>
              <a:rPr lang="en-US" sz="2000">
                <a:solidFill>
                  <a:schemeClr val="bg1"/>
                </a:solidFill>
                <a:latin typeface="Calibri" pitchFamily="34" charset="0"/>
              </a:rPr>
              <a:t>        return eid;</a:t>
            </a:r>
          </a:p>
          <a:p>
            <a:pPr>
              <a:spcBef>
                <a:spcPct val="20000"/>
              </a:spcBef>
            </a:pPr>
            <a:r>
              <a:rPr lang="en-US" sz="2000">
                <a:solidFill>
                  <a:schemeClr val="bg1"/>
                </a:solidFill>
                <a:latin typeface="Calibri" pitchFamily="34" charset="0"/>
              </a:rPr>
              <a:t>    }</a:t>
            </a:r>
          </a:p>
          <a:p>
            <a:pPr>
              <a:spcBef>
                <a:spcPct val="20000"/>
              </a:spcBef>
            </a:pPr>
            <a:r>
              <a:rPr lang="en-US" sz="2000">
                <a:solidFill>
                  <a:schemeClr val="bg1"/>
                </a:solidFill>
                <a:latin typeface="Calibri" pitchFamily="34" charset="0"/>
              </a:rPr>
              <a:t>}</a:t>
            </a:r>
          </a:p>
        </p:txBody>
      </p:sp>
      <p:sp>
        <p:nvSpPr>
          <p:cNvPr id="187398" name="Rectangle 6"/>
          <p:cNvSpPr>
            <a:spLocks noChangeArrowheads="1"/>
          </p:cNvSpPr>
          <p:nvPr/>
        </p:nvSpPr>
        <p:spPr bwMode="auto">
          <a:xfrm>
            <a:off x="990600" y="1752600"/>
            <a:ext cx="1219200" cy="406400"/>
          </a:xfrm>
          <a:prstGeom prst="rect">
            <a:avLst/>
          </a:prstGeom>
          <a:solidFill>
            <a:schemeClr val="accent1">
              <a:alpha val="39999"/>
            </a:schemeClr>
          </a:solidFill>
          <a:ln w="9525">
            <a:miter lim="800000"/>
            <a:headEnd/>
            <a:tailEnd/>
          </a:ln>
          <a:scene3d>
            <a:camera prst="legacyPerspectiveBottom"/>
            <a:lightRig rig="legacyFlat3" dir="t"/>
          </a:scene3d>
          <a:sp3d extrusionH="430200" prstMaterial="legacyMatte">
            <a:bevelT w="13500" h="13500" prst="angle"/>
            <a:bevelB w="13500" h="13500" prst="angle"/>
            <a:extrusionClr>
              <a:schemeClr val="accent1"/>
            </a:extrusionClr>
          </a:sp3d>
        </p:spPr>
        <p:txBody>
          <a:bodyPr>
            <a:spAutoFit/>
            <a:flatTx/>
          </a:bodyPr>
          <a:lstStyle/>
          <a:p>
            <a:pPr eaLnBrk="0" hangingPunct="0"/>
            <a:r>
              <a:rPr lang="en-US" sz="2000">
                <a:latin typeface="Calibri" pitchFamily="34" charset="0"/>
              </a:rPr>
              <a:t>Parent</a:t>
            </a:r>
          </a:p>
        </p:txBody>
      </p:sp>
      <p:sp>
        <p:nvSpPr>
          <p:cNvPr id="187399" name="Rectangle 7"/>
          <p:cNvSpPr>
            <a:spLocks noChangeArrowheads="1"/>
          </p:cNvSpPr>
          <p:nvPr/>
        </p:nvSpPr>
        <p:spPr bwMode="auto">
          <a:xfrm>
            <a:off x="5334000" y="1676400"/>
            <a:ext cx="965200" cy="406400"/>
          </a:xfrm>
          <a:prstGeom prst="rect">
            <a:avLst/>
          </a:prstGeom>
          <a:solidFill>
            <a:schemeClr val="accent1">
              <a:alpha val="39999"/>
            </a:schemeClr>
          </a:solidFill>
          <a:ln w="9525">
            <a:miter lim="800000"/>
            <a:headEnd/>
            <a:tailEnd/>
          </a:ln>
          <a:scene3d>
            <a:camera prst="legacyPerspectiveBottom"/>
            <a:lightRig rig="legacyFlat3" dir="t"/>
          </a:scene3d>
          <a:sp3d extrusionH="430200" prstMaterial="legacyMatte">
            <a:bevelT w="13500" h="13500" prst="angle"/>
            <a:bevelB w="13500" h="13500" prst="angle"/>
            <a:extrusionClr>
              <a:schemeClr val="accent1"/>
            </a:extrusionClr>
          </a:sp3d>
        </p:spPr>
        <p:txBody>
          <a:bodyPr>
            <a:spAutoFit/>
            <a:flatTx/>
          </a:bodyPr>
          <a:lstStyle/>
          <a:p>
            <a:pPr eaLnBrk="0" hangingPunct="0"/>
            <a:r>
              <a:rPr lang="en-US" sz="2000">
                <a:latin typeface="Calibri" pitchFamily="34" charset="0"/>
              </a:rPr>
              <a:t>Child</a:t>
            </a:r>
          </a:p>
        </p:txBody>
      </p:sp>
      <p:grpSp>
        <p:nvGrpSpPr>
          <p:cNvPr id="2" name="Group 15"/>
          <p:cNvGrpSpPr>
            <a:grpSpLocks/>
          </p:cNvGrpSpPr>
          <p:nvPr/>
        </p:nvGrpSpPr>
        <p:grpSpPr bwMode="auto">
          <a:xfrm>
            <a:off x="1447800" y="2209800"/>
            <a:ext cx="304800" cy="457200"/>
            <a:chOff x="912" y="1536"/>
            <a:chExt cx="192" cy="288"/>
          </a:xfrm>
        </p:grpSpPr>
        <p:sp>
          <p:nvSpPr>
            <p:cNvPr id="19470" name="AutoShape 14"/>
            <p:cNvSpPr>
              <a:spLocks noChangeArrowheads="1"/>
            </p:cNvSpPr>
            <p:nvPr/>
          </p:nvSpPr>
          <p:spPr bwMode="auto">
            <a:xfrm rot="5400000">
              <a:off x="864" y="1584"/>
              <a:ext cx="288" cy="192"/>
            </a:xfrm>
            <a:prstGeom prst="rightArrow">
              <a:avLst>
                <a:gd name="adj1" fmla="val 50000"/>
                <a:gd name="adj2" fmla="val 37500"/>
              </a:avLst>
            </a:prstGeom>
            <a:solidFill>
              <a:schemeClr val="accent1">
                <a:alpha val="39999"/>
              </a:schemeClr>
            </a:solidFill>
            <a:ln w="9525">
              <a:miter lim="800000"/>
              <a:headEnd/>
              <a:tailEnd/>
            </a:ln>
            <a:scene3d>
              <a:camera prst="legacyPerspectiveFront"/>
              <a:lightRig rig="legacyFlat3" dir="t"/>
            </a:scene3d>
            <a:sp3d extrusionH="887400" prstMaterial="legacyMatte">
              <a:bevelT w="13500" h="13500" prst="angle"/>
              <a:bevelB w="13500" h="13500" prst="angle"/>
              <a:extrusionClr>
                <a:schemeClr val="accent1"/>
              </a:extrusionClr>
            </a:sp3d>
          </p:spPr>
          <p:txBody>
            <a:bodyPr wrap="none" anchor="ctr">
              <a:flatTx/>
            </a:bodyPr>
            <a:lstStyle/>
            <a:p>
              <a:endParaRPr lang="en-SG">
                <a:latin typeface="Calibri" pitchFamily="34" charset="0"/>
              </a:endParaRPr>
            </a:p>
          </p:txBody>
        </p:sp>
        <p:sp>
          <p:nvSpPr>
            <p:cNvPr id="19471" name="Line 8"/>
            <p:cNvSpPr>
              <a:spLocks noChangeShapeType="1"/>
            </p:cNvSpPr>
            <p:nvPr/>
          </p:nvSpPr>
          <p:spPr bwMode="auto">
            <a:xfrm flipH="1">
              <a:off x="1008" y="1536"/>
              <a:ext cx="0" cy="240"/>
            </a:xfrm>
            <a:prstGeom prst="line">
              <a:avLst/>
            </a:prstGeom>
            <a:noFill/>
            <a:ln w="38100">
              <a:solidFill>
                <a:schemeClr val="accent1"/>
              </a:solidFill>
              <a:round/>
              <a:headEnd/>
              <a:tailEnd type="triangle" w="med" len="med"/>
            </a:ln>
          </p:spPr>
          <p:txBody>
            <a:bodyPr wrap="none" anchor="ctr"/>
            <a:lstStyle/>
            <a:p>
              <a:endParaRPr lang="en-US"/>
            </a:p>
          </p:txBody>
        </p:sp>
      </p:grpSp>
      <p:sp>
        <p:nvSpPr>
          <p:cNvPr id="19464" name="Rectangle 13"/>
          <p:cNvSpPr>
            <a:spLocks noChangeArrowheads="1"/>
          </p:cNvSpPr>
          <p:nvPr/>
        </p:nvSpPr>
        <p:spPr bwMode="auto">
          <a:xfrm>
            <a:off x="0" y="304800"/>
            <a:ext cx="9144000" cy="498475"/>
          </a:xfrm>
          <a:prstGeom prst="rect">
            <a:avLst/>
          </a:prstGeom>
          <a:solidFill>
            <a:srgbClr val="0066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006666"/>
            </a:extrusionClr>
          </a:sp3d>
        </p:spPr>
        <p:txBody>
          <a:bodyPr lIns="92075" tIns="46038" rIns="92075" bIns="46038" anchor="b">
            <a:flatTx/>
          </a:bodyPr>
          <a:lstStyle/>
          <a:p>
            <a:pPr>
              <a:lnSpc>
                <a:spcPct val="90000"/>
              </a:lnSpc>
            </a:pPr>
            <a:r>
              <a:rPr lang="en-US" sz="2800">
                <a:solidFill>
                  <a:schemeClr val="bg1"/>
                </a:solidFill>
                <a:latin typeface="Calibri" pitchFamily="34" charset="0"/>
              </a:rPr>
              <a:t>Inheritance (Example)</a:t>
            </a:r>
          </a:p>
        </p:txBody>
      </p:sp>
      <p:sp>
        <p:nvSpPr>
          <p:cNvPr id="187397" name="AutoShape 5"/>
          <p:cNvSpPr>
            <a:spLocks noChangeArrowheads="1"/>
          </p:cNvSpPr>
          <p:nvPr/>
        </p:nvSpPr>
        <p:spPr bwMode="auto">
          <a:xfrm>
            <a:off x="6403975" y="390525"/>
            <a:ext cx="2738438" cy="1973263"/>
          </a:xfrm>
          <a:prstGeom prst="cloudCallout">
            <a:avLst>
              <a:gd name="adj1" fmla="val -7523"/>
              <a:gd name="adj2" fmla="val 90630"/>
            </a:avLst>
          </a:prstGeom>
          <a:solidFill>
            <a:srgbClr val="FFFF00">
              <a:alpha val="39999"/>
            </a:srgbClr>
          </a:solidFill>
          <a:ln w="9525">
            <a:solidFill>
              <a:schemeClr val="accent1"/>
            </a:solidFill>
            <a:round/>
            <a:headEnd/>
            <a:tailEnd/>
          </a:ln>
        </p:spPr>
        <p:txBody>
          <a:bodyPr>
            <a:spAutoFit/>
          </a:bodyPr>
          <a:lstStyle/>
          <a:p>
            <a:pPr eaLnBrk="0" hangingPunct="0"/>
            <a:r>
              <a:rPr lang="en-US" sz="2000">
                <a:latin typeface="Calibri" pitchFamily="34" charset="0"/>
              </a:rPr>
              <a:t>Here ‘extends’ keyword,</a:t>
            </a:r>
            <a:br>
              <a:rPr lang="en-US" sz="2000">
                <a:latin typeface="Calibri" pitchFamily="34" charset="0"/>
              </a:rPr>
            </a:br>
            <a:r>
              <a:rPr lang="en-US" sz="2000">
                <a:latin typeface="Calibri" pitchFamily="34" charset="0"/>
              </a:rPr>
              <a:t>signaling inheritance</a:t>
            </a:r>
          </a:p>
        </p:txBody>
      </p:sp>
      <p:grpSp>
        <p:nvGrpSpPr>
          <p:cNvPr id="3" name="Group 16"/>
          <p:cNvGrpSpPr>
            <a:grpSpLocks/>
          </p:cNvGrpSpPr>
          <p:nvPr/>
        </p:nvGrpSpPr>
        <p:grpSpPr bwMode="auto">
          <a:xfrm>
            <a:off x="5715000" y="2133600"/>
            <a:ext cx="304800" cy="457200"/>
            <a:chOff x="912" y="1536"/>
            <a:chExt cx="192" cy="288"/>
          </a:xfrm>
        </p:grpSpPr>
        <p:sp>
          <p:nvSpPr>
            <p:cNvPr id="19468" name="AutoShape 17"/>
            <p:cNvSpPr>
              <a:spLocks noChangeArrowheads="1"/>
            </p:cNvSpPr>
            <p:nvPr/>
          </p:nvSpPr>
          <p:spPr bwMode="auto">
            <a:xfrm rot="5400000">
              <a:off x="864" y="1584"/>
              <a:ext cx="288" cy="192"/>
            </a:xfrm>
            <a:prstGeom prst="rightArrow">
              <a:avLst>
                <a:gd name="adj1" fmla="val 50000"/>
                <a:gd name="adj2" fmla="val 37500"/>
              </a:avLst>
            </a:prstGeom>
            <a:solidFill>
              <a:schemeClr val="accent1">
                <a:alpha val="39999"/>
              </a:schemeClr>
            </a:solidFill>
            <a:ln w="9525">
              <a:miter lim="800000"/>
              <a:headEnd/>
              <a:tailEnd/>
            </a:ln>
            <a:scene3d>
              <a:camera prst="legacyPerspectiveFront"/>
              <a:lightRig rig="legacyFlat3" dir="t"/>
            </a:scene3d>
            <a:sp3d extrusionH="887400" prstMaterial="legacyMatte">
              <a:bevelT w="13500" h="13500" prst="angle"/>
              <a:bevelB w="13500" h="13500" prst="angle"/>
              <a:extrusionClr>
                <a:schemeClr val="accent1"/>
              </a:extrusionClr>
            </a:sp3d>
          </p:spPr>
          <p:txBody>
            <a:bodyPr wrap="none" anchor="ctr">
              <a:flatTx/>
            </a:bodyPr>
            <a:lstStyle/>
            <a:p>
              <a:endParaRPr lang="en-SG">
                <a:latin typeface="Calibri" pitchFamily="34" charset="0"/>
              </a:endParaRPr>
            </a:p>
          </p:txBody>
        </p:sp>
        <p:sp>
          <p:nvSpPr>
            <p:cNvPr id="19469" name="Line 18"/>
            <p:cNvSpPr>
              <a:spLocks noChangeShapeType="1"/>
            </p:cNvSpPr>
            <p:nvPr/>
          </p:nvSpPr>
          <p:spPr bwMode="auto">
            <a:xfrm flipH="1">
              <a:off x="1008" y="1536"/>
              <a:ext cx="0" cy="240"/>
            </a:xfrm>
            <a:prstGeom prst="line">
              <a:avLst/>
            </a:prstGeom>
            <a:noFill/>
            <a:ln w="38100">
              <a:solidFill>
                <a:schemeClr val="accent1"/>
              </a:solidFill>
              <a:round/>
              <a:headEnd/>
              <a:tailEnd type="triangle" w="med" len="med"/>
            </a:ln>
          </p:spPr>
          <p:txBody>
            <a:bodyPr wrap="none" anchor="ctr"/>
            <a:lstStyle/>
            <a:p>
              <a:endParaRPr lang="en-US"/>
            </a:p>
          </p:txBody>
        </p:sp>
      </p:grpSp>
      <p:sp>
        <p:nvSpPr>
          <p:cNvPr id="187411" name="Oval 19"/>
          <p:cNvSpPr>
            <a:spLocks noChangeArrowheads="1"/>
          </p:cNvSpPr>
          <p:nvPr/>
        </p:nvSpPr>
        <p:spPr bwMode="auto">
          <a:xfrm>
            <a:off x="7086600" y="3048000"/>
            <a:ext cx="914400" cy="457200"/>
          </a:xfrm>
          <a:prstGeom prst="ellipse">
            <a:avLst/>
          </a:prstGeom>
          <a:noFill/>
          <a:ln w="12700">
            <a:solidFill>
              <a:srgbClr val="FF0000"/>
            </a:solidFill>
            <a:round/>
            <a:headEnd type="none" w="sm" len="sm"/>
            <a:tailEnd type="none" w="sm" len="sm"/>
          </a:ln>
        </p:spPr>
        <p:txBody>
          <a:bodyPr wrap="none" anchor="ctr"/>
          <a:lstStyle/>
          <a:p>
            <a:endParaRPr lang="en-SG">
              <a:latin typeface="Calibri"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87398"/>
                                        </p:tgtEl>
                                        <p:attrNameLst>
                                          <p:attrName>style.visibility</p:attrName>
                                        </p:attrNameLst>
                                      </p:cBhvr>
                                      <p:to>
                                        <p:strVal val="visible"/>
                                      </p:to>
                                    </p:set>
                                    <p:animEffect transition="in" filter="wipe(up)">
                                      <p:cBhvr>
                                        <p:cTn id="7" dur="1000"/>
                                        <p:tgtEl>
                                          <p:spTgt spid="187398"/>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1000"/>
                                        <p:tgtEl>
                                          <p:spTgt spid="2"/>
                                        </p:tgtEl>
                                      </p:cBhvr>
                                    </p:animEffect>
                                  </p:childTnLst>
                                </p:cTn>
                              </p:par>
                            </p:childTnLst>
                          </p:cTn>
                        </p:par>
                        <p:par>
                          <p:cTn id="12" fill="hold" nodeType="afterGroup">
                            <p:stCondLst>
                              <p:cond delay="2000"/>
                            </p:stCondLst>
                            <p:childTnLst>
                              <p:par>
                                <p:cTn id="13" presetID="22" presetClass="entr" presetSubtype="1" fill="hold" grpId="0" nodeType="afterEffect">
                                  <p:stCondLst>
                                    <p:cond delay="0"/>
                                  </p:stCondLst>
                                  <p:childTnLst>
                                    <p:set>
                                      <p:cBhvr>
                                        <p:cTn id="14" dur="1" fill="hold">
                                          <p:stCondLst>
                                            <p:cond delay="0"/>
                                          </p:stCondLst>
                                        </p:cTn>
                                        <p:tgtEl>
                                          <p:spTgt spid="187395"/>
                                        </p:tgtEl>
                                        <p:attrNameLst>
                                          <p:attrName>style.visibility</p:attrName>
                                        </p:attrNameLst>
                                      </p:cBhvr>
                                      <p:to>
                                        <p:strVal val="visible"/>
                                      </p:to>
                                    </p:set>
                                    <p:animEffect transition="in" filter="wipe(up)">
                                      <p:cBhvr>
                                        <p:cTn id="15" dur="500"/>
                                        <p:tgtEl>
                                          <p:spTgt spid="18739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87399"/>
                                        </p:tgtEl>
                                        <p:attrNameLst>
                                          <p:attrName>style.visibility</p:attrName>
                                        </p:attrNameLst>
                                      </p:cBhvr>
                                      <p:to>
                                        <p:strVal val="visible"/>
                                      </p:to>
                                    </p:set>
                                    <p:animEffect transition="in" filter="wipe(up)">
                                      <p:cBhvr>
                                        <p:cTn id="20" dur="1000"/>
                                        <p:tgtEl>
                                          <p:spTgt spid="187399"/>
                                        </p:tgtEl>
                                      </p:cBhvr>
                                    </p:animEffect>
                                  </p:childTnLst>
                                </p:cTn>
                              </p:par>
                            </p:childTnLst>
                          </p:cTn>
                        </p:par>
                        <p:par>
                          <p:cTn id="21" fill="hold" nodeType="afterGroup">
                            <p:stCondLst>
                              <p:cond delay="1000"/>
                            </p:stCondLst>
                            <p:childTnLst>
                              <p:par>
                                <p:cTn id="22" presetID="22" presetClass="entr" presetSubtype="1"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up)">
                                      <p:cBhvr>
                                        <p:cTn id="24" dur="1000"/>
                                        <p:tgtEl>
                                          <p:spTgt spid="3"/>
                                        </p:tgtEl>
                                      </p:cBhvr>
                                    </p:animEffect>
                                  </p:childTnLst>
                                </p:cTn>
                              </p:par>
                            </p:childTnLst>
                          </p:cTn>
                        </p:par>
                        <p:par>
                          <p:cTn id="25" fill="hold" nodeType="afterGroup">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187396"/>
                                        </p:tgtEl>
                                        <p:attrNameLst>
                                          <p:attrName>style.visibility</p:attrName>
                                        </p:attrNameLst>
                                      </p:cBhvr>
                                      <p:to>
                                        <p:strVal val="visible"/>
                                      </p:to>
                                    </p:set>
                                    <p:animEffect transition="in" filter="wipe(up)">
                                      <p:cBhvr>
                                        <p:cTn id="28" dur="1000"/>
                                        <p:tgtEl>
                                          <p:spTgt spid="187396"/>
                                        </p:tgtEl>
                                      </p:cBhvr>
                                    </p:animEffect>
                                  </p:childTnLst>
                                </p:cTn>
                              </p:par>
                            </p:childTnLst>
                          </p:cTn>
                        </p:par>
                        <p:par>
                          <p:cTn id="29" fill="hold" nodeType="afterGroup">
                            <p:stCondLst>
                              <p:cond delay="3000"/>
                            </p:stCondLst>
                            <p:childTnLst>
                              <p:par>
                                <p:cTn id="30" presetID="20" presetClass="entr" presetSubtype="0" fill="hold" grpId="0" nodeType="afterEffect">
                                  <p:stCondLst>
                                    <p:cond delay="0"/>
                                  </p:stCondLst>
                                  <p:childTnLst>
                                    <p:set>
                                      <p:cBhvr>
                                        <p:cTn id="31" dur="1" fill="hold">
                                          <p:stCondLst>
                                            <p:cond delay="0"/>
                                          </p:stCondLst>
                                        </p:cTn>
                                        <p:tgtEl>
                                          <p:spTgt spid="187411"/>
                                        </p:tgtEl>
                                        <p:attrNameLst>
                                          <p:attrName>style.visibility</p:attrName>
                                        </p:attrNameLst>
                                      </p:cBhvr>
                                      <p:to>
                                        <p:strVal val="visible"/>
                                      </p:to>
                                    </p:set>
                                    <p:animEffect transition="in" filter="wedge">
                                      <p:cBhvr>
                                        <p:cTn id="32" dur="1000"/>
                                        <p:tgtEl>
                                          <p:spTgt spid="187411"/>
                                        </p:tgtEl>
                                      </p:cBhvr>
                                    </p:animEffect>
                                  </p:childTnLst>
                                </p:cTn>
                              </p:par>
                              <p:par>
                                <p:cTn id="33" presetID="47" presetClass="entr" presetSubtype="0" fill="hold" grpId="0" nodeType="withEffect">
                                  <p:stCondLst>
                                    <p:cond delay="0"/>
                                  </p:stCondLst>
                                  <p:childTnLst>
                                    <p:set>
                                      <p:cBhvr>
                                        <p:cTn id="34" dur="1" fill="hold">
                                          <p:stCondLst>
                                            <p:cond delay="0"/>
                                          </p:stCondLst>
                                        </p:cTn>
                                        <p:tgtEl>
                                          <p:spTgt spid="187397"/>
                                        </p:tgtEl>
                                        <p:attrNameLst>
                                          <p:attrName>style.visibility</p:attrName>
                                        </p:attrNameLst>
                                      </p:cBhvr>
                                      <p:to>
                                        <p:strVal val="visible"/>
                                      </p:to>
                                    </p:set>
                                    <p:animEffect transition="in" filter="fade">
                                      <p:cBhvr>
                                        <p:cTn id="35" dur="1000"/>
                                        <p:tgtEl>
                                          <p:spTgt spid="187397"/>
                                        </p:tgtEl>
                                      </p:cBhvr>
                                    </p:animEffect>
                                    <p:anim calcmode="lin" valueType="num">
                                      <p:cBhvr>
                                        <p:cTn id="36" dur="1000" fill="hold"/>
                                        <p:tgtEl>
                                          <p:spTgt spid="187397"/>
                                        </p:tgtEl>
                                        <p:attrNameLst>
                                          <p:attrName>ppt_x</p:attrName>
                                        </p:attrNameLst>
                                      </p:cBhvr>
                                      <p:tavLst>
                                        <p:tav tm="0">
                                          <p:val>
                                            <p:strVal val="#ppt_x"/>
                                          </p:val>
                                        </p:tav>
                                        <p:tav tm="100000">
                                          <p:val>
                                            <p:strVal val="#ppt_x"/>
                                          </p:val>
                                        </p:tav>
                                      </p:tavLst>
                                    </p:anim>
                                    <p:anim calcmode="lin" valueType="num">
                                      <p:cBhvr>
                                        <p:cTn id="37" dur="1000" fill="hold"/>
                                        <p:tgtEl>
                                          <p:spTgt spid="18739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animBg="1"/>
      <p:bldP spid="187396" grpId="0" animBg="1"/>
      <p:bldP spid="187398" grpId="0" animBg="1"/>
      <p:bldP spid="187399" grpId="0" animBg="1"/>
      <p:bldP spid="187397" grpId="0" animBg="1"/>
      <p:bldP spid="1874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5"/>
          <p:cNvSpPr>
            <a:spLocks noGrp="1" noChangeArrowheads="1"/>
          </p:cNvSpPr>
          <p:nvPr>
            <p:ph type="title"/>
          </p:nvPr>
        </p:nvSpPr>
        <p:spPr>
          <a:xfrm>
            <a:off x="153988" y="609600"/>
            <a:ext cx="8245475" cy="498475"/>
          </a:xfrm>
        </p:spPr>
        <p:txBody>
          <a:bodyPr rtlCol="0">
            <a:normAutofit fontScale="90000"/>
          </a:bodyPr>
          <a:lstStyle/>
          <a:p>
            <a:pPr eaLnBrk="1" fontAlgn="auto" hangingPunct="1">
              <a:spcAft>
                <a:spcPts val="0"/>
              </a:spcAft>
              <a:defRPr/>
            </a:pPr>
            <a:r>
              <a:rPr lang="en-US" smtClean="0"/>
              <a:t>Inheritance (Continued)</a:t>
            </a:r>
          </a:p>
        </p:txBody>
      </p:sp>
      <p:grpSp>
        <p:nvGrpSpPr>
          <p:cNvPr id="2" name="Group 33"/>
          <p:cNvGrpSpPr>
            <a:grpSpLocks/>
          </p:cNvGrpSpPr>
          <p:nvPr/>
        </p:nvGrpSpPr>
        <p:grpSpPr bwMode="auto">
          <a:xfrm>
            <a:off x="609600" y="3321050"/>
            <a:ext cx="8001000" cy="2819400"/>
            <a:chOff x="384" y="2092"/>
            <a:chExt cx="5040" cy="1776"/>
          </a:xfrm>
        </p:grpSpPr>
        <p:sp>
          <p:nvSpPr>
            <p:cNvPr id="20505" name="Rectangle 31"/>
            <p:cNvSpPr>
              <a:spLocks noChangeArrowheads="1"/>
            </p:cNvSpPr>
            <p:nvPr/>
          </p:nvSpPr>
          <p:spPr bwMode="auto">
            <a:xfrm>
              <a:off x="384" y="2092"/>
              <a:ext cx="5040" cy="1776"/>
            </a:xfrm>
            <a:prstGeom prst="rect">
              <a:avLst/>
            </a:prstGeom>
            <a:solidFill>
              <a:schemeClr val="bg2">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bg2"/>
              </a:extrusionClr>
            </a:sp3d>
          </p:spPr>
          <p:txBody>
            <a:bodyPr wrap="none">
              <a:flatTx/>
            </a:bodyPr>
            <a:lstStyle/>
            <a:p>
              <a:endParaRPr lang="en-US" sz="2000">
                <a:latin typeface="Calibri" pitchFamily="34" charset="0"/>
              </a:endParaRPr>
            </a:p>
          </p:txBody>
        </p:sp>
        <p:sp>
          <p:nvSpPr>
            <p:cNvPr id="20506" name="Rectangle 32"/>
            <p:cNvSpPr>
              <a:spLocks noChangeArrowheads="1"/>
            </p:cNvSpPr>
            <p:nvPr/>
          </p:nvSpPr>
          <p:spPr bwMode="auto">
            <a:xfrm>
              <a:off x="2160" y="2208"/>
              <a:ext cx="1344" cy="288"/>
            </a:xfrm>
            <a:prstGeom prst="rect">
              <a:avLst/>
            </a:prstGeom>
            <a:noFill/>
            <a:ln w="12700" algn="ctr">
              <a:noFill/>
              <a:miter lim="800000"/>
              <a:headEnd type="none" w="sm" len="sm"/>
              <a:tailEnd type="none" w="sm" len="sm"/>
            </a:ln>
          </p:spPr>
          <p:txBody>
            <a:bodyPr wrap="none"/>
            <a:lstStyle/>
            <a:p>
              <a:r>
                <a:rPr lang="en-US" sz="2000">
                  <a:latin typeface="Calibri" pitchFamily="34" charset="0"/>
                </a:rPr>
                <a:t>Example</a:t>
              </a:r>
            </a:p>
          </p:txBody>
        </p:sp>
      </p:grpSp>
      <p:sp>
        <p:nvSpPr>
          <p:cNvPr id="20486" name="Rectangle 6"/>
          <p:cNvSpPr>
            <a:spLocks noChangeArrowheads="1"/>
          </p:cNvSpPr>
          <p:nvPr/>
        </p:nvSpPr>
        <p:spPr bwMode="auto">
          <a:xfrm>
            <a:off x="0" y="1219200"/>
            <a:ext cx="9144000" cy="498475"/>
          </a:xfrm>
          <a:prstGeom prst="rect">
            <a:avLst/>
          </a:prstGeom>
          <a:solidFill>
            <a:srgbClr val="0066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006666"/>
            </a:extrusionClr>
          </a:sp3d>
        </p:spPr>
        <p:txBody>
          <a:bodyPr lIns="92075" tIns="46038" rIns="92075" bIns="46038" anchor="b">
            <a:flatTx/>
          </a:bodyPr>
          <a:lstStyle/>
          <a:p>
            <a:pPr>
              <a:lnSpc>
                <a:spcPct val="90000"/>
              </a:lnSpc>
            </a:pPr>
            <a:r>
              <a:rPr lang="en-US" sz="2800">
                <a:solidFill>
                  <a:schemeClr val="bg1"/>
                </a:solidFill>
                <a:latin typeface="Calibri" pitchFamily="34" charset="0"/>
              </a:rPr>
              <a:t>Types of Inheritance</a:t>
            </a:r>
          </a:p>
        </p:txBody>
      </p:sp>
      <p:sp>
        <p:nvSpPr>
          <p:cNvPr id="140295" name="Rectangle 7"/>
          <p:cNvSpPr>
            <a:spLocks noChangeArrowheads="1"/>
          </p:cNvSpPr>
          <p:nvPr/>
        </p:nvSpPr>
        <p:spPr bwMode="auto">
          <a:xfrm>
            <a:off x="533400" y="1828800"/>
            <a:ext cx="8229600" cy="1447800"/>
          </a:xfrm>
          <a:prstGeom prst="rect">
            <a:avLst/>
          </a:prstGeom>
          <a:solidFill>
            <a:schemeClr val="accent1">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accent1"/>
            </a:extrusionClr>
          </a:sp3d>
        </p:spPr>
        <p:txBody>
          <a:bodyPr wrap="none">
            <a:flatTx/>
          </a:bodyPr>
          <a:lstStyle/>
          <a:p>
            <a:endParaRPr lang="en-US" sz="2000">
              <a:latin typeface="Calibri" pitchFamily="34" charset="0"/>
            </a:endParaRPr>
          </a:p>
          <a:p>
            <a:r>
              <a:rPr lang="en-US" sz="2000">
                <a:latin typeface="Calibri" pitchFamily="34" charset="0"/>
              </a:rPr>
              <a:t>  1. Single Level Inheritance</a:t>
            </a:r>
          </a:p>
        </p:txBody>
      </p:sp>
      <p:sp>
        <p:nvSpPr>
          <p:cNvPr id="140298" name="Rectangle 10"/>
          <p:cNvSpPr>
            <a:spLocks noChangeArrowheads="1"/>
          </p:cNvSpPr>
          <p:nvPr/>
        </p:nvSpPr>
        <p:spPr bwMode="auto">
          <a:xfrm>
            <a:off x="669925" y="2673350"/>
            <a:ext cx="8077200" cy="609600"/>
          </a:xfrm>
          <a:prstGeom prst="rect">
            <a:avLst/>
          </a:prstGeom>
          <a:solidFill>
            <a:schemeClr val="accent1">
              <a:alpha val="30196"/>
            </a:schemeClr>
          </a:solidFill>
          <a:ln w="12700" algn="ctr">
            <a:noFill/>
            <a:miter lim="800000"/>
            <a:headEnd type="none" w="sm" len="sm"/>
            <a:tailEnd type="none" w="sm" len="sm"/>
          </a:ln>
        </p:spPr>
        <p:txBody>
          <a:bodyPr wrap="none" anchor="ctr"/>
          <a:lstStyle/>
          <a:p>
            <a:r>
              <a:rPr lang="en-US" sz="2000">
                <a:latin typeface="Calibri" pitchFamily="34" charset="0"/>
              </a:rPr>
              <a:t>Derives a subclass from a single superclass.</a:t>
            </a:r>
          </a:p>
        </p:txBody>
      </p:sp>
      <p:sp>
        <p:nvSpPr>
          <p:cNvPr id="140299" name="Rectangle 11"/>
          <p:cNvSpPr>
            <a:spLocks noChangeArrowheads="1"/>
          </p:cNvSpPr>
          <p:nvPr/>
        </p:nvSpPr>
        <p:spPr bwMode="auto">
          <a:xfrm>
            <a:off x="3429000" y="4143375"/>
            <a:ext cx="2133600" cy="457200"/>
          </a:xfrm>
          <a:prstGeom prst="rect">
            <a:avLst/>
          </a:prstGeom>
          <a:solidFill>
            <a:schemeClr val="bg2">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bg2"/>
            </a:extrusionClr>
          </a:sp3d>
        </p:spPr>
        <p:txBody>
          <a:bodyPr wrap="none">
            <a:flatTx/>
          </a:bodyPr>
          <a:lstStyle/>
          <a:p>
            <a:r>
              <a:rPr lang="en-US" sz="2000">
                <a:latin typeface="Calibri" pitchFamily="34" charset="0"/>
              </a:rPr>
              <a:t>Class Person</a:t>
            </a:r>
          </a:p>
        </p:txBody>
      </p:sp>
      <p:sp>
        <p:nvSpPr>
          <p:cNvPr id="140305" name="Rectangle 17"/>
          <p:cNvSpPr>
            <a:spLocks noChangeArrowheads="1"/>
          </p:cNvSpPr>
          <p:nvPr/>
        </p:nvSpPr>
        <p:spPr bwMode="auto">
          <a:xfrm>
            <a:off x="1524000" y="5667375"/>
            <a:ext cx="2133600" cy="381000"/>
          </a:xfrm>
          <a:prstGeom prst="rect">
            <a:avLst/>
          </a:prstGeom>
          <a:solidFill>
            <a:schemeClr val="bg2">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bg2"/>
            </a:extrusionClr>
          </a:sp3d>
        </p:spPr>
        <p:txBody>
          <a:bodyPr wrap="none">
            <a:flatTx/>
          </a:bodyPr>
          <a:lstStyle/>
          <a:p>
            <a:r>
              <a:rPr lang="en-US" sz="2000">
                <a:latin typeface="Calibri" pitchFamily="34" charset="0"/>
              </a:rPr>
              <a:t>Class Employee</a:t>
            </a:r>
          </a:p>
        </p:txBody>
      </p:sp>
      <p:sp>
        <p:nvSpPr>
          <p:cNvPr id="140306" name="Rectangle 18"/>
          <p:cNvSpPr>
            <a:spLocks noChangeArrowheads="1"/>
          </p:cNvSpPr>
          <p:nvPr/>
        </p:nvSpPr>
        <p:spPr bwMode="auto">
          <a:xfrm>
            <a:off x="5181600" y="5667375"/>
            <a:ext cx="2133600" cy="381000"/>
          </a:xfrm>
          <a:prstGeom prst="rect">
            <a:avLst/>
          </a:prstGeom>
          <a:solidFill>
            <a:schemeClr val="bg2">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bg2"/>
            </a:extrusionClr>
          </a:sp3d>
        </p:spPr>
        <p:txBody>
          <a:bodyPr wrap="none">
            <a:flatTx/>
          </a:bodyPr>
          <a:lstStyle/>
          <a:p>
            <a:r>
              <a:rPr lang="en-US" sz="2000">
                <a:latin typeface="Calibri" pitchFamily="34" charset="0"/>
              </a:rPr>
              <a:t>Class Student</a:t>
            </a:r>
          </a:p>
        </p:txBody>
      </p:sp>
      <p:grpSp>
        <p:nvGrpSpPr>
          <p:cNvPr id="3" name="Group 30"/>
          <p:cNvGrpSpPr>
            <a:grpSpLocks/>
          </p:cNvGrpSpPr>
          <p:nvPr/>
        </p:nvGrpSpPr>
        <p:grpSpPr bwMode="auto">
          <a:xfrm>
            <a:off x="2514600" y="4600575"/>
            <a:ext cx="3733800" cy="1066800"/>
            <a:chOff x="1392" y="2544"/>
            <a:chExt cx="2352" cy="672"/>
          </a:xfrm>
        </p:grpSpPr>
        <p:grpSp>
          <p:nvGrpSpPr>
            <p:cNvPr id="4" name="Group 19"/>
            <p:cNvGrpSpPr>
              <a:grpSpLocks/>
            </p:cNvGrpSpPr>
            <p:nvPr/>
          </p:nvGrpSpPr>
          <p:grpSpPr bwMode="auto">
            <a:xfrm>
              <a:off x="2592" y="2544"/>
              <a:ext cx="96" cy="288"/>
              <a:chOff x="2592" y="2544"/>
              <a:chExt cx="96" cy="288"/>
            </a:xfrm>
          </p:grpSpPr>
          <p:sp>
            <p:nvSpPr>
              <p:cNvPr id="20503" name="Rectangle 13"/>
              <p:cNvSpPr>
                <a:spLocks noChangeArrowheads="1"/>
              </p:cNvSpPr>
              <p:nvPr/>
            </p:nvSpPr>
            <p:spPr bwMode="auto">
              <a:xfrm rot="5400000">
                <a:off x="2496" y="2640"/>
                <a:ext cx="288" cy="96"/>
              </a:xfrm>
              <a:prstGeom prst="rect">
                <a:avLst/>
              </a:prstGeom>
              <a:solidFill>
                <a:schemeClr val="bg2">
                  <a:alpha val="39999"/>
                </a:schemeClr>
              </a:solidFill>
              <a:ln w="9525">
                <a:miter lim="800000"/>
                <a:headEnd/>
                <a:tailEnd/>
              </a:ln>
              <a:scene3d>
                <a:camera prst="legacyPerspectiveFront"/>
                <a:lightRig rig="legacyFlat3" dir="t"/>
              </a:scene3d>
              <a:sp3d extrusionH="887400" prstMaterial="legacyMatte">
                <a:bevelT w="13500" h="13500" prst="angle"/>
                <a:bevelB w="13500" h="13500" prst="angle"/>
                <a:extrusionClr>
                  <a:schemeClr val="bg2"/>
                </a:extrusionClr>
              </a:sp3d>
            </p:spPr>
            <p:txBody>
              <a:bodyPr wrap="none" anchor="ctr">
                <a:flatTx/>
              </a:bodyPr>
              <a:lstStyle/>
              <a:p>
                <a:endParaRPr lang="en-SG">
                  <a:latin typeface="Calibri" pitchFamily="34" charset="0"/>
                </a:endParaRPr>
              </a:p>
            </p:txBody>
          </p:sp>
          <p:sp>
            <p:nvSpPr>
              <p:cNvPr id="20504" name="Line 14"/>
              <p:cNvSpPr>
                <a:spLocks noChangeShapeType="1"/>
              </p:cNvSpPr>
              <p:nvPr/>
            </p:nvSpPr>
            <p:spPr bwMode="auto">
              <a:xfrm flipH="1">
                <a:off x="2640" y="2544"/>
                <a:ext cx="0" cy="288"/>
              </a:xfrm>
              <a:prstGeom prst="line">
                <a:avLst/>
              </a:prstGeom>
              <a:noFill/>
              <a:ln w="57150">
                <a:solidFill>
                  <a:schemeClr val="bg2"/>
                </a:solidFill>
                <a:round/>
                <a:headEnd/>
                <a:tailEnd/>
              </a:ln>
            </p:spPr>
            <p:txBody>
              <a:bodyPr wrap="none" anchor="ctr"/>
              <a:lstStyle/>
              <a:p>
                <a:endParaRPr lang="en-US"/>
              </a:p>
            </p:txBody>
          </p:sp>
        </p:grpSp>
        <p:grpSp>
          <p:nvGrpSpPr>
            <p:cNvPr id="5" name="Group 20"/>
            <p:cNvGrpSpPr>
              <a:grpSpLocks/>
            </p:cNvGrpSpPr>
            <p:nvPr/>
          </p:nvGrpSpPr>
          <p:grpSpPr bwMode="auto">
            <a:xfrm>
              <a:off x="3648" y="2928"/>
              <a:ext cx="96" cy="288"/>
              <a:chOff x="2592" y="2544"/>
              <a:chExt cx="96" cy="288"/>
            </a:xfrm>
          </p:grpSpPr>
          <p:sp>
            <p:nvSpPr>
              <p:cNvPr id="20501" name="Rectangle 21"/>
              <p:cNvSpPr>
                <a:spLocks noChangeArrowheads="1"/>
              </p:cNvSpPr>
              <p:nvPr/>
            </p:nvSpPr>
            <p:spPr bwMode="auto">
              <a:xfrm rot="5400000">
                <a:off x="2496" y="2640"/>
                <a:ext cx="288" cy="96"/>
              </a:xfrm>
              <a:prstGeom prst="rect">
                <a:avLst/>
              </a:prstGeom>
              <a:solidFill>
                <a:schemeClr val="bg2">
                  <a:alpha val="39999"/>
                </a:schemeClr>
              </a:solidFill>
              <a:ln w="9525">
                <a:miter lim="800000"/>
                <a:headEnd/>
                <a:tailEnd/>
              </a:ln>
              <a:scene3d>
                <a:camera prst="legacyPerspectiveFront"/>
                <a:lightRig rig="legacyFlat3" dir="t"/>
              </a:scene3d>
              <a:sp3d extrusionH="887400" prstMaterial="legacyMatte">
                <a:bevelT w="13500" h="13500" prst="angle"/>
                <a:bevelB w="13500" h="13500" prst="angle"/>
                <a:extrusionClr>
                  <a:schemeClr val="bg2"/>
                </a:extrusionClr>
              </a:sp3d>
            </p:spPr>
            <p:txBody>
              <a:bodyPr wrap="none" anchor="ctr">
                <a:flatTx/>
              </a:bodyPr>
              <a:lstStyle/>
              <a:p>
                <a:endParaRPr lang="en-SG">
                  <a:latin typeface="Calibri" pitchFamily="34" charset="0"/>
                </a:endParaRPr>
              </a:p>
            </p:txBody>
          </p:sp>
          <p:sp>
            <p:nvSpPr>
              <p:cNvPr id="20502" name="Line 22"/>
              <p:cNvSpPr>
                <a:spLocks noChangeShapeType="1"/>
              </p:cNvSpPr>
              <p:nvPr/>
            </p:nvSpPr>
            <p:spPr bwMode="auto">
              <a:xfrm flipH="1">
                <a:off x="2640" y="2544"/>
                <a:ext cx="0" cy="288"/>
              </a:xfrm>
              <a:prstGeom prst="line">
                <a:avLst/>
              </a:prstGeom>
              <a:noFill/>
              <a:ln w="57150">
                <a:solidFill>
                  <a:schemeClr val="bg2"/>
                </a:solidFill>
                <a:round/>
                <a:headEnd/>
                <a:tailEnd/>
              </a:ln>
            </p:spPr>
            <p:txBody>
              <a:bodyPr wrap="none" anchor="ctr"/>
              <a:lstStyle/>
              <a:p>
                <a:endParaRPr lang="en-US"/>
              </a:p>
            </p:txBody>
          </p:sp>
        </p:grpSp>
        <p:grpSp>
          <p:nvGrpSpPr>
            <p:cNvPr id="6" name="Group 23"/>
            <p:cNvGrpSpPr>
              <a:grpSpLocks/>
            </p:cNvGrpSpPr>
            <p:nvPr/>
          </p:nvGrpSpPr>
          <p:grpSpPr bwMode="auto">
            <a:xfrm>
              <a:off x="1392" y="2928"/>
              <a:ext cx="96" cy="288"/>
              <a:chOff x="2592" y="2544"/>
              <a:chExt cx="96" cy="288"/>
            </a:xfrm>
          </p:grpSpPr>
          <p:sp>
            <p:nvSpPr>
              <p:cNvPr id="20499" name="Rectangle 24"/>
              <p:cNvSpPr>
                <a:spLocks noChangeArrowheads="1"/>
              </p:cNvSpPr>
              <p:nvPr/>
            </p:nvSpPr>
            <p:spPr bwMode="auto">
              <a:xfrm rot="5400000">
                <a:off x="2496" y="2640"/>
                <a:ext cx="288" cy="96"/>
              </a:xfrm>
              <a:prstGeom prst="rect">
                <a:avLst/>
              </a:prstGeom>
              <a:solidFill>
                <a:schemeClr val="bg2">
                  <a:alpha val="39999"/>
                </a:schemeClr>
              </a:solidFill>
              <a:ln w="9525">
                <a:miter lim="800000"/>
                <a:headEnd/>
                <a:tailEnd/>
              </a:ln>
              <a:scene3d>
                <a:camera prst="legacyPerspectiveFront"/>
                <a:lightRig rig="legacyFlat3" dir="t"/>
              </a:scene3d>
              <a:sp3d extrusionH="887400" prstMaterial="legacyMatte">
                <a:bevelT w="13500" h="13500" prst="angle"/>
                <a:bevelB w="13500" h="13500" prst="angle"/>
                <a:extrusionClr>
                  <a:schemeClr val="bg2"/>
                </a:extrusionClr>
              </a:sp3d>
            </p:spPr>
            <p:txBody>
              <a:bodyPr wrap="none" anchor="ctr">
                <a:flatTx/>
              </a:bodyPr>
              <a:lstStyle/>
              <a:p>
                <a:endParaRPr lang="en-SG">
                  <a:latin typeface="Calibri" pitchFamily="34" charset="0"/>
                </a:endParaRPr>
              </a:p>
            </p:txBody>
          </p:sp>
          <p:sp>
            <p:nvSpPr>
              <p:cNvPr id="20500" name="Line 25"/>
              <p:cNvSpPr>
                <a:spLocks noChangeShapeType="1"/>
              </p:cNvSpPr>
              <p:nvPr/>
            </p:nvSpPr>
            <p:spPr bwMode="auto">
              <a:xfrm flipH="1">
                <a:off x="2640" y="2544"/>
                <a:ext cx="0" cy="288"/>
              </a:xfrm>
              <a:prstGeom prst="line">
                <a:avLst/>
              </a:prstGeom>
              <a:noFill/>
              <a:ln w="57150">
                <a:solidFill>
                  <a:schemeClr val="bg2"/>
                </a:solidFill>
                <a:round/>
                <a:headEnd/>
                <a:tailEnd/>
              </a:ln>
            </p:spPr>
            <p:txBody>
              <a:bodyPr wrap="none" anchor="ctr"/>
              <a:lstStyle/>
              <a:p>
                <a:endParaRPr lang="en-US"/>
              </a:p>
            </p:txBody>
          </p:sp>
        </p:grpSp>
        <p:grpSp>
          <p:nvGrpSpPr>
            <p:cNvPr id="7" name="Group 29"/>
            <p:cNvGrpSpPr>
              <a:grpSpLocks/>
            </p:cNvGrpSpPr>
            <p:nvPr/>
          </p:nvGrpSpPr>
          <p:grpSpPr bwMode="auto">
            <a:xfrm>
              <a:off x="1392" y="2832"/>
              <a:ext cx="2352" cy="96"/>
              <a:chOff x="1392" y="2832"/>
              <a:chExt cx="2352" cy="96"/>
            </a:xfrm>
          </p:grpSpPr>
          <p:sp>
            <p:nvSpPr>
              <p:cNvPr id="20497" name="Rectangle 27"/>
              <p:cNvSpPr>
                <a:spLocks noChangeArrowheads="1"/>
              </p:cNvSpPr>
              <p:nvPr/>
            </p:nvSpPr>
            <p:spPr bwMode="auto">
              <a:xfrm rot="16200000" flipV="1">
                <a:off x="2520" y="1704"/>
                <a:ext cx="96" cy="2352"/>
              </a:xfrm>
              <a:prstGeom prst="rect">
                <a:avLst/>
              </a:prstGeom>
              <a:solidFill>
                <a:schemeClr val="bg2">
                  <a:alpha val="39999"/>
                </a:schemeClr>
              </a:solidFill>
              <a:ln w="9525">
                <a:miter lim="800000"/>
                <a:headEnd/>
                <a:tailEnd/>
              </a:ln>
              <a:scene3d>
                <a:camera prst="legacyPerspectiveFront"/>
                <a:lightRig rig="legacyFlat3" dir="t"/>
              </a:scene3d>
              <a:sp3d extrusionH="887400" prstMaterial="legacyMatte">
                <a:bevelT w="13500" h="13500" prst="angle"/>
                <a:bevelB w="13500" h="13500" prst="angle"/>
                <a:extrusionClr>
                  <a:schemeClr val="bg2"/>
                </a:extrusionClr>
              </a:sp3d>
            </p:spPr>
            <p:txBody>
              <a:bodyPr wrap="none" anchor="ctr">
                <a:flatTx/>
              </a:bodyPr>
              <a:lstStyle/>
              <a:p>
                <a:endParaRPr lang="en-SG">
                  <a:latin typeface="Calibri" pitchFamily="34" charset="0"/>
                </a:endParaRPr>
              </a:p>
            </p:txBody>
          </p:sp>
          <p:sp>
            <p:nvSpPr>
              <p:cNvPr id="20498" name="Line 28"/>
              <p:cNvSpPr>
                <a:spLocks noChangeShapeType="1"/>
              </p:cNvSpPr>
              <p:nvPr/>
            </p:nvSpPr>
            <p:spPr bwMode="auto">
              <a:xfrm flipH="1">
                <a:off x="1488" y="2880"/>
                <a:ext cx="2160" cy="0"/>
              </a:xfrm>
              <a:prstGeom prst="line">
                <a:avLst/>
              </a:prstGeom>
              <a:noFill/>
              <a:ln w="57150">
                <a:solidFill>
                  <a:schemeClr val="bg2"/>
                </a:solidFill>
                <a:round/>
                <a:headEnd/>
                <a:tailEnd/>
              </a:ln>
            </p:spPr>
            <p:txBody>
              <a:bodyPr wrap="none" anchor="ctr"/>
              <a:lstStyle/>
              <a:p>
                <a:endParaRPr 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40295"/>
                                        </p:tgtEl>
                                        <p:attrNameLst>
                                          <p:attrName>style.visibility</p:attrName>
                                        </p:attrNameLst>
                                      </p:cBhvr>
                                      <p:to>
                                        <p:strVal val="visible"/>
                                      </p:to>
                                    </p:set>
                                    <p:animEffect transition="in" filter="wipe(up)">
                                      <p:cBhvr>
                                        <p:cTn id="7" dur="1000"/>
                                        <p:tgtEl>
                                          <p:spTgt spid="140295"/>
                                        </p:tgtEl>
                                      </p:cBhvr>
                                    </p:animEffect>
                                  </p:childTnLst>
                                </p:cTn>
                              </p:par>
                              <p:par>
                                <p:cTn id="8" presetID="22" presetClass="entr" presetSubtype="1" fill="hold" grpId="1" nodeType="withEffect">
                                  <p:stCondLst>
                                    <p:cond delay="0"/>
                                  </p:stCondLst>
                                  <p:childTnLst>
                                    <p:set>
                                      <p:cBhvr>
                                        <p:cTn id="9" dur="1" fill="hold">
                                          <p:stCondLst>
                                            <p:cond delay="0"/>
                                          </p:stCondLst>
                                        </p:cTn>
                                        <p:tgtEl>
                                          <p:spTgt spid="140295"/>
                                        </p:tgtEl>
                                        <p:attrNameLst>
                                          <p:attrName>style.visibility</p:attrName>
                                        </p:attrNameLst>
                                      </p:cBhvr>
                                      <p:to>
                                        <p:strVal val="visible"/>
                                      </p:to>
                                    </p:set>
                                    <p:animEffect transition="in" filter="wipe(up)">
                                      <p:cBhvr>
                                        <p:cTn id="10" dur="1000"/>
                                        <p:tgtEl>
                                          <p:spTgt spid="140295"/>
                                        </p:tgtEl>
                                      </p:cBhvr>
                                    </p:animEffect>
                                  </p:childTnLst>
                                </p:cTn>
                              </p:par>
                            </p:childTnLst>
                          </p:cTn>
                        </p:par>
                        <p:par>
                          <p:cTn id="11" fill="hold" nodeType="afterGroup">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140298"/>
                                        </p:tgtEl>
                                        <p:attrNameLst>
                                          <p:attrName>style.visibility</p:attrName>
                                        </p:attrNameLst>
                                      </p:cBhvr>
                                      <p:to>
                                        <p:strVal val="visible"/>
                                      </p:to>
                                    </p:set>
                                    <p:animEffect transition="in" filter="wipe(left)">
                                      <p:cBhvr>
                                        <p:cTn id="14" dur="1000"/>
                                        <p:tgtEl>
                                          <p:spTgt spid="140298"/>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1000"/>
                                        <p:tgtEl>
                                          <p:spTgt spid="2"/>
                                        </p:tgtEl>
                                      </p:cBhvr>
                                    </p:animEffect>
                                  </p:childTnLst>
                                </p:cTn>
                              </p:par>
                            </p:childTnLst>
                          </p:cTn>
                        </p:par>
                        <p:par>
                          <p:cTn id="20" fill="hold" nodeType="afterGroup">
                            <p:stCondLst>
                              <p:cond delay="1000"/>
                            </p:stCondLst>
                            <p:childTnLst>
                              <p:par>
                                <p:cTn id="21" presetID="22" presetClass="entr" presetSubtype="1" fill="hold" grpId="0" nodeType="afterEffect">
                                  <p:stCondLst>
                                    <p:cond delay="0"/>
                                  </p:stCondLst>
                                  <p:childTnLst>
                                    <p:set>
                                      <p:cBhvr>
                                        <p:cTn id="22" dur="1" fill="hold">
                                          <p:stCondLst>
                                            <p:cond delay="0"/>
                                          </p:stCondLst>
                                        </p:cTn>
                                        <p:tgtEl>
                                          <p:spTgt spid="140299"/>
                                        </p:tgtEl>
                                        <p:attrNameLst>
                                          <p:attrName>style.visibility</p:attrName>
                                        </p:attrNameLst>
                                      </p:cBhvr>
                                      <p:to>
                                        <p:strVal val="visible"/>
                                      </p:to>
                                    </p:set>
                                    <p:animEffect transition="in" filter="wipe(up)">
                                      <p:cBhvr>
                                        <p:cTn id="23" dur="1000"/>
                                        <p:tgtEl>
                                          <p:spTgt spid="140299"/>
                                        </p:tgtEl>
                                      </p:cBhvr>
                                    </p:animEffect>
                                  </p:childTnLst>
                                </p:cTn>
                              </p:par>
                            </p:childTnLst>
                          </p:cTn>
                        </p:par>
                        <p:par>
                          <p:cTn id="24" fill="hold" nodeType="afterGroup">
                            <p:stCondLst>
                              <p:cond delay="2000"/>
                            </p:stCondLst>
                            <p:childTnLst>
                              <p:par>
                                <p:cTn id="25" presetID="22" presetClass="entr" presetSubtype="1"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1000"/>
                                        <p:tgtEl>
                                          <p:spTgt spid="3"/>
                                        </p:tgtEl>
                                      </p:cBhvr>
                                    </p:animEffect>
                                  </p:childTnLst>
                                </p:cTn>
                              </p:par>
                            </p:childTnLst>
                          </p:cTn>
                        </p:par>
                        <p:par>
                          <p:cTn id="28" fill="hold" nodeType="afterGroup">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140305"/>
                                        </p:tgtEl>
                                        <p:attrNameLst>
                                          <p:attrName>style.visibility</p:attrName>
                                        </p:attrNameLst>
                                      </p:cBhvr>
                                      <p:to>
                                        <p:strVal val="visible"/>
                                      </p:to>
                                    </p:set>
                                    <p:animEffect transition="in" filter="wipe(up)">
                                      <p:cBhvr>
                                        <p:cTn id="31" dur="1000"/>
                                        <p:tgtEl>
                                          <p:spTgt spid="140305"/>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40306"/>
                                        </p:tgtEl>
                                        <p:attrNameLst>
                                          <p:attrName>style.visibility</p:attrName>
                                        </p:attrNameLst>
                                      </p:cBhvr>
                                      <p:to>
                                        <p:strVal val="visible"/>
                                      </p:to>
                                    </p:set>
                                    <p:animEffect transition="in" filter="wipe(up)">
                                      <p:cBhvr>
                                        <p:cTn id="34" dur="1000"/>
                                        <p:tgtEl>
                                          <p:spTgt spid="140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5" grpId="0" animBg="1"/>
      <p:bldP spid="140295" grpId="1" animBg="1"/>
      <p:bldP spid="140298" grpId="0" animBg="1"/>
      <p:bldP spid="140299" grpId="0" animBg="1"/>
      <p:bldP spid="140305" grpId="0" animBg="1"/>
      <p:bldP spid="14030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title"/>
          </p:nvPr>
        </p:nvSpPr>
        <p:spPr>
          <a:xfrm>
            <a:off x="153988" y="609600"/>
            <a:ext cx="8245475" cy="498475"/>
          </a:xfrm>
        </p:spPr>
        <p:txBody>
          <a:bodyPr rtlCol="0">
            <a:normAutofit fontScale="90000"/>
          </a:bodyPr>
          <a:lstStyle/>
          <a:p>
            <a:pPr eaLnBrk="1" fontAlgn="auto" hangingPunct="1">
              <a:spcAft>
                <a:spcPts val="0"/>
              </a:spcAft>
              <a:defRPr/>
            </a:pPr>
            <a:r>
              <a:rPr lang="en-US" smtClean="0"/>
              <a:t>Inheritance (Continued)</a:t>
            </a:r>
          </a:p>
        </p:txBody>
      </p:sp>
      <p:grpSp>
        <p:nvGrpSpPr>
          <p:cNvPr id="2" name="Group 29"/>
          <p:cNvGrpSpPr>
            <a:grpSpLocks/>
          </p:cNvGrpSpPr>
          <p:nvPr/>
        </p:nvGrpSpPr>
        <p:grpSpPr bwMode="auto">
          <a:xfrm>
            <a:off x="2987675" y="3276600"/>
            <a:ext cx="2362200" cy="2895600"/>
            <a:chOff x="1882" y="2064"/>
            <a:chExt cx="1488" cy="1824"/>
          </a:xfrm>
        </p:grpSpPr>
        <p:sp>
          <p:nvSpPr>
            <p:cNvPr id="21522" name="Rectangle 27"/>
            <p:cNvSpPr>
              <a:spLocks noChangeArrowheads="1"/>
            </p:cNvSpPr>
            <p:nvPr/>
          </p:nvSpPr>
          <p:spPr bwMode="auto">
            <a:xfrm>
              <a:off x="1882" y="2064"/>
              <a:ext cx="1488" cy="1824"/>
            </a:xfrm>
            <a:prstGeom prst="rect">
              <a:avLst/>
            </a:prstGeom>
            <a:solidFill>
              <a:schemeClr val="bg2">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bg2"/>
              </a:extrusionClr>
            </a:sp3d>
          </p:spPr>
          <p:txBody>
            <a:bodyPr wrap="none">
              <a:flatTx/>
            </a:bodyPr>
            <a:lstStyle/>
            <a:p>
              <a:endParaRPr lang="en-US" sz="2000">
                <a:latin typeface="Calibri" pitchFamily="34" charset="0"/>
              </a:endParaRPr>
            </a:p>
          </p:txBody>
        </p:sp>
        <p:sp>
          <p:nvSpPr>
            <p:cNvPr id="21523" name="Rectangle 28"/>
            <p:cNvSpPr>
              <a:spLocks noChangeArrowheads="1"/>
            </p:cNvSpPr>
            <p:nvPr/>
          </p:nvSpPr>
          <p:spPr bwMode="auto">
            <a:xfrm>
              <a:off x="1968" y="2160"/>
              <a:ext cx="1344" cy="240"/>
            </a:xfrm>
            <a:prstGeom prst="rect">
              <a:avLst/>
            </a:prstGeom>
            <a:noFill/>
            <a:ln w="12700" algn="ctr">
              <a:noFill/>
              <a:miter lim="800000"/>
              <a:headEnd type="none" w="sm" len="sm"/>
              <a:tailEnd type="none" w="sm" len="sm"/>
            </a:ln>
          </p:spPr>
          <p:txBody>
            <a:bodyPr wrap="none"/>
            <a:lstStyle/>
            <a:p>
              <a:r>
                <a:rPr lang="en-US" sz="2000">
                  <a:latin typeface="Calibri" pitchFamily="34" charset="0"/>
                </a:rPr>
                <a:t>Example</a:t>
              </a:r>
            </a:p>
          </p:txBody>
        </p:sp>
      </p:grpSp>
      <p:sp>
        <p:nvSpPr>
          <p:cNvPr id="21510" name="Rectangle 4"/>
          <p:cNvSpPr>
            <a:spLocks noChangeArrowheads="1"/>
          </p:cNvSpPr>
          <p:nvPr/>
        </p:nvSpPr>
        <p:spPr bwMode="auto">
          <a:xfrm>
            <a:off x="0" y="1219200"/>
            <a:ext cx="9144000" cy="498475"/>
          </a:xfrm>
          <a:prstGeom prst="rect">
            <a:avLst/>
          </a:prstGeom>
          <a:solidFill>
            <a:srgbClr val="0066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006666"/>
            </a:extrusionClr>
          </a:sp3d>
        </p:spPr>
        <p:txBody>
          <a:bodyPr lIns="92075" tIns="46038" rIns="92075" bIns="46038" anchor="b">
            <a:flatTx/>
          </a:bodyPr>
          <a:lstStyle/>
          <a:p>
            <a:pPr>
              <a:lnSpc>
                <a:spcPct val="90000"/>
              </a:lnSpc>
            </a:pPr>
            <a:r>
              <a:rPr lang="en-US" sz="2800">
                <a:solidFill>
                  <a:schemeClr val="bg1"/>
                </a:solidFill>
                <a:latin typeface="Calibri" pitchFamily="34" charset="0"/>
              </a:rPr>
              <a:t>Types of Inheritance (Continued)</a:t>
            </a:r>
          </a:p>
        </p:txBody>
      </p:sp>
      <p:sp>
        <p:nvSpPr>
          <p:cNvPr id="191493" name="Rectangle 5"/>
          <p:cNvSpPr>
            <a:spLocks noChangeArrowheads="1"/>
          </p:cNvSpPr>
          <p:nvPr/>
        </p:nvSpPr>
        <p:spPr bwMode="auto">
          <a:xfrm>
            <a:off x="533400" y="1828800"/>
            <a:ext cx="8229600" cy="1447800"/>
          </a:xfrm>
          <a:prstGeom prst="rect">
            <a:avLst/>
          </a:prstGeom>
          <a:solidFill>
            <a:schemeClr val="accent1">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accent1"/>
            </a:extrusionClr>
          </a:sp3d>
        </p:spPr>
        <p:txBody>
          <a:bodyPr wrap="none">
            <a:flatTx/>
          </a:bodyPr>
          <a:lstStyle/>
          <a:p>
            <a:endParaRPr lang="en-US" sz="2000">
              <a:latin typeface="Calibri" pitchFamily="34" charset="0"/>
            </a:endParaRPr>
          </a:p>
          <a:p>
            <a:r>
              <a:rPr lang="en-US" sz="2000">
                <a:latin typeface="Calibri" pitchFamily="34" charset="0"/>
              </a:rPr>
              <a:t>  2. Multilevel Inheritance</a:t>
            </a:r>
          </a:p>
        </p:txBody>
      </p:sp>
      <p:sp>
        <p:nvSpPr>
          <p:cNvPr id="191494" name="Rectangle 6"/>
          <p:cNvSpPr>
            <a:spLocks noChangeArrowheads="1"/>
          </p:cNvSpPr>
          <p:nvPr/>
        </p:nvSpPr>
        <p:spPr bwMode="auto">
          <a:xfrm>
            <a:off x="669925" y="2673350"/>
            <a:ext cx="8077200" cy="609600"/>
          </a:xfrm>
          <a:prstGeom prst="rect">
            <a:avLst/>
          </a:prstGeom>
          <a:solidFill>
            <a:schemeClr val="accent1">
              <a:alpha val="30196"/>
            </a:schemeClr>
          </a:solidFill>
          <a:ln w="12700" algn="ctr">
            <a:noFill/>
            <a:miter lim="800000"/>
            <a:headEnd type="none" w="sm" len="sm"/>
            <a:tailEnd type="none" w="sm" len="sm"/>
          </a:ln>
        </p:spPr>
        <p:txBody>
          <a:bodyPr wrap="none" anchor="ctr"/>
          <a:lstStyle/>
          <a:p>
            <a:r>
              <a:rPr lang="en-US" sz="2000">
                <a:latin typeface="Calibri" pitchFamily="34" charset="0"/>
              </a:rPr>
              <a:t>Inherits the properties of another subclass.</a:t>
            </a:r>
          </a:p>
        </p:txBody>
      </p:sp>
      <p:sp>
        <p:nvSpPr>
          <p:cNvPr id="191495" name="Rectangle 7"/>
          <p:cNvSpPr>
            <a:spLocks noChangeArrowheads="1"/>
          </p:cNvSpPr>
          <p:nvPr/>
        </p:nvSpPr>
        <p:spPr bwMode="auto">
          <a:xfrm>
            <a:off x="3124200" y="3886200"/>
            <a:ext cx="2133600" cy="381000"/>
          </a:xfrm>
          <a:prstGeom prst="rect">
            <a:avLst/>
          </a:prstGeom>
          <a:solidFill>
            <a:schemeClr val="bg2">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bg2"/>
            </a:extrusionClr>
          </a:sp3d>
        </p:spPr>
        <p:txBody>
          <a:bodyPr wrap="none">
            <a:flatTx/>
          </a:bodyPr>
          <a:lstStyle/>
          <a:p>
            <a:r>
              <a:rPr lang="en-US" sz="2000">
                <a:latin typeface="Calibri" pitchFamily="34" charset="0"/>
              </a:rPr>
              <a:t>Class Person</a:t>
            </a:r>
          </a:p>
        </p:txBody>
      </p:sp>
      <p:sp>
        <p:nvSpPr>
          <p:cNvPr id="191496" name="Rectangle 8"/>
          <p:cNvSpPr>
            <a:spLocks noChangeArrowheads="1"/>
          </p:cNvSpPr>
          <p:nvPr/>
        </p:nvSpPr>
        <p:spPr bwMode="auto">
          <a:xfrm>
            <a:off x="3124200" y="4800600"/>
            <a:ext cx="2133600" cy="381000"/>
          </a:xfrm>
          <a:prstGeom prst="rect">
            <a:avLst/>
          </a:prstGeom>
          <a:solidFill>
            <a:schemeClr val="bg2">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bg2"/>
            </a:extrusionClr>
          </a:sp3d>
        </p:spPr>
        <p:txBody>
          <a:bodyPr wrap="none">
            <a:flatTx/>
          </a:bodyPr>
          <a:lstStyle/>
          <a:p>
            <a:r>
              <a:rPr lang="en-US" sz="2000">
                <a:latin typeface="Calibri" pitchFamily="34" charset="0"/>
              </a:rPr>
              <a:t>Class Employee</a:t>
            </a:r>
          </a:p>
        </p:txBody>
      </p:sp>
      <p:sp>
        <p:nvSpPr>
          <p:cNvPr id="191497" name="Rectangle 9"/>
          <p:cNvSpPr>
            <a:spLocks noChangeArrowheads="1"/>
          </p:cNvSpPr>
          <p:nvPr/>
        </p:nvSpPr>
        <p:spPr bwMode="auto">
          <a:xfrm>
            <a:off x="3124200" y="5715000"/>
            <a:ext cx="2133600" cy="381000"/>
          </a:xfrm>
          <a:prstGeom prst="rect">
            <a:avLst/>
          </a:prstGeom>
          <a:solidFill>
            <a:schemeClr val="bg2">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bg2"/>
            </a:extrusionClr>
          </a:sp3d>
        </p:spPr>
        <p:txBody>
          <a:bodyPr wrap="none">
            <a:flatTx/>
          </a:bodyPr>
          <a:lstStyle/>
          <a:p>
            <a:r>
              <a:rPr lang="en-US" sz="2000">
                <a:latin typeface="Calibri" pitchFamily="34" charset="0"/>
              </a:rPr>
              <a:t>Class Regular</a:t>
            </a:r>
          </a:p>
        </p:txBody>
      </p:sp>
      <p:grpSp>
        <p:nvGrpSpPr>
          <p:cNvPr id="3" name="Group 25"/>
          <p:cNvGrpSpPr>
            <a:grpSpLocks/>
          </p:cNvGrpSpPr>
          <p:nvPr/>
        </p:nvGrpSpPr>
        <p:grpSpPr bwMode="auto">
          <a:xfrm>
            <a:off x="3962400" y="4267200"/>
            <a:ext cx="457200" cy="534988"/>
            <a:chOff x="2496" y="2400"/>
            <a:chExt cx="288" cy="337"/>
          </a:xfrm>
        </p:grpSpPr>
        <p:sp>
          <p:nvSpPr>
            <p:cNvPr id="21520" name="AutoShape 12"/>
            <p:cNvSpPr>
              <a:spLocks noChangeArrowheads="1"/>
            </p:cNvSpPr>
            <p:nvPr/>
          </p:nvSpPr>
          <p:spPr bwMode="auto">
            <a:xfrm>
              <a:off x="2496" y="2400"/>
              <a:ext cx="288" cy="337"/>
            </a:xfrm>
            <a:prstGeom prst="downArrow">
              <a:avLst>
                <a:gd name="adj1" fmla="val 50000"/>
                <a:gd name="adj2" fmla="val 29253"/>
              </a:avLst>
            </a:prstGeom>
            <a:solidFill>
              <a:schemeClr val="bg2">
                <a:alpha val="39999"/>
              </a:schemeClr>
            </a:solidFill>
            <a:ln w="9525">
              <a:miter lim="800000"/>
              <a:headEnd/>
              <a:tailEnd/>
            </a:ln>
            <a:scene3d>
              <a:camera prst="legacyPerspectiveFront"/>
              <a:lightRig rig="legacyFlat3" dir="t"/>
            </a:scene3d>
            <a:sp3d extrusionH="887400" prstMaterial="legacyMatte">
              <a:bevelT w="13500" h="13500" prst="angle"/>
              <a:bevelB w="13500" h="13500" prst="angle"/>
              <a:extrusionClr>
                <a:schemeClr val="bg2"/>
              </a:extrusionClr>
            </a:sp3d>
          </p:spPr>
          <p:txBody>
            <a:bodyPr wrap="none" anchor="ctr">
              <a:flatTx/>
            </a:bodyPr>
            <a:lstStyle/>
            <a:p>
              <a:endParaRPr lang="en-SG">
                <a:latin typeface="Calibri" pitchFamily="34" charset="0"/>
              </a:endParaRPr>
            </a:p>
          </p:txBody>
        </p:sp>
        <p:sp>
          <p:nvSpPr>
            <p:cNvPr id="21521" name="Line 13"/>
            <p:cNvSpPr>
              <a:spLocks noChangeShapeType="1"/>
            </p:cNvSpPr>
            <p:nvPr/>
          </p:nvSpPr>
          <p:spPr bwMode="auto">
            <a:xfrm flipH="1">
              <a:off x="2640" y="2400"/>
              <a:ext cx="0" cy="288"/>
            </a:xfrm>
            <a:prstGeom prst="line">
              <a:avLst/>
            </a:prstGeom>
            <a:noFill/>
            <a:ln w="57150">
              <a:solidFill>
                <a:schemeClr val="bg2"/>
              </a:solidFill>
              <a:round/>
              <a:headEnd/>
              <a:tailEnd type="triangle" w="med" len="med"/>
            </a:ln>
          </p:spPr>
          <p:txBody>
            <a:bodyPr wrap="none" anchor="ctr"/>
            <a:lstStyle/>
            <a:p>
              <a:endParaRPr lang="en-US"/>
            </a:p>
          </p:txBody>
        </p:sp>
      </p:grpSp>
      <p:grpSp>
        <p:nvGrpSpPr>
          <p:cNvPr id="4" name="Group 26"/>
          <p:cNvGrpSpPr>
            <a:grpSpLocks/>
          </p:cNvGrpSpPr>
          <p:nvPr/>
        </p:nvGrpSpPr>
        <p:grpSpPr bwMode="auto">
          <a:xfrm>
            <a:off x="3962400" y="5181600"/>
            <a:ext cx="457200" cy="534988"/>
            <a:chOff x="2496" y="2976"/>
            <a:chExt cx="288" cy="337"/>
          </a:xfrm>
        </p:grpSpPr>
        <p:sp>
          <p:nvSpPr>
            <p:cNvPr id="21518" name="AutoShape 23"/>
            <p:cNvSpPr>
              <a:spLocks noChangeArrowheads="1"/>
            </p:cNvSpPr>
            <p:nvPr/>
          </p:nvSpPr>
          <p:spPr bwMode="auto">
            <a:xfrm>
              <a:off x="2496" y="2976"/>
              <a:ext cx="288" cy="337"/>
            </a:xfrm>
            <a:prstGeom prst="downArrow">
              <a:avLst>
                <a:gd name="adj1" fmla="val 50000"/>
                <a:gd name="adj2" fmla="val 29253"/>
              </a:avLst>
            </a:prstGeom>
            <a:solidFill>
              <a:schemeClr val="bg2">
                <a:alpha val="39999"/>
              </a:schemeClr>
            </a:solidFill>
            <a:ln w="9525">
              <a:miter lim="800000"/>
              <a:headEnd/>
              <a:tailEnd/>
            </a:ln>
            <a:scene3d>
              <a:camera prst="legacyPerspectiveFront"/>
              <a:lightRig rig="legacyFlat3" dir="t"/>
            </a:scene3d>
            <a:sp3d extrusionH="887400" prstMaterial="legacyMatte">
              <a:bevelT w="13500" h="13500" prst="angle"/>
              <a:bevelB w="13500" h="13500" prst="angle"/>
              <a:extrusionClr>
                <a:schemeClr val="bg2"/>
              </a:extrusionClr>
            </a:sp3d>
          </p:spPr>
          <p:txBody>
            <a:bodyPr wrap="none" anchor="ctr">
              <a:flatTx/>
            </a:bodyPr>
            <a:lstStyle/>
            <a:p>
              <a:endParaRPr lang="en-SG">
                <a:latin typeface="Calibri" pitchFamily="34" charset="0"/>
              </a:endParaRPr>
            </a:p>
          </p:txBody>
        </p:sp>
        <p:sp>
          <p:nvSpPr>
            <p:cNvPr id="21519" name="Line 24"/>
            <p:cNvSpPr>
              <a:spLocks noChangeShapeType="1"/>
            </p:cNvSpPr>
            <p:nvPr/>
          </p:nvSpPr>
          <p:spPr bwMode="auto">
            <a:xfrm flipH="1">
              <a:off x="2640" y="2976"/>
              <a:ext cx="0" cy="288"/>
            </a:xfrm>
            <a:prstGeom prst="line">
              <a:avLst/>
            </a:prstGeom>
            <a:noFill/>
            <a:ln w="57150">
              <a:solidFill>
                <a:schemeClr val="bg2"/>
              </a:solidFill>
              <a:round/>
              <a:headEnd/>
              <a:tailEnd type="triangle" w="med" len="med"/>
            </a:ln>
          </p:spPr>
          <p:txBody>
            <a:bodyPr wrap="none"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91493"/>
                                        </p:tgtEl>
                                        <p:attrNameLst>
                                          <p:attrName>style.visibility</p:attrName>
                                        </p:attrNameLst>
                                      </p:cBhvr>
                                      <p:to>
                                        <p:strVal val="visible"/>
                                      </p:to>
                                    </p:set>
                                    <p:animEffect transition="in" filter="wipe(up)">
                                      <p:cBhvr>
                                        <p:cTn id="7" dur="1000"/>
                                        <p:tgtEl>
                                          <p:spTgt spid="191493"/>
                                        </p:tgtEl>
                                      </p:cBhvr>
                                    </p:animEffect>
                                  </p:childTnLst>
                                </p:cTn>
                              </p:par>
                              <p:par>
                                <p:cTn id="8" presetID="22" presetClass="entr" presetSubtype="1" fill="hold" grpId="1" nodeType="withEffect">
                                  <p:stCondLst>
                                    <p:cond delay="0"/>
                                  </p:stCondLst>
                                  <p:childTnLst>
                                    <p:set>
                                      <p:cBhvr>
                                        <p:cTn id="9" dur="1" fill="hold">
                                          <p:stCondLst>
                                            <p:cond delay="0"/>
                                          </p:stCondLst>
                                        </p:cTn>
                                        <p:tgtEl>
                                          <p:spTgt spid="191493"/>
                                        </p:tgtEl>
                                        <p:attrNameLst>
                                          <p:attrName>style.visibility</p:attrName>
                                        </p:attrNameLst>
                                      </p:cBhvr>
                                      <p:to>
                                        <p:strVal val="visible"/>
                                      </p:to>
                                    </p:set>
                                    <p:animEffect transition="in" filter="wipe(up)">
                                      <p:cBhvr>
                                        <p:cTn id="10" dur="1000"/>
                                        <p:tgtEl>
                                          <p:spTgt spid="191493"/>
                                        </p:tgtEl>
                                      </p:cBhvr>
                                    </p:animEffect>
                                  </p:childTnLst>
                                </p:cTn>
                              </p:par>
                            </p:childTnLst>
                          </p:cTn>
                        </p:par>
                        <p:par>
                          <p:cTn id="11" fill="hold" nodeType="afterGroup">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191494"/>
                                        </p:tgtEl>
                                        <p:attrNameLst>
                                          <p:attrName>style.visibility</p:attrName>
                                        </p:attrNameLst>
                                      </p:cBhvr>
                                      <p:to>
                                        <p:strVal val="visible"/>
                                      </p:to>
                                    </p:set>
                                    <p:animEffect transition="in" filter="wipe(left)">
                                      <p:cBhvr>
                                        <p:cTn id="14" dur="1000"/>
                                        <p:tgtEl>
                                          <p:spTgt spid="19149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1000"/>
                                        <p:tgtEl>
                                          <p:spTgt spid="2"/>
                                        </p:tgtEl>
                                      </p:cBhvr>
                                    </p:animEffect>
                                  </p:childTnLst>
                                </p:cTn>
                              </p:par>
                            </p:childTnLst>
                          </p:cTn>
                        </p:par>
                        <p:par>
                          <p:cTn id="20" fill="hold" nodeType="afterGroup">
                            <p:stCondLst>
                              <p:cond delay="1000"/>
                            </p:stCondLst>
                            <p:childTnLst>
                              <p:par>
                                <p:cTn id="21" presetID="22" presetClass="entr" presetSubtype="1" fill="hold" grpId="0" nodeType="afterEffect">
                                  <p:stCondLst>
                                    <p:cond delay="0"/>
                                  </p:stCondLst>
                                  <p:childTnLst>
                                    <p:set>
                                      <p:cBhvr>
                                        <p:cTn id="22" dur="1" fill="hold">
                                          <p:stCondLst>
                                            <p:cond delay="0"/>
                                          </p:stCondLst>
                                        </p:cTn>
                                        <p:tgtEl>
                                          <p:spTgt spid="191495"/>
                                        </p:tgtEl>
                                        <p:attrNameLst>
                                          <p:attrName>style.visibility</p:attrName>
                                        </p:attrNameLst>
                                      </p:cBhvr>
                                      <p:to>
                                        <p:strVal val="visible"/>
                                      </p:to>
                                    </p:set>
                                    <p:animEffect transition="in" filter="wipe(up)">
                                      <p:cBhvr>
                                        <p:cTn id="23" dur="1000"/>
                                        <p:tgtEl>
                                          <p:spTgt spid="191495"/>
                                        </p:tgtEl>
                                      </p:cBhvr>
                                    </p:animEffect>
                                  </p:childTnLst>
                                </p:cTn>
                              </p:par>
                            </p:childTnLst>
                          </p:cTn>
                        </p:par>
                        <p:par>
                          <p:cTn id="24" fill="hold" nodeType="afterGroup">
                            <p:stCondLst>
                              <p:cond delay="2000"/>
                            </p:stCondLst>
                            <p:childTnLst>
                              <p:par>
                                <p:cTn id="25" presetID="22" presetClass="entr" presetSubtype="1"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1000"/>
                                        <p:tgtEl>
                                          <p:spTgt spid="3"/>
                                        </p:tgtEl>
                                      </p:cBhvr>
                                    </p:animEffect>
                                  </p:childTnLst>
                                </p:cTn>
                              </p:par>
                            </p:childTnLst>
                          </p:cTn>
                        </p:par>
                        <p:par>
                          <p:cTn id="28" fill="hold" nodeType="afterGroup">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191496"/>
                                        </p:tgtEl>
                                        <p:attrNameLst>
                                          <p:attrName>style.visibility</p:attrName>
                                        </p:attrNameLst>
                                      </p:cBhvr>
                                      <p:to>
                                        <p:strVal val="visible"/>
                                      </p:to>
                                    </p:set>
                                    <p:animEffect transition="in" filter="wipe(up)">
                                      <p:cBhvr>
                                        <p:cTn id="31" dur="1000"/>
                                        <p:tgtEl>
                                          <p:spTgt spid="191496"/>
                                        </p:tgtEl>
                                      </p:cBhvr>
                                    </p:animEffect>
                                  </p:childTnLst>
                                </p:cTn>
                              </p:par>
                            </p:childTnLst>
                          </p:cTn>
                        </p:par>
                        <p:par>
                          <p:cTn id="32" fill="hold" nodeType="afterGroup">
                            <p:stCondLst>
                              <p:cond delay="4000"/>
                            </p:stCondLst>
                            <p:childTnLst>
                              <p:par>
                                <p:cTn id="33" presetID="22" presetClass="entr" presetSubtype="1"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up)">
                                      <p:cBhvr>
                                        <p:cTn id="35" dur="1000"/>
                                        <p:tgtEl>
                                          <p:spTgt spid="4"/>
                                        </p:tgtEl>
                                      </p:cBhvr>
                                    </p:animEffect>
                                  </p:childTnLst>
                                </p:cTn>
                              </p:par>
                            </p:childTnLst>
                          </p:cTn>
                        </p:par>
                        <p:par>
                          <p:cTn id="36" fill="hold" nodeType="afterGroup">
                            <p:stCondLst>
                              <p:cond delay="5000"/>
                            </p:stCondLst>
                            <p:childTnLst>
                              <p:par>
                                <p:cTn id="37" presetID="22" presetClass="entr" presetSubtype="1" fill="hold" grpId="0" nodeType="afterEffect">
                                  <p:stCondLst>
                                    <p:cond delay="0"/>
                                  </p:stCondLst>
                                  <p:childTnLst>
                                    <p:set>
                                      <p:cBhvr>
                                        <p:cTn id="38" dur="1" fill="hold">
                                          <p:stCondLst>
                                            <p:cond delay="0"/>
                                          </p:stCondLst>
                                        </p:cTn>
                                        <p:tgtEl>
                                          <p:spTgt spid="191497"/>
                                        </p:tgtEl>
                                        <p:attrNameLst>
                                          <p:attrName>style.visibility</p:attrName>
                                        </p:attrNameLst>
                                      </p:cBhvr>
                                      <p:to>
                                        <p:strVal val="visible"/>
                                      </p:to>
                                    </p:set>
                                    <p:animEffect transition="in" filter="wipe(up)">
                                      <p:cBhvr>
                                        <p:cTn id="39" dur="1000"/>
                                        <p:tgtEl>
                                          <p:spTgt spid="191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3" grpId="0" animBg="1"/>
      <p:bldP spid="191493" grpId="1" animBg="1"/>
      <p:bldP spid="191494" grpId="0" animBg="1"/>
      <p:bldP spid="191495" grpId="0" animBg="1"/>
      <p:bldP spid="191496" grpId="0" animBg="1"/>
      <p:bldP spid="19149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4"/>
          <p:cNvSpPr>
            <a:spLocks noChangeArrowheads="1"/>
          </p:cNvSpPr>
          <p:nvPr/>
        </p:nvSpPr>
        <p:spPr bwMode="auto">
          <a:xfrm>
            <a:off x="0" y="0"/>
            <a:ext cx="9144000" cy="1066800"/>
          </a:xfrm>
          <a:prstGeom prst="rect">
            <a:avLst/>
          </a:prstGeom>
          <a:solidFill>
            <a:schemeClr val="accent2"/>
          </a:solidFill>
          <a:ln w="9525">
            <a:solidFill>
              <a:schemeClr val="tx1"/>
            </a:solidFill>
            <a:miter lim="800000"/>
            <a:headEnd/>
            <a:tailEnd/>
          </a:ln>
        </p:spPr>
        <p:txBody>
          <a:bodyPr wrap="none" anchor="ctr"/>
          <a:lstStyle/>
          <a:p>
            <a:r>
              <a:rPr lang="en-US" sz="2000" dirty="0" smtClean="0">
                <a:solidFill>
                  <a:schemeClr val="bg1"/>
                </a:solidFill>
                <a:latin typeface="Trebuchet MS" pitchFamily="34" charset="0"/>
              </a:rPr>
              <a:t> </a:t>
            </a:r>
            <a:r>
              <a:rPr lang="en-US" sz="2000" dirty="0">
                <a:solidFill>
                  <a:schemeClr val="bg1"/>
                </a:solidFill>
                <a:latin typeface="Trebuchet MS" pitchFamily="34" charset="0"/>
              </a:rPr>
              <a:t>Inheritance</a:t>
            </a:r>
          </a:p>
        </p:txBody>
      </p:sp>
      <p:sp>
        <p:nvSpPr>
          <p:cNvPr id="7172" name="Rectangle 5"/>
          <p:cNvSpPr>
            <a:spLocks noGrp="1" noChangeArrowheads="1"/>
          </p:cNvSpPr>
          <p:nvPr>
            <p:ph type="body" sz="half" idx="1"/>
          </p:nvPr>
        </p:nvSpPr>
        <p:spPr>
          <a:xfrm>
            <a:off x="457200" y="1219200"/>
            <a:ext cx="5181600" cy="457200"/>
          </a:xfrm>
        </p:spPr>
        <p:txBody>
          <a:bodyPr/>
          <a:lstStyle/>
          <a:p>
            <a:pPr>
              <a:buClr>
                <a:srgbClr val="FF9900"/>
              </a:buClr>
              <a:buSzPct val="125000"/>
            </a:pPr>
            <a:r>
              <a:rPr lang="en-US" sz="1800" b="1" smtClean="0">
                <a:latin typeface="Trebuchet MS" pitchFamily="34" charset="0"/>
              </a:rPr>
              <a:t>Inheritance</a:t>
            </a:r>
          </a:p>
        </p:txBody>
      </p:sp>
      <p:sp>
        <p:nvSpPr>
          <p:cNvPr id="7173" name="Rectangle 6"/>
          <p:cNvSpPr>
            <a:spLocks noChangeArrowheads="1"/>
          </p:cNvSpPr>
          <p:nvPr/>
        </p:nvSpPr>
        <p:spPr bwMode="auto">
          <a:xfrm>
            <a:off x="838200" y="1547813"/>
            <a:ext cx="3579813" cy="336550"/>
          </a:xfrm>
          <a:prstGeom prst="rect">
            <a:avLst/>
          </a:prstGeom>
          <a:noFill/>
          <a:ln w="9525">
            <a:noFill/>
            <a:miter lim="800000"/>
            <a:headEnd/>
            <a:tailEnd/>
          </a:ln>
        </p:spPr>
        <p:txBody>
          <a:bodyPr wrap="none">
            <a:spAutoFit/>
          </a:bodyPr>
          <a:lstStyle/>
          <a:p>
            <a:r>
              <a:rPr lang="en-US" sz="1600">
                <a:latin typeface="Trebuchet MS" pitchFamily="34" charset="0"/>
              </a:rPr>
              <a:t>Inherit the features of the superclass</a:t>
            </a:r>
          </a:p>
        </p:txBody>
      </p:sp>
      <p:sp>
        <p:nvSpPr>
          <p:cNvPr id="7174" name="Rectangle 7"/>
          <p:cNvSpPr>
            <a:spLocks noChangeArrowheads="1"/>
          </p:cNvSpPr>
          <p:nvPr/>
        </p:nvSpPr>
        <p:spPr bwMode="auto">
          <a:xfrm>
            <a:off x="533400" y="2133600"/>
            <a:ext cx="7467600" cy="2790825"/>
          </a:xfrm>
          <a:prstGeom prst="rect">
            <a:avLst/>
          </a:prstGeom>
          <a:noFill/>
          <a:ln w="9525">
            <a:solidFill>
              <a:schemeClr val="tx1"/>
            </a:solidFill>
            <a:miter lim="800000"/>
            <a:headEnd/>
            <a:tailEnd/>
          </a:ln>
        </p:spPr>
        <p:txBody>
          <a:bodyPr>
            <a:spAutoFit/>
          </a:bodyPr>
          <a:lstStyle/>
          <a:p>
            <a:pPr lvl="1"/>
            <a:r>
              <a:rPr lang="en-US" sz="1600">
                <a:solidFill>
                  <a:srgbClr val="990000"/>
                </a:solidFill>
                <a:latin typeface="Times New Roman" pitchFamily="18" charset="0"/>
              </a:rPr>
              <a:t>public class Car   //superclass</a:t>
            </a:r>
          </a:p>
          <a:p>
            <a:pPr lvl="1"/>
            <a:r>
              <a:rPr lang="en-US" sz="1600">
                <a:solidFill>
                  <a:srgbClr val="990000"/>
                </a:solidFill>
                <a:latin typeface="Times New Roman" pitchFamily="18" charset="0"/>
              </a:rPr>
              <a:t>{</a:t>
            </a:r>
          </a:p>
          <a:p>
            <a:pPr lvl="1"/>
            <a:r>
              <a:rPr lang="en-US" sz="1600">
                <a:solidFill>
                  <a:srgbClr val="990000"/>
                </a:solidFill>
                <a:latin typeface="Times New Roman" pitchFamily="18" charset="0"/>
              </a:rPr>
              <a:t>    public int maxSpeed;</a:t>
            </a:r>
          </a:p>
          <a:p>
            <a:pPr lvl="1"/>
            <a:r>
              <a:rPr lang="en-US" sz="1600">
                <a:solidFill>
                  <a:srgbClr val="990000"/>
                </a:solidFill>
                <a:latin typeface="Times New Roman" pitchFamily="18" charset="0"/>
              </a:rPr>
              <a:t>    public String color;</a:t>
            </a:r>
          </a:p>
          <a:p>
            <a:pPr lvl="1"/>
            <a:r>
              <a:rPr lang="en-US" sz="1600">
                <a:solidFill>
                  <a:srgbClr val="990000"/>
                </a:solidFill>
                <a:latin typeface="Times New Roman" pitchFamily="18" charset="0"/>
              </a:rPr>
              <a:t>    public int getSafeSpeed() { return maxSpeed/2.5; }</a:t>
            </a:r>
          </a:p>
          <a:p>
            <a:pPr lvl="1"/>
            <a:r>
              <a:rPr lang="en-US" sz="1600">
                <a:solidFill>
                  <a:srgbClr val="990000"/>
                </a:solidFill>
                <a:latin typeface="Times New Roman" pitchFamily="18" charset="0"/>
              </a:rPr>
              <a:t>}</a:t>
            </a:r>
          </a:p>
          <a:p>
            <a:pPr lvl="1"/>
            <a:endParaRPr lang="en-US" sz="1600">
              <a:solidFill>
                <a:srgbClr val="990000"/>
              </a:solidFill>
              <a:latin typeface="Times New Roman" pitchFamily="18" charset="0"/>
            </a:endParaRPr>
          </a:p>
          <a:p>
            <a:pPr lvl="1"/>
            <a:r>
              <a:rPr lang="en-US" sz="1600">
                <a:solidFill>
                  <a:schemeClr val="accent2"/>
                </a:solidFill>
                <a:latin typeface="Times New Roman" pitchFamily="18" charset="0"/>
              </a:rPr>
              <a:t>public class Nissan extends Car    //subclass</a:t>
            </a:r>
          </a:p>
          <a:p>
            <a:pPr lvl="1"/>
            <a:r>
              <a:rPr lang="en-US" sz="1600">
                <a:solidFill>
                  <a:schemeClr val="accent2"/>
                </a:solidFill>
                <a:latin typeface="Times New Roman" pitchFamily="18" charset="0"/>
              </a:rPr>
              <a:t>{</a:t>
            </a:r>
          </a:p>
          <a:p>
            <a:pPr lvl="1"/>
            <a:r>
              <a:rPr lang="en-US" sz="1600">
                <a:solidFill>
                  <a:schemeClr val="accent2"/>
                </a:solidFill>
                <a:latin typeface="Times New Roman" pitchFamily="18" charset="0"/>
              </a:rPr>
              <a:t>   public boolean inteligentKey;</a:t>
            </a:r>
          </a:p>
          <a:p>
            <a:pPr lvl="1"/>
            <a:r>
              <a:rPr lang="en-US" sz="1600">
                <a:solidFill>
                  <a:schemeClr val="accent2"/>
                </a:solidFill>
                <a:latin typeface="Times New Roman" pitchFamily="18" charset="0"/>
              </a:rPr>
              <a:t>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924800" cy="639762"/>
          </a:xfrm>
        </p:spPr>
        <p:style>
          <a:lnRef idx="1">
            <a:schemeClr val="accent1"/>
          </a:lnRef>
          <a:fillRef idx="2">
            <a:schemeClr val="accent1"/>
          </a:fillRef>
          <a:effectRef idx="1">
            <a:schemeClr val="accent1"/>
          </a:effectRef>
          <a:fontRef idx="minor">
            <a:schemeClr val="dk1"/>
          </a:fontRef>
        </p:style>
        <p:txBody>
          <a:bodyPr rtlCol="0">
            <a:normAutofit/>
          </a:bodyPr>
          <a:lstStyle/>
          <a:p>
            <a:pPr eaLnBrk="1" fontAlgn="auto" hangingPunct="1">
              <a:spcAft>
                <a:spcPts val="0"/>
              </a:spcAft>
              <a:defRPr/>
            </a:pPr>
            <a:r>
              <a:rPr lang="en-US" sz="3200" b="1" dirty="0" smtClean="0">
                <a:solidFill>
                  <a:schemeClr val="tx2">
                    <a:lumMod val="75000"/>
                  </a:schemeClr>
                </a:solidFill>
                <a:effectLst>
                  <a:outerShdw blurRad="38100" dist="38100" dir="2700000" algn="tl">
                    <a:srgbClr val="000000">
                      <a:alpha val="43137"/>
                    </a:srgbClr>
                  </a:outerShdw>
                </a:effectLst>
                <a:latin typeface="Brush Script MT" pitchFamily="66" charset="0"/>
              </a:rPr>
              <a:t>No more Silly questions</a:t>
            </a:r>
            <a:endParaRPr lang="en-US" sz="3200" b="1" dirty="0">
              <a:solidFill>
                <a:schemeClr val="tx2">
                  <a:lumMod val="75000"/>
                </a:schemeClr>
              </a:solidFill>
              <a:effectLst>
                <a:outerShdw blurRad="38100" dist="38100" dir="2700000" algn="tl">
                  <a:srgbClr val="000000">
                    <a:alpha val="43137"/>
                  </a:srgbClr>
                </a:outerShdw>
              </a:effectLst>
              <a:latin typeface="Brush Script MT" pitchFamily="66" charset="0"/>
            </a:endParaRPr>
          </a:p>
        </p:txBody>
      </p:sp>
      <p:sp>
        <p:nvSpPr>
          <p:cNvPr id="3" name="Content Placeholder 2"/>
          <p:cNvSpPr>
            <a:spLocks noGrp="1"/>
          </p:cNvSpPr>
          <p:nvPr>
            <p:ph idx="1"/>
          </p:nvPr>
        </p:nvSpPr>
        <p:spPr>
          <a:xfrm>
            <a:off x="304800" y="1447800"/>
            <a:ext cx="8686800" cy="5105400"/>
          </a:xfrm>
        </p:spPr>
        <p:txBody>
          <a:bodyPr rtlCol="0">
            <a:normAutofit/>
          </a:bodyPr>
          <a:lstStyle/>
          <a:p>
            <a:pPr eaLnBrk="1" fontAlgn="auto" hangingPunct="1">
              <a:spcAft>
                <a:spcPts val="0"/>
              </a:spcAft>
              <a:buFont typeface="Arial" pitchFamily="34" charset="0"/>
              <a:buNone/>
              <a:defRPr/>
            </a:pPr>
            <a:r>
              <a:rPr lang="en-US" sz="2600" b="1" dirty="0" smtClean="0">
                <a:solidFill>
                  <a:schemeClr val="tx2">
                    <a:lumMod val="75000"/>
                  </a:schemeClr>
                </a:solidFill>
                <a:effectLst>
                  <a:outerShdw blurRad="38100" dist="38100" dir="2700000" algn="tl">
                    <a:srgbClr val="000000">
                      <a:alpha val="43137"/>
                    </a:srgbClr>
                  </a:outerShdw>
                </a:effectLst>
                <a:latin typeface="Monotype Corsiva" pitchFamily="66" charset="0"/>
              </a:rPr>
              <a:t>Why do you need to write a constructor if the compiler Writes one for you? </a:t>
            </a:r>
            <a:endParaRPr lang="en-US" sz="2600" dirty="0" smtClean="0"/>
          </a:p>
          <a:p>
            <a:pPr eaLnBrk="1" fontAlgn="auto" hangingPunct="1">
              <a:spcAft>
                <a:spcPts val="0"/>
              </a:spcAft>
              <a:buFont typeface="Arial" pitchFamily="34" charset="0"/>
              <a:buNone/>
              <a:defRPr/>
            </a:pPr>
            <a:r>
              <a:rPr lang="en-US" sz="2200" dirty="0" smtClean="0"/>
              <a:t>If you need code to help initialize your object and get it ready for use, you'll have to write your own constructor. You might, for example, be dependent on input from the user before you can finish making the object ready.</a:t>
            </a:r>
            <a:endParaRPr lang="en-US" sz="1900" dirty="0" smtClean="0"/>
          </a:p>
          <a:p>
            <a:pPr eaLnBrk="1" fontAlgn="auto" hangingPunct="1">
              <a:spcBef>
                <a:spcPct val="0"/>
              </a:spcBef>
              <a:spcAft>
                <a:spcPts val="0"/>
              </a:spcAft>
              <a:buFont typeface="Arial" pitchFamily="34" charset="0"/>
              <a:buNone/>
              <a:defRPr/>
            </a:pPr>
            <a:endParaRPr lang="en-US" sz="2600" dirty="0" smtClean="0"/>
          </a:p>
          <a:p>
            <a:pPr eaLnBrk="1" fontAlgn="auto" hangingPunct="1">
              <a:spcAft>
                <a:spcPts val="0"/>
              </a:spcAft>
              <a:buFont typeface="Arial" pitchFamily="34" charset="0"/>
              <a:buNone/>
              <a:defRPr/>
            </a:pPr>
            <a:r>
              <a:rPr lang="en-US" sz="2600" b="1" dirty="0" smtClean="0">
                <a:solidFill>
                  <a:schemeClr val="tx2">
                    <a:lumMod val="75000"/>
                  </a:schemeClr>
                </a:solidFill>
                <a:effectLst>
                  <a:outerShdw blurRad="38100" dist="38100" dir="2700000" algn="tl">
                    <a:srgbClr val="000000">
                      <a:alpha val="43137"/>
                    </a:srgbClr>
                  </a:outerShdw>
                </a:effectLst>
                <a:latin typeface="Monotype Corsiva" pitchFamily="66" charset="0"/>
              </a:rPr>
              <a:t>Can you also have a method that's the same name as the class?</a:t>
            </a:r>
          </a:p>
          <a:p>
            <a:pPr eaLnBrk="1" fontAlgn="auto" hangingPunct="1">
              <a:spcBef>
                <a:spcPct val="0"/>
              </a:spcBef>
              <a:spcAft>
                <a:spcPts val="0"/>
              </a:spcAft>
              <a:buFont typeface="Arial" pitchFamily="34" charset="0"/>
              <a:buNone/>
              <a:defRPr/>
            </a:pPr>
            <a:endParaRPr lang="en-US" sz="2600" b="1" dirty="0" smtClean="0">
              <a:solidFill>
                <a:schemeClr val="tx2">
                  <a:lumMod val="75000"/>
                </a:schemeClr>
              </a:solidFill>
              <a:effectLst>
                <a:outerShdw blurRad="38100" dist="38100" dir="2700000" algn="tl">
                  <a:srgbClr val="000000">
                    <a:alpha val="43137"/>
                  </a:srgbClr>
                </a:outerShdw>
              </a:effectLst>
              <a:latin typeface="Monotype Corsiva" pitchFamily="66" charset="0"/>
            </a:endParaRPr>
          </a:p>
          <a:p>
            <a:pPr eaLnBrk="1" fontAlgn="auto" hangingPunct="1">
              <a:spcAft>
                <a:spcPts val="0"/>
              </a:spcAft>
              <a:buFont typeface="Arial" pitchFamily="34" charset="0"/>
              <a:buNone/>
              <a:defRPr/>
            </a:pPr>
            <a:r>
              <a:rPr lang="en-US" sz="2200" dirty="0" smtClean="0"/>
              <a:t>Java lets you declare a method with the same name as your class. That doesn't make it a constructor, though. The thing that separates a method from a constructor is the return type. Methods must have a return type, but constructors cannot have a return type.</a:t>
            </a:r>
          </a:p>
        </p:txBody>
      </p:sp>
      <p:pic>
        <p:nvPicPr>
          <p:cNvPr id="25604" name="Picture 3" descr="C:\Users\shree\Desktop\FDP JAVA\question.jpg"/>
          <p:cNvPicPr>
            <a:picLocks noChangeAspect="1" noChangeArrowheads="1"/>
          </p:cNvPicPr>
          <p:nvPr/>
        </p:nvPicPr>
        <p:blipFill>
          <a:blip r:embed="rId2"/>
          <a:srcRect/>
          <a:stretch>
            <a:fillRect/>
          </a:stretch>
        </p:blipFill>
        <p:spPr bwMode="auto">
          <a:xfrm>
            <a:off x="0" y="0"/>
            <a:ext cx="1447800" cy="1524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linds(horizontal)">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924800" cy="639762"/>
          </a:xfrm>
        </p:spPr>
        <p:style>
          <a:lnRef idx="1">
            <a:schemeClr val="accent1"/>
          </a:lnRef>
          <a:fillRef idx="2">
            <a:schemeClr val="accent1"/>
          </a:fillRef>
          <a:effectRef idx="1">
            <a:schemeClr val="accent1"/>
          </a:effectRef>
          <a:fontRef idx="minor">
            <a:schemeClr val="dk1"/>
          </a:fontRef>
        </p:style>
        <p:txBody>
          <a:bodyPr rtlCol="0">
            <a:normAutofit/>
          </a:bodyPr>
          <a:lstStyle/>
          <a:p>
            <a:pPr eaLnBrk="1" fontAlgn="auto" hangingPunct="1">
              <a:spcAft>
                <a:spcPts val="0"/>
              </a:spcAft>
              <a:defRPr/>
            </a:pPr>
            <a:r>
              <a:rPr lang="en-US" sz="3200" b="1" dirty="0" smtClean="0">
                <a:solidFill>
                  <a:schemeClr val="tx2">
                    <a:lumMod val="75000"/>
                  </a:schemeClr>
                </a:solidFill>
                <a:effectLst>
                  <a:outerShdw blurRad="38100" dist="38100" dir="2700000" algn="tl">
                    <a:srgbClr val="000000">
                      <a:alpha val="43137"/>
                    </a:srgbClr>
                  </a:outerShdw>
                </a:effectLst>
                <a:latin typeface="Brush Script MT" pitchFamily="66" charset="0"/>
              </a:rPr>
              <a:t>No more Silly questions</a:t>
            </a:r>
            <a:endParaRPr lang="en-US" sz="3200" b="1" dirty="0">
              <a:solidFill>
                <a:schemeClr val="tx2">
                  <a:lumMod val="75000"/>
                </a:schemeClr>
              </a:solidFill>
              <a:effectLst>
                <a:outerShdw blurRad="38100" dist="38100" dir="2700000" algn="tl">
                  <a:srgbClr val="000000">
                    <a:alpha val="43137"/>
                  </a:srgbClr>
                </a:outerShdw>
              </a:effectLst>
              <a:latin typeface="Brush Script MT" pitchFamily="66" charset="0"/>
            </a:endParaRPr>
          </a:p>
        </p:txBody>
      </p:sp>
      <p:sp>
        <p:nvSpPr>
          <p:cNvPr id="3" name="Content Placeholder 2"/>
          <p:cNvSpPr>
            <a:spLocks noGrp="1"/>
          </p:cNvSpPr>
          <p:nvPr>
            <p:ph idx="1"/>
          </p:nvPr>
        </p:nvSpPr>
        <p:spPr>
          <a:xfrm>
            <a:off x="304800" y="1447800"/>
            <a:ext cx="8686800" cy="2590800"/>
          </a:xfrm>
        </p:spPr>
        <p:txBody>
          <a:bodyPr rtlCol="0">
            <a:normAutofit lnSpcReduction="10000"/>
          </a:bodyPr>
          <a:lstStyle/>
          <a:p>
            <a:pPr eaLnBrk="1" fontAlgn="auto" hangingPunct="1">
              <a:spcAft>
                <a:spcPts val="0"/>
              </a:spcAft>
              <a:buFont typeface="Arial" pitchFamily="34" charset="0"/>
              <a:buNone/>
              <a:defRPr/>
            </a:pPr>
            <a:r>
              <a:rPr lang="en-US" sz="3400" b="1" dirty="0" smtClean="0">
                <a:solidFill>
                  <a:schemeClr val="tx2">
                    <a:lumMod val="75000"/>
                  </a:schemeClr>
                </a:solidFill>
                <a:effectLst>
                  <a:outerShdw blurRad="38100" dist="38100" dir="2700000" algn="tl">
                    <a:srgbClr val="000000">
                      <a:alpha val="43137"/>
                    </a:srgbClr>
                  </a:outerShdw>
                </a:effectLst>
                <a:latin typeface="Monotype Corsiva" pitchFamily="66" charset="0"/>
              </a:rPr>
              <a:t>Are constructors inherited If you don't provide a constructor but your </a:t>
            </a:r>
            <a:r>
              <a:rPr lang="en-US" sz="3400" b="1" dirty="0" err="1" smtClean="0">
                <a:solidFill>
                  <a:schemeClr val="tx2">
                    <a:lumMod val="75000"/>
                  </a:schemeClr>
                </a:solidFill>
                <a:effectLst>
                  <a:outerShdw blurRad="38100" dist="38100" dir="2700000" algn="tl">
                    <a:srgbClr val="000000">
                      <a:alpha val="43137"/>
                    </a:srgbClr>
                  </a:outerShdw>
                </a:effectLst>
                <a:latin typeface="Monotype Corsiva" pitchFamily="66" charset="0"/>
              </a:rPr>
              <a:t>superclass</a:t>
            </a:r>
            <a:r>
              <a:rPr lang="en-US" sz="3400" b="1" dirty="0" smtClean="0">
                <a:solidFill>
                  <a:schemeClr val="tx2">
                    <a:lumMod val="75000"/>
                  </a:schemeClr>
                </a:solidFill>
                <a:effectLst>
                  <a:outerShdw blurRad="38100" dist="38100" dir="2700000" algn="tl">
                    <a:srgbClr val="000000">
                      <a:alpha val="43137"/>
                    </a:srgbClr>
                  </a:outerShdw>
                </a:effectLst>
                <a:latin typeface="Monotype Corsiva" pitchFamily="66" charset="0"/>
              </a:rPr>
              <a:t> does, do you get the </a:t>
            </a:r>
            <a:r>
              <a:rPr lang="en-US" sz="3400" b="1" dirty="0" err="1" smtClean="0">
                <a:solidFill>
                  <a:schemeClr val="tx2">
                    <a:lumMod val="75000"/>
                  </a:schemeClr>
                </a:solidFill>
                <a:effectLst>
                  <a:outerShdw blurRad="38100" dist="38100" dir="2700000" algn="tl">
                    <a:srgbClr val="000000">
                      <a:alpha val="43137"/>
                    </a:srgbClr>
                  </a:outerShdw>
                </a:effectLst>
                <a:latin typeface="Monotype Corsiva" pitchFamily="66" charset="0"/>
              </a:rPr>
              <a:t>superclass</a:t>
            </a:r>
            <a:r>
              <a:rPr lang="en-US" sz="3400" b="1" dirty="0" smtClean="0">
                <a:solidFill>
                  <a:schemeClr val="tx2">
                    <a:lumMod val="75000"/>
                  </a:schemeClr>
                </a:solidFill>
                <a:effectLst>
                  <a:outerShdw blurRad="38100" dist="38100" dir="2700000" algn="tl">
                    <a:srgbClr val="000000">
                      <a:alpha val="43137"/>
                    </a:srgbClr>
                  </a:outerShdw>
                </a:effectLst>
                <a:latin typeface="Monotype Corsiva" pitchFamily="66" charset="0"/>
              </a:rPr>
              <a:t> constructor .</a:t>
            </a:r>
          </a:p>
          <a:p>
            <a:pPr eaLnBrk="1" fontAlgn="auto" hangingPunct="1">
              <a:spcAft>
                <a:spcPts val="0"/>
              </a:spcAft>
              <a:buFont typeface="Arial" pitchFamily="34" charset="0"/>
              <a:buNone/>
              <a:defRPr/>
            </a:pPr>
            <a:endParaRPr lang="en-US" sz="3400" b="1" dirty="0" smtClean="0">
              <a:solidFill>
                <a:schemeClr val="tx2">
                  <a:lumMod val="75000"/>
                </a:schemeClr>
              </a:solidFill>
              <a:effectLst>
                <a:outerShdw blurRad="38100" dist="38100" dir="2700000" algn="tl">
                  <a:srgbClr val="000000">
                    <a:alpha val="43137"/>
                  </a:srgbClr>
                </a:outerShdw>
              </a:effectLst>
              <a:latin typeface="Monotype Corsiva" pitchFamily="66" charset="0"/>
            </a:endParaRPr>
          </a:p>
          <a:p>
            <a:pPr eaLnBrk="1" fontAlgn="auto" hangingPunct="1">
              <a:spcAft>
                <a:spcPts val="0"/>
              </a:spcAft>
              <a:buFont typeface="Arial" pitchFamily="34" charset="0"/>
              <a:buNone/>
              <a:defRPr/>
            </a:pPr>
            <a:r>
              <a:rPr lang="en-US" sz="2800" dirty="0" smtClean="0"/>
              <a:t>No. Constructors are not inherited.</a:t>
            </a:r>
            <a:endParaRPr lang="en-US" sz="2600" dirty="0" smtClean="0"/>
          </a:p>
        </p:txBody>
      </p:sp>
      <p:pic>
        <p:nvPicPr>
          <p:cNvPr id="26628" name="Picture 3" descr="C:\Users\shree\Desktop\FDP JAVA\question.jpg"/>
          <p:cNvPicPr>
            <a:picLocks noChangeAspect="1" noChangeArrowheads="1"/>
          </p:cNvPicPr>
          <p:nvPr/>
        </p:nvPicPr>
        <p:blipFill>
          <a:blip r:embed="rId3"/>
          <a:srcRect/>
          <a:stretch>
            <a:fillRect/>
          </a:stretch>
        </p:blipFill>
        <p:spPr bwMode="auto">
          <a:xfrm>
            <a:off x="0" y="0"/>
            <a:ext cx="1447800" cy="1524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1530" y="0"/>
            <a:ext cx="8912469" cy="990600"/>
          </a:xfrm>
        </p:spPr>
        <p:txBody>
          <a:bodyPr>
            <a:normAutofit fontScale="90000"/>
          </a:bodyPr>
          <a:lstStyle/>
          <a:p>
            <a:r>
              <a:rPr lang="en-US" sz="2000" dirty="0" smtClean="0"/>
              <a:t>Create  </a:t>
            </a:r>
            <a:r>
              <a:rPr lang="en-US" sz="2000" dirty="0"/>
              <a:t>Single-Level Inheritance by creating an Employee class and a Manager class, where the Manager inherits the properties of Employee and calculates the total salary.</a:t>
            </a:r>
            <a:endParaRPr lang="en-IN" sz="2000" dirty="0"/>
          </a:p>
        </p:txBody>
      </p:sp>
      <p:pic>
        <p:nvPicPr>
          <p:cNvPr id="7" name="Content Placeholder 6"/>
          <p:cNvPicPr>
            <a:picLocks noGrp="1" noChangeAspect="1"/>
          </p:cNvPicPr>
          <p:nvPr>
            <p:ph sz="half" idx="1"/>
          </p:nvPr>
        </p:nvPicPr>
        <p:blipFill>
          <a:blip r:embed="rId2"/>
          <a:stretch>
            <a:fillRect/>
          </a:stretch>
        </p:blipFill>
        <p:spPr>
          <a:xfrm>
            <a:off x="228600" y="1143000"/>
            <a:ext cx="3810718" cy="3916362"/>
          </a:xfrm>
          <a:prstGeom prst="rect">
            <a:avLst/>
          </a:prstGeom>
        </p:spPr>
      </p:pic>
      <p:pic>
        <p:nvPicPr>
          <p:cNvPr id="9" name="Content Placeholder 8"/>
          <p:cNvPicPr>
            <a:picLocks noGrp="1" noChangeAspect="1"/>
          </p:cNvPicPr>
          <p:nvPr>
            <p:ph sz="half" idx="2"/>
          </p:nvPr>
        </p:nvPicPr>
        <p:blipFill>
          <a:blip r:embed="rId3"/>
          <a:stretch>
            <a:fillRect/>
          </a:stretch>
        </p:blipFill>
        <p:spPr>
          <a:xfrm>
            <a:off x="4267918" y="1417638"/>
            <a:ext cx="4114082" cy="3687382"/>
          </a:xfrm>
          <a:prstGeom prst="rect">
            <a:avLst/>
          </a:prstGeom>
        </p:spPr>
      </p:pic>
      <p:pic>
        <p:nvPicPr>
          <p:cNvPr id="10" name="Picture 9"/>
          <p:cNvPicPr>
            <a:picLocks noChangeAspect="1"/>
          </p:cNvPicPr>
          <p:nvPr/>
        </p:nvPicPr>
        <p:blipFill>
          <a:blip r:embed="rId4"/>
          <a:stretch>
            <a:fillRect/>
          </a:stretch>
        </p:blipFill>
        <p:spPr>
          <a:xfrm>
            <a:off x="1828800" y="5059362"/>
            <a:ext cx="4686659" cy="1817844"/>
          </a:xfrm>
          <a:prstGeom prst="rect">
            <a:avLst/>
          </a:prstGeom>
        </p:spPr>
      </p:pic>
    </p:spTree>
    <p:extLst>
      <p:ext uri="{BB962C8B-B14F-4D97-AF65-F5344CB8AC3E}">
        <p14:creationId xmlns:p14="http://schemas.microsoft.com/office/powerpoint/2010/main" val="438473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915400" cy="1143000"/>
          </a:xfrm>
        </p:spPr>
        <p:txBody>
          <a:bodyPr>
            <a:noAutofit/>
          </a:bodyPr>
          <a:lstStyle/>
          <a:p>
            <a:pPr algn="l"/>
            <a:r>
              <a:rPr lang="en-US" sz="1600" b="1" dirty="0"/>
              <a:t>Employee Management System </a:t>
            </a:r>
            <a:br>
              <a:rPr lang="en-US" sz="1600" b="1" dirty="0"/>
            </a:br>
            <a:r>
              <a:rPr lang="en-US" sz="1600" b="1" dirty="0"/>
              <a:t>Create a class Employee that stores the employee's name and basic salary.</a:t>
            </a:r>
            <a:br>
              <a:rPr lang="en-US" sz="1600" b="1" dirty="0"/>
            </a:br>
            <a:r>
              <a:rPr lang="en-US" sz="1600" b="1" dirty="0"/>
              <a:t>Create a class Manager that inherits from Employee and stores the bonus.</a:t>
            </a:r>
            <a:br>
              <a:rPr lang="en-US" sz="1600" b="1" dirty="0"/>
            </a:br>
            <a:endParaRPr lang="en-IN" sz="1600" b="1" dirty="0"/>
          </a:p>
        </p:txBody>
      </p:sp>
      <p:pic>
        <p:nvPicPr>
          <p:cNvPr id="5" name="Content Placeholder 4"/>
          <p:cNvPicPr>
            <a:picLocks noGrp="1" noChangeAspect="1"/>
          </p:cNvPicPr>
          <p:nvPr>
            <p:ph sz="half" idx="1"/>
          </p:nvPr>
        </p:nvPicPr>
        <p:blipFill>
          <a:blip r:embed="rId2"/>
          <a:stretch>
            <a:fillRect/>
          </a:stretch>
        </p:blipFill>
        <p:spPr>
          <a:xfrm>
            <a:off x="152400" y="1600200"/>
            <a:ext cx="4038600" cy="3479753"/>
          </a:xfrm>
          <a:prstGeom prst="rect">
            <a:avLst/>
          </a:prstGeom>
        </p:spPr>
      </p:pic>
      <p:pic>
        <p:nvPicPr>
          <p:cNvPr id="6" name="Content Placeholder 5"/>
          <p:cNvPicPr>
            <a:picLocks noGrp="1" noChangeAspect="1"/>
          </p:cNvPicPr>
          <p:nvPr>
            <p:ph sz="half" idx="2"/>
          </p:nvPr>
        </p:nvPicPr>
        <p:blipFill>
          <a:blip r:embed="rId3"/>
          <a:stretch>
            <a:fillRect/>
          </a:stretch>
        </p:blipFill>
        <p:spPr>
          <a:xfrm>
            <a:off x="4495800" y="1600200"/>
            <a:ext cx="4038600" cy="3262624"/>
          </a:xfrm>
          <a:prstGeom prst="rect">
            <a:avLst/>
          </a:prstGeom>
        </p:spPr>
      </p:pic>
    </p:spTree>
    <p:extLst>
      <p:ext uri="{BB962C8B-B14F-4D97-AF65-F5344CB8AC3E}">
        <p14:creationId xmlns:p14="http://schemas.microsoft.com/office/powerpoint/2010/main" val="4258463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991600" cy="1143000"/>
          </a:xfrm>
        </p:spPr>
        <p:txBody>
          <a:bodyPr>
            <a:noAutofit/>
          </a:bodyPr>
          <a:lstStyle/>
          <a:p>
            <a:r>
              <a:rPr lang="en-US" sz="1800" dirty="0"/>
              <a:t>Create another class </a:t>
            </a:r>
            <a:r>
              <a:rPr lang="en-US" sz="1800" dirty="0" err="1"/>
              <a:t>SeniorManager</a:t>
            </a:r>
            <a:r>
              <a:rPr lang="en-US" sz="1800" dirty="0"/>
              <a:t> that inherits from Manager and stores the performance incentive.</a:t>
            </a:r>
            <a:br>
              <a:rPr lang="en-US" sz="1800" dirty="0"/>
            </a:br>
            <a:r>
              <a:rPr lang="en-US" sz="1800" dirty="0"/>
              <a:t>Calculate and display the total salary. </a:t>
            </a:r>
            <a:r>
              <a:rPr lang="en-US" sz="1800" dirty="0" smtClean="0"/>
              <a:t/>
            </a:r>
            <a:br>
              <a:rPr lang="en-US" sz="1800" dirty="0" smtClean="0"/>
            </a:br>
            <a:r>
              <a:rPr lang="en-US" sz="1800" dirty="0" smtClean="0"/>
              <a:t>Formula</a:t>
            </a:r>
            <a:r>
              <a:rPr lang="en-US" sz="1800" dirty="0"/>
              <a:t>: Total Salary = Basic Salary + Bonus + Performance Incentive</a:t>
            </a:r>
            <a:endParaRPr lang="en-IN" sz="1800" dirty="0"/>
          </a:p>
        </p:txBody>
      </p:sp>
      <p:pic>
        <p:nvPicPr>
          <p:cNvPr id="5" name="Content Placeholder 4"/>
          <p:cNvPicPr>
            <a:picLocks noGrp="1" noChangeAspect="1"/>
          </p:cNvPicPr>
          <p:nvPr>
            <p:ph sz="half" idx="1"/>
          </p:nvPr>
        </p:nvPicPr>
        <p:blipFill>
          <a:blip r:embed="rId2"/>
          <a:stretch>
            <a:fillRect/>
          </a:stretch>
        </p:blipFill>
        <p:spPr>
          <a:xfrm>
            <a:off x="609600" y="1600200"/>
            <a:ext cx="4038600" cy="3999841"/>
          </a:xfrm>
          <a:prstGeom prst="rect">
            <a:avLst/>
          </a:prstGeom>
        </p:spPr>
      </p:pic>
      <p:pic>
        <p:nvPicPr>
          <p:cNvPr id="6" name="Content Placeholder 5"/>
          <p:cNvPicPr>
            <a:picLocks noGrp="1" noChangeAspect="1"/>
          </p:cNvPicPr>
          <p:nvPr>
            <p:ph sz="half" idx="2"/>
          </p:nvPr>
        </p:nvPicPr>
        <p:blipFill>
          <a:blip r:embed="rId3"/>
          <a:stretch>
            <a:fillRect/>
          </a:stretch>
        </p:blipFill>
        <p:spPr>
          <a:xfrm>
            <a:off x="4962525" y="1981200"/>
            <a:ext cx="3724275" cy="2524125"/>
          </a:xfrm>
          <a:prstGeom prst="rect">
            <a:avLst/>
          </a:prstGeom>
        </p:spPr>
      </p:pic>
    </p:spTree>
    <p:extLst>
      <p:ext uri="{BB962C8B-B14F-4D97-AF65-F5344CB8AC3E}">
        <p14:creationId xmlns:p14="http://schemas.microsoft.com/office/powerpoint/2010/main" val="286162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style>
          <a:lnRef idx="1">
            <a:schemeClr val="accent1"/>
          </a:lnRef>
          <a:fillRef idx="2">
            <a:schemeClr val="accent1"/>
          </a:fillRef>
          <a:effectRef idx="1">
            <a:schemeClr val="accent1"/>
          </a:effectRef>
          <a:fontRef idx="minor">
            <a:schemeClr val="dk1"/>
          </a:fontRef>
        </p:style>
        <p:txBody>
          <a:bodyPr rtlCol="0">
            <a:normAutofit fontScale="90000"/>
          </a:bodyPr>
          <a:lstStyle/>
          <a:p>
            <a:pPr eaLnBrk="1" fontAlgn="auto" hangingPunct="1">
              <a:spcAft>
                <a:spcPts val="0"/>
              </a:spcAft>
              <a:defRPr/>
            </a:pPr>
            <a:r>
              <a:rPr lang="en-US" b="1" dirty="0" smtClean="0">
                <a:solidFill>
                  <a:schemeClr val="tx2">
                    <a:lumMod val="75000"/>
                  </a:schemeClr>
                </a:solidFill>
              </a:rPr>
              <a:t>Static</a:t>
            </a:r>
            <a:r>
              <a:rPr lang="en-US" b="1" dirty="0" smtClean="0">
                <a:solidFill>
                  <a:schemeClr val="accent2">
                    <a:lumMod val="50000"/>
                  </a:schemeClr>
                </a:solidFill>
              </a:rPr>
              <a:t> </a:t>
            </a:r>
            <a:endParaRPr lang="en-US" b="1" dirty="0">
              <a:solidFill>
                <a:schemeClr val="accent2">
                  <a:lumMod val="50000"/>
                </a:schemeClr>
              </a:solidFill>
            </a:endParaRPr>
          </a:p>
        </p:txBody>
      </p:sp>
      <p:sp>
        <p:nvSpPr>
          <p:cNvPr id="29699" name="Content Placeholder 2"/>
          <p:cNvSpPr>
            <a:spLocks noGrp="1"/>
          </p:cNvSpPr>
          <p:nvPr>
            <p:ph idx="1"/>
          </p:nvPr>
        </p:nvSpPr>
        <p:spPr>
          <a:xfrm>
            <a:off x="457200" y="990600"/>
            <a:ext cx="8229600" cy="4876800"/>
          </a:xfrm>
        </p:spPr>
        <p:txBody>
          <a:bodyPr/>
          <a:lstStyle/>
          <a:p>
            <a:pPr eaLnBrk="1" hangingPunct="1"/>
            <a:r>
              <a:rPr lang="en-US" sz="2400" smtClean="0"/>
              <a:t>For static variable only one copy exists and it is shared by all  objects.</a:t>
            </a:r>
          </a:p>
          <a:p>
            <a:pPr eaLnBrk="1" hangingPunct="1"/>
            <a:r>
              <a:rPr lang="en-US" sz="2400" smtClean="0"/>
              <a:t>These variable are called as class variables</a:t>
            </a:r>
          </a:p>
          <a:p>
            <a:pPr eaLnBrk="1" hangingPunct="1"/>
            <a:r>
              <a:rPr lang="en-US" sz="2400" smtClean="0"/>
              <a:t>It is same as global variable in c &amp; c++</a:t>
            </a:r>
          </a:p>
          <a:p>
            <a:pPr eaLnBrk="1" hangingPunct="1"/>
            <a:r>
              <a:rPr lang="en-US" sz="2400" smtClean="0"/>
              <a:t>Static methods are invoked on behalf of entire class not on a specific object instantiated from that class.</a:t>
            </a:r>
          </a:p>
          <a:p>
            <a:pPr eaLnBrk="1" hangingPunct="1"/>
            <a:r>
              <a:rPr lang="en-US" sz="2400" smtClean="0"/>
              <a:t>Static methods only access static variable &amp; static methods of a class</a:t>
            </a:r>
          </a:p>
          <a:p>
            <a:pPr eaLnBrk="1" hangingPunct="1"/>
            <a:r>
              <a:rPr lang="en-US" sz="2400" smtClean="0"/>
              <a:t>There is no this reference</a:t>
            </a:r>
          </a:p>
          <a:p>
            <a:pPr eaLnBrk="1" hangingPunct="1"/>
            <a:r>
              <a:rPr lang="en-US" sz="2400" smtClean="0"/>
              <a:t>It is invoked using class name 	</a:t>
            </a:r>
          </a:p>
          <a:p>
            <a:pPr lvl="1" eaLnBrk="1" hangingPunct="1"/>
            <a:r>
              <a:rPr lang="en-US" sz="2400" smtClean="0"/>
              <a:t>e.g.  Classname.MethodName();</a:t>
            </a:r>
          </a:p>
          <a:p>
            <a:pPr lvl="1" eaLnBrk="1" hangingPunct="1"/>
            <a:endParaRPr lang="en-US" sz="2400" smtClean="0"/>
          </a:p>
        </p:txBody>
      </p:sp>
      <p:sp>
        <p:nvSpPr>
          <p:cNvPr id="6" name="TextBox 5"/>
          <p:cNvSpPr txBox="1">
            <a:spLocks noChangeArrowheads="1"/>
          </p:cNvSpPr>
          <p:nvPr/>
        </p:nvSpPr>
        <p:spPr bwMode="auto">
          <a:xfrm>
            <a:off x="762000" y="5943600"/>
            <a:ext cx="7772400" cy="461963"/>
          </a:xfrm>
          <a:prstGeom prst="rect">
            <a:avLst/>
          </a:prstGeom>
          <a:noFill/>
          <a:ln w="9525">
            <a:noFill/>
            <a:miter lim="800000"/>
            <a:headEnd/>
            <a:tailEnd/>
          </a:ln>
        </p:spPr>
        <p:txBody>
          <a:bodyPr>
            <a:spAutoFit/>
          </a:bodyPr>
          <a:lstStyle/>
          <a:p>
            <a:r>
              <a:rPr lang="en-US" sz="2400" b="1">
                <a:solidFill>
                  <a:srgbClr val="FF0000"/>
                </a:solidFill>
                <a:latin typeface="Calibri" pitchFamily="34" charset="0"/>
              </a:rPr>
              <a:t>Static method can also be invoked by object reference too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928688" y="598488"/>
            <a:ext cx="7529512" cy="685800"/>
          </a:xfrm>
        </p:spPr>
        <p:txBody>
          <a:bodyPr>
            <a:normAutofit fontScale="90000"/>
          </a:bodyPr>
          <a:lstStyle/>
          <a:p>
            <a:pPr eaLnBrk="1" hangingPunct="1">
              <a:defRPr/>
            </a:pPr>
            <a:r>
              <a:rPr lang="en-US" dirty="0" smtClean="0"/>
              <a:t>Terminology for Class Members</a:t>
            </a:r>
          </a:p>
        </p:txBody>
      </p:sp>
      <p:sp>
        <p:nvSpPr>
          <p:cNvPr id="27652" name="Rectangle 3"/>
          <p:cNvSpPr>
            <a:spLocks noChangeArrowheads="1"/>
          </p:cNvSpPr>
          <p:nvPr/>
        </p:nvSpPr>
        <p:spPr bwMode="auto">
          <a:xfrm>
            <a:off x="3278188" y="5264150"/>
            <a:ext cx="1673225" cy="892175"/>
          </a:xfrm>
          <a:prstGeom prst="rect">
            <a:avLst/>
          </a:prstGeom>
          <a:noFill/>
          <a:ln w="9525">
            <a:noFill/>
            <a:miter lim="800000"/>
            <a:headEnd/>
            <a:tailEnd/>
          </a:ln>
        </p:spPr>
        <p:txBody>
          <a:bodyPr wrap="none" anchor="ctr"/>
          <a:lstStyle/>
          <a:p>
            <a:pPr algn="ctr"/>
            <a:endParaRPr lang="en-US" b="0"/>
          </a:p>
        </p:txBody>
      </p:sp>
      <p:grpSp>
        <p:nvGrpSpPr>
          <p:cNvPr id="2" name="Group 4"/>
          <p:cNvGrpSpPr>
            <a:grpSpLocks/>
          </p:cNvGrpSpPr>
          <p:nvPr/>
        </p:nvGrpSpPr>
        <p:grpSpPr bwMode="auto">
          <a:xfrm>
            <a:off x="547688" y="1573213"/>
            <a:ext cx="8305800" cy="4537075"/>
            <a:chOff x="311" y="1092"/>
            <a:chExt cx="5107" cy="2858"/>
          </a:xfrm>
        </p:grpSpPr>
        <p:sp>
          <p:nvSpPr>
            <p:cNvPr id="27654" name="Rectangle 5"/>
            <p:cNvSpPr>
              <a:spLocks noChangeArrowheads="1"/>
            </p:cNvSpPr>
            <p:nvPr/>
          </p:nvSpPr>
          <p:spPr bwMode="auto">
            <a:xfrm>
              <a:off x="1658" y="3523"/>
              <a:ext cx="3760" cy="427"/>
            </a:xfrm>
            <a:prstGeom prst="rect">
              <a:avLst/>
            </a:prstGeom>
            <a:noFill/>
            <a:ln w="9525">
              <a:noFill/>
              <a:miter lim="800000"/>
              <a:headEnd/>
              <a:tailEnd/>
            </a:ln>
          </p:spPr>
          <p:txBody>
            <a:bodyPr/>
            <a:lstStyle/>
            <a:p>
              <a:pPr>
                <a:spcBef>
                  <a:spcPct val="20000"/>
                </a:spcBef>
                <a:buSzPct val="125000"/>
              </a:pPr>
              <a:r>
                <a:rPr lang="en-US" sz="1800" b="0">
                  <a:solidFill>
                    <a:srgbClr val="00B050"/>
                  </a:solidFill>
                  <a:latin typeface="Arial" pitchFamily="34" charset="0"/>
                </a:rPr>
                <a:t>A method which belongs to the class and not to any object of the class.</a:t>
              </a:r>
            </a:p>
          </p:txBody>
        </p:sp>
        <p:sp>
          <p:nvSpPr>
            <p:cNvPr id="27655" name="Rectangle 6"/>
            <p:cNvSpPr>
              <a:spLocks noChangeArrowheads="1"/>
            </p:cNvSpPr>
            <p:nvPr/>
          </p:nvSpPr>
          <p:spPr bwMode="auto">
            <a:xfrm>
              <a:off x="311" y="3523"/>
              <a:ext cx="1347" cy="427"/>
            </a:xfrm>
            <a:prstGeom prst="rect">
              <a:avLst/>
            </a:prstGeom>
            <a:noFill/>
            <a:ln w="9525">
              <a:noFill/>
              <a:miter lim="800000"/>
              <a:headEnd/>
              <a:tailEnd/>
            </a:ln>
          </p:spPr>
          <p:txBody>
            <a:bodyPr/>
            <a:lstStyle/>
            <a:p>
              <a:pPr>
                <a:spcBef>
                  <a:spcPct val="20000"/>
                </a:spcBef>
                <a:buSzPct val="125000"/>
              </a:pPr>
              <a:r>
                <a:rPr lang="en-US" sz="1800" b="0">
                  <a:solidFill>
                    <a:srgbClr val="00B050"/>
                  </a:solidFill>
                  <a:latin typeface="Arial" pitchFamily="34" charset="0"/>
                </a:rPr>
                <a:t>Static Method</a:t>
              </a:r>
            </a:p>
          </p:txBody>
        </p:sp>
        <p:sp>
          <p:nvSpPr>
            <p:cNvPr id="27656" name="Rectangle 7"/>
            <p:cNvSpPr>
              <a:spLocks noChangeArrowheads="1"/>
            </p:cNvSpPr>
            <p:nvPr/>
          </p:nvSpPr>
          <p:spPr bwMode="auto">
            <a:xfrm>
              <a:off x="1658" y="3097"/>
              <a:ext cx="3760" cy="426"/>
            </a:xfrm>
            <a:prstGeom prst="rect">
              <a:avLst/>
            </a:prstGeom>
            <a:noFill/>
            <a:ln w="9525">
              <a:noFill/>
              <a:miter lim="800000"/>
              <a:headEnd/>
              <a:tailEnd/>
            </a:ln>
          </p:spPr>
          <p:txBody>
            <a:bodyPr/>
            <a:lstStyle/>
            <a:p>
              <a:pPr>
                <a:spcBef>
                  <a:spcPct val="20000"/>
                </a:spcBef>
                <a:buSzPct val="125000"/>
              </a:pPr>
              <a:r>
                <a:rPr lang="en-US" sz="1800" b="0">
                  <a:solidFill>
                    <a:srgbClr val="00B050"/>
                  </a:solidFill>
                  <a:latin typeface="Arial" pitchFamily="34" charset="0"/>
                </a:rPr>
                <a:t>A variable which is allocated when the class is loaded. It belongs to the class and not to any object of the class.</a:t>
              </a:r>
            </a:p>
          </p:txBody>
        </p:sp>
        <p:sp>
          <p:nvSpPr>
            <p:cNvPr id="27657" name="Rectangle 8"/>
            <p:cNvSpPr>
              <a:spLocks noChangeArrowheads="1"/>
            </p:cNvSpPr>
            <p:nvPr/>
          </p:nvSpPr>
          <p:spPr bwMode="auto">
            <a:xfrm>
              <a:off x="311" y="3097"/>
              <a:ext cx="1347" cy="426"/>
            </a:xfrm>
            <a:prstGeom prst="rect">
              <a:avLst/>
            </a:prstGeom>
            <a:noFill/>
            <a:ln w="9525">
              <a:noFill/>
              <a:miter lim="800000"/>
              <a:headEnd/>
              <a:tailEnd/>
            </a:ln>
          </p:spPr>
          <p:txBody>
            <a:bodyPr/>
            <a:lstStyle/>
            <a:p>
              <a:pPr>
                <a:spcBef>
                  <a:spcPct val="20000"/>
                </a:spcBef>
                <a:buSzPct val="125000"/>
              </a:pPr>
              <a:r>
                <a:rPr lang="en-US" sz="1800" b="0">
                  <a:solidFill>
                    <a:srgbClr val="00B050"/>
                  </a:solidFill>
                  <a:latin typeface="Arial" pitchFamily="34" charset="0"/>
                </a:rPr>
                <a:t>Static Variable</a:t>
              </a:r>
            </a:p>
          </p:txBody>
        </p:sp>
        <p:sp>
          <p:nvSpPr>
            <p:cNvPr id="27658" name="Rectangle 9"/>
            <p:cNvSpPr>
              <a:spLocks noChangeArrowheads="1"/>
            </p:cNvSpPr>
            <p:nvPr/>
          </p:nvSpPr>
          <p:spPr bwMode="auto">
            <a:xfrm>
              <a:off x="1658" y="2521"/>
              <a:ext cx="3760" cy="576"/>
            </a:xfrm>
            <a:prstGeom prst="rect">
              <a:avLst/>
            </a:prstGeom>
            <a:noFill/>
            <a:ln w="9525">
              <a:noFill/>
              <a:miter lim="800000"/>
              <a:headEnd/>
              <a:tailEnd/>
            </a:ln>
          </p:spPr>
          <p:txBody>
            <a:bodyPr/>
            <a:lstStyle/>
            <a:p>
              <a:pPr>
                <a:spcBef>
                  <a:spcPct val="20000"/>
                </a:spcBef>
                <a:buSzPct val="125000"/>
              </a:pPr>
              <a:r>
                <a:rPr lang="en-US" sz="1800" b="0">
                  <a:solidFill>
                    <a:srgbClr val="00B050"/>
                  </a:solidFill>
                  <a:latin typeface="Arial" pitchFamily="34" charset="0"/>
                </a:rPr>
                <a:t>These are static variables and static method of a class. They can be accessed or invoked either using the class name or through an object reference.</a:t>
              </a:r>
            </a:p>
          </p:txBody>
        </p:sp>
        <p:sp>
          <p:nvSpPr>
            <p:cNvPr id="27659" name="Rectangle 10"/>
            <p:cNvSpPr>
              <a:spLocks noChangeArrowheads="1"/>
            </p:cNvSpPr>
            <p:nvPr/>
          </p:nvSpPr>
          <p:spPr bwMode="auto">
            <a:xfrm>
              <a:off x="311" y="2521"/>
              <a:ext cx="1347" cy="576"/>
            </a:xfrm>
            <a:prstGeom prst="rect">
              <a:avLst/>
            </a:prstGeom>
            <a:noFill/>
            <a:ln w="9525">
              <a:noFill/>
              <a:miter lim="800000"/>
              <a:headEnd/>
              <a:tailEnd/>
            </a:ln>
          </p:spPr>
          <p:txBody>
            <a:bodyPr/>
            <a:lstStyle/>
            <a:p>
              <a:pPr>
                <a:spcBef>
                  <a:spcPct val="20000"/>
                </a:spcBef>
                <a:buSzPct val="125000"/>
              </a:pPr>
              <a:r>
                <a:rPr lang="en-US" sz="1800" b="0">
                  <a:solidFill>
                    <a:srgbClr val="00B050"/>
                  </a:solidFill>
                  <a:latin typeface="Arial" pitchFamily="34" charset="0"/>
                </a:rPr>
                <a:t>Static Member</a:t>
              </a:r>
            </a:p>
          </p:txBody>
        </p:sp>
        <p:sp>
          <p:nvSpPr>
            <p:cNvPr id="27660" name="Rectangle 11"/>
            <p:cNvSpPr>
              <a:spLocks noChangeArrowheads="1"/>
            </p:cNvSpPr>
            <p:nvPr/>
          </p:nvSpPr>
          <p:spPr bwMode="auto">
            <a:xfrm>
              <a:off x="1658" y="2094"/>
              <a:ext cx="3760" cy="427"/>
            </a:xfrm>
            <a:prstGeom prst="rect">
              <a:avLst/>
            </a:prstGeom>
            <a:noFill/>
            <a:ln w="9525">
              <a:noFill/>
              <a:miter lim="800000"/>
              <a:headEnd/>
              <a:tailEnd/>
            </a:ln>
          </p:spPr>
          <p:txBody>
            <a:bodyPr/>
            <a:lstStyle/>
            <a:p>
              <a:pPr>
                <a:spcBef>
                  <a:spcPct val="20000"/>
                </a:spcBef>
                <a:buSzPct val="125000"/>
              </a:pPr>
              <a:r>
                <a:rPr lang="en-US" sz="1800" b="0">
                  <a:solidFill>
                    <a:srgbClr val="00B050"/>
                  </a:solidFill>
                  <a:latin typeface="Arial" pitchFamily="34" charset="0"/>
                </a:rPr>
                <a:t>A method which belongs to an instance of the class. Objects of the same class share its implementation.</a:t>
              </a:r>
            </a:p>
          </p:txBody>
        </p:sp>
        <p:sp>
          <p:nvSpPr>
            <p:cNvPr id="27661" name="Rectangle 12"/>
            <p:cNvSpPr>
              <a:spLocks noChangeArrowheads="1"/>
            </p:cNvSpPr>
            <p:nvPr/>
          </p:nvSpPr>
          <p:spPr bwMode="auto">
            <a:xfrm>
              <a:off x="311" y="2094"/>
              <a:ext cx="1347" cy="427"/>
            </a:xfrm>
            <a:prstGeom prst="rect">
              <a:avLst/>
            </a:prstGeom>
            <a:noFill/>
            <a:ln w="9525">
              <a:noFill/>
              <a:miter lim="800000"/>
              <a:headEnd/>
              <a:tailEnd/>
            </a:ln>
          </p:spPr>
          <p:txBody>
            <a:bodyPr/>
            <a:lstStyle/>
            <a:p>
              <a:pPr>
                <a:spcBef>
                  <a:spcPct val="20000"/>
                </a:spcBef>
                <a:buSzPct val="125000"/>
              </a:pPr>
              <a:r>
                <a:rPr lang="en-US" sz="1800" b="0">
                  <a:solidFill>
                    <a:srgbClr val="00B050"/>
                  </a:solidFill>
                  <a:latin typeface="Arial" pitchFamily="34" charset="0"/>
                </a:rPr>
                <a:t>Instance Method</a:t>
              </a:r>
            </a:p>
          </p:txBody>
        </p:sp>
        <p:sp>
          <p:nvSpPr>
            <p:cNvPr id="27662" name="Rectangle 13"/>
            <p:cNvSpPr>
              <a:spLocks noChangeArrowheads="1"/>
            </p:cNvSpPr>
            <p:nvPr/>
          </p:nvSpPr>
          <p:spPr bwMode="auto">
            <a:xfrm>
              <a:off x="1658" y="1668"/>
              <a:ext cx="3760" cy="426"/>
            </a:xfrm>
            <a:prstGeom prst="rect">
              <a:avLst/>
            </a:prstGeom>
            <a:noFill/>
            <a:ln w="9525">
              <a:noFill/>
              <a:miter lim="800000"/>
              <a:headEnd/>
              <a:tailEnd/>
            </a:ln>
          </p:spPr>
          <p:txBody>
            <a:bodyPr/>
            <a:lstStyle/>
            <a:p>
              <a:pPr>
                <a:spcBef>
                  <a:spcPct val="20000"/>
                </a:spcBef>
                <a:buSzPct val="125000"/>
              </a:pPr>
              <a:r>
                <a:rPr lang="en-US" sz="1800" b="0">
                  <a:solidFill>
                    <a:srgbClr val="00B050"/>
                  </a:solidFill>
                  <a:latin typeface="Arial" pitchFamily="34" charset="0"/>
                </a:rPr>
                <a:t>A variable which is allocated when the class is instantiated. Ie when an object of the class is created.</a:t>
              </a:r>
            </a:p>
          </p:txBody>
        </p:sp>
        <p:sp>
          <p:nvSpPr>
            <p:cNvPr id="27663" name="Rectangle 14"/>
            <p:cNvSpPr>
              <a:spLocks noChangeArrowheads="1"/>
            </p:cNvSpPr>
            <p:nvPr/>
          </p:nvSpPr>
          <p:spPr bwMode="auto">
            <a:xfrm>
              <a:off x="311" y="1668"/>
              <a:ext cx="1347" cy="426"/>
            </a:xfrm>
            <a:prstGeom prst="rect">
              <a:avLst/>
            </a:prstGeom>
            <a:noFill/>
            <a:ln w="9525">
              <a:noFill/>
              <a:miter lim="800000"/>
              <a:headEnd/>
              <a:tailEnd/>
            </a:ln>
          </p:spPr>
          <p:txBody>
            <a:bodyPr/>
            <a:lstStyle/>
            <a:p>
              <a:pPr>
                <a:spcBef>
                  <a:spcPct val="20000"/>
                </a:spcBef>
                <a:buSzPct val="125000"/>
              </a:pPr>
              <a:r>
                <a:rPr lang="en-US" sz="1800" b="0">
                  <a:solidFill>
                    <a:srgbClr val="00B050"/>
                  </a:solidFill>
                  <a:latin typeface="Arial" pitchFamily="34" charset="0"/>
                </a:rPr>
                <a:t>Instance Variable</a:t>
              </a:r>
            </a:p>
          </p:txBody>
        </p:sp>
        <p:sp>
          <p:nvSpPr>
            <p:cNvPr id="27664" name="Rectangle 15"/>
            <p:cNvSpPr>
              <a:spLocks noChangeArrowheads="1"/>
            </p:cNvSpPr>
            <p:nvPr/>
          </p:nvSpPr>
          <p:spPr bwMode="auto">
            <a:xfrm>
              <a:off x="1658" y="1092"/>
              <a:ext cx="3760" cy="576"/>
            </a:xfrm>
            <a:prstGeom prst="rect">
              <a:avLst/>
            </a:prstGeom>
            <a:noFill/>
            <a:ln w="9525">
              <a:noFill/>
              <a:miter lim="800000"/>
              <a:headEnd/>
              <a:tailEnd/>
            </a:ln>
          </p:spPr>
          <p:txBody>
            <a:bodyPr/>
            <a:lstStyle/>
            <a:p>
              <a:pPr>
                <a:spcBef>
                  <a:spcPct val="20000"/>
                </a:spcBef>
                <a:buSzPct val="125000"/>
              </a:pPr>
              <a:r>
                <a:rPr lang="en-US" sz="1800" b="0" dirty="0">
                  <a:solidFill>
                    <a:srgbClr val="00B050"/>
                  </a:solidFill>
                  <a:latin typeface="Arial" pitchFamily="34" charset="0"/>
                </a:rPr>
                <a:t>These are instance variables and instance methods of an object. They can only be accessed or invoked through an object reference</a:t>
              </a:r>
            </a:p>
          </p:txBody>
        </p:sp>
        <p:sp>
          <p:nvSpPr>
            <p:cNvPr id="27665" name="Rectangle 16"/>
            <p:cNvSpPr>
              <a:spLocks noChangeArrowheads="1"/>
            </p:cNvSpPr>
            <p:nvPr/>
          </p:nvSpPr>
          <p:spPr bwMode="auto">
            <a:xfrm>
              <a:off x="311" y="1092"/>
              <a:ext cx="1347" cy="576"/>
            </a:xfrm>
            <a:prstGeom prst="rect">
              <a:avLst/>
            </a:prstGeom>
            <a:noFill/>
            <a:ln w="9525">
              <a:noFill/>
              <a:miter lim="800000"/>
              <a:headEnd/>
              <a:tailEnd/>
            </a:ln>
          </p:spPr>
          <p:txBody>
            <a:bodyPr/>
            <a:lstStyle/>
            <a:p>
              <a:pPr>
                <a:spcBef>
                  <a:spcPct val="20000"/>
                </a:spcBef>
                <a:buSzPct val="125000"/>
              </a:pPr>
              <a:r>
                <a:rPr lang="en-US" sz="1800" b="0">
                  <a:solidFill>
                    <a:srgbClr val="00B050"/>
                  </a:solidFill>
                  <a:latin typeface="Arial" pitchFamily="34" charset="0"/>
                </a:rPr>
                <a:t>Instance Members</a:t>
              </a:r>
            </a:p>
          </p:txBody>
        </p:sp>
        <p:sp>
          <p:nvSpPr>
            <p:cNvPr id="27666" name="Line 17"/>
            <p:cNvSpPr>
              <a:spLocks noChangeShapeType="1"/>
            </p:cNvSpPr>
            <p:nvPr/>
          </p:nvSpPr>
          <p:spPr bwMode="auto">
            <a:xfrm>
              <a:off x="311" y="1092"/>
              <a:ext cx="5107" cy="0"/>
            </a:xfrm>
            <a:prstGeom prst="line">
              <a:avLst/>
            </a:prstGeom>
            <a:noFill/>
            <a:ln w="12700" cap="sq">
              <a:solidFill>
                <a:srgbClr val="FFFFB3"/>
              </a:solidFill>
              <a:round/>
              <a:headEnd/>
              <a:tailEnd/>
            </a:ln>
          </p:spPr>
          <p:txBody>
            <a:bodyPr/>
            <a:lstStyle/>
            <a:p>
              <a:endParaRPr lang="en-US">
                <a:solidFill>
                  <a:srgbClr val="00B050"/>
                </a:solidFill>
              </a:endParaRPr>
            </a:p>
          </p:txBody>
        </p:sp>
        <p:sp>
          <p:nvSpPr>
            <p:cNvPr id="27667" name="Line 18"/>
            <p:cNvSpPr>
              <a:spLocks noChangeShapeType="1"/>
            </p:cNvSpPr>
            <p:nvPr/>
          </p:nvSpPr>
          <p:spPr bwMode="auto">
            <a:xfrm>
              <a:off x="311" y="1668"/>
              <a:ext cx="5107" cy="0"/>
            </a:xfrm>
            <a:prstGeom prst="line">
              <a:avLst/>
            </a:prstGeom>
            <a:noFill/>
            <a:ln w="12700">
              <a:solidFill>
                <a:srgbClr val="FFFFB3"/>
              </a:solidFill>
              <a:round/>
              <a:headEnd/>
              <a:tailEnd/>
            </a:ln>
          </p:spPr>
          <p:txBody>
            <a:bodyPr/>
            <a:lstStyle/>
            <a:p>
              <a:endParaRPr lang="en-US">
                <a:solidFill>
                  <a:srgbClr val="00B050"/>
                </a:solidFill>
              </a:endParaRPr>
            </a:p>
          </p:txBody>
        </p:sp>
        <p:sp>
          <p:nvSpPr>
            <p:cNvPr id="27668" name="Line 19"/>
            <p:cNvSpPr>
              <a:spLocks noChangeShapeType="1"/>
            </p:cNvSpPr>
            <p:nvPr/>
          </p:nvSpPr>
          <p:spPr bwMode="auto">
            <a:xfrm>
              <a:off x="311" y="2094"/>
              <a:ext cx="5107" cy="0"/>
            </a:xfrm>
            <a:prstGeom prst="line">
              <a:avLst/>
            </a:prstGeom>
            <a:noFill/>
            <a:ln w="12700">
              <a:solidFill>
                <a:srgbClr val="FFFFB3"/>
              </a:solidFill>
              <a:round/>
              <a:headEnd/>
              <a:tailEnd/>
            </a:ln>
          </p:spPr>
          <p:txBody>
            <a:bodyPr/>
            <a:lstStyle/>
            <a:p>
              <a:endParaRPr lang="en-US">
                <a:solidFill>
                  <a:srgbClr val="00B050"/>
                </a:solidFill>
              </a:endParaRPr>
            </a:p>
          </p:txBody>
        </p:sp>
        <p:sp>
          <p:nvSpPr>
            <p:cNvPr id="27669" name="Line 20"/>
            <p:cNvSpPr>
              <a:spLocks noChangeShapeType="1"/>
            </p:cNvSpPr>
            <p:nvPr/>
          </p:nvSpPr>
          <p:spPr bwMode="auto">
            <a:xfrm>
              <a:off x="311" y="2521"/>
              <a:ext cx="5107" cy="0"/>
            </a:xfrm>
            <a:prstGeom prst="line">
              <a:avLst/>
            </a:prstGeom>
            <a:noFill/>
            <a:ln w="12700">
              <a:solidFill>
                <a:srgbClr val="FFFFB3"/>
              </a:solidFill>
              <a:round/>
              <a:headEnd/>
              <a:tailEnd/>
            </a:ln>
          </p:spPr>
          <p:txBody>
            <a:bodyPr/>
            <a:lstStyle/>
            <a:p>
              <a:endParaRPr lang="en-US">
                <a:solidFill>
                  <a:srgbClr val="00B050"/>
                </a:solidFill>
              </a:endParaRPr>
            </a:p>
          </p:txBody>
        </p:sp>
        <p:sp>
          <p:nvSpPr>
            <p:cNvPr id="27670" name="Line 21"/>
            <p:cNvSpPr>
              <a:spLocks noChangeShapeType="1"/>
            </p:cNvSpPr>
            <p:nvPr/>
          </p:nvSpPr>
          <p:spPr bwMode="auto">
            <a:xfrm>
              <a:off x="311" y="3097"/>
              <a:ext cx="5107" cy="0"/>
            </a:xfrm>
            <a:prstGeom prst="line">
              <a:avLst/>
            </a:prstGeom>
            <a:noFill/>
            <a:ln w="12700">
              <a:solidFill>
                <a:srgbClr val="FFFFB3"/>
              </a:solidFill>
              <a:round/>
              <a:headEnd/>
              <a:tailEnd/>
            </a:ln>
          </p:spPr>
          <p:txBody>
            <a:bodyPr/>
            <a:lstStyle/>
            <a:p>
              <a:endParaRPr lang="en-US">
                <a:solidFill>
                  <a:srgbClr val="00B050"/>
                </a:solidFill>
              </a:endParaRPr>
            </a:p>
          </p:txBody>
        </p:sp>
        <p:sp>
          <p:nvSpPr>
            <p:cNvPr id="27671" name="Line 22"/>
            <p:cNvSpPr>
              <a:spLocks noChangeShapeType="1"/>
            </p:cNvSpPr>
            <p:nvPr/>
          </p:nvSpPr>
          <p:spPr bwMode="auto">
            <a:xfrm>
              <a:off x="311" y="3523"/>
              <a:ext cx="5107" cy="0"/>
            </a:xfrm>
            <a:prstGeom prst="line">
              <a:avLst/>
            </a:prstGeom>
            <a:noFill/>
            <a:ln w="12700">
              <a:solidFill>
                <a:srgbClr val="FFFFB3"/>
              </a:solidFill>
              <a:round/>
              <a:headEnd/>
              <a:tailEnd/>
            </a:ln>
          </p:spPr>
          <p:txBody>
            <a:bodyPr/>
            <a:lstStyle/>
            <a:p>
              <a:endParaRPr lang="en-US">
                <a:solidFill>
                  <a:srgbClr val="00B050"/>
                </a:solidFill>
              </a:endParaRPr>
            </a:p>
          </p:txBody>
        </p:sp>
        <p:sp>
          <p:nvSpPr>
            <p:cNvPr id="27672" name="Line 23"/>
            <p:cNvSpPr>
              <a:spLocks noChangeShapeType="1"/>
            </p:cNvSpPr>
            <p:nvPr/>
          </p:nvSpPr>
          <p:spPr bwMode="auto">
            <a:xfrm>
              <a:off x="311" y="3950"/>
              <a:ext cx="5107" cy="0"/>
            </a:xfrm>
            <a:prstGeom prst="line">
              <a:avLst/>
            </a:prstGeom>
            <a:noFill/>
            <a:ln w="12700" cap="sq">
              <a:solidFill>
                <a:srgbClr val="FFFFB3"/>
              </a:solidFill>
              <a:round/>
              <a:headEnd/>
              <a:tailEnd/>
            </a:ln>
          </p:spPr>
          <p:txBody>
            <a:bodyPr/>
            <a:lstStyle/>
            <a:p>
              <a:endParaRPr lang="en-US">
                <a:solidFill>
                  <a:srgbClr val="00B050"/>
                </a:solidFill>
              </a:endParaRPr>
            </a:p>
          </p:txBody>
        </p:sp>
        <p:sp>
          <p:nvSpPr>
            <p:cNvPr id="27673" name="Line 24"/>
            <p:cNvSpPr>
              <a:spLocks noChangeShapeType="1"/>
            </p:cNvSpPr>
            <p:nvPr/>
          </p:nvSpPr>
          <p:spPr bwMode="auto">
            <a:xfrm>
              <a:off x="311" y="1092"/>
              <a:ext cx="0" cy="2858"/>
            </a:xfrm>
            <a:prstGeom prst="line">
              <a:avLst/>
            </a:prstGeom>
            <a:noFill/>
            <a:ln w="12700" cap="sq">
              <a:solidFill>
                <a:srgbClr val="FFFFB3"/>
              </a:solidFill>
              <a:round/>
              <a:headEnd/>
              <a:tailEnd/>
            </a:ln>
          </p:spPr>
          <p:txBody>
            <a:bodyPr/>
            <a:lstStyle/>
            <a:p>
              <a:endParaRPr lang="en-US">
                <a:solidFill>
                  <a:srgbClr val="00B050"/>
                </a:solidFill>
              </a:endParaRPr>
            </a:p>
          </p:txBody>
        </p:sp>
        <p:sp>
          <p:nvSpPr>
            <p:cNvPr id="27674" name="Line 25"/>
            <p:cNvSpPr>
              <a:spLocks noChangeShapeType="1"/>
            </p:cNvSpPr>
            <p:nvPr/>
          </p:nvSpPr>
          <p:spPr bwMode="auto">
            <a:xfrm>
              <a:off x="1658" y="1092"/>
              <a:ext cx="0" cy="2858"/>
            </a:xfrm>
            <a:prstGeom prst="line">
              <a:avLst/>
            </a:prstGeom>
            <a:noFill/>
            <a:ln w="12700">
              <a:solidFill>
                <a:srgbClr val="FFFFB3"/>
              </a:solidFill>
              <a:round/>
              <a:headEnd/>
              <a:tailEnd/>
            </a:ln>
          </p:spPr>
          <p:txBody>
            <a:bodyPr/>
            <a:lstStyle/>
            <a:p>
              <a:endParaRPr lang="en-US">
                <a:solidFill>
                  <a:srgbClr val="00B050"/>
                </a:solidFill>
              </a:endParaRPr>
            </a:p>
          </p:txBody>
        </p:sp>
        <p:sp>
          <p:nvSpPr>
            <p:cNvPr id="27675" name="Line 26"/>
            <p:cNvSpPr>
              <a:spLocks noChangeShapeType="1"/>
            </p:cNvSpPr>
            <p:nvPr/>
          </p:nvSpPr>
          <p:spPr bwMode="auto">
            <a:xfrm>
              <a:off x="5418" y="1092"/>
              <a:ext cx="0" cy="2858"/>
            </a:xfrm>
            <a:prstGeom prst="line">
              <a:avLst/>
            </a:prstGeom>
            <a:noFill/>
            <a:ln w="12700" cap="sq">
              <a:solidFill>
                <a:srgbClr val="FFFFB3"/>
              </a:solidFill>
              <a:round/>
              <a:headEnd/>
              <a:tailEnd/>
            </a:ln>
          </p:spPr>
          <p:txBody>
            <a:bodyPr/>
            <a:lstStyle/>
            <a:p>
              <a:endParaRPr lang="en-US">
                <a:solidFill>
                  <a:srgbClr val="00B050"/>
                </a:solidFill>
              </a:endParaRPr>
            </a:p>
          </p:txBody>
        </p:sp>
      </p:gr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39763"/>
          </a:xfrm>
        </p:spPr>
        <p:style>
          <a:lnRef idx="1">
            <a:schemeClr val="accent1"/>
          </a:lnRef>
          <a:fillRef idx="2">
            <a:schemeClr val="accent1"/>
          </a:fillRef>
          <a:effectRef idx="1">
            <a:schemeClr val="accent1"/>
          </a:effectRef>
          <a:fontRef idx="minor">
            <a:schemeClr val="dk1"/>
          </a:fontRef>
        </p:style>
        <p:txBody>
          <a:bodyPr rtlCol="0">
            <a:normAutofit fontScale="90000"/>
          </a:bodyPr>
          <a:lstStyle/>
          <a:p>
            <a:pPr eaLnBrk="1" fontAlgn="auto" hangingPunct="1">
              <a:spcAft>
                <a:spcPts val="0"/>
              </a:spcAft>
              <a:defRPr/>
            </a:pPr>
            <a:r>
              <a:rPr lang="en-US" b="1" dirty="0" smtClean="0">
                <a:solidFill>
                  <a:schemeClr val="tx2">
                    <a:lumMod val="75000"/>
                  </a:schemeClr>
                </a:solidFill>
                <a:effectLst>
                  <a:outerShdw blurRad="38100" dist="38100" dir="2700000" algn="tl">
                    <a:srgbClr val="000000">
                      <a:alpha val="43137"/>
                    </a:srgbClr>
                  </a:outerShdw>
                </a:effectLst>
              </a:rPr>
              <a:t>This</a:t>
            </a:r>
            <a:endParaRPr lang="en-US" b="1" dirty="0">
              <a:solidFill>
                <a:schemeClr val="tx2">
                  <a:lumMod val="75000"/>
                </a:schemeClr>
              </a:solidFill>
              <a:effectLst>
                <a:outerShdw blurRad="38100" dist="38100" dir="2700000" algn="tl">
                  <a:srgbClr val="000000">
                    <a:alpha val="43137"/>
                  </a:srgbClr>
                </a:outerShdw>
              </a:effectLst>
            </a:endParaRPr>
          </a:p>
        </p:txBody>
      </p:sp>
      <p:sp>
        <p:nvSpPr>
          <p:cNvPr id="30723" name="Content Placeholder 2"/>
          <p:cNvSpPr>
            <a:spLocks noGrp="1"/>
          </p:cNvSpPr>
          <p:nvPr>
            <p:ph idx="1"/>
          </p:nvPr>
        </p:nvSpPr>
        <p:spPr>
          <a:xfrm>
            <a:off x="457200" y="868363"/>
            <a:ext cx="8229600" cy="5532437"/>
          </a:xfrm>
        </p:spPr>
        <p:txBody>
          <a:bodyPr>
            <a:normAutofit/>
          </a:bodyPr>
          <a:lstStyle/>
          <a:p>
            <a:r>
              <a:rPr lang="en-US" sz="2000" dirty="0" smtClean="0"/>
              <a:t>Every class member  gets a  hidden parameter  the</a:t>
            </a:r>
            <a:r>
              <a:rPr lang="en-US" sz="2000" b="1" i="1" dirty="0" smtClean="0"/>
              <a:t> </a:t>
            </a:r>
            <a:r>
              <a:rPr lang="en-US" sz="2000" b="1" dirty="0" smtClean="0">
                <a:solidFill>
                  <a:srgbClr val="AAAAEA"/>
                </a:solidFill>
              </a:rPr>
              <a:t>this</a:t>
            </a:r>
            <a:r>
              <a:rPr lang="en-US" sz="2000" b="1" i="1" dirty="0" smtClean="0"/>
              <a:t> </a:t>
            </a:r>
            <a:r>
              <a:rPr lang="en-US" sz="2000" dirty="0" smtClean="0"/>
              <a:t> reference.</a:t>
            </a:r>
          </a:p>
          <a:p>
            <a:r>
              <a:rPr lang="en-US" sz="2000" b="1" dirty="0" smtClean="0">
                <a:solidFill>
                  <a:srgbClr val="AAAAEA"/>
                </a:solidFill>
              </a:rPr>
              <a:t>this</a:t>
            </a:r>
            <a:r>
              <a:rPr lang="en-US" sz="2000" dirty="0" smtClean="0"/>
              <a:t> is a keyword in Java.</a:t>
            </a:r>
          </a:p>
          <a:p>
            <a:r>
              <a:rPr lang="en-US" sz="2000" b="1" dirty="0" smtClean="0">
                <a:solidFill>
                  <a:srgbClr val="AAAAEA"/>
                </a:solidFill>
              </a:rPr>
              <a:t>this</a:t>
            </a:r>
            <a:r>
              <a:rPr lang="en-US" sz="2000" dirty="0" smtClean="0"/>
              <a:t> points to the current object.</a:t>
            </a:r>
          </a:p>
          <a:p>
            <a:r>
              <a:rPr lang="en-US" sz="2000" b="1" dirty="0" smtClean="0">
                <a:solidFill>
                  <a:srgbClr val="AAAAEA"/>
                </a:solidFill>
              </a:rPr>
              <a:t>this</a:t>
            </a:r>
            <a:r>
              <a:rPr lang="en-US" sz="2000" dirty="0" smtClean="0"/>
              <a:t>  always holds address of an object which is invoking the member function.</a:t>
            </a:r>
          </a:p>
          <a:p>
            <a:pPr eaLnBrk="1" hangingPunct="1"/>
            <a:endParaRPr lang="en-US" sz="2000" dirty="0" smtClean="0"/>
          </a:p>
        </p:txBody>
      </p:sp>
      <p:sp>
        <p:nvSpPr>
          <p:cNvPr id="3" name="Rectangle 2"/>
          <p:cNvSpPr/>
          <p:nvPr/>
        </p:nvSpPr>
        <p:spPr>
          <a:xfrm>
            <a:off x="169985" y="3270266"/>
            <a:ext cx="2667000" cy="3600986"/>
          </a:xfrm>
          <a:prstGeom prst="rect">
            <a:avLst/>
          </a:prstGeom>
        </p:spPr>
        <p:txBody>
          <a:bodyPr wrap="square">
            <a:spAutoFit/>
          </a:bodyPr>
          <a:lstStyle/>
          <a:p>
            <a:r>
              <a:rPr lang="en-IN" sz="1200" b="1" dirty="0"/>
              <a:t>class Student {</a:t>
            </a:r>
          </a:p>
          <a:p>
            <a:endParaRPr lang="en-IN" sz="1200" b="1" dirty="0"/>
          </a:p>
          <a:p>
            <a:r>
              <a:rPr lang="en-IN" sz="1200" b="1" dirty="0"/>
              <a:t>    </a:t>
            </a:r>
            <a:r>
              <a:rPr lang="en-IN" sz="1200" b="1" dirty="0" err="1"/>
              <a:t>int</a:t>
            </a:r>
            <a:r>
              <a:rPr lang="en-IN" sz="1200" b="1" dirty="0"/>
              <a:t> id;</a:t>
            </a:r>
          </a:p>
          <a:p>
            <a:endParaRPr lang="en-IN" sz="1200" b="1" dirty="0"/>
          </a:p>
          <a:p>
            <a:r>
              <a:rPr lang="en-IN" sz="1200" b="1" dirty="0"/>
              <a:t>    Student(</a:t>
            </a:r>
            <a:r>
              <a:rPr lang="en-IN" sz="1200" b="1" dirty="0" err="1"/>
              <a:t>int</a:t>
            </a:r>
            <a:r>
              <a:rPr lang="en-IN" sz="1200" b="1" dirty="0"/>
              <a:t> id) {</a:t>
            </a:r>
          </a:p>
          <a:p>
            <a:r>
              <a:rPr lang="en-IN" sz="1200" b="1" dirty="0"/>
              <a:t>        this.id = id;    // this.id refers to instance variable</a:t>
            </a:r>
          </a:p>
          <a:p>
            <a:r>
              <a:rPr lang="en-IN" sz="1200" b="1" dirty="0"/>
              <a:t>    }</a:t>
            </a:r>
          </a:p>
          <a:p>
            <a:endParaRPr lang="en-IN" sz="1200" b="1" dirty="0"/>
          </a:p>
          <a:p>
            <a:r>
              <a:rPr lang="en-IN" sz="1200" b="1" dirty="0"/>
              <a:t>    void display() {</a:t>
            </a:r>
          </a:p>
          <a:p>
            <a:r>
              <a:rPr lang="en-IN" sz="1200" b="1" dirty="0"/>
              <a:t>        </a:t>
            </a:r>
            <a:r>
              <a:rPr lang="en-IN" sz="1200" b="1" dirty="0" err="1"/>
              <a:t>System.out.println</a:t>
            </a:r>
            <a:r>
              <a:rPr lang="en-IN" sz="1200" b="1" dirty="0"/>
              <a:t>("ID = " + id);</a:t>
            </a:r>
          </a:p>
          <a:p>
            <a:r>
              <a:rPr lang="en-IN" sz="1200" b="1" dirty="0"/>
              <a:t>    }</a:t>
            </a:r>
          </a:p>
          <a:p>
            <a:endParaRPr lang="en-IN" sz="1200" b="1" dirty="0"/>
          </a:p>
          <a:p>
            <a:r>
              <a:rPr lang="en-IN" sz="1200" b="1" dirty="0"/>
              <a:t>    public static void main(String </a:t>
            </a:r>
            <a:r>
              <a:rPr lang="en-IN" sz="1200" b="1" dirty="0" err="1"/>
              <a:t>args</a:t>
            </a:r>
            <a:r>
              <a:rPr lang="en-IN" sz="1200" b="1" dirty="0"/>
              <a:t>[]) {</a:t>
            </a:r>
          </a:p>
          <a:p>
            <a:r>
              <a:rPr lang="en-IN" sz="1200" b="1" dirty="0"/>
              <a:t>        Student s = new Student(101);</a:t>
            </a:r>
          </a:p>
          <a:p>
            <a:r>
              <a:rPr lang="en-IN" sz="1200" b="1" dirty="0"/>
              <a:t>        </a:t>
            </a:r>
            <a:r>
              <a:rPr lang="en-IN" sz="1200" b="1" dirty="0" err="1"/>
              <a:t>s.display</a:t>
            </a:r>
            <a:r>
              <a:rPr lang="en-IN" sz="1200" b="1" dirty="0"/>
              <a:t>();</a:t>
            </a:r>
          </a:p>
          <a:p>
            <a:r>
              <a:rPr lang="en-IN" sz="1200" b="1" dirty="0"/>
              <a:t>    }</a:t>
            </a:r>
          </a:p>
          <a:p>
            <a:r>
              <a:rPr lang="en-IN" sz="1200" b="1" dirty="0"/>
              <a:t>}</a:t>
            </a:r>
          </a:p>
        </p:txBody>
      </p:sp>
      <p:sp>
        <p:nvSpPr>
          <p:cNvPr id="4" name="Rectangle 3"/>
          <p:cNvSpPr/>
          <p:nvPr/>
        </p:nvSpPr>
        <p:spPr>
          <a:xfrm>
            <a:off x="121902" y="2891135"/>
            <a:ext cx="2621298" cy="276999"/>
          </a:xfrm>
          <a:prstGeom prst="rect">
            <a:avLst/>
          </a:prstGeom>
        </p:spPr>
        <p:txBody>
          <a:bodyPr wrap="square">
            <a:spAutoFit/>
          </a:bodyPr>
          <a:lstStyle/>
          <a:p>
            <a:r>
              <a:rPr lang="en-US" sz="1200" dirty="0">
                <a:solidFill>
                  <a:srgbClr val="FF0000"/>
                </a:solidFill>
              </a:rPr>
              <a:t>Refer to Current Class Instance Variable</a:t>
            </a:r>
            <a:endParaRPr lang="en-IN" sz="1200" dirty="0">
              <a:solidFill>
                <a:srgbClr val="FF0000"/>
              </a:solidFill>
            </a:endParaRPr>
          </a:p>
        </p:txBody>
      </p:sp>
      <p:sp>
        <p:nvSpPr>
          <p:cNvPr id="5" name="Rectangle 4"/>
          <p:cNvSpPr/>
          <p:nvPr/>
        </p:nvSpPr>
        <p:spPr>
          <a:xfrm>
            <a:off x="3124200" y="2973138"/>
            <a:ext cx="2667000" cy="276999"/>
          </a:xfrm>
          <a:prstGeom prst="rect">
            <a:avLst/>
          </a:prstGeom>
        </p:spPr>
        <p:txBody>
          <a:bodyPr wrap="square">
            <a:spAutoFit/>
          </a:bodyPr>
          <a:lstStyle/>
          <a:p>
            <a:r>
              <a:rPr lang="en-IN" sz="1200" dirty="0">
                <a:solidFill>
                  <a:srgbClr val="FF0000"/>
                </a:solidFill>
              </a:rPr>
              <a:t>Call Current Class Method</a:t>
            </a:r>
          </a:p>
        </p:txBody>
      </p:sp>
      <p:sp>
        <p:nvSpPr>
          <p:cNvPr id="6" name="Rectangle 5"/>
          <p:cNvSpPr/>
          <p:nvPr/>
        </p:nvSpPr>
        <p:spPr>
          <a:xfrm>
            <a:off x="3124200" y="3318860"/>
            <a:ext cx="2590800" cy="3046988"/>
          </a:xfrm>
          <a:prstGeom prst="rect">
            <a:avLst/>
          </a:prstGeom>
        </p:spPr>
        <p:txBody>
          <a:bodyPr wrap="square">
            <a:spAutoFit/>
          </a:bodyPr>
          <a:lstStyle/>
          <a:p>
            <a:r>
              <a:rPr lang="en-IN" sz="1200" b="1" dirty="0"/>
              <a:t>class Demo {</a:t>
            </a:r>
          </a:p>
          <a:p>
            <a:endParaRPr lang="en-IN" sz="1200" b="1" dirty="0"/>
          </a:p>
          <a:p>
            <a:r>
              <a:rPr lang="en-IN" sz="1200" b="1" dirty="0"/>
              <a:t>    void message() {</a:t>
            </a:r>
          </a:p>
          <a:p>
            <a:r>
              <a:rPr lang="en-IN" sz="1200" b="1" dirty="0"/>
              <a:t>        </a:t>
            </a:r>
            <a:r>
              <a:rPr lang="en-IN" sz="1200" b="1" dirty="0" err="1"/>
              <a:t>System.out.println</a:t>
            </a:r>
            <a:r>
              <a:rPr lang="en-IN" sz="1200" b="1" dirty="0"/>
              <a:t>("Hello");</a:t>
            </a:r>
          </a:p>
          <a:p>
            <a:r>
              <a:rPr lang="en-IN" sz="1200" b="1" dirty="0"/>
              <a:t>    }</a:t>
            </a:r>
          </a:p>
          <a:p>
            <a:endParaRPr lang="en-IN" sz="1200" b="1" dirty="0"/>
          </a:p>
          <a:p>
            <a:r>
              <a:rPr lang="en-IN" sz="1200" b="1" dirty="0"/>
              <a:t>    void display() {</a:t>
            </a:r>
          </a:p>
          <a:p>
            <a:r>
              <a:rPr lang="en-IN" sz="1200" b="1" dirty="0"/>
              <a:t>        </a:t>
            </a:r>
            <a:r>
              <a:rPr lang="en-IN" sz="1200" b="1" dirty="0" err="1"/>
              <a:t>this.message</a:t>
            </a:r>
            <a:r>
              <a:rPr lang="en-IN" sz="1200" b="1" dirty="0"/>
              <a:t>();</a:t>
            </a:r>
          </a:p>
          <a:p>
            <a:r>
              <a:rPr lang="en-IN" sz="1200" b="1" dirty="0"/>
              <a:t>    }</a:t>
            </a:r>
          </a:p>
          <a:p>
            <a:endParaRPr lang="en-IN" sz="1200" b="1" dirty="0"/>
          </a:p>
          <a:p>
            <a:r>
              <a:rPr lang="en-IN" sz="1200" b="1" dirty="0"/>
              <a:t>    public static void main(String </a:t>
            </a:r>
            <a:r>
              <a:rPr lang="en-IN" sz="1200" b="1" dirty="0" err="1"/>
              <a:t>args</a:t>
            </a:r>
            <a:r>
              <a:rPr lang="en-IN" sz="1200" b="1" dirty="0"/>
              <a:t>[]) {</a:t>
            </a:r>
          </a:p>
          <a:p>
            <a:r>
              <a:rPr lang="en-IN" sz="1200" b="1" dirty="0"/>
              <a:t>        Demo d = new Demo();</a:t>
            </a:r>
          </a:p>
          <a:p>
            <a:r>
              <a:rPr lang="en-IN" sz="1200" b="1" dirty="0"/>
              <a:t>        </a:t>
            </a:r>
            <a:r>
              <a:rPr lang="en-IN" sz="1200" b="1" dirty="0" err="1"/>
              <a:t>d.display</a:t>
            </a:r>
            <a:r>
              <a:rPr lang="en-IN" sz="1200" b="1" dirty="0"/>
              <a:t>();</a:t>
            </a:r>
          </a:p>
          <a:p>
            <a:r>
              <a:rPr lang="en-IN" sz="1200" b="1" dirty="0"/>
              <a:t>    }</a:t>
            </a:r>
          </a:p>
          <a:p>
            <a:r>
              <a:rPr lang="en-IN" sz="1200" b="1" dirty="0"/>
              <a:t>}</a:t>
            </a:r>
          </a:p>
        </p:txBody>
      </p:sp>
      <p:sp>
        <p:nvSpPr>
          <p:cNvPr id="7" name="Rectangle 6"/>
          <p:cNvSpPr/>
          <p:nvPr/>
        </p:nvSpPr>
        <p:spPr>
          <a:xfrm>
            <a:off x="6248400" y="2983466"/>
            <a:ext cx="1529586" cy="276999"/>
          </a:xfrm>
          <a:prstGeom prst="rect">
            <a:avLst/>
          </a:prstGeom>
        </p:spPr>
        <p:txBody>
          <a:bodyPr wrap="none">
            <a:spAutoFit/>
          </a:bodyPr>
          <a:lstStyle/>
          <a:p>
            <a:r>
              <a:rPr lang="en-IN" sz="1200" dirty="0" smtClean="0">
                <a:solidFill>
                  <a:srgbClr val="FF0000"/>
                </a:solidFill>
              </a:rPr>
              <a:t>Constructor Chaining</a:t>
            </a:r>
            <a:endParaRPr lang="en-IN" sz="1200" dirty="0">
              <a:solidFill>
                <a:srgbClr val="FF0000"/>
              </a:solidFill>
            </a:endParaRPr>
          </a:p>
        </p:txBody>
      </p:sp>
      <p:sp>
        <p:nvSpPr>
          <p:cNvPr id="8" name="Rectangle 7"/>
          <p:cNvSpPr/>
          <p:nvPr/>
        </p:nvSpPr>
        <p:spPr>
          <a:xfrm>
            <a:off x="5777736" y="3307138"/>
            <a:ext cx="2895600" cy="3046988"/>
          </a:xfrm>
          <a:prstGeom prst="rect">
            <a:avLst/>
          </a:prstGeom>
        </p:spPr>
        <p:txBody>
          <a:bodyPr wrap="square">
            <a:spAutoFit/>
          </a:bodyPr>
          <a:lstStyle/>
          <a:p>
            <a:r>
              <a:rPr lang="en-IN" sz="1200" b="1" dirty="0"/>
              <a:t>class Student {</a:t>
            </a:r>
          </a:p>
          <a:p>
            <a:endParaRPr lang="en-IN" sz="1200" b="1" dirty="0"/>
          </a:p>
          <a:p>
            <a:r>
              <a:rPr lang="en-IN" sz="1200" b="1" dirty="0"/>
              <a:t>    Student() {</a:t>
            </a:r>
          </a:p>
          <a:p>
            <a:r>
              <a:rPr lang="en-IN" sz="1200" b="1" dirty="0"/>
              <a:t>        this(101);</a:t>
            </a:r>
          </a:p>
          <a:p>
            <a:r>
              <a:rPr lang="en-IN" sz="1200" b="1" dirty="0"/>
              <a:t>        </a:t>
            </a:r>
            <a:r>
              <a:rPr lang="en-IN" sz="1200" b="1" dirty="0" err="1"/>
              <a:t>System.out.println</a:t>
            </a:r>
            <a:r>
              <a:rPr lang="en-IN" sz="1200" b="1" dirty="0"/>
              <a:t>("Default Constructor");</a:t>
            </a:r>
          </a:p>
          <a:p>
            <a:r>
              <a:rPr lang="en-IN" sz="1200" b="1" dirty="0"/>
              <a:t>    }</a:t>
            </a:r>
          </a:p>
          <a:p>
            <a:endParaRPr lang="en-IN" sz="1200" b="1" dirty="0"/>
          </a:p>
          <a:p>
            <a:r>
              <a:rPr lang="en-IN" sz="1200" b="1" dirty="0"/>
              <a:t>    Student(</a:t>
            </a:r>
            <a:r>
              <a:rPr lang="en-IN" sz="1200" b="1" dirty="0" err="1"/>
              <a:t>int</a:t>
            </a:r>
            <a:r>
              <a:rPr lang="en-IN" sz="1200" b="1" dirty="0"/>
              <a:t> id) {</a:t>
            </a:r>
          </a:p>
          <a:p>
            <a:r>
              <a:rPr lang="en-IN" sz="1200" b="1" dirty="0"/>
              <a:t>        </a:t>
            </a:r>
            <a:r>
              <a:rPr lang="en-IN" sz="1200" b="1" dirty="0" err="1"/>
              <a:t>System.out.println</a:t>
            </a:r>
            <a:r>
              <a:rPr lang="en-IN" sz="1200" b="1" dirty="0"/>
              <a:t>("ID = " + id);</a:t>
            </a:r>
          </a:p>
          <a:p>
            <a:r>
              <a:rPr lang="en-IN" sz="1200" b="1" dirty="0"/>
              <a:t>    }</a:t>
            </a:r>
          </a:p>
          <a:p>
            <a:endParaRPr lang="en-IN" sz="1200" b="1" dirty="0"/>
          </a:p>
          <a:p>
            <a:r>
              <a:rPr lang="en-IN" sz="1200" b="1" dirty="0"/>
              <a:t>    public static void main(String </a:t>
            </a:r>
            <a:r>
              <a:rPr lang="en-IN" sz="1200" b="1" dirty="0" err="1"/>
              <a:t>args</a:t>
            </a:r>
            <a:r>
              <a:rPr lang="en-IN" sz="1200" b="1" dirty="0"/>
              <a:t>[]) {</a:t>
            </a:r>
          </a:p>
          <a:p>
            <a:r>
              <a:rPr lang="en-IN" sz="1200" b="1" dirty="0"/>
              <a:t>        Student s = new Student();</a:t>
            </a:r>
          </a:p>
          <a:p>
            <a:r>
              <a:rPr lang="en-IN" sz="1200" b="1" dirty="0"/>
              <a:t>    }</a:t>
            </a:r>
          </a:p>
          <a:p>
            <a:r>
              <a:rPr lang="en-IN" sz="1200" b="1" dirty="0"/>
              <a: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ChangeArrowheads="1"/>
          </p:cNvSpPr>
          <p:nvPr/>
        </p:nvSpPr>
        <p:spPr bwMode="auto">
          <a:xfrm>
            <a:off x="0" y="0"/>
            <a:ext cx="9144000" cy="1066800"/>
          </a:xfrm>
          <a:prstGeom prst="rect">
            <a:avLst/>
          </a:prstGeom>
          <a:solidFill>
            <a:schemeClr val="accent2"/>
          </a:solidFill>
          <a:ln w="9525">
            <a:solidFill>
              <a:schemeClr val="tx1"/>
            </a:solidFill>
            <a:miter lim="800000"/>
            <a:headEnd/>
            <a:tailEnd/>
          </a:ln>
        </p:spPr>
        <p:txBody>
          <a:bodyPr wrap="none" anchor="ctr"/>
          <a:lstStyle/>
          <a:p>
            <a:r>
              <a:rPr lang="en-US" sz="2000">
                <a:solidFill>
                  <a:schemeClr val="bg1"/>
                </a:solidFill>
                <a:latin typeface="Trebuchet MS" pitchFamily="34" charset="0"/>
              </a:rPr>
              <a:t>OOPS Explored - Abstraction</a:t>
            </a:r>
          </a:p>
        </p:txBody>
      </p:sp>
      <p:sp>
        <p:nvSpPr>
          <p:cNvPr id="65541" name="Rectangle 5"/>
          <p:cNvSpPr>
            <a:spLocks noGrp="1" noChangeArrowheads="1"/>
          </p:cNvSpPr>
          <p:nvPr>
            <p:ph type="body" sz="half" idx="1"/>
          </p:nvPr>
        </p:nvSpPr>
        <p:spPr>
          <a:xfrm>
            <a:off x="457200" y="1219200"/>
            <a:ext cx="5181600" cy="457200"/>
          </a:xfrm>
        </p:spPr>
        <p:txBody>
          <a:bodyPr rtlCol="0">
            <a:normAutofit fontScale="92500" lnSpcReduction="10000"/>
          </a:bodyPr>
          <a:lstStyle/>
          <a:p>
            <a:pPr fontAlgn="auto">
              <a:spcAft>
                <a:spcPts val="0"/>
              </a:spcAft>
              <a:buClr>
                <a:srgbClr val="FF9900"/>
              </a:buClr>
              <a:buSzPct val="125000"/>
              <a:buFont typeface="Arial" pitchFamily="34" charset="0"/>
              <a:buChar char="•"/>
              <a:defRPr/>
            </a:pPr>
            <a:r>
              <a:rPr lang="en-US" sz="1800" b="1">
                <a:latin typeface="Trebuchet MS" pitchFamily="34" charset="0"/>
              </a:rPr>
              <a:t>Abstraction</a:t>
            </a:r>
            <a:r>
              <a:rPr lang="en-US" sz="2800" b="1"/>
              <a:t>	</a:t>
            </a:r>
          </a:p>
          <a:p>
            <a:pPr lvl="1" fontAlgn="auto">
              <a:spcAft>
                <a:spcPts val="0"/>
              </a:spcAft>
              <a:buClr>
                <a:srgbClr val="FF9900"/>
              </a:buClr>
              <a:buSzPct val="125000"/>
              <a:buFont typeface="Arial" pitchFamily="34" charset="0"/>
              <a:buChar char="–"/>
              <a:defRPr/>
            </a:pPr>
            <a:endParaRPr lang="en-US" sz="1400" b="1">
              <a:latin typeface="Trebuchet MS" pitchFamily="34" charset="0"/>
            </a:endParaRPr>
          </a:p>
        </p:txBody>
      </p:sp>
      <p:sp>
        <p:nvSpPr>
          <p:cNvPr id="4101" name="Rectangle 6"/>
          <p:cNvSpPr>
            <a:spLocks noChangeArrowheads="1"/>
          </p:cNvSpPr>
          <p:nvPr/>
        </p:nvSpPr>
        <p:spPr bwMode="auto">
          <a:xfrm>
            <a:off x="990600" y="1676400"/>
            <a:ext cx="5334000" cy="287338"/>
          </a:xfrm>
          <a:prstGeom prst="rect">
            <a:avLst/>
          </a:prstGeom>
          <a:noFill/>
          <a:ln w="9525">
            <a:noFill/>
            <a:miter lim="800000"/>
            <a:headEnd/>
            <a:tailEnd/>
          </a:ln>
        </p:spPr>
        <p:txBody>
          <a:bodyPr wrap="none">
            <a:spAutoFit/>
          </a:bodyPr>
          <a:lstStyle/>
          <a:p>
            <a:pPr lvl="1">
              <a:lnSpc>
                <a:spcPct val="80000"/>
              </a:lnSpc>
              <a:spcBef>
                <a:spcPct val="20000"/>
              </a:spcBef>
              <a:buClr>
                <a:srgbClr val="FF9900"/>
              </a:buClr>
              <a:buSzPct val="125000"/>
            </a:pPr>
            <a:r>
              <a:rPr lang="en-US" sz="1600">
                <a:latin typeface="Trebuchet MS" pitchFamily="34" charset="0"/>
              </a:rPr>
              <a:t>Hide certain details and show only essential details</a:t>
            </a:r>
          </a:p>
        </p:txBody>
      </p:sp>
      <p:sp>
        <p:nvSpPr>
          <p:cNvPr id="4102" name="Rectangle 7"/>
          <p:cNvSpPr>
            <a:spLocks noChangeArrowheads="1"/>
          </p:cNvSpPr>
          <p:nvPr/>
        </p:nvSpPr>
        <p:spPr bwMode="auto">
          <a:xfrm>
            <a:off x="685800" y="2287588"/>
            <a:ext cx="3787775" cy="1509712"/>
          </a:xfrm>
          <a:prstGeom prst="rect">
            <a:avLst/>
          </a:prstGeom>
          <a:noFill/>
          <a:ln w="9525">
            <a:noFill/>
            <a:miter lim="800000"/>
            <a:headEnd/>
            <a:tailEnd/>
          </a:ln>
        </p:spPr>
        <p:txBody>
          <a:bodyPr wrap="none">
            <a:spAutoFit/>
          </a:bodyPr>
          <a:lstStyle/>
          <a:p>
            <a:pPr lvl="1">
              <a:lnSpc>
                <a:spcPct val="80000"/>
              </a:lnSpc>
              <a:spcBef>
                <a:spcPct val="20000"/>
              </a:spcBef>
              <a:buClr>
                <a:srgbClr val="FF9900"/>
              </a:buClr>
              <a:buSzPct val="125000"/>
            </a:pPr>
            <a:r>
              <a:rPr lang="en-US" sz="1600">
                <a:solidFill>
                  <a:srgbClr val="990000"/>
                </a:solidFill>
                <a:latin typeface="Times New Roman" pitchFamily="18" charset="0"/>
              </a:rPr>
              <a:t>public abstract class Shape</a:t>
            </a:r>
          </a:p>
          <a:p>
            <a:pPr lvl="1">
              <a:lnSpc>
                <a:spcPct val="80000"/>
              </a:lnSpc>
              <a:spcBef>
                <a:spcPct val="20000"/>
              </a:spcBef>
              <a:buClr>
                <a:srgbClr val="FF9900"/>
              </a:buClr>
              <a:buSzPct val="125000"/>
            </a:pPr>
            <a:r>
              <a:rPr lang="en-US" sz="1600">
                <a:solidFill>
                  <a:srgbClr val="990000"/>
                </a:solidFill>
                <a:latin typeface="Times New Roman" pitchFamily="18" charset="0"/>
              </a:rPr>
              <a:t>{</a:t>
            </a:r>
          </a:p>
          <a:p>
            <a:pPr lvl="1">
              <a:lnSpc>
                <a:spcPct val="80000"/>
              </a:lnSpc>
              <a:spcBef>
                <a:spcPct val="20000"/>
              </a:spcBef>
              <a:buClr>
                <a:srgbClr val="FF9900"/>
              </a:buClr>
              <a:buSzPct val="125000"/>
            </a:pPr>
            <a:r>
              <a:rPr lang="en-US" sz="1600">
                <a:solidFill>
                  <a:srgbClr val="990000"/>
                </a:solidFill>
                <a:latin typeface="Times New Roman" pitchFamily="18" charset="0"/>
              </a:rPr>
              <a:t>        String color;</a:t>
            </a:r>
          </a:p>
          <a:p>
            <a:pPr lvl="1">
              <a:lnSpc>
                <a:spcPct val="80000"/>
              </a:lnSpc>
              <a:spcBef>
                <a:spcPct val="20000"/>
              </a:spcBef>
              <a:buClr>
                <a:srgbClr val="FF9900"/>
              </a:buClr>
              <a:buSzPct val="125000"/>
            </a:pPr>
            <a:r>
              <a:rPr lang="en-US" sz="1600">
                <a:solidFill>
                  <a:srgbClr val="990000"/>
                </a:solidFill>
                <a:latin typeface="Times New Roman" pitchFamily="18" charset="0"/>
              </a:rPr>
              <a:t>	public abstract double getArea();</a:t>
            </a:r>
          </a:p>
          <a:p>
            <a:pPr lvl="1">
              <a:lnSpc>
                <a:spcPct val="80000"/>
              </a:lnSpc>
              <a:spcBef>
                <a:spcPct val="20000"/>
              </a:spcBef>
              <a:buClr>
                <a:srgbClr val="FF9900"/>
              </a:buClr>
              <a:buSzPct val="125000"/>
            </a:pPr>
            <a:r>
              <a:rPr lang="en-US" sz="1600">
                <a:solidFill>
                  <a:srgbClr val="990000"/>
                </a:solidFill>
                <a:latin typeface="Times New Roman" pitchFamily="18" charset="0"/>
              </a:rPr>
              <a:t>}</a:t>
            </a:r>
          </a:p>
          <a:p>
            <a:pPr lvl="1">
              <a:lnSpc>
                <a:spcPct val="80000"/>
              </a:lnSpc>
              <a:spcBef>
                <a:spcPct val="20000"/>
              </a:spcBef>
              <a:buClr>
                <a:srgbClr val="FF9900"/>
              </a:buClr>
              <a:buSzPct val="125000"/>
            </a:pPr>
            <a:r>
              <a:rPr lang="en-US" sz="1600">
                <a:solidFill>
                  <a:srgbClr val="990000"/>
                </a:solidFill>
                <a:latin typeface="Times New Roman" pitchFamily="18" charset="0"/>
              </a:rPr>
              <a:t>   </a:t>
            </a:r>
          </a:p>
        </p:txBody>
      </p:sp>
      <p:sp>
        <p:nvSpPr>
          <p:cNvPr id="4103" name="Rectangle 8"/>
          <p:cNvSpPr>
            <a:spLocks noChangeArrowheads="1"/>
          </p:cNvSpPr>
          <p:nvPr/>
        </p:nvSpPr>
        <p:spPr bwMode="auto">
          <a:xfrm>
            <a:off x="762000" y="5562600"/>
            <a:ext cx="5181600" cy="457200"/>
          </a:xfrm>
          <a:prstGeom prst="rect">
            <a:avLst/>
          </a:prstGeom>
          <a:noFill/>
          <a:ln w="9525">
            <a:noFill/>
            <a:miter lim="800000"/>
            <a:headEnd/>
            <a:tailEnd/>
          </a:ln>
        </p:spPr>
        <p:txBody>
          <a:bodyPr/>
          <a:lstStyle/>
          <a:p>
            <a:pPr marL="342900" indent="-342900">
              <a:spcBef>
                <a:spcPct val="20000"/>
              </a:spcBef>
              <a:buClr>
                <a:srgbClr val="FF9900"/>
              </a:buClr>
              <a:buSzPct val="125000"/>
              <a:buFontTx/>
              <a:buChar char="•"/>
            </a:pPr>
            <a:r>
              <a:rPr lang="en-US" b="1" dirty="0">
                <a:latin typeface="Trebuchet MS" pitchFamily="34" charset="0"/>
              </a:rPr>
              <a:t>Abstract class </a:t>
            </a:r>
            <a:endParaRPr lang="en-US" sz="2800" b="1" dirty="0">
              <a:latin typeface="Calibri" pitchFamily="34" charset="0"/>
            </a:endParaRPr>
          </a:p>
          <a:p>
            <a:pPr marL="742950" lvl="1" indent="-285750">
              <a:spcBef>
                <a:spcPct val="20000"/>
              </a:spcBef>
              <a:buClr>
                <a:srgbClr val="FF9900"/>
              </a:buClr>
              <a:buSzPct val="125000"/>
              <a:buFontTx/>
              <a:buChar char="–"/>
            </a:pPr>
            <a:endParaRPr lang="en-US" sz="1400" b="1" dirty="0">
              <a:latin typeface="Trebuchet MS" pitchFamily="34" charset="0"/>
            </a:endParaRPr>
          </a:p>
        </p:txBody>
      </p:sp>
      <p:sp>
        <p:nvSpPr>
          <p:cNvPr id="4105" name="Rectangle 10"/>
          <p:cNvSpPr>
            <a:spLocks noChangeArrowheads="1"/>
          </p:cNvSpPr>
          <p:nvPr/>
        </p:nvSpPr>
        <p:spPr bwMode="auto">
          <a:xfrm>
            <a:off x="990600" y="2133600"/>
            <a:ext cx="5105400" cy="2438400"/>
          </a:xfrm>
          <a:prstGeom prst="rect">
            <a:avLst/>
          </a:prstGeom>
          <a:noFill/>
          <a:ln w="9525">
            <a:solidFill>
              <a:schemeClr val="tx1"/>
            </a:solidFill>
            <a:miter lim="800000"/>
            <a:headEnd/>
            <a:tailEnd/>
          </a:ln>
        </p:spPr>
        <p:txBody>
          <a:bodyPr wrap="none" anchor="ctr"/>
          <a:lstStyle/>
          <a:p>
            <a:endParaRPr lang="en-US">
              <a:latin typeface="Calibri" pitchFamily="34" charset="0"/>
            </a:endParaRPr>
          </a:p>
        </p:txBody>
      </p:sp>
    </p:spTree>
    <p:extLst>
      <p:ext uri="{BB962C8B-B14F-4D97-AF65-F5344CB8AC3E}">
        <p14:creationId xmlns:p14="http://schemas.microsoft.com/office/powerpoint/2010/main" val="18335029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0" y="274638"/>
            <a:ext cx="9144000" cy="563562"/>
          </a:xfrm>
          <a:prstGeom prst="rect">
            <a:avLst/>
          </a:prstGeom>
        </p:spPr>
        <p:style>
          <a:lnRef idx="1">
            <a:schemeClr val="accent1"/>
          </a:lnRef>
          <a:fillRef idx="2">
            <a:schemeClr val="accent1"/>
          </a:fillRef>
          <a:effectRef idx="1">
            <a:schemeClr val="accent1"/>
          </a:effectRef>
          <a:fontRef idx="minor">
            <a:schemeClr val="dk1"/>
          </a:fontRef>
        </p:style>
        <p:txBody>
          <a:bodyPr anchor="ctr">
            <a:normAutofit fontScale="82500" lnSpcReduction="20000"/>
          </a:bodyPr>
          <a:lstStyle/>
          <a:p>
            <a:pPr fontAlgn="auto">
              <a:spcBef>
                <a:spcPts val="0"/>
              </a:spcBef>
              <a:spcAft>
                <a:spcPts val="0"/>
              </a:spcAft>
              <a:defRPr/>
            </a:pPr>
            <a:r>
              <a:rPr lang="en-US" sz="4400" b="1" dirty="0">
                <a:solidFill>
                  <a:schemeClr val="accent1">
                    <a:lumMod val="75000"/>
                  </a:schemeClr>
                </a:solidFill>
                <a:effectLst>
                  <a:outerShdw blurRad="38100" dist="38100" dir="2700000" algn="tl">
                    <a:srgbClr val="000000">
                      <a:alpha val="43137"/>
                    </a:srgbClr>
                  </a:outerShdw>
                </a:effectLst>
              </a:rPr>
              <a:t>Exploring OOPS - Polymorphism</a:t>
            </a:r>
          </a:p>
        </p:txBody>
      </p:sp>
      <p:sp>
        <p:nvSpPr>
          <p:cNvPr id="22532" name="Rectangle 7"/>
          <p:cNvSpPr>
            <a:spLocks noChangeArrowheads="1"/>
          </p:cNvSpPr>
          <p:nvPr/>
        </p:nvSpPr>
        <p:spPr bwMode="auto">
          <a:xfrm>
            <a:off x="533400" y="1219200"/>
            <a:ext cx="7467600" cy="5324475"/>
          </a:xfrm>
          <a:prstGeom prst="rect">
            <a:avLst/>
          </a:prstGeom>
          <a:noFill/>
          <a:ln w="9525">
            <a:solidFill>
              <a:schemeClr val="tx1"/>
            </a:solidFill>
            <a:miter lim="800000"/>
            <a:headEnd/>
            <a:tailEnd/>
          </a:ln>
        </p:spPr>
        <p:txBody>
          <a:bodyPr>
            <a:spAutoFit/>
          </a:bodyPr>
          <a:lstStyle/>
          <a:p>
            <a:pPr lvl="1"/>
            <a:r>
              <a:rPr lang="en-US" sz="2000" dirty="0">
                <a:latin typeface="Times New Roman" pitchFamily="18" charset="0"/>
              </a:rPr>
              <a:t>public abstract class Shape</a:t>
            </a:r>
          </a:p>
          <a:p>
            <a:pPr lvl="1"/>
            <a:r>
              <a:rPr lang="en-US" sz="2000" dirty="0">
                <a:latin typeface="Times New Roman" pitchFamily="18" charset="0"/>
              </a:rPr>
              <a:t>{</a:t>
            </a:r>
          </a:p>
          <a:p>
            <a:pPr lvl="1"/>
            <a:r>
              <a:rPr lang="en-US" sz="2000" dirty="0">
                <a:latin typeface="Times New Roman" pitchFamily="18" charset="0"/>
              </a:rPr>
              <a:t>    public abstract </a:t>
            </a:r>
            <a:r>
              <a:rPr lang="en-US" sz="2000" dirty="0" err="1">
                <a:latin typeface="Times New Roman" pitchFamily="18" charset="0"/>
              </a:rPr>
              <a:t>int</a:t>
            </a:r>
            <a:r>
              <a:rPr lang="en-US" sz="2000" dirty="0">
                <a:latin typeface="Times New Roman" pitchFamily="18" charset="0"/>
              </a:rPr>
              <a:t> </a:t>
            </a:r>
            <a:r>
              <a:rPr lang="en-US" sz="2000" dirty="0" err="1">
                <a:latin typeface="Times New Roman" pitchFamily="18" charset="0"/>
              </a:rPr>
              <a:t>getArea</a:t>
            </a:r>
            <a:r>
              <a:rPr lang="en-US" sz="2000" dirty="0">
                <a:latin typeface="Times New Roman" pitchFamily="18" charset="0"/>
              </a:rPr>
              <a:t>();</a:t>
            </a:r>
          </a:p>
          <a:p>
            <a:pPr lvl="1"/>
            <a:r>
              <a:rPr lang="en-US" sz="2000" dirty="0">
                <a:latin typeface="Times New Roman" pitchFamily="18" charset="0"/>
              </a:rPr>
              <a:t>}</a:t>
            </a:r>
          </a:p>
          <a:p>
            <a:pPr lvl="1"/>
            <a:endParaRPr lang="en-US" sz="2000" dirty="0">
              <a:latin typeface="Times New Roman" pitchFamily="18" charset="0"/>
            </a:endParaRPr>
          </a:p>
          <a:p>
            <a:pPr lvl="1"/>
            <a:r>
              <a:rPr lang="en-US" sz="2000" dirty="0">
                <a:latin typeface="Times New Roman" pitchFamily="18" charset="0"/>
              </a:rPr>
              <a:t>public class Square extends Shape </a:t>
            </a:r>
          </a:p>
          <a:p>
            <a:pPr lvl="1"/>
            <a:r>
              <a:rPr lang="en-US" sz="2000" dirty="0">
                <a:latin typeface="Times New Roman" pitchFamily="18" charset="0"/>
              </a:rPr>
              <a:t>{</a:t>
            </a:r>
          </a:p>
          <a:p>
            <a:pPr lvl="1"/>
            <a:r>
              <a:rPr lang="en-US" sz="2000" dirty="0">
                <a:latin typeface="Times New Roman" pitchFamily="18" charset="0"/>
              </a:rPr>
              <a:t>   public </a:t>
            </a:r>
            <a:r>
              <a:rPr lang="en-US" sz="2000" dirty="0" err="1">
                <a:latin typeface="Times New Roman" pitchFamily="18" charset="0"/>
              </a:rPr>
              <a:t>int</a:t>
            </a:r>
            <a:r>
              <a:rPr lang="en-US" sz="2000" dirty="0">
                <a:latin typeface="Times New Roman" pitchFamily="18" charset="0"/>
              </a:rPr>
              <a:t> </a:t>
            </a:r>
            <a:r>
              <a:rPr lang="en-US" sz="2000" dirty="0" err="1">
                <a:latin typeface="Times New Roman" pitchFamily="18" charset="0"/>
              </a:rPr>
              <a:t>getArea</a:t>
            </a:r>
            <a:r>
              <a:rPr lang="en-US" sz="2000" dirty="0">
                <a:latin typeface="Times New Roman" pitchFamily="18" charset="0"/>
              </a:rPr>
              <a:t>(</a:t>
            </a:r>
            <a:r>
              <a:rPr lang="en-US" sz="2000" dirty="0" err="1">
                <a:latin typeface="Times New Roman" pitchFamily="18" charset="0"/>
              </a:rPr>
              <a:t>int</a:t>
            </a:r>
            <a:r>
              <a:rPr lang="en-US" sz="2000" dirty="0">
                <a:latin typeface="Times New Roman" pitchFamily="18" charset="0"/>
              </a:rPr>
              <a:t> s) {  return s*s; }</a:t>
            </a:r>
          </a:p>
          <a:p>
            <a:pPr lvl="1"/>
            <a:r>
              <a:rPr lang="en-US" sz="2000" dirty="0">
                <a:latin typeface="Times New Roman" pitchFamily="18" charset="0"/>
              </a:rPr>
              <a:t>   public </a:t>
            </a:r>
            <a:r>
              <a:rPr lang="en-US" sz="2000" dirty="0" err="1">
                <a:latin typeface="Times New Roman" pitchFamily="18" charset="0"/>
              </a:rPr>
              <a:t>int</a:t>
            </a:r>
            <a:r>
              <a:rPr lang="en-US" sz="2000" dirty="0">
                <a:latin typeface="Times New Roman" pitchFamily="18" charset="0"/>
              </a:rPr>
              <a:t> </a:t>
            </a:r>
            <a:r>
              <a:rPr lang="en-US" sz="2000" dirty="0" err="1">
                <a:latin typeface="Times New Roman" pitchFamily="18" charset="0"/>
              </a:rPr>
              <a:t>getArea</a:t>
            </a:r>
            <a:r>
              <a:rPr lang="en-US" sz="2000" dirty="0">
                <a:latin typeface="Times New Roman" pitchFamily="18" charset="0"/>
              </a:rPr>
              <a:t>()  { </a:t>
            </a:r>
            <a:r>
              <a:rPr lang="en-US" sz="2000" dirty="0" smtClean="0">
                <a:latin typeface="Times New Roman" pitchFamily="18" charset="0"/>
              </a:rPr>
              <a:t>return </a:t>
            </a:r>
            <a:r>
              <a:rPr lang="en-US" sz="2000" dirty="0" err="1">
                <a:latin typeface="Times New Roman" pitchFamily="18" charset="0"/>
              </a:rPr>
              <a:t>getArea</a:t>
            </a:r>
            <a:r>
              <a:rPr lang="en-US" sz="2000" dirty="0">
                <a:latin typeface="Times New Roman" pitchFamily="18" charset="0"/>
              </a:rPr>
              <a:t>(1); }</a:t>
            </a:r>
          </a:p>
          <a:p>
            <a:pPr lvl="1"/>
            <a:r>
              <a:rPr lang="en-US" sz="2000" dirty="0">
                <a:latin typeface="Times New Roman" pitchFamily="18" charset="0"/>
              </a:rPr>
              <a:t>}</a:t>
            </a:r>
          </a:p>
          <a:p>
            <a:pPr lvl="1"/>
            <a:endParaRPr lang="en-US" sz="2000" dirty="0">
              <a:latin typeface="Times New Roman" pitchFamily="18" charset="0"/>
            </a:endParaRPr>
          </a:p>
          <a:p>
            <a:pPr lvl="1"/>
            <a:r>
              <a:rPr lang="en-US" sz="2000" dirty="0">
                <a:latin typeface="Times New Roman" pitchFamily="18" charset="0"/>
              </a:rPr>
              <a:t>p</a:t>
            </a:r>
            <a:r>
              <a:rPr lang="en-US" sz="2000" dirty="0" smtClean="0">
                <a:latin typeface="Times New Roman" pitchFamily="18" charset="0"/>
              </a:rPr>
              <a:t>ublic </a:t>
            </a:r>
            <a:r>
              <a:rPr lang="en-US" sz="2000" dirty="0">
                <a:latin typeface="Times New Roman" pitchFamily="18" charset="0"/>
              </a:rPr>
              <a:t>class Rectangle extends Shape</a:t>
            </a:r>
          </a:p>
          <a:p>
            <a:pPr lvl="1"/>
            <a:r>
              <a:rPr lang="en-US" sz="2000" dirty="0">
                <a:latin typeface="Times New Roman" pitchFamily="18" charset="0"/>
              </a:rPr>
              <a:t>{</a:t>
            </a:r>
          </a:p>
          <a:p>
            <a:pPr lvl="1"/>
            <a:r>
              <a:rPr lang="en-US" sz="2000" dirty="0">
                <a:latin typeface="Times New Roman" pitchFamily="18" charset="0"/>
              </a:rPr>
              <a:t>    public </a:t>
            </a:r>
            <a:r>
              <a:rPr lang="en-US" sz="2000" dirty="0" err="1">
                <a:latin typeface="Times New Roman" pitchFamily="18" charset="0"/>
              </a:rPr>
              <a:t>int</a:t>
            </a:r>
            <a:r>
              <a:rPr lang="en-US" sz="2000" dirty="0">
                <a:latin typeface="Times New Roman" pitchFamily="18" charset="0"/>
              </a:rPr>
              <a:t> </a:t>
            </a:r>
            <a:r>
              <a:rPr lang="en-US" sz="2000" dirty="0" err="1">
                <a:latin typeface="Times New Roman" pitchFamily="18" charset="0"/>
              </a:rPr>
              <a:t>getArea</a:t>
            </a:r>
            <a:r>
              <a:rPr lang="en-US" sz="2000" dirty="0">
                <a:latin typeface="Times New Roman" pitchFamily="18" charset="0"/>
              </a:rPr>
              <a:t>(</a:t>
            </a:r>
            <a:r>
              <a:rPr lang="en-US" sz="2000" dirty="0" err="1">
                <a:latin typeface="Times New Roman" pitchFamily="18" charset="0"/>
              </a:rPr>
              <a:t>int</a:t>
            </a:r>
            <a:r>
              <a:rPr lang="en-US" sz="2000" dirty="0">
                <a:latin typeface="Times New Roman" pitchFamily="18" charset="0"/>
              </a:rPr>
              <a:t> length, </a:t>
            </a:r>
            <a:r>
              <a:rPr lang="en-US" sz="2000" dirty="0" err="1">
                <a:latin typeface="Times New Roman" pitchFamily="18" charset="0"/>
              </a:rPr>
              <a:t>int</a:t>
            </a:r>
            <a:r>
              <a:rPr lang="en-US" sz="2000" dirty="0">
                <a:latin typeface="Times New Roman" pitchFamily="18" charset="0"/>
              </a:rPr>
              <a:t> breadth) { return length * breadth; }</a:t>
            </a:r>
          </a:p>
          <a:p>
            <a:pPr lvl="1"/>
            <a:r>
              <a:rPr lang="en-US" sz="2000" dirty="0">
                <a:latin typeface="Times New Roman" pitchFamily="18" charset="0"/>
              </a:rPr>
              <a:t>    public </a:t>
            </a:r>
            <a:r>
              <a:rPr lang="en-US" sz="2000" dirty="0" err="1">
                <a:latin typeface="Times New Roman" pitchFamily="18" charset="0"/>
              </a:rPr>
              <a:t>int</a:t>
            </a:r>
            <a:r>
              <a:rPr lang="en-US" sz="2000" dirty="0">
                <a:latin typeface="Times New Roman" pitchFamily="18" charset="0"/>
              </a:rPr>
              <a:t> </a:t>
            </a:r>
            <a:r>
              <a:rPr lang="en-US" sz="2000" dirty="0" err="1">
                <a:latin typeface="Times New Roman" pitchFamily="18" charset="0"/>
              </a:rPr>
              <a:t>getArea</a:t>
            </a:r>
            <a:r>
              <a:rPr lang="en-US" sz="2000" dirty="0">
                <a:latin typeface="Times New Roman" pitchFamily="18" charset="0"/>
              </a:rPr>
              <a:t>() { return </a:t>
            </a:r>
            <a:r>
              <a:rPr lang="en-US" sz="2000" dirty="0" err="1">
                <a:latin typeface="Times New Roman" pitchFamily="18" charset="0"/>
              </a:rPr>
              <a:t>getArea</a:t>
            </a:r>
            <a:r>
              <a:rPr lang="en-US" sz="2000" dirty="0">
                <a:latin typeface="Times New Roman" pitchFamily="18" charset="0"/>
              </a:rPr>
              <a:t>(1,1); }</a:t>
            </a:r>
          </a:p>
          <a:p>
            <a:pPr lvl="1"/>
            <a:r>
              <a:rPr lang="en-US" sz="2000" dirty="0">
                <a:latin typeface="Times New Roman" pitchFamily="18" charset="0"/>
              </a:rPr>
              <a:t>}</a:t>
            </a:r>
          </a:p>
        </p:txBody>
      </p:sp>
    </p:spTree>
    <p:extLst>
      <p:ext uri="{BB962C8B-B14F-4D97-AF65-F5344CB8AC3E}">
        <p14:creationId xmlns:p14="http://schemas.microsoft.com/office/powerpoint/2010/main" val="25675954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2"/>
          <p:cNvSpPr>
            <a:spLocks noChangeArrowheads="1"/>
          </p:cNvSpPr>
          <p:nvPr/>
        </p:nvSpPr>
        <p:spPr bwMode="auto">
          <a:xfrm>
            <a:off x="304800" y="1295400"/>
            <a:ext cx="3962400" cy="2971800"/>
          </a:xfrm>
          <a:prstGeom prst="rect">
            <a:avLst/>
          </a:prstGeom>
          <a:noFill/>
          <a:ln w="9525">
            <a:solidFill>
              <a:schemeClr val="tx1"/>
            </a:solidFill>
            <a:miter lim="800000"/>
            <a:headEnd/>
            <a:tailEnd/>
          </a:ln>
        </p:spPr>
        <p:txBody>
          <a:bodyPr lIns="0" tIns="0" rIns="0" bIns="0"/>
          <a:lstStyle/>
          <a:p>
            <a:pPr lvl="1"/>
            <a:r>
              <a:rPr lang="en-US">
                <a:latin typeface="Times New Roman" pitchFamily="18" charset="0"/>
              </a:rPr>
              <a:t>public class Shape</a:t>
            </a:r>
          </a:p>
          <a:p>
            <a:pPr lvl="1"/>
            <a:r>
              <a:rPr lang="en-US">
                <a:latin typeface="Times New Roman" pitchFamily="18" charset="0"/>
              </a:rPr>
              <a:t>{</a:t>
            </a:r>
          </a:p>
          <a:p>
            <a:pPr lvl="1"/>
            <a:r>
              <a:rPr lang="en-US">
                <a:latin typeface="Times New Roman" pitchFamily="18" charset="0"/>
              </a:rPr>
              <a:t>    public void display()  {</a:t>
            </a:r>
          </a:p>
          <a:p>
            <a:pPr lvl="1"/>
            <a:r>
              <a:rPr lang="en-US">
                <a:latin typeface="Times New Roman" pitchFamily="18" charset="0"/>
              </a:rPr>
              <a:t>        System.out.println(“In Shape”);</a:t>
            </a:r>
          </a:p>
          <a:p>
            <a:pPr lvl="1"/>
            <a:r>
              <a:rPr lang="en-US">
                <a:latin typeface="Times New Roman" pitchFamily="18" charset="0"/>
              </a:rPr>
              <a:t>    }</a:t>
            </a:r>
          </a:p>
          <a:p>
            <a:pPr lvl="1"/>
            <a:r>
              <a:rPr lang="en-US">
                <a:latin typeface="Times New Roman" pitchFamily="18" charset="0"/>
              </a:rPr>
              <a:t>}</a:t>
            </a:r>
          </a:p>
          <a:p>
            <a:pPr lvl="1"/>
            <a:r>
              <a:rPr lang="en-US">
                <a:latin typeface="Times New Roman" pitchFamily="18" charset="0"/>
              </a:rPr>
              <a:t>public class Square extends Shape </a:t>
            </a:r>
          </a:p>
          <a:p>
            <a:pPr lvl="1"/>
            <a:r>
              <a:rPr lang="en-US">
                <a:latin typeface="Times New Roman" pitchFamily="18" charset="0"/>
              </a:rPr>
              <a:t>{</a:t>
            </a:r>
          </a:p>
          <a:p>
            <a:pPr lvl="1"/>
            <a:r>
              <a:rPr lang="en-US">
                <a:latin typeface="Times New Roman" pitchFamily="18" charset="0"/>
              </a:rPr>
              <a:t>   public void display()  {</a:t>
            </a:r>
          </a:p>
          <a:p>
            <a:pPr lvl="1"/>
            <a:r>
              <a:rPr lang="en-US">
                <a:latin typeface="Times New Roman" pitchFamily="18" charset="0"/>
              </a:rPr>
              <a:t>      System.out.println(“In Square”);</a:t>
            </a:r>
          </a:p>
          <a:p>
            <a:pPr lvl="1"/>
            <a:r>
              <a:rPr lang="en-US">
                <a:latin typeface="Times New Roman" pitchFamily="18" charset="0"/>
              </a:rPr>
              <a:t>   }</a:t>
            </a:r>
          </a:p>
          <a:p>
            <a:pPr lvl="1"/>
            <a:r>
              <a:rPr lang="en-US">
                <a:latin typeface="Times New Roman" pitchFamily="18" charset="0"/>
              </a:rPr>
              <a:t>}</a:t>
            </a:r>
          </a:p>
          <a:p>
            <a:pPr lvl="1"/>
            <a:endParaRPr lang="en-US" sz="1600">
              <a:solidFill>
                <a:srgbClr val="990000"/>
              </a:solidFill>
              <a:latin typeface="Times New Roman" pitchFamily="18" charset="0"/>
            </a:endParaRPr>
          </a:p>
        </p:txBody>
      </p:sp>
      <p:sp>
        <p:nvSpPr>
          <p:cNvPr id="23555" name="Rectangle 13"/>
          <p:cNvSpPr>
            <a:spLocks noChangeArrowheads="1"/>
          </p:cNvSpPr>
          <p:nvPr/>
        </p:nvSpPr>
        <p:spPr bwMode="auto">
          <a:xfrm>
            <a:off x="5334000" y="1371600"/>
            <a:ext cx="3048000" cy="646113"/>
          </a:xfrm>
          <a:prstGeom prst="rect">
            <a:avLst/>
          </a:prstGeom>
          <a:noFill/>
          <a:ln w="9525">
            <a:solidFill>
              <a:schemeClr val="tx1"/>
            </a:solidFill>
            <a:miter lim="800000"/>
            <a:headEnd/>
            <a:tailEnd/>
          </a:ln>
        </p:spPr>
        <p:txBody>
          <a:bodyPr>
            <a:spAutoFit/>
          </a:bodyPr>
          <a:lstStyle/>
          <a:p>
            <a:pPr lvl="1"/>
            <a:r>
              <a:rPr lang="en-US">
                <a:latin typeface="Times New Roman" pitchFamily="18" charset="0"/>
              </a:rPr>
              <a:t>Shape s1 = new Shape();</a:t>
            </a:r>
          </a:p>
          <a:p>
            <a:pPr lvl="1"/>
            <a:r>
              <a:rPr lang="en-US">
                <a:latin typeface="Times New Roman" pitchFamily="18" charset="0"/>
              </a:rPr>
              <a:t>s1.display();</a:t>
            </a:r>
          </a:p>
        </p:txBody>
      </p:sp>
      <p:sp>
        <p:nvSpPr>
          <p:cNvPr id="23556" name="Rectangle 14"/>
          <p:cNvSpPr>
            <a:spLocks noChangeArrowheads="1"/>
          </p:cNvSpPr>
          <p:nvPr/>
        </p:nvSpPr>
        <p:spPr bwMode="auto">
          <a:xfrm>
            <a:off x="5334000" y="2514600"/>
            <a:ext cx="3429000" cy="646113"/>
          </a:xfrm>
          <a:prstGeom prst="rect">
            <a:avLst/>
          </a:prstGeom>
          <a:noFill/>
          <a:ln w="9525">
            <a:solidFill>
              <a:schemeClr val="tx1"/>
            </a:solidFill>
            <a:miter lim="800000"/>
            <a:headEnd/>
            <a:tailEnd/>
          </a:ln>
        </p:spPr>
        <p:txBody>
          <a:bodyPr>
            <a:spAutoFit/>
          </a:bodyPr>
          <a:lstStyle/>
          <a:p>
            <a:pPr lvl="1"/>
            <a:r>
              <a:rPr lang="en-US">
                <a:latin typeface="Times New Roman" pitchFamily="18" charset="0"/>
              </a:rPr>
              <a:t>Square s2 = new Square ();</a:t>
            </a:r>
          </a:p>
          <a:p>
            <a:pPr lvl="1"/>
            <a:r>
              <a:rPr lang="en-US">
                <a:latin typeface="Times New Roman" pitchFamily="18" charset="0"/>
              </a:rPr>
              <a:t>s2.display();</a:t>
            </a:r>
          </a:p>
        </p:txBody>
      </p:sp>
      <p:sp>
        <p:nvSpPr>
          <p:cNvPr id="23557" name="Rectangle 15"/>
          <p:cNvSpPr>
            <a:spLocks noChangeArrowheads="1"/>
          </p:cNvSpPr>
          <p:nvPr/>
        </p:nvSpPr>
        <p:spPr bwMode="auto">
          <a:xfrm>
            <a:off x="5334000" y="3581400"/>
            <a:ext cx="3429000" cy="646113"/>
          </a:xfrm>
          <a:prstGeom prst="rect">
            <a:avLst/>
          </a:prstGeom>
          <a:noFill/>
          <a:ln w="9525">
            <a:solidFill>
              <a:schemeClr val="tx1"/>
            </a:solidFill>
            <a:miter lim="800000"/>
            <a:headEnd/>
            <a:tailEnd/>
          </a:ln>
        </p:spPr>
        <p:txBody>
          <a:bodyPr>
            <a:spAutoFit/>
          </a:bodyPr>
          <a:lstStyle/>
          <a:p>
            <a:pPr lvl="1"/>
            <a:r>
              <a:rPr lang="en-US">
                <a:latin typeface="Times New Roman" pitchFamily="18" charset="0"/>
              </a:rPr>
              <a:t>Shape s3 = new Square ();</a:t>
            </a:r>
          </a:p>
          <a:p>
            <a:pPr lvl="1"/>
            <a:r>
              <a:rPr lang="en-US">
                <a:latin typeface="Times New Roman" pitchFamily="18" charset="0"/>
              </a:rPr>
              <a:t>s3.display();</a:t>
            </a:r>
          </a:p>
        </p:txBody>
      </p:sp>
      <p:sp>
        <p:nvSpPr>
          <p:cNvPr id="23558" name="Rectangle 17"/>
          <p:cNvSpPr>
            <a:spLocks noChangeArrowheads="1"/>
          </p:cNvSpPr>
          <p:nvPr/>
        </p:nvSpPr>
        <p:spPr bwMode="auto">
          <a:xfrm>
            <a:off x="1066800" y="4648200"/>
            <a:ext cx="1600200" cy="1905000"/>
          </a:xfrm>
          <a:prstGeom prst="rect">
            <a:avLst/>
          </a:prstGeom>
          <a:solidFill>
            <a:schemeClr val="accent1"/>
          </a:solidFill>
          <a:ln w="9525">
            <a:solidFill>
              <a:schemeClr val="tx1"/>
            </a:solidFill>
            <a:miter lim="800000"/>
            <a:headEnd/>
            <a:tailEnd/>
          </a:ln>
        </p:spPr>
        <p:txBody>
          <a:bodyPr wrap="none" anchor="ctr"/>
          <a:lstStyle/>
          <a:p>
            <a:pPr algn="ctr"/>
            <a:endParaRPr lang="en-US">
              <a:latin typeface="Calibri" pitchFamily="34" charset="0"/>
            </a:endParaRPr>
          </a:p>
          <a:p>
            <a:pPr algn="ctr"/>
            <a:r>
              <a:rPr lang="en-US">
                <a:latin typeface="Calibri" pitchFamily="34" charset="0"/>
              </a:rPr>
              <a:t>S3</a:t>
            </a:r>
          </a:p>
          <a:p>
            <a:pPr algn="ctr"/>
            <a:endParaRPr lang="en-US">
              <a:latin typeface="Calibri" pitchFamily="34" charset="0"/>
            </a:endParaRPr>
          </a:p>
          <a:p>
            <a:pPr algn="ctr"/>
            <a:r>
              <a:rPr lang="en-US">
                <a:latin typeface="Calibri" pitchFamily="34" charset="0"/>
              </a:rPr>
              <a:t>s2</a:t>
            </a:r>
          </a:p>
          <a:p>
            <a:pPr algn="ctr"/>
            <a:endParaRPr lang="en-US">
              <a:latin typeface="Calibri" pitchFamily="34" charset="0"/>
            </a:endParaRPr>
          </a:p>
          <a:p>
            <a:pPr algn="ctr"/>
            <a:r>
              <a:rPr lang="en-US">
                <a:latin typeface="Calibri" pitchFamily="34" charset="0"/>
              </a:rPr>
              <a:t>s1</a:t>
            </a:r>
          </a:p>
        </p:txBody>
      </p:sp>
      <p:sp>
        <p:nvSpPr>
          <p:cNvPr id="23559" name="AutoShape 18"/>
          <p:cNvSpPr>
            <a:spLocks noChangeArrowheads="1"/>
          </p:cNvSpPr>
          <p:nvPr/>
        </p:nvSpPr>
        <p:spPr bwMode="auto">
          <a:xfrm>
            <a:off x="4572000" y="4648200"/>
            <a:ext cx="3200400" cy="1295400"/>
          </a:xfrm>
          <a:prstGeom prst="cloudCallout">
            <a:avLst>
              <a:gd name="adj1" fmla="val -21579"/>
              <a:gd name="adj2" fmla="val 100611"/>
            </a:avLst>
          </a:prstGeom>
          <a:solidFill>
            <a:schemeClr val="accent1"/>
          </a:solidFill>
          <a:ln w="9525">
            <a:solidFill>
              <a:schemeClr val="tx1"/>
            </a:solidFill>
            <a:round/>
            <a:headEnd/>
            <a:tailEnd/>
          </a:ln>
        </p:spPr>
        <p:txBody>
          <a:bodyPr/>
          <a:lstStyle/>
          <a:p>
            <a:pPr algn="ctr"/>
            <a:endParaRPr lang="en-US">
              <a:latin typeface="Calibri" pitchFamily="34" charset="0"/>
            </a:endParaRPr>
          </a:p>
        </p:txBody>
      </p:sp>
      <p:sp>
        <p:nvSpPr>
          <p:cNvPr id="23560" name="Rectangle 19"/>
          <p:cNvSpPr>
            <a:spLocks noChangeArrowheads="1"/>
          </p:cNvSpPr>
          <p:nvPr/>
        </p:nvSpPr>
        <p:spPr bwMode="auto">
          <a:xfrm>
            <a:off x="5257800" y="6019800"/>
            <a:ext cx="844550" cy="838200"/>
          </a:xfrm>
          <a:prstGeom prst="rect">
            <a:avLst/>
          </a:prstGeom>
          <a:solidFill>
            <a:schemeClr val="bg1"/>
          </a:solidFill>
          <a:ln w="9525">
            <a:solidFill>
              <a:schemeClr val="bg1"/>
            </a:solidFill>
            <a:miter lim="800000"/>
            <a:headEnd/>
            <a:tailEnd/>
          </a:ln>
        </p:spPr>
        <p:txBody>
          <a:bodyPr wrap="none" anchor="ctr"/>
          <a:lstStyle/>
          <a:p>
            <a:pPr algn="ctr"/>
            <a:endParaRPr lang="en-US">
              <a:solidFill>
                <a:schemeClr val="bg1"/>
              </a:solidFill>
              <a:latin typeface="Calibri" pitchFamily="34" charset="0"/>
            </a:endParaRPr>
          </a:p>
        </p:txBody>
      </p:sp>
      <p:sp>
        <p:nvSpPr>
          <p:cNvPr id="23561" name="Oval 21"/>
          <p:cNvSpPr>
            <a:spLocks noChangeArrowheads="1"/>
          </p:cNvSpPr>
          <p:nvPr/>
        </p:nvSpPr>
        <p:spPr bwMode="auto">
          <a:xfrm>
            <a:off x="6019800" y="4953000"/>
            <a:ext cx="381000" cy="381000"/>
          </a:xfrm>
          <a:prstGeom prst="ellipse">
            <a:avLst/>
          </a:prstGeom>
          <a:noFill/>
          <a:ln w="9525">
            <a:solidFill>
              <a:schemeClr val="tx1"/>
            </a:solidFill>
            <a:round/>
            <a:headEnd/>
            <a:tailEnd/>
          </a:ln>
        </p:spPr>
        <p:txBody>
          <a:bodyPr wrap="none" anchor="ctr"/>
          <a:lstStyle/>
          <a:p>
            <a:endParaRPr lang="en-US">
              <a:latin typeface="Calibri" pitchFamily="34" charset="0"/>
            </a:endParaRPr>
          </a:p>
        </p:txBody>
      </p:sp>
      <p:sp>
        <p:nvSpPr>
          <p:cNvPr id="23562" name="Oval 22"/>
          <p:cNvSpPr>
            <a:spLocks noChangeArrowheads="1"/>
          </p:cNvSpPr>
          <p:nvPr/>
        </p:nvSpPr>
        <p:spPr bwMode="auto">
          <a:xfrm>
            <a:off x="5181600" y="5257800"/>
            <a:ext cx="381000" cy="381000"/>
          </a:xfrm>
          <a:prstGeom prst="ellipse">
            <a:avLst/>
          </a:prstGeom>
          <a:noFill/>
          <a:ln w="9525">
            <a:solidFill>
              <a:schemeClr val="tx1"/>
            </a:solidFill>
            <a:round/>
            <a:headEnd/>
            <a:tailEnd/>
          </a:ln>
        </p:spPr>
        <p:txBody>
          <a:bodyPr wrap="none" anchor="ctr"/>
          <a:lstStyle/>
          <a:p>
            <a:endParaRPr lang="en-US">
              <a:latin typeface="Calibri" pitchFamily="34" charset="0"/>
            </a:endParaRPr>
          </a:p>
        </p:txBody>
      </p:sp>
      <p:sp>
        <p:nvSpPr>
          <p:cNvPr id="23563" name="Line 23"/>
          <p:cNvSpPr>
            <a:spLocks noChangeShapeType="1"/>
          </p:cNvSpPr>
          <p:nvPr/>
        </p:nvSpPr>
        <p:spPr bwMode="auto">
          <a:xfrm>
            <a:off x="1066800" y="6096000"/>
            <a:ext cx="1600200" cy="0"/>
          </a:xfrm>
          <a:prstGeom prst="line">
            <a:avLst/>
          </a:prstGeom>
          <a:noFill/>
          <a:ln w="9525">
            <a:solidFill>
              <a:schemeClr val="tx1"/>
            </a:solidFill>
            <a:round/>
            <a:headEnd/>
            <a:tailEnd/>
          </a:ln>
        </p:spPr>
        <p:txBody>
          <a:bodyPr/>
          <a:lstStyle/>
          <a:p>
            <a:endParaRPr lang="en-US"/>
          </a:p>
        </p:txBody>
      </p:sp>
      <p:sp>
        <p:nvSpPr>
          <p:cNvPr id="23564" name="Line 24"/>
          <p:cNvSpPr>
            <a:spLocks noChangeShapeType="1"/>
          </p:cNvSpPr>
          <p:nvPr/>
        </p:nvSpPr>
        <p:spPr bwMode="auto">
          <a:xfrm>
            <a:off x="1066800" y="5562600"/>
            <a:ext cx="1600200" cy="0"/>
          </a:xfrm>
          <a:prstGeom prst="line">
            <a:avLst/>
          </a:prstGeom>
          <a:noFill/>
          <a:ln w="9525">
            <a:solidFill>
              <a:schemeClr val="tx1"/>
            </a:solidFill>
            <a:round/>
            <a:headEnd/>
            <a:tailEnd/>
          </a:ln>
        </p:spPr>
        <p:txBody>
          <a:bodyPr/>
          <a:lstStyle/>
          <a:p>
            <a:endParaRPr lang="en-US"/>
          </a:p>
        </p:txBody>
      </p:sp>
      <p:sp>
        <p:nvSpPr>
          <p:cNvPr id="23565" name="Line 25"/>
          <p:cNvSpPr>
            <a:spLocks noChangeShapeType="1"/>
          </p:cNvSpPr>
          <p:nvPr/>
        </p:nvSpPr>
        <p:spPr bwMode="auto">
          <a:xfrm>
            <a:off x="1066800" y="5105400"/>
            <a:ext cx="1600200" cy="0"/>
          </a:xfrm>
          <a:prstGeom prst="line">
            <a:avLst/>
          </a:prstGeom>
          <a:noFill/>
          <a:ln w="9525">
            <a:solidFill>
              <a:schemeClr val="tx1"/>
            </a:solidFill>
            <a:round/>
            <a:headEnd/>
            <a:tailEnd/>
          </a:ln>
        </p:spPr>
        <p:txBody>
          <a:bodyPr/>
          <a:lstStyle/>
          <a:p>
            <a:endParaRPr lang="en-US"/>
          </a:p>
        </p:txBody>
      </p:sp>
      <p:sp>
        <p:nvSpPr>
          <p:cNvPr id="23566" name="Text Box 26"/>
          <p:cNvSpPr txBox="1">
            <a:spLocks noChangeArrowheads="1"/>
          </p:cNvSpPr>
          <p:nvPr/>
        </p:nvSpPr>
        <p:spPr bwMode="auto">
          <a:xfrm>
            <a:off x="6096000" y="5257800"/>
            <a:ext cx="806450" cy="366713"/>
          </a:xfrm>
          <a:prstGeom prst="rect">
            <a:avLst/>
          </a:prstGeom>
          <a:noFill/>
          <a:ln w="9525">
            <a:noFill/>
            <a:miter lim="800000"/>
            <a:headEnd/>
            <a:tailEnd/>
          </a:ln>
        </p:spPr>
        <p:txBody>
          <a:bodyPr wrap="none">
            <a:spAutoFit/>
          </a:bodyPr>
          <a:lstStyle/>
          <a:p>
            <a:r>
              <a:rPr lang="en-US">
                <a:latin typeface="Calibri" pitchFamily="34" charset="0"/>
              </a:rPr>
              <a:t>shape</a:t>
            </a:r>
          </a:p>
        </p:txBody>
      </p:sp>
      <p:sp>
        <p:nvSpPr>
          <p:cNvPr id="23567" name="Text Box 27"/>
          <p:cNvSpPr txBox="1">
            <a:spLocks noChangeArrowheads="1"/>
          </p:cNvSpPr>
          <p:nvPr/>
        </p:nvSpPr>
        <p:spPr bwMode="auto">
          <a:xfrm>
            <a:off x="4953000" y="4876800"/>
            <a:ext cx="882650" cy="366713"/>
          </a:xfrm>
          <a:prstGeom prst="rect">
            <a:avLst/>
          </a:prstGeom>
          <a:noFill/>
          <a:ln w="9525">
            <a:noFill/>
            <a:miter lim="800000"/>
            <a:headEnd/>
            <a:tailEnd/>
          </a:ln>
        </p:spPr>
        <p:txBody>
          <a:bodyPr wrap="none">
            <a:spAutoFit/>
          </a:bodyPr>
          <a:lstStyle/>
          <a:p>
            <a:r>
              <a:rPr lang="en-US">
                <a:latin typeface="Calibri" pitchFamily="34" charset="0"/>
              </a:rPr>
              <a:t>square</a:t>
            </a:r>
          </a:p>
        </p:txBody>
      </p:sp>
      <p:cxnSp>
        <p:nvCxnSpPr>
          <p:cNvPr id="23568" name="AutoShape 28"/>
          <p:cNvCxnSpPr>
            <a:cxnSpLocks noChangeShapeType="1"/>
            <a:stCxn id="23558" idx="2"/>
            <a:endCxn id="23561" idx="6"/>
          </p:cNvCxnSpPr>
          <p:nvPr/>
        </p:nvCxnSpPr>
        <p:spPr bwMode="auto">
          <a:xfrm rot="5400000" flipH="1" flipV="1">
            <a:off x="3429000" y="3581400"/>
            <a:ext cx="1409700" cy="4533900"/>
          </a:xfrm>
          <a:prstGeom prst="curvedConnector4">
            <a:avLst>
              <a:gd name="adj1" fmla="val -16218"/>
              <a:gd name="adj2" fmla="val 105042"/>
            </a:avLst>
          </a:prstGeom>
          <a:noFill/>
          <a:ln w="9525">
            <a:solidFill>
              <a:schemeClr val="tx1"/>
            </a:solidFill>
            <a:round/>
            <a:headEnd/>
            <a:tailEnd type="triangle" w="med" len="med"/>
          </a:ln>
        </p:spPr>
      </p:cxnSp>
      <p:cxnSp>
        <p:nvCxnSpPr>
          <p:cNvPr id="23569" name="AutoShape 29"/>
          <p:cNvCxnSpPr>
            <a:cxnSpLocks noChangeShapeType="1"/>
          </p:cNvCxnSpPr>
          <p:nvPr/>
        </p:nvCxnSpPr>
        <p:spPr bwMode="auto">
          <a:xfrm flipV="1">
            <a:off x="2667000" y="5562600"/>
            <a:ext cx="2840038" cy="17463"/>
          </a:xfrm>
          <a:prstGeom prst="curvedConnector4">
            <a:avLst>
              <a:gd name="adj1" fmla="val 44269"/>
              <a:gd name="adj2" fmla="val -1527273"/>
            </a:avLst>
          </a:prstGeom>
          <a:noFill/>
          <a:ln w="9525">
            <a:solidFill>
              <a:schemeClr val="tx1"/>
            </a:solidFill>
            <a:round/>
            <a:headEnd/>
            <a:tailEnd type="triangle" w="med" len="med"/>
          </a:ln>
        </p:spPr>
      </p:cxnSp>
      <p:cxnSp>
        <p:nvCxnSpPr>
          <p:cNvPr id="23570" name="AutoShape 30"/>
          <p:cNvCxnSpPr>
            <a:cxnSpLocks noChangeShapeType="1"/>
            <a:stCxn id="23565" idx="1"/>
            <a:endCxn id="23562" idx="0"/>
          </p:cNvCxnSpPr>
          <p:nvPr/>
        </p:nvCxnSpPr>
        <p:spPr bwMode="auto">
          <a:xfrm rot="16200000" flipH="1">
            <a:off x="3943350" y="3829050"/>
            <a:ext cx="152400" cy="2705100"/>
          </a:xfrm>
          <a:prstGeom prst="curvedConnector3">
            <a:avLst>
              <a:gd name="adj1" fmla="val 50000"/>
            </a:avLst>
          </a:prstGeom>
          <a:noFill/>
          <a:ln w="9525">
            <a:solidFill>
              <a:schemeClr val="tx1"/>
            </a:solidFill>
            <a:round/>
            <a:headEnd/>
            <a:tailEnd type="triangle" w="med" len="med"/>
          </a:ln>
        </p:spPr>
      </p:cxnSp>
      <p:sp>
        <p:nvSpPr>
          <p:cNvPr id="23" name="Title 1"/>
          <p:cNvSpPr txBox="1">
            <a:spLocks/>
          </p:cNvSpPr>
          <p:nvPr/>
        </p:nvSpPr>
        <p:spPr>
          <a:xfrm>
            <a:off x="0" y="274638"/>
            <a:ext cx="9144000" cy="563562"/>
          </a:xfrm>
          <a:prstGeom prst="rect">
            <a:avLst/>
          </a:prstGeom>
        </p:spPr>
        <p:style>
          <a:lnRef idx="1">
            <a:schemeClr val="accent1"/>
          </a:lnRef>
          <a:fillRef idx="2">
            <a:schemeClr val="accent1"/>
          </a:fillRef>
          <a:effectRef idx="1">
            <a:schemeClr val="accent1"/>
          </a:effectRef>
          <a:fontRef idx="minor">
            <a:schemeClr val="dk1"/>
          </a:fontRef>
        </p:style>
        <p:txBody>
          <a:bodyPr anchor="ctr">
            <a:normAutofit fontScale="82500" lnSpcReduction="20000"/>
          </a:bodyPr>
          <a:lstStyle/>
          <a:p>
            <a:pPr fontAlgn="auto">
              <a:spcBef>
                <a:spcPts val="0"/>
              </a:spcBef>
              <a:spcAft>
                <a:spcPts val="0"/>
              </a:spcAft>
              <a:defRPr/>
            </a:pPr>
            <a:r>
              <a:rPr lang="en-US" sz="4400" b="1" dirty="0">
                <a:solidFill>
                  <a:schemeClr val="accent1">
                    <a:lumMod val="75000"/>
                  </a:schemeClr>
                </a:solidFill>
                <a:effectLst>
                  <a:outerShdw blurRad="38100" dist="38100" dir="2700000" algn="tl">
                    <a:srgbClr val="000000">
                      <a:alpha val="43137"/>
                    </a:srgbClr>
                  </a:outerShdw>
                </a:effectLst>
              </a:rPr>
              <a:t>Exploring OOPS – Polymorphism </a:t>
            </a:r>
            <a:r>
              <a:rPr lang="en-US" sz="3400" b="1" dirty="0">
                <a:solidFill>
                  <a:schemeClr val="accent1">
                    <a:lumMod val="75000"/>
                  </a:schemeClr>
                </a:solidFill>
                <a:effectLst>
                  <a:outerShdw blurRad="38100" dist="38100" dir="2700000" algn="tl">
                    <a:srgbClr val="000000">
                      <a:alpha val="43137"/>
                    </a:srgbClr>
                  </a:outerShdw>
                </a:effectLst>
              </a:rPr>
              <a:t>continue….</a:t>
            </a:r>
            <a:endParaRPr lang="en-US" sz="4400" b="1" dirty="0">
              <a:solidFill>
                <a:schemeClr val="accent1">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7461936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5"/>
          <p:cNvSpPr>
            <a:spLocks noChangeArrowheads="1"/>
          </p:cNvSpPr>
          <p:nvPr/>
        </p:nvSpPr>
        <p:spPr bwMode="auto">
          <a:xfrm>
            <a:off x="0" y="0"/>
            <a:ext cx="9144000" cy="1066800"/>
          </a:xfrm>
          <a:prstGeom prst="rect">
            <a:avLst/>
          </a:prstGeom>
          <a:solidFill>
            <a:schemeClr val="accent2"/>
          </a:solidFill>
          <a:ln w="9525">
            <a:solidFill>
              <a:schemeClr val="tx1"/>
            </a:solidFill>
            <a:miter lim="800000"/>
            <a:headEnd/>
            <a:tailEnd/>
          </a:ln>
        </p:spPr>
        <p:txBody>
          <a:bodyPr wrap="none" anchor="ctr"/>
          <a:lstStyle/>
          <a:p>
            <a:r>
              <a:rPr lang="en-US" sz="2000">
                <a:solidFill>
                  <a:schemeClr val="bg1"/>
                </a:solidFill>
                <a:latin typeface="Trebuchet MS" pitchFamily="34" charset="0"/>
              </a:rPr>
              <a:t>OOPS Explored - Encapsulation</a:t>
            </a:r>
          </a:p>
        </p:txBody>
      </p:sp>
      <p:sp>
        <p:nvSpPr>
          <p:cNvPr id="5124" name="Text Box 7"/>
          <p:cNvSpPr txBox="1">
            <a:spLocks noChangeArrowheads="1"/>
          </p:cNvSpPr>
          <p:nvPr/>
        </p:nvSpPr>
        <p:spPr bwMode="auto">
          <a:xfrm>
            <a:off x="2971800" y="3810000"/>
            <a:ext cx="2971800" cy="376238"/>
          </a:xfrm>
          <a:prstGeom prst="rect">
            <a:avLst/>
          </a:prstGeom>
          <a:noFill/>
          <a:ln w="9525">
            <a:solidFill>
              <a:schemeClr val="tx1"/>
            </a:solidFill>
            <a:miter lim="800000"/>
            <a:headEnd/>
            <a:tailEnd/>
          </a:ln>
        </p:spPr>
        <p:txBody>
          <a:bodyPr>
            <a:spAutoFit/>
          </a:bodyPr>
          <a:lstStyle/>
          <a:p>
            <a:pPr algn="ctr">
              <a:spcBef>
                <a:spcPct val="50000"/>
              </a:spcBef>
            </a:pPr>
            <a:r>
              <a:rPr lang="en-US">
                <a:latin typeface="Calibri" pitchFamily="34" charset="0"/>
              </a:rPr>
              <a:t>My YouTube videos</a:t>
            </a:r>
          </a:p>
        </p:txBody>
      </p:sp>
      <p:sp>
        <p:nvSpPr>
          <p:cNvPr id="5125" name="AutoShape 8"/>
          <p:cNvSpPr>
            <a:spLocks noChangeArrowheads="1"/>
          </p:cNvSpPr>
          <p:nvPr/>
        </p:nvSpPr>
        <p:spPr bwMode="auto">
          <a:xfrm rot="10800000">
            <a:off x="2667000" y="4724400"/>
            <a:ext cx="1371600" cy="1676400"/>
          </a:xfrm>
          <a:prstGeom prst="foldedCorner">
            <a:avLst>
              <a:gd name="adj" fmla="val 26852"/>
            </a:avLst>
          </a:prstGeom>
          <a:solidFill>
            <a:schemeClr val="accent1"/>
          </a:solidFill>
          <a:ln w="9525">
            <a:solidFill>
              <a:schemeClr val="tx1"/>
            </a:solidFill>
            <a:round/>
            <a:headEnd/>
            <a:tailEnd/>
          </a:ln>
        </p:spPr>
        <p:txBody>
          <a:bodyPr rot="10800000" wrap="none" anchor="ctr"/>
          <a:lstStyle/>
          <a:p>
            <a:pPr algn="ctr"/>
            <a:r>
              <a:rPr lang="en-US">
                <a:latin typeface="Calibri" pitchFamily="34" charset="0"/>
              </a:rPr>
              <a:t>My Cute </a:t>
            </a:r>
          </a:p>
          <a:p>
            <a:pPr algn="ctr"/>
            <a:r>
              <a:rPr lang="en-US">
                <a:latin typeface="Calibri" pitchFamily="34" charset="0"/>
              </a:rPr>
              <a:t>puppy</a:t>
            </a:r>
          </a:p>
        </p:txBody>
      </p:sp>
      <p:sp>
        <p:nvSpPr>
          <p:cNvPr id="5126" name="AutoShape 9"/>
          <p:cNvSpPr>
            <a:spLocks noChangeArrowheads="1"/>
          </p:cNvSpPr>
          <p:nvPr/>
        </p:nvSpPr>
        <p:spPr bwMode="auto">
          <a:xfrm rot="10800000">
            <a:off x="4648200" y="4648200"/>
            <a:ext cx="1371600" cy="1676400"/>
          </a:xfrm>
          <a:prstGeom prst="foldedCorner">
            <a:avLst>
              <a:gd name="adj" fmla="val 26852"/>
            </a:avLst>
          </a:prstGeom>
          <a:solidFill>
            <a:schemeClr val="accent1"/>
          </a:solidFill>
          <a:ln w="9525">
            <a:solidFill>
              <a:schemeClr val="tx1"/>
            </a:solidFill>
            <a:round/>
            <a:headEnd/>
            <a:tailEnd/>
          </a:ln>
        </p:spPr>
        <p:txBody>
          <a:bodyPr rot="10800000" wrap="none" anchor="ctr"/>
          <a:lstStyle/>
          <a:p>
            <a:pPr algn="ctr"/>
            <a:r>
              <a:rPr lang="en-US">
                <a:latin typeface="Calibri" pitchFamily="34" charset="0"/>
              </a:rPr>
              <a:t>My Wedding </a:t>
            </a:r>
          </a:p>
          <a:p>
            <a:pPr algn="ctr"/>
            <a:r>
              <a:rPr lang="en-US">
                <a:latin typeface="Calibri" pitchFamily="34" charset="0"/>
              </a:rPr>
              <a:t>Gift</a:t>
            </a:r>
          </a:p>
        </p:txBody>
      </p:sp>
      <p:sp>
        <p:nvSpPr>
          <p:cNvPr id="5127" name="Text Box 15"/>
          <p:cNvSpPr txBox="1">
            <a:spLocks noChangeArrowheads="1"/>
          </p:cNvSpPr>
          <p:nvPr/>
        </p:nvSpPr>
        <p:spPr bwMode="auto">
          <a:xfrm>
            <a:off x="2971800" y="3810000"/>
            <a:ext cx="2971800" cy="376238"/>
          </a:xfrm>
          <a:prstGeom prst="rect">
            <a:avLst/>
          </a:prstGeom>
          <a:noFill/>
          <a:ln w="9525">
            <a:solidFill>
              <a:schemeClr val="tx1"/>
            </a:solidFill>
            <a:miter lim="800000"/>
            <a:headEnd/>
            <a:tailEnd/>
          </a:ln>
        </p:spPr>
        <p:txBody>
          <a:bodyPr>
            <a:spAutoFit/>
          </a:bodyPr>
          <a:lstStyle/>
          <a:p>
            <a:pPr algn="ctr">
              <a:spcBef>
                <a:spcPct val="50000"/>
              </a:spcBef>
            </a:pPr>
            <a:r>
              <a:rPr lang="en-US">
                <a:latin typeface="Calibri" pitchFamily="34" charset="0"/>
              </a:rPr>
              <a:t>My YouTube videos</a:t>
            </a:r>
          </a:p>
        </p:txBody>
      </p:sp>
      <p:sp>
        <p:nvSpPr>
          <p:cNvPr id="5128" name="AutoShape 16"/>
          <p:cNvSpPr>
            <a:spLocks noChangeArrowheads="1"/>
          </p:cNvSpPr>
          <p:nvPr/>
        </p:nvSpPr>
        <p:spPr bwMode="auto">
          <a:xfrm rot="10800000">
            <a:off x="2667000" y="4724400"/>
            <a:ext cx="1371600" cy="1676400"/>
          </a:xfrm>
          <a:prstGeom prst="foldedCorner">
            <a:avLst>
              <a:gd name="adj" fmla="val 26852"/>
            </a:avLst>
          </a:prstGeom>
          <a:solidFill>
            <a:schemeClr val="accent1"/>
          </a:solidFill>
          <a:ln w="9525">
            <a:solidFill>
              <a:schemeClr val="tx1"/>
            </a:solidFill>
            <a:round/>
            <a:headEnd/>
            <a:tailEnd/>
          </a:ln>
        </p:spPr>
        <p:txBody>
          <a:bodyPr rot="10800000" wrap="none" anchor="ctr"/>
          <a:lstStyle/>
          <a:p>
            <a:pPr algn="ctr"/>
            <a:r>
              <a:rPr lang="en-US">
                <a:latin typeface="Calibri" pitchFamily="34" charset="0"/>
              </a:rPr>
              <a:t>My Cute </a:t>
            </a:r>
          </a:p>
          <a:p>
            <a:pPr algn="ctr"/>
            <a:r>
              <a:rPr lang="en-US">
                <a:latin typeface="Calibri" pitchFamily="34" charset="0"/>
              </a:rPr>
              <a:t>puppy</a:t>
            </a:r>
          </a:p>
        </p:txBody>
      </p:sp>
      <p:sp>
        <p:nvSpPr>
          <p:cNvPr id="5129" name="AutoShape 17"/>
          <p:cNvSpPr>
            <a:spLocks noChangeArrowheads="1"/>
          </p:cNvSpPr>
          <p:nvPr/>
        </p:nvSpPr>
        <p:spPr bwMode="auto">
          <a:xfrm rot="10800000">
            <a:off x="4648200" y="4648200"/>
            <a:ext cx="1371600" cy="1676400"/>
          </a:xfrm>
          <a:prstGeom prst="foldedCorner">
            <a:avLst>
              <a:gd name="adj" fmla="val 26852"/>
            </a:avLst>
          </a:prstGeom>
          <a:solidFill>
            <a:schemeClr val="accent1"/>
          </a:solidFill>
          <a:ln w="9525">
            <a:solidFill>
              <a:schemeClr val="tx1"/>
            </a:solidFill>
            <a:round/>
            <a:headEnd/>
            <a:tailEnd/>
          </a:ln>
        </p:spPr>
        <p:txBody>
          <a:bodyPr rot="10800000" wrap="none" anchor="ctr"/>
          <a:lstStyle/>
          <a:p>
            <a:pPr algn="ctr"/>
            <a:r>
              <a:rPr lang="en-US">
                <a:latin typeface="Calibri" pitchFamily="34" charset="0"/>
              </a:rPr>
              <a:t>My Wedding </a:t>
            </a:r>
          </a:p>
          <a:p>
            <a:pPr algn="ctr"/>
            <a:r>
              <a:rPr lang="en-US">
                <a:latin typeface="Calibri" pitchFamily="34" charset="0"/>
              </a:rPr>
              <a:t>Gift</a:t>
            </a:r>
          </a:p>
        </p:txBody>
      </p:sp>
      <p:sp>
        <p:nvSpPr>
          <p:cNvPr id="5130" name="Rectangle 21"/>
          <p:cNvSpPr>
            <a:spLocks noChangeArrowheads="1"/>
          </p:cNvSpPr>
          <p:nvPr/>
        </p:nvSpPr>
        <p:spPr bwMode="auto">
          <a:xfrm>
            <a:off x="2438400" y="2514600"/>
            <a:ext cx="4038600" cy="4114800"/>
          </a:xfrm>
          <a:prstGeom prst="rect">
            <a:avLst/>
          </a:prstGeom>
          <a:solidFill>
            <a:schemeClr val="accent1"/>
          </a:solidFill>
          <a:ln w="9525">
            <a:solidFill>
              <a:schemeClr val="tx1"/>
            </a:solidFill>
            <a:miter lim="800000"/>
            <a:headEnd/>
            <a:tailEnd/>
          </a:ln>
        </p:spPr>
        <p:txBody>
          <a:bodyPr wrap="none" anchor="ctr"/>
          <a:lstStyle/>
          <a:p>
            <a:pPr algn="ctr"/>
            <a:endParaRPr lang="en-US">
              <a:latin typeface="Calibri" pitchFamily="34" charset="0"/>
            </a:endParaRPr>
          </a:p>
        </p:txBody>
      </p:sp>
      <p:sp>
        <p:nvSpPr>
          <p:cNvPr id="5131" name="Text Box 22"/>
          <p:cNvSpPr txBox="1">
            <a:spLocks noChangeArrowheads="1"/>
          </p:cNvSpPr>
          <p:nvPr/>
        </p:nvSpPr>
        <p:spPr bwMode="auto">
          <a:xfrm>
            <a:off x="2895600" y="4419600"/>
            <a:ext cx="2971800" cy="376238"/>
          </a:xfrm>
          <a:prstGeom prst="rect">
            <a:avLst/>
          </a:prstGeom>
          <a:noFill/>
          <a:ln w="9525">
            <a:solidFill>
              <a:schemeClr val="tx1"/>
            </a:solidFill>
            <a:miter lim="800000"/>
            <a:headEnd/>
            <a:tailEnd/>
          </a:ln>
        </p:spPr>
        <p:txBody>
          <a:bodyPr>
            <a:spAutoFit/>
          </a:bodyPr>
          <a:lstStyle/>
          <a:p>
            <a:pPr algn="ctr">
              <a:spcBef>
                <a:spcPct val="50000"/>
              </a:spcBef>
            </a:pPr>
            <a:r>
              <a:rPr lang="en-US">
                <a:latin typeface="Calibri" pitchFamily="34" charset="0"/>
              </a:rPr>
              <a:t>My YouTube videos</a:t>
            </a:r>
          </a:p>
        </p:txBody>
      </p:sp>
      <p:sp>
        <p:nvSpPr>
          <p:cNvPr id="5132" name="AutoShape 23"/>
          <p:cNvSpPr>
            <a:spLocks noChangeArrowheads="1"/>
          </p:cNvSpPr>
          <p:nvPr/>
        </p:nvSpPr>
        <p:spPr bwMode="auto">
          <a:xfrm rot="10800000">
            <a:off x="2667000" y="5029200"/>
            <a:ext cx="1143000" cy="1371600"/>
          </a:xfrm>
          <a:prstGeom prst="foldedCorner">
            <a:avLst>
              <a:gd name="adj" fmla="val 26852"/>
            </a:avLst>
          </a:prstGeom>
          <a:solidFill>
            <a:schemeClr val="accent1"/>
          </a:solidFill>
          <a:ln w="9525">
            <a:solidFill>
              <a:schemeClr val="tx1"/>
            </a:solidFill>
            <a:round/>
            <a:headEnd/>
            <a:tailEnd/>
          </a:ln>
        </p:spPr>
        <p:txBody>
          <a:bodyPr rot="10800000" wrap="none" anchor="ctr"/>
          <a:lstStyle/>
          <a:p>
            <a:pPr algn="ctr"/>
            <a:r>
              <a:rPr lang="en-US">
                <a:latin typeface="Calibri" pitchFamily="34" charset="0"/>
              </a:rPr>
              <a:t>My Cute </a:t>
            </a:r>
          </a:p>
          <a:p>
            <a:pPr algn="ctr"/>
            <a:r>
              <a:rPr lang="en-US">
                <a:latin typeface="Calibri" pitchFamily="34" charset="0"/>
              </a:rPr>
              <a:t>cat</a:t>
            </a:r>
          </a:p>
        </p:txBody>
      </p:sp>
      <p:sp>
        <p:nvSpPr>
          <p:cNvPr id="5133" name="AutoShape 24"/>
          <p:cNvSpPr>
            <a:spLocks noChangeArrowheads="1"/>
          </p:cNvSpPr>
          <p:nvPr/>
        </p:nvSpPr>
        <p:spPr bwMode="auto">
          <a:xfrm rot="10800000">
            <a:off x="4572000" y="5029200"/>
            <a:ext cx="1295400" cy="1295400"/>
          </a:xfrm>
          <a:prstGeom prst="foldedCorner">
            <a:avLst>
              <a:gd name="adj" fmla="val 26852"/>
            </a:avLst>
          </a:prstGeom>
          <a:solidFill>
            <a:schemeClr val="accent1"/>
          </a:solidFill>
          <a:ln w="9525">
            <a:solidFill>
              <a:schemeClr val="tx1"/>
            </a:solidFill>
            <a:round/>
            <a:headEnd/>
            <a:tailEnd/>
          </a:ln>
        </p:spPr>
        <p:txBody>
          <a:bodyPr rot="10800000" wrap="none" anchor="ctr"/>
          <a:lstStyle/>
          <a:p>
            <a:pPr algn="ctr"/>
            <a:r>
              <a:rPr lang="en-US">
                <a:latin typeface="Calibri" pitchFamily="34" charset="0"/>
              </a:rPr>
              <a:t>My Hawaii </a:t>
            </a:r>
          </a:p>
          <a:p>
            <a:pPr algn="ctr"/>
            <a:r>
              <a:rPr lang="en-US">
                <a:latin typeface="Calibri" pitchFamily="34" charset="0"/>
              </a:rPr>
              <a:t>trip</a:t>
            </a:r>
          </a:p>
        </p:txBody>
      </p:sp>
      <p:pic>
        <p:nvPicPr>
          <p:cNvPr id="5134" name="Picture 25" descr="woman"/>
          <p:cNvPicPr>
            <a:picLocks noChangeAspect="1" noChangeArrowheads="1"/>
          </p:cNvPicPr>
          <p:nvPr/>
        </p:nvPicPr>
        <p:blipFill>
          <a:blip r:embed="rId3"/>
          <a:srcRect/>
          <a:stretch>
            <a:fillRect/>
          </a:stretch>
        </p:blipFill>
        <p:spPr bwMode="auto">
          <a:xfrm>
            <a:off x="3733800" y="2971800"/>
            <a:ext cx="1295400" cy="1295400"/>
          </a:xfrm>
          <a:prstGeom prst="rect">
            <a:avLst/>
          </a:prstGeom>
          <a:noFill/>
          <a:ln w="9525">
            <a:noFill/>
            <a:miter lim="800000"/>
            <a:headEnd/>
            <a:tailEnd/>
          </a:ln>
        </p:spPr>
      </p:pic>
      <p:sp>
        <p:nvSpPr>
          <p:cNvPr id="5135" name="AutoShape 27"/>
          <p:cNvSpPr>
            <a:spLocks noChangeArrowheads="1"/>
          </p:cNvSpPr>
          <p:nvPr/>
        </p:nvSpPr>
        <p:spPr bwMode="auto">
          <a:xfrm>
            <a:off x="6096000" y="1371600"/>
            <a:ext cx="2819400" cy="1371600"/>
          </a:xfrm>
          <a:prstGeom prst="cloudCallout">
            <a:avLst>
              <a:gd name="adj1" fmla="val -105574"/>
              <a:gd name="adj2" fmla="val 73727"/>
            </a:avLst>
          </a:prstGeom>
          <a:solidFill>
            <a:schemeClr val="accent1"/>
          </a:solidFill>
          <a:ln w="9525">
            <a:solidFill>
              <a:schemeClr val="tx1"/>
            </a:solidFill>
            <a:round/>
            <a:headEnd/>
            <a:tailEnd/>
          </a:ln>
        </p:spPr>
        <p:txBody>
          <a:bodyPr/>
          <a:lstStyle/>
          <a:p>
            <a:pPr algn="ctr"/>
            <a:r>
              <a:rPr lang="en-US">
                <a:latin typeface="Calibri" pitchFamily="34" charset="0"/>
              </a:rPr>
              <a:t>I can share my puppy video with everyone</a:t>
            </a:r>
          </a:p>
        </p:txBody>
      </p:sp>
      <p:sp>
        <p:nvSpPr>
          <p:cNvPr id="5136" name="AutoShape 28"/>
          <p:cNvSpPr>
            <a:spLocks noChangeArrowheads="1"/>
          </p:cNvSpPr>
          <p:nvPr/>
        </p:nvSpPr>
        <p:spPr bwMode="auto">
          <a:xfrm>
            <a:off x="304800" y="1143000"/>
            <a:ext cx="2895600" cy="1600200"/>
          </a:xfrm>
          <a:prstGeom prst="cloudCallout">
            <a:avLst>
              <a:gd name="adj1" fmla="val 88213"/>
              <a:gd name="adj2" fmla="val 68653"/>
            </a:avLst>
          </a:prstGeom>
          <a:solidFill>
            <a:schemeClr val="accent1"/>
          </a:solidFill>
          <a:ln w="9525">
            <a:solidFill>
              <a:schemeClr val="tx1"/>
            </a:solidFill>
            <a:round/>
            <a:headEnd/>
            <a:tailEnd/>
          </a:ln>
        </p:spPr>
        <p:txBody>
          <a:bodyPr/>
          <a:lstStyle/>
          <a:p>
            <a:pPr algn="ctr"/>
            <a:r>
              <a:rPr lang="en-US" dirty="0">
                <a:latin typeface="Calibri" pitchFamily="34" charset="0"/>
              </a:rPr>
              <a:t>I want to share my </a:t>
            </a:r>
            <a:r>
              <a:rPr lang="en-US" dirty="0" smtClean="0">
                <a:latin typeface="Calibri" pitchFamily="34" charset="0"/>
              </a:rPr>
              <a:t>birthday </a:t>
            </a:r>
            <a:r>
              <a:rPr lang="en-US" dirty="0">
                <a:latin typeface="Calibri" pitchFamily="34" charset="0"/>
              </a:rPr>
              <a:t>gift only with my friends</a:t>
            </a:r>
          </a:p>
        </p:txBody>
      </p:sp>
    </p:spTree>
    <p:extLst>
      <p:ext uri="{BB962C8B-B14F-4D97-AF65-F5344CB8AC3E}">
        <p14:creationId xmlns:p14="http://schemas.microsoft.com/office/powerpoint/2010/main" val="20494049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4"/>
          <p:cNvSpPr>
            <a:spLocks noChangeArrowheads="1"/>
          </p:cNvSpPr>
          <p:nvPr/>
        </p:nvSpPr>
        <p:spPr bwMode="auto">
          <a:xfrm>
            <a:off x="1066800" y="1447800"/>
            <a:ext cx="4572000" cy="336550"/>
          </a:xfrm>
          <a:prstGeom prst="rect">
            <a:avLst/>
          </a:prstGeom>
          <a:noFill/>
          <a:ln w="9525">
            <a:noFill/>
            <a:miter lim="800000"/>
            <a:headEnd/>
            <a:tailEnd/>
          </a:ln>
        </p:spPr>
        <p:txBody>
          <a:bodyPr>
            <a:spAutoFit/>
          </a:bodyPr>
          <a:lstStyle/>
          <a:p>
            <a:pPr lvl="1"/>
            <a:r>
              <a:rPr lang="en-US" sz="1600">
                <a:latin typeface="Trebuchet MS" pitchFamily="34" charset="0"/>
              </a:rPr>
              <a:t>Binding data and methods together</a:t>
            </a:r>
          </a:p>
        </p:txBody>
      </p:sp>
      <p:sp>
        <p:nvSpPr>
          <p:cNvPr id="6148" name="Rectangle 5"/>
          <p:cNvSpPr>
            <a:spLocks noChangeArrowheads="1"/>
          </p:cNvSpPr>
          <p:nvPr/>
        </p:nvSpPr>
        <p:spPr bwMode="auto">
          <a:xfrm>
            <a:off x="0" y="0"/>
            <a:ext cx="9144000" cy="1066800"/>
          </a:xfrm>
          <a:prstGeom prst="rect">
            <a:avLst/>
          </a:prstGeom>
          <a:solidFill>
            <a:schemeClr val="accent2"/>
          </a:solidFill>
          <a:ln w="9525">
            <a:solidFill>
              <a:schemeClr val="tx1"/>
            </a:solidFill>
            <a:miter lim="800000"/>
            <a:headEnd/>
            <a:tailEnd/>
          </a:ln>
        </p:spPr>
        <p:txBody>
          <a:bodyPr wrap="none" anchor="ctr"/>
          <a:lstStyle/>
          <a:p>
            <a:r>
              <a:rPr lang="en-US" sz="2000">
                <a:solidFill>
                  <a:schemeClr val="bg1"/>
                </a:solidFill>
                <a:latin typeface="Trebuchet MS" pitchFamily="34" charset="0"/>
              </a:rPr>
              <a:t>OOPS Explored - Encapsulation</a:t>
            </a:r>
          </a:p>
        </p:txBody>
      </p:sp>
      <p:sp>
        <p:nvSpPr>
          <p:cNvPr id="66566" name="Rectangle 6"/>
          <p:cNvSpPr>
            <a:spLocks noGrp="1" noChangeArrowheads="1"/>
          </p:cNvSpPr>
          <p:nvPr>
            <p:ph type="body" sz="half" idx="1"/>
          </p:nvPr>
        </p:nvSpPr>
        <p:spPr>
          <a:xfrm>
            <a:off x="457200" y="1066800"/>
            <a:ext cx="5181600" cy="457200"/>
          </a:xfrm>
        </p:spPr>
        <p:txBody>
          <a:bodyPr rtlCol="0">
            <a:normAutofit fontScale="92500" lnSpcReduction="10000"/>
          </a:bodyPr>
          <a:lstStyle/>
          <a:p>
            <a:pPr fontAlgn="auto">
              <a:spcAft>
                <a:spcPts val="0"/>
              </a:spcAft>
              <a:buClr>
                <a:srgbClr val="FF9900"/>
              </a:buClr>
              <a:buSzPct val="125000"/>
              <a:buFont typeface="Arial" pitchFamily="34" charset="0"/>
              <a:buChar char="•"/>
              <a:defRPr/>
            </a:pPr>
            <a:r>
              <a:rPr lang="en-US" sz="1800" b="1">
                <a:latin typeface="Trebuchet MS" pitchFamily="34" charset="0"/>
              </a:rPr>
              <a:t>Encapsulation</a:t>
            </a:r>
            <a:r>
              <a:rPr lang="en-US" sz="2800" b="1"/>
              <a:t>	</a:t>
            </a:r>
          </a:p>
          <a:p>
            <a:pPr lvl="1" fontAlgn="auto">
              <a:spcAft>
                <a:spcPts val="0"/>
              </a:spcAft>
              <a:buClr>
                <a:srgbClr val="FF9900"/>
              </a:buClr>
              <a:buSzPct val="125000"/>
              <a:buFont typeface="Arial" pitchFamily="34" charset="0"/>
              <a:buChar char="–"/>
              <a:defRPr/>
            </a:pPr>
            <a:endParaRPr lang="en-US" sz="1400" b="1">
              <a:latin typeface="Trebuchet MS" pitchFamily="34" charset="0"/>
            </a:endParaRPr>
          </a:p>
        </p:txBody>
      </p:sp>
      <p:sp>
        <p:nvSpPr>
          <p:cNvPr id="6150" name="Rectangle 7"/>
          <p:cNvSpPr>
            <a:spLocks noChangeArrowheads="1"/>
          </p:cNvSpPr>
          <p:nvPr/>
        </p:nvSpPr>
        <p:spPr bwMode="auto">
          <a:xfrm>
            <a:off x="533400" y="1905000"/>
            <a:ext cx="7467600" cy="4746625"/>
          </a:xfrm>
          <a:prstGeom prst="rect">
            <a:avLst/>
          </a:prstGeom>
          <a:noFill/>
          <a:ln w="9525">
            <a:solidFill>
              <a:schemeClr val="tx1"/>
            </a:solidFill>
            <a:miter lim="800000"/>
            <a:headEnd/>
            <a:tailEnd/>
          </a:ln>
        </p:spPr>
        <p:txBody>
          <a:bodyPr>
            <a:spAutoFit/>
          </a:bodyPr>
          <a:lstStyle/>
          <a:p>
            <a:pPr lvl="1"/>
            <a:r>
              <a:rPr lang="en-US" sz="1600">
                <a:solidFill>
                  <a:srgbClr val="990000"/>
                </a:solidFill>
                <a:latin typeface="Times New Roman" pitchFamily="18" charset="0"/>
              </a:rPr>
              <a:t>public class Employee</a:t>
            </a:r>
          </a:p>
          <a:p>
            <a:pPr lvl="1"/>
            <a:r>
              <a:rPr lang="en-US" sz="1600">
                <a:solidFill>
                  <a:srgbClr val="990000"/>
                </a:solidFill>
                <a:latin typeface="Times New Roman" pitchFamily="18" charset="0"/>
              </a:rPr>
              <a:t>{</a:t>
            </a:r>
          </a:p>
          <a:p>
            <a:pPr lvl="1"/>
            <a:r>
              <a:rPr lang="en-US" sz="1600">
                <a:solidFill>
                  <a:srgbClr val="990000"/>
                </a:solidFill>
                <a:latin typeface="Times New Roman" pitchFamily="18" charset="0"/>
              </a:rPr>
              <a:t>    private String empName;</a:t>
            </a:r>
          </a:p>
          <a:p>
            <a:pPr lvl="1"/>
            <a:r>
              <a:rPr lang="en-US" sz="1600">
                <a:solidFill>
                  <a:srgbClr val="990000"/>
                </a:solidFill>
                <a:latin typeface="Times New Roman" pitchFamily="18" charset="0"/>
              </a:rPr>
              <a:t>    private int salary;</a:t>
            </a:r>
          </a:p>
          <a:p>
            <a:pPr lvl="1"/>
            <a:endParaRPr lang="en-US" sz="1600">
              <a:solidFill>
                <a:srgbClr val="990000"/>
              </a:solidFill>
              <a:latin typeface="Times New Roman" pitchFamily="18" charset="0"/>
            </a:endParaRPr>
          </a:p>
          <a:p>
            <a:pPr lvl="1"/>
            <a:r>
              <a:rPr lang="en-US" sz="1600">
                <a:solidFill>
                  <a:srgbClr val="990000"/>
                </a:solidFill>
                <a:latin typeface="Times New Roman" pitchFamily="18" charset="0"/>
              </a:rPr>
              <a:t>    public String getSalary(String role)</a:t>
            </a:r>
          </a:p>
          <a:p>
            <a:pPr lvl="1"/>
            <a:r>
              <a:rPr lang="en-US" sz="1600">
                <a:solidFill>
                  <a:srgbClr val="990000"/>
                </a:solidFill>
                <a:latin typeface="Times New Roman" pitchFamily="18" charset="0"/>
              </a:rPr>
              <a:t>    {</a:t>
            </a:r>
          </a:p>
          <a:p>
            <a:pPr lvl="1"/>
            <a:r>
              <a:rPr lang="en-US" sz="1600">
                <a:solidFill>
                  <a:srgbClr val="990000"/>
                </a:solidFill>
                <a:latin typeface="Times New Roman" pitchFamily="18" charset="0"/>
              </a:rPr>
              <a:t>        if(“Manager”.equals(role))  {</a:t>
            </a:r>
          </a:p>
          <a:p>
            <a:pPr lvl="1"/>
            <a:r>
              <a:rPr lang="en-US" sz="1600">
                <a:solidFill>
                  <a:srgbClr val="990000"/>
                </a:solidFill>
                <a:latin typeface="Times New Roman" pitchFamily="18" charset="0"/>
              </a:rPr>
              <a:t>            return salary;</a:t>
            </a:r>
          </a:p>
          <a:p>
            <a:pPr lvl="1"/>
            <a:r>
              <a:rPr lang="en-US" sz="1600">
                <a:solidFill>
                  <a:srgbClr val="990000"/>
                </a:solidFill>
                <a:latin typeface="Times New Roman" pitchFamily="18" charset="0"/>
              </a:rPr>
              <a:t>        }</a:t>
            </a:r>
          </a:p>
          <a:p>
            <a:pPr lvl="1"/>
            <a:r>
              <a:rPr lang="en-US" sz="1600">
                <a:solidFill>
                  <a:srgbClr val="990000"/>
                </a:solidFill>
                <a:latin typeface="Times New Roman" pitchFamily="18" charset="0"/>
              </a:rPr>
              <a:t>    }</a:t>
            </a:r>
          </a:p>
          <a:p>
            <a:pPr lvl="1"/>
            <a:endParaRPr lang="en-US" sz="1600">
              <a:solidFill>
                <a:srgbClr val="990000"/>
              </a:solidFill>
              <a:latin typeface="Times New Roman" pitchFamily="18" charset="0"/>
            </a:endParaRPr>
          </a:p>
          <a:p>
            <a:pPr lvl="1"/>
            <a:r>
              <a:rPr lang="en-US" sz="1600">
                <a:solidFill>
                  <a:srgbClr val="990000"/>
                </a:solidFill>
                <a:latin typeface="Times New Roman" pitchFamily="18" charset="0"/>
              </a:rPr>
              <a:t>    public String setSalary(String role, int newSal)  </a:t>
            </a:r>
          </a:p>
          <a:p>
            <a:pPr lvl="1"/>
            <a:r>
              <a:rPr lang="en-US" sz="1600">
                <a:solidFill>
                  <a:srgbClr val="990000"/>
                </a:solidFill>
                <a:latin typeface="Times New Roman" pitchFamily="18" charset="0"/>
              </a:rPr>
              <a:t>    {</a:t>
            </a:r>
          </a:p>
          <a:p>
            <a:pPr lvl="1"/>
            <a:r>
              <a:rPr lang="en-US" sz="1600">
                <a:solidFill>
                  <a:srgbClr val="990000"/>
                </a:solidFill>
                <a:latin typeface="Times New Roman" pitchFamily="18" charset="0"/>
              </a:rPr>
              <a:t>        if (“Admin”.equals(role))  {</a:t>
            </a:r>
          </a:p>
          <a:p>
            <a:pPr lvl="1"/>
            <a:r>
              <a:rPr lang="en-US" sz="1600">
                <a:solidFill>
                  <a:srgbClr val="990000"/>
                </a:solidFill>
                <a:latin typeface="Times New Roman" pitchFamily="18" charset="0"/>
              </a:rPr>
              <a:t>            salary = newSal;</a:t>
            </a:r>
          </a:p>
          <a:p>
            <a:pPr lvl="1"/>
            <a:r>
              <a:rPr lang="en-US" sz="1600">
                <a:solidFill>
                  <a:srgbClr val="990000"/>
                </a:solidFill>
                <a:latin typeface="Times New Roman" pitchFamily="18" charset="0"/>
              </a:rPr>
              <a:t>        }</a:t>
            </a:r>
          </a:p>
          <a:p>
            <a:pPr lvl="1"/>
            <a:r>
              <a:rPr lang="en-US" sz="1600">
                <a:solidFill>
                  <a:srgbClr val="990000"/>
                </a:solidFill>
                <a:latin typeface="Times New Roman" pitchFamily="18" charset="0"/>
              </a:rPr>
              <a:t>    }</a:t>
            </a:r>
          </a:p>
          <a:p>
            <a:pPr lvl="1"/>
            <a:r>
              <a:rPr lang="en-US" sz="1600">
                <a:solidFill>
                  <a:srgbClr val="990000"/>
                </a:solidFill>
                <a:latin typeface="Times New Roman" pitchFamily="18" charset="0"/>
              </a:rPr>
              <a:t>}</a:t>
            </a:r>
          </a:p>
        </p:txBody>
      </p:sp>
    </p:spTree>
    <p:extLst>
      <p:ext uri="{BB962C8B-B14F-4D97-AF65-F5344CB8AC3E}">
        <p14:creationId xmlns:p14="http://schemas.microsoft.com/office/powerpoint/2010/main" val="353394011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48200" y="1143000"/>
            <a:ext cx="4495800" cy="5181600"/>
          </a:xfrm>
          <a:prstGeom prst="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Oval 7"/>
          <p:cNvSpPr/>
          <p:nvPr/>
        </p:nvSpPr>
        <p:spPr>
          <a:xfrm>
            <a:off x="4953000" y="1981200"/>
            <a:ext cx="3962400" cy="2819400"/>
          </a:xfrm>
          <a:prstGeom prst="ellipse">
            <a:avLst/>
          </a:prstGeom>
          <a:solidFill>
            <a:schemeClr val="accent1">
              <a:alpha val="19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a:p>
            <a:pPr algn="ctr" fontAlgn="auto">
              <a:spcBef>
                <a:spcPts val="0"/>
              </a:spcBef>
              <a:spcAft>
                <a:spcPts val="0"/>
              </a:spcAft>
              <a:defRPr/>
            </a:pPr>
            <a:endParaRPr lang="en-US" dirty="0"/>
          </a:p>
          <a:p>
            <a:pPr algn="ctr" fontAlgn="auto">
              <a:spcBef>
                <a:spcPts val="0"/>
              </a:spcBef>
              <a:spcAft>
                <a:spcPts val="0"/>
              </a:spcAft>
              <a:defRPr/>
            </a:pPr>
            <a:endParaRPr lang="en-US" dirty="0"/>
          </a:p>
          <a:p>
            <a:pPr algn="ctr" fontAlgn="auto">
              <a:spcBef>
                <a:spcPts val="0"/>
              </a:spcBef>
              <a:spcAft>
                <a:spcPts val="0"/>
              </a:spcAft>
              <a:defRPr/>
            </a:pPr>
            <a:endParaRPr lang="en-US" dirty="0"/>
          </a:p>
          <a:p>
            <a:pPr algn="ctr" fontAlgn="auto">
              <a:spcBef>
                <a:spcPts val="0"/>
              </a:spcBef>
              <a:spcAft>
                <a:spcPts val="0"/>
              </a:spcAft>
              <a:defRPr/>
            </a:pPr>
            <a:endParaRPr lang="en-US" dirty="0"/>
          </a:p>
          <a:p>
            <a:pPr algn="ctr" fontAlgn="auto">
              <a:spcBef>
                <a:spcPts val="0"/>
              </a:spcBef>
              <a:spcAft>
                <a:spcPts val="0"/>
              </a:spcAft>
              <a:defRPr/>
            </a:pPr>
            <a:endParaRPr lang="en-US" dirty="0"/>
          </a:p>
          <a:p>
            <a:pPr algn="ctr" fontAlgn="auto">
              <a:spcBef>
                <a:spcPts val="0"/>
              </a:spcBef>
              <a:spcAft>
                <a:spcPts val="0"/>
              </a:spcAft>
              <a:defRPr/>
            </a:pPr>
            <a:endParaRPr lang="en-US" dirty="0"/>
          </a:p>
          <a:p>
            <a:pPr algn="ctr" fontAlgn="auto">
              <a:spcBef>
                <a:spcPts val="0"/>
              </a:spcBef>
              <a:spcAft>
                <a:spcPts val="0"/>
              </a:spcAft>
              <a:defRPr/>
            </a:pPr>
            <a:endParaRPr lang="en-US" dirty="0"/>
          </a:p>
          <a:p>
            <a:pPr algn="ctr" fontAlgn="auto">
              <a:spcBef>
                <a:spcPts val="0"/>
              </a:spcBef>
              <a:spcAft>
                <a:spcPts val="0"/>
              </a:spcAft>
              <a:defRPr/>
            </a:pPr>
            <a:r>
              <a:rPr lang="en-US" sz="2800" b="1" dirty="0"/>
              <a:t>Employee</a:t>
            </a:r>
          </a:p>
        </p:txBody>
      </p:sp>
      <p:sp>
        <p:nvSpPr>
          <p:cNvPr id="28676" name="Content Placeholder 2"/>
          <p:cNvSpPr>
            <a:spLocks noGrp="1"/>
          </p:cNvSpPr>
          <p:nvPr>
            <p:ph idx="1"/>
          </p:nvPr>
        </p:nvSpPr>
        <p:spPr>
          <a:xfrm>
            <a:off x="304800" y="990600"/>
            <a:ext cx="2209800" cy="3276600"/>
          </a:xfrm>
        </p:spPr>
        <p:txBody>
          <a:bodyPr/>
          <a:lstStyle/>
          <a:p>
            <a:pPr eaLnBrk="1" hangingPunct="1">
              <a:buFont typeface="Arial" pitchFamily="34" charset="0"/>
              <a:buNone/>
            </a:pPr>
            <a:r>
              <a:rPr lang="en-US" sz="2000" smtClean="0"/>
              <a:t> </a:t>
            </a:r>
          </a:p>
        </p:txBody>
      </p:sp>
      <p:sp>
        <p:nvSpPr>
          <p:cNvPr id="4" name="Title 1"/>
          <p:cNvSpPr txBox="1">
            <a:spLocks/>
          </p:cNvSpPr>
          <p:nvPr/>
        </p:nvSpPr>
        <p:spPr>
          <a:xfrm>
            <a:off x="0" y="274638"/>
            <a:ext cx="9144000" cy="563562"/>
          </a:xfrm>
          <a:prstGeom prst="rect">
            <a:avLst/>
          </a:prstGeom>
        </p:spPr>
        <p:style>
          <a:lnRef idx="1">
            <a:schemeClr val="accent1"/>
          </a:lnRef>
          <a:fillRef idx="2">
            <a:schemeClr val="accent1"/>
          </a:fillRef>
          <a:effectRef idx="1">
            <a:schemeClr val="accent1"/>
          </a:effectRef>
          <a:fontRef idx="minor">
            <a:schemeClr val="dk1"/>
          </a:fontRef>
        </p:style>
        <p:txBody>
          <a:bodyPr anchor="ctr">
            <a:normAutofit fontScale="82500" lnSpcReduction="20000"/>
          </a:bodyPr>
          <a:lstStyle/>
          <a:p>
            <a:pPr fontAlgn="auto">
              <a:spcBef>
                <a:spcPts val="0"/>
              </a:spcBef>
              <a:spcAft>
                <a:spcPts val="0"/>
              </a:spcAft>
              <a:defRPr/>
            </a:pPr>
            <a:r>
              <a:rPr lang="en-US" sz="4400" b="1" dirty="0">
                <a:solidFill>
                  <a:schemeClr val="accent1">
                    <a:lumMod val="75000"/>
                  </a:schemeClr>
                </a:solidFill>
                <a:effectLst>
                  <a:outerShdw blurRad="38100" dist="38100" dir="2700000" algn="tl">
                    <a:srgbClr val="000000">
                      <a:alpha val="43137"/>
                    </a:srgbClr>
                  </a:outerShdw>
                </a:effectLst>
              </a:rPr>
              <a:t>Constructor in inheritance</a:t>
            </a:r>
          </a:p>
        </p:txBody>
      </p:sp>
      <p:sp>
        <p:nvSpPr>
          <p:cNvPr id="28678" name="TextBox 5"/>
          <p:cNvSpPr txBox="1">
            <a:spLocks noChangeArrowheads="1"/>
          </p:cNvSpPr>
          <p:nvPr/>
        </p:nvSpPr>
        <p:spPr bwMode="auto">
          <a:xfrm>
            <a:off x="5943600" y="6396038"/>
            <a:ext cx="2133600" cy="461962"/>
          </a:xfrm>
          <a:prstGeom prst="rect">
            <a:avLst/>
          </a:prstGeom>
          <a:noFill/>
          <a:ln w="9525">
            <a:noFill/>
            <a:miter lim="800000"/>
            <a:headEnd/>
            <a:tailEnd/>
          </a:ln>
        </p:spPr>
        <p:txBody>
          <a:bodyPr>
            <a:spAutoFit/>
          </a:bodyPr>
          <a:lstStyle/>
          <a:p>
            <a:r>
              <a:rPr lang="en-US" sz="2400" b="1">
                <a:latin typeface="Calibri" pitchFamily="34" charset="0"/>
              </a:rPr>
              <a:t>HEAP</a:t>
            </a:r>
          </a:p>
        </p:txBody>
      </p:sp>
      <p:sp>
        <p:nvSpPr>
          <p:cNvPr id="7" name="Oval 6"/>
          <p:cNvSpPr/>
          <p:nvPr/>
        </p:nvSpPr>
        <p:spPr>
          <a:xfrm>
            <a:off x="5791200" y="2514600"/>
            <a:ext cx="2362200" cy="1676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800" b="1" dirty="0"/>
              <a:t>Person </a:t>
            </a:r>
          </a:p>
        </p:txBody>
      </p:sp>
      <p:sp>
        <p:nvSpPr>
          <p:cNvPr id="9" name="Rectangle 8"/>
          <p:cNvSpPr/>
          <p:nvPr/>
        </p:nvSpPr>
        <p:spPr>
          <a:xfrm>
            <a:off x="457200" y="1219200"/>
            <a:ext cx="27432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600" b="1" dirty="0"/>
              <a:t>Person</a:t>
            </a:r>
          </a:p>
        </p:txBody>
      </p:sp>
      <p:sp>
        <p:nvSpPr>
          <p:cNvPr id="10" name="Rectangle 9"/>
          <p:cNvSpPr/>
          <p:nvPr/>
        </p:nvSpPr>
        <p:spPr>
          <a:xfrm>
            <a:off x="457200" y="3505200"/>
            <a:ext cx="27432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t>Employee</a:t>
            </a:r>
          </a:p>
        </p:txBody>
      </p:sp>
      <p:cxnSp>
        <p:nvCxnSpPr>
          <p:cNvPr id="12" name="Straight Arrow Connector 11"/>
          <p:cNvCxnSpPr/>
          <p:nvPr/>
        </p:nvCxnSpPr>
        <p:spPr>
          <a:xfrm flipV="1">
            <a:off x="1905000" y="2514600"/>
            <a:ext cx="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683" name="TextBox 16"/>
          <p:cNvSpPr txBox="1">
            <a:spLocks noChangeArrowheads="1"/>
          </p:cNvSpPr>
          <p:nvPr/>
        </p:nvSpPr>
        <p:spPr bwMode="auto">
          <a:xfrm>
            <a:off x="304800" y="5257800"/>
            <a:ext cx="3733800" cy="400050"/>
          </a:xfrm>
          <a:prstGeom prst="rect">
            <a:avLst/>
          </a:prstGeom>
          <a:noFill/>
          <a:ln w="9525">
            <a:noFill/>
            <a:miter lim="800000"/>
            <a:headEnd/>
            <a:tailEnd/>
          </a:ln>
        </p:spPr>
        <p:txBody>
          <a:bodyPr>
            <a:spAutoFit/>
          </a:bodyPr>
          <a:lstStyle/>
          <a:p>
            <a:r>
              <a:rPr lang="en-US" sz="2000" b="1">
                <a:latin typeface="Calibri" pitchFamily="34" charset="0"/>
              </a:rPr>
              <a:t>Employee inherited person class</a:t>
            </a:r>
          </a:p>
        </p:txBody>
      </p:sp>
      <p:sp>
        <p:nvSpPr>
          <p:cNvPr id="18" name="TextBox 17"/>
          <p:cNvSpPr txBox="1">
            <a:spLocks noChangeArrowheads="1"/>
          </p:cNvSpPr>
          <p:nvPr/>
        </p:nvSpPr>
        <p:spPr bwMode="auto">
          <a:xfrm>
            <a:off x="381000" y="6096000"/>
            <a:ext cx="3733800" cy="400050"/>
          </a:xfrm>
          <a:prstGeom prst="rect">
            <a:avLst/>
          </a:prstGeom>
          <a:noFill/>
          <a:ln w="9525">
            <a:noFill/>
            <a:miter lim="800000"/>
            <a:headEnd/>
            <a:tailEnd/>
          </a:ln>
        </p:spPr>
        <p:txBody>
          <a:bodyPr>
            <a:spAutoFit/>
          </a:bodyPr>
          <a:lstStyle/>
          <a:p>
            <a:r>
              <a:rPr lang="en-US" sz="2000" b="1">
                <a:latin typeface="Calibri" pitchFamily="34" charset="0"/>
              </a:rPr>
              <a:t>Employee xyz = new Employee()</a:t>
            </a:r>
          </a:p>
        </p:txBody>
      </p:sp>
      <p:cxnSp>
        <p:nvCxnSpPr>
          <p:cNvPr id="20" name="Straight Arrow Connector 19"/>
          <p:cNvCxnSpPr/>
          <p:nvPr/>
        </p:nvCxnSpPr>
        <p:spPr>
          <a:xfrm flipV="1">
            <a:off x="3962400" y="4343400"/>
            <a:ext cx="1447800" cy="198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Cloud Callout 21"/>
          <p:cNvSpPr/>
          <p:nvPr/>
        </p:nvSpPr>
        <p:spPr>
          <a:xfrm>
            <a:off x="3657600" y="0"/>
            <a:ext cx="2743200" cy="1905000"/>
          </a:xfrm>
          <a:prstGeom prst="cloudCallout">
            <a:avLst>
              <a:gd name="adj1" fmla="val 78611"/>
              <a:gd name="adj2" fmla="val 577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400" b="1" dirty="0"/>
              <a:t>How Child Comes before Parents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blinds(horizontal)">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linds(horizontal)">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18" grpId="0"/>
      <p:bldP spid="2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533400" y="1371600"/>
            <a:ext cx="7772400" cy="457200"/>
          </a:xfrm>
        </p:spPr>
        <p:txBody>
          <a:bodyPr>
            <a:normAutofit/>
          </a:bodyPr>
          <a:lstStyle/>
          <a:p>
            <a:pPr>
              <a:lnSpc>
                <a:spcPct val="90000"/>
              </a:lnSpc>
            </a:pPr>
            <a:r>
              <a:rPr lang="en-IN" sz="2400" dirty="0"/>
              <a:t>Call Parent Class Constructor</a:t>
            </a:r>
            <a:endParaRPr lang="en-US" sz="2400" b="1" dirty="0" smtClean="0"/>
          </a:p>
        </p:txBody>
      </p:sp>
      <p:sp>
        <p:nvSpPr>
          <p:cNvPr id="45060" name="Rectangle 4"/>
          <p:cNvSpPr>
            <a:spLocks noChangeArrowheads="1"/>
          </p:cNvSpPr>
          <p:nvPr/>
        </p:nvSpPr>
        <p:spPr bwMode="auto">
          <a:xfrm>
            <a:off x="-12700" y="2406650"/>
            <a:ext cx="4203700" cy="4038600"/>
          </a:xfrm>
          <a:prstGeom prst="rect">
            <a:avLst/>
          </a:prstGeom>
          <a:solidFill>
            <a:schemeClr val="accent1">
              <a:alpha val="12941"/>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accent1"/>
            </a:extrusionClr>
          </a:sp3d>
        </p:spPr>
        <p:txBody>
          <a:bodyPr wrap="none" anchor="ctr">
            <a:flatTx/>
          </a:bodyPr>
          <a:lstStyle/>
          <a:p>
            <a:endParaRPr lang="en-US" dirty="0" smtClean="0">
              <a:latin typeface="Calibri" pitchFamily="34" charset="0"/>
            </a:endParaRPr>
          </a:p>
          <a:p>
            <a:r>
              <a:rPr lang="en-US" b="1" dirty="0" smtClean="0">
                <a:latin typeface="Calibri" pitchFamily="34" charset="0"/>
              </a:rPr>
              <a:t>class </a:t>
            </a:r>
            <a:r>
              <a:rPr lang="en-US" b="1" dirty="0">
                <a:latin typeface="Calibri" pitchFamily="34" charset="0"/>
              </a:rPr>
              <a:t>Animal {</a:t>
            </a:r>
          </a:p>
          <a:p>
            <a:r>
              <a:rPr lang="en-US" b="1" dirty="0" smtClean="0">
                <a:latin typeface="Calibri" pitchFamily="34" charset="0"/>
              </a:rPr>
              <a:t>    </a:t>
            </a:r>
            <a:r>
              <a:rPr lang="en-US" b="1" dirty="0">
                <a:latin typeface="Calibri" pitchFamily="34" charset="0"/>
              </a:rPr>
              <a:t>Animal() {</a:t>
            </a:r>
          </a:p>
          <a:p>
            <a:r>
              <a:rPr lang="en-US" b="1" dirty="0">
                <a:latin typeface="Calibri" pitchFamily="34" charset="0"/>
              </a:rPr>
              <a:t>        </a:t>
            </a:r>
            <a:r>
              <a:rPr lang="en-US" b="1" dirty="0" err="1">
                <a:latin typeface="Calibri" pitchFamily="34" charset="0"/>
              </a:rPr>
              <a:t>System.out.println</a:t>
            </a:r>
            <a:r>
              <a:rPr lang="en-US" b="1" dirty="0">
                <a:latin typeface="Calibri" pitchFamily="34" charset="0"/>
              </a:rPr>
              <a:t>("Animal Constructor");</a:t>
            </a:r>
          </a:p>
          <a:p>
            <a:r>
              <a:rPr lang="en-US" b="1" dirty="0">
                <a:latin typeface="Calibri" pitchFamily="34" charset="0"/>
              </a:rPr>
              <a:t>    }</a:t>
            </a:r>
          </a:p>
          <a:p>
            <a:r>
              <a:rPr lang="en-US" b="1" dirty="0" smtClean="0">
                <a:latin typeface="Calibri" pitchFamily="34" charset="0"/>
              </a:rPr>
              <a:t>}</a:t>
            </a:r>
            <a:endParaRPr lang="en-US" b="1" dirty="0">
              <a:latin typeface="Calibri" pitchFamily="34" charset="0"/>
            </a:endParaRPr>
          </a:p>
        </p:txBody>
      </p:sp>
      <p:sp>
        <p:nvSpPr>
          <p:cNvPr id="45061" name="Rectangle 5"/>
          <p:cNvSpPr>
            <a:spLocks noChangeArrowheads="1"/>
          </p:cNvSpPr>
          <p:nvPr/>
        </p:nvSpPr>
        <p:spPr bwMode="auto">
          <a:xfrm>
            <a:off x="4343400" y="2432050"/>
            <a:ext cx="4819650" cy="4013200"/>
          </a:xfrm>
          <a:prstGeom prst="rect">
            <a:avLst/>
          </a:prstGeom>
          <a:solidFill>
            <a:schemeClr val="accent1">
              <a:alpha val="14117"/>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accent1"/>
            </a:extrusionClr>
          </a:sp3d>
        </p:spPr>
        <p:txBody>
          <a:bodyPr wrap="none" anchor="ctr">
            <a:flatTx/>
          </a:bodyPr>
          <a:lstStyle/>
          <a:p>
            <a:endParaRPr lang="en-US" b="1" dirty="0" smtClean="0">
              <a:latin typeface="Calibri" pitchFamily="34" charset="0"/>
            </a:endParaRPr>
          </a:p>
          <a:p>
            <a:r>
              <a:rPr lang="en-US" b="1" dirty="0" smtClean="0">
                <a:latin typeface="Calibri" pitchFamily="34" charset="0"/>
              </a:rPr>
              <a:t>class </a:t>
            </a:r>
            <a:r>
              <a:rPr lang="en-US" b="1" dirty="0">
                <a:latin typeface="Calibri" pitchFamily="34" charset="0"/>
              </a:rPr>
              <a:t>Dog extends Animal {</a:t>
            </a:r>
          </a:p>
          <a:p>
            <a:r>
              <a:rPr lang="en-US" b="1" dirty="0">
                <a:latin typeface="Calibri" pitchFamily="34" charset="0"/>
              </a:rPr>
              <a:t>    Dog() {</a:t>
            </a:r>
          </a:p>
          <a:p>
            <a:r>
              <a:rPr lang="en-US" b="1" dirty="0">
                <a:latin typeface="Calibri" pitchFamily="34" charset="0"/>
              </a:rPr>
              <a:t>        super();</a:t>
            </a:r>
          </a:p>
          <a:p>
            <a:r>
              <a:rPr lang="en-US" b="1" dirty="0">
                <a:latin typeface="Calibri" pitchFamily="34" charset="0"/>
              </a:rPr>
              <a:t>        </a:t>
            </a:r>
            <a:r>
              <a:rPr lang="en-US" b="1" dirty="0" err="1">
                <a:latin typeface="Calibri" pitchFamily="34" charset="0"/>
              </a:rPr>
              <a:t>System.out.println</a:t>
            </a:r>
            <a:r>
              <a:rPr lang="en-US" b="1" dirty="0">
                <a:latin typeface="Calibri" pitchFamily="34" charset="0"/>
              </a:rPr>
              <a:t>("Dog Constructor");</a:t>
            </a:r>
          </a:p>
          <a:p>
            <a:r>
              <a:rPr lang="en-US" b="1" dirty="0">
                <a:latin typeface="Calibri" pitchFamily="34" charset="0"/>
              </a:rPr>
              <a:t>    }</a:t>
            </a:r>
          </a:p>
          <a:p>
            <a:r>
              <a:rPr lang="en-US" b="1" dirty="0">
                <a:latin typeface="Calibri" pitchFamily="34" charset="0"/>
              </a:rPr>
              <a:t>    public static void main(String </a:t>
            </a:r>
            <a:r>
              <a:rPr lang="en-US" b="1" dirty="0" err="1">
                <a:latin typeface="Calibri" pitchFamily="34" charset="0"/>
              </a:rPr>
              <a:t>args</a:t>
            </a:r>
            <a:r>
              <a:rPr lang="en-US" b="1" dirty="0">
                <a:latin typeface="Calibri" pitchFamily="34" charset="0"/>
              </a:rPr>
              <a:t>[]) {</a:t>
            </a:r>
          </a:p>
          <a:p>
            <a:r>
              <a:rPr lang="en-US" b="1" dirty="0">
                <a:latin typeface="Calibri" pitchFamily="34" charset="0"/>
              </a:rPr>
              <a:t>        Dog d = new Dog();</a:t>
            </a:r>
          </a:p>
          <a:p>
            <a:r>
              <a:rPr lang="en-US" b="1" dirty="0">
                <a:latin typeface="Calibri" pitchFamily="34" charset="0"/>
              </a:rPr>
              <a:t>    }</a:t>
            </a:r>
          </a:p>
          <a:p>
            <a:r>
              <a:rPr lang="en-US" b="1" dirty="0">
                <a:latin typeface="Calibri" pitchFamily="34" charset="0"/>
              </a:rPr>
              <a:t>}</a:t>
            </a:r>
          </a:p>
          <a:p>
            <a:endParaRPr lang="en-US" dirty="0">
              <a:latin typeface="Calibri" pitchFamily="34" charset="0"/>
            </a:endParaRPr>
          </a:p>
        </p:txBody>
      </p:sp>
      <p:sp>
        <p:nvSpPr>
          <p:cNvPr id="31750" name="Rectangle 6"/>
          <p:cNvSpPr>
            <a:spLocks noChangeArrowheads="1"/>
          </p:cNvSpPr>
          <p:nvPr/>
        </p:nvSpPr>
        <p:spPr bwMode="auto">
          <a:xfrm>
            <a:off x="0" y="381000"/>
            <a:ext cx="9144000" cy="498475"/>
          </a:xfrm>
          <a:prstGeom prst="rect">
            <a:avLst/>
          </a:prstGeom>
          <a:solidFill>
            <a:srgbClr val="0066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006666"/>
            </a:extrusionClr>
          </a:sp3d>
        </p:spPr>
        <p:txBody>
          <a:bodyPr lIns="92075" tIns="46038" rIns="92075" bIns="46038" anchor="b">
            <a:flatTx/>
          </a:bodyPr>
          <a:lstStyle/>
          <a:p>
            <a:pPr>
              <a:lnSpc>
                <a:spcPct val="90000"/>
              </a:lnSpc>
            </a:pPr>
            <a:r>
              <a:rPr lang="en-US" sz="2800">
                <a:solidFill>
                  <a:schemeClr val="bg1"/>
                </a:solidFill>
                <a:latin typeface="Calibri" pitchFamily="34" charset="0"/>
              </a:rPr>
              <a:t>Use of super keyword</a:t>
            </a:r>
          </a:p>
        </p:txBody>
      </p:sp>
      <p:sp>
        <p:nvSpPr>
          <p:cNvPr id="45064" name="AutoShape 8"/>
          <p:cNvSpPr>
            <a:spLocks noChangeArrowheads="1"/>
          </p:cNvSpPr>
          <p:nvPr/>
        </p:nvSpPr>
        <p:spPr bwMode="auto">
          <a:xfrm>
            <a:off x="2819400" y="2514600"/>
            <a:ext cx="2971800" cy="2057400"/>
          </a:xfrm>
          <a:prstGeom prst="cloudCallout">
            <a:avLst>
              <a:gd name="adj1" fmla="val -43750"/>
              <a:gd name="adj2" fmla="val 70000"/>
            </a:avLst>
          </a:prstGeom>
          <a:noFill/>
          <a:ln w="12700">
            <a:solidFill>
              <a:schemeClr val="tx1"/>
            </a:solidFill>
            <a:round/>
            <a:headEnd type="none" w="sm" len="sm"/>
            <a:tailEnd type="none" w="sm" len="sm"/>
          </a:ln>
        </p:spPr>
        <p:txBody>
          <a:bodyPr anchor="ctr"/>
          <a:lstStyle/>
          <a:p>
            <a:r>
              <a:rPr lang="en-US" sz="2800">
                <a:latin typeface="Calibri" pitchFamily="34" charset="0"/>
              </a:rPr>
              <a:t>Example</a:t>
            </a:r>
          </a:p>
        </p:txBody>
      </p:sp>
      <p:sp>
        <p:nvSpPr>
          <p:cNvPr id="2" name="Rectangle 1"/>
          <p:cNvSpPr/>
          <p:nvPr/>
        </p:nvSpPr>
        <p:spPr>
          <a:xfrm>
            <a:off x="5181600" y="5562600"/>
            <a:ext cx="3352800" cy="646331"/>
          </a:xfrm>
          <a:prstGeom prst="rect">
            <a:avLst/>
          </a:prstGeom>
        </p:spPr>
        <p:txBody>
          <a:bodyPr wrap="square">
            <a:spAutoFit/>
          </a:bodyPr>
          <a:lstStyle/>
          <a:p>
            <a:r>
              <a:rPr lang="en-IN" b="1" dirty="0"/>
              <a:t>Animal Constructor</a:t>
            </a:r>
          </a:p>
          <a:p>
            <a:r>
              <a:rPr lang="en-IN" b="1" dirty="0"/>
              <a:t>Dog Constructor</a:t>
            </a:r>
          </a:p>
        </p:txBody>
      </p:sp>
    </p:spTree>
    <p:extLst>
      <p:ext uri="{BB962C8B-B14F-4D97-AF65-F5344CB8AC3E}">
        <p14:creationId xmlns:p14="http://schemas.microsoft.com/office/powerpoint/2010/main" val="41807262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wipe(left)">
                                      <p:cBhvr>
                                        <p:cTn id="7" dur="1000"/>
                                        <p:tgtEl>
                                          <p:spTgt spid="45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5064"/>
                                        </p:tgtEl>
                                        <p:attrNameLst>
                                          <p:attrName>style.visibility</p:attrName>
                                        </p:attrNameLst>
                                      </p:cBhvr>
                                      <p:to>
                                        <p:strVal val="visible"/>
                                      </p:to>
                                    </p:set>
                                    <p:animEffect transition="in" filter="wipe(up)">
                                      <p:cBhvr>
                                        <p:cTn id="12" dur="1000"/>
                                        <p:tgtEl>
                                          <p:spTgt spid="45064"/>
                                        </p:tgtEl>
                                      </p:cBhvr>
                                    </p:animEffect>
                                  </p:childTnLst>
                                  <p:subTnLst>
                                    <p:set>
                                      <p:cBhvr override="childStyle">
                                        <p:cTn dur="1" fill="hold" display="0" masterRel="nextClick" afterEffect="1"/>
                                        <p:tgtEl>
                                          <p:spTgt spid="45064"/>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5060"/>
                                        </p:tgtEl>
                                        <p:attrNameLst>
                                          <p:attrName>style.visibility</p:attrName>
                                        </p:attrNameLst>
                                      </p:cBhvr>
                                      <p:to>
                                        <p:strVal val="visible"/>
                                      </p:to>
                                    </p:set>
                                    <p:animEffect transition="in" filter="wipe(up)">
                                      <p:cBhvr>
                                        <p:cTn id="17" dur="1000"/>
                                        <p:tgtEl>
                                          <p:spTgt spid="450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5061"/>
                                        </p:tgtEl>
                                        <p:attrNameLst>
                                          <p:attrName>style.visibility</p:attrName>
                                        </p:attrNameLst>
                                      </p:cBhvr>
                                      <p:to>
                                        <p:strVal val="visible"/>
                                      </p:to>
                                    </p:set>
                                    <p:animEffect transition="in" filter="wipe(up)">
                                      <p:cBhvr>
                                        <p:cTn id="22" dur="1000"/>
                                        <p:tgtEl>
                                          <p:spTgt spid="45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P spid="45060" grpId="0" animBg="1"/>
      <p:bldP spid="45061" grpId="0" animBg="1"/>
      <p:bldP spid="4506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533400" y="1371600"/>
            <a:ext cx="7772400" cy="457200"/>
          </a:xfrm>
        </p:spPr>
        <p:txBody>
          <a:bodyPr>
            <a:normAutofit/>
          </a:bodyPr>
          <a:lstStyle/>
          <a:p>
            <a:pPr>
              <a:lnSpc>
                <a:spcPct val="90000"/>
              </a:lnSpc>
            </a:pPr>
            <a:r>
              <a:rPr lang="en-IN" sz="2400" dirty="0" smtClean="0"/>
              <a:t>To </a:t>
            </a:r>
            <a:r>
              <a:rPr lang="en-IN" sz="2400" dirty="0"/>
              <a:t>Access Parent Class Variable</a:t>
            </a:r>
          </a:p>
          <a:p>
            <a:pPr eaLnBrk="1" hangingPunct="1">
              <a:lnSpc>
                <a:spcPct val="90000"/>
              </a:lnSpc>
            </a:pPr>
            <a:endParaRPr lang="en-US" sz="2400" b="1" dirty="0" smtClean="0"/>
          </a:p>
        </p:txBody>
      </p:sp>
      <p:sp>
        <p:nvSpPr>
          <p:cNvPr id="45060" name="Rectangle 4"/>
          <p:cNvSpPr>
            <a:spLocks noChangeArrowheads="1"/>
          </p:cNvSpPr>
          <p:nvPr/>
        </p:nvSpPr>
        <p:spPr bwMode="auto">
          <a:xfrm>
            <a:off x="-12700" y="2057400"/>
            <a:ext cx="4127500" cy="4038600"/>
          </a:xfrm>
          <a:prstGeom prst="rect">
            <a:avLst/>
          </a:prstGeom>
          <a:solidFill>
            <a:schemeClr val="accent1">
              <a:alpha val="12941"/>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accent1"/>
            </a:extrusionClr>
          </a:sp3d>
        </p:spPr>
        <p:txBody>
          <a:bodyPr wrap="none" anchor="ctr">
            <a:flatTx/>
          </a:bodyPr>
          <a:lstStyle/>
          <a:p>
            <a:r>
              <a:rPr lang="en-IN" b="1" dirty="0"/>
              <a:t>class Animal {</a:t>
            </a:r>
          </a:p>
          <a:p>
            <a:r>
              <a:rPr lang="en-IN" b="1" dirty="0"/>
              <a:t>    String </a:t>
            </a:r>
            <a:r>
              <a:rPr lang="en-IN" b="1" dirty="0" err="1"/>
              <a:t>color</a:t>
            </a:r>
            <a:r>
              <a:rPr lang="en-IN" b="1" dirty="0"/>
              <a:t> = "White";</a:t>
            </a:r>
          </a:p>
          <a:p>
            <a:r>
              <a:rPr lang="en-IN" b="1" dirty="0"/>
              <a:t>}</a:t>
            </a:r>
          </a:p>
          <a:p>
            <a:r>
              <a:rPr lang="en-IN" b="1" dirty="0"/>
              <a:t>class Dog extends Animal {</a:t>
            </a:r>
          </a:p>
          <a:p>
            <a:r>
              <a:rPr lang="en-IN" b="1" dirty="0"/>
              <a:t>    String </a:t>
            </a:r>
            <a:r>
              <a:rPr lang="en-IN" b="1" dirty="0" err="1"/>
              <a:t>color</a:t>
            </a:r>
            <a:r>
              <a:rPr lang="en-IN" b="1" dirty="0"/>
              <a:t> = "Black";</a:t>
            </a:r>
          </a:p>
          <a:p>
            <a:endParaRPr lang="en-IN" b="1" dirty="0"/>
          </a:p>
          <a:p>
            <a:r>
              <a:rPr lang="en-IN" b="1" dirty="0"/>
              <a:t>    void display() {</a:t>
            </a:r>
          </a:p>
          <a:p>
            <a:r>
              <a:rPr lang="en-IN" b="1" dirty="0"/>
              <a:t>        </a:t>
            </a:r>
            <a:r>
              <a:rPr lang="en-IN" b="1" dirty="0" err="1"/>
              <a:t>System.out.println</a:t>
            </a:r>
            <a:r>
              <a:rPr lang="en-IN" b="1" dirty="0"/>
              <a:t>("Dog </a:t>
            </a:r>
            <a:r>
              <a:rPr lang="en-IN" b="1" dirty="0" err="1"/>
              <a:t>Color</a:t>
            </a:r>
            <a:r>
              <a:rPr lang="en-IN" b="1" dirty="0"/>
              <a:t> = " </a:t>
            </a:r>
            <a:endParaRPr lang="en-IN" b="1" dirty="0" smtClean="0"/>
          </a:p>
          <a:p>
            <a:r>
              <a:rPr lang="en-IN" b="1" dirty="0"/>
              <a:t> </a:t>
            </a:r>
            <a:r>
              <a:rPr lang="en-IN" b="1" dirty="0" smtClean="0"/>
              <a:t>                             + </a:t>
            </a:r>
            <a:r>
              <a:rPr lang="en-IN" b="1" dirty="0" err="1"/>
              <a:t>color</a:t>
            </a:r>
            <a:r>
              <a:rPr lang="en-IN" b="1" dirty="0"/>
              <a:t>);</a:t>
            </a:r>
          </a:p>
          <a:p>
            <a:r>
              <a:rPr lang="en-IN" b="1" dirty="0"/>
              <a:t>        </a:t>
            </a:r>
            <a:r>
              <a:rPr lang="en-IN" b="1" dirty="0" err="1"/>
              <a:t>System.out.println</a:t>
            </a:r>
            <a:r>
              <a:rPr lang="en-IN" b="1" dirty="0"/>
              <a:t>("Animal </a:t>
            </a:r>
            <a:r>
              <a:rPr lang="en-IN" b="1" dirty="0" err="1"/>
              <a:t>Color</a:t>
            </a:r>
            <a:r>
              <a:rPr lang="en-IN" b="1" dirty="0"/>
              <a:t> = " </a:t>
            </a:r>
            <a:endParaRPr lang="en-IN" b="1" dirty="0" smtClean="0"/>
          </a:p>
          <a:p>
            <a:r>
              <a:rPr lang="en-IN" b="1" dirty="0"/>
              <a:t> </a:t>
            </a:r>
            <a:r>
              <a:rPr lang="en-IN" b="1" dirty="0" smtClean="0"/>
              <a:t>                     + </a:t>
            </a:r>
            <a:r>
              <a:rPr lang="en-IN" b="1" dirty="0" err="1"/>
              <a:t>super.color</a:t>
            </a:r>
            <a:r>
              <a:rPr lang="en-IN" b="1" dirty="0"/>
              <a:t>);</a:t>
            </a:r>
          </a:p>
          <a:p>
            <a:r>
              <a:rPr lang="en-IN" b="1" dirty="0"/>
              <a:t>    }</a:t>
            </a:r>
          </a:p>
          <a:p>
            <a:endParaRPr lang="en-IN" b="1" dirty="0"/>
          </a:p>
          <a:p>
            <a:r>
              <a:rPr lang="en-IN" b="1" dirty="0" smtClean="0"/>
              <a:t>}</a:t>
            </a:r>
            <a:endParaRPr lang="en-IN" b="1" dirty="0"/>
          </a:p>
        </p:txBody>
      </p:sp>
      <p:sp>
        <p:nvSpPr>
          <p:cNvPr id="45061" name="Rectangle 5"/>
          <p:cNvSpPr>
            <a:spLocks noChangeArrowheads="1"/>
          </p:cNvSpPr>
          <p:nvPr/>
        </p:nvSpPr>
        <p:spPr bwMode="auto">
          <a:xfrm>
            <a:off x="4343400" y="2432050"/>
            <a:ext cx="4819650" cy="4013200"/>
          </a:xfrm>
          <a:prstGeom prst="rect">
            <a:avLst/>
          </a:prstGeom>
          <a:solidFill>
            <a:schemeClr val="accent1">
              <a:alpha val="14117"/>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accent1"/>
            </a:extrusionClr>
          </a:sp3d>
        </p:spPr>
        <p:txBody>
          <a:bodyPr wrap="none" anchor="ctr">
            <a:flatTx/>
          </a:bodyPr>
          <a:lstStyle/>
          <a:p>
            <a:r>
              <a:rPr lang="en-IN" b="1" dirty="0" smtClean="0"/>
              <a:t>public static void main(String </a:t>
            </a:r>
            <a:r>
              <a:rPr lang="en-IN" b="1" dirty="0" err="1" smtClean="0"/>
              <a:t>args</a:t>
            </a:r>
            <a:r>
              <a:rPr lang="en-IN" b="1" dirty="0" smtClean="0"/>
              <a:t>[]) {</a:t>
            </a:r>
          </a:p>
          <a:p>
            <a:r>
              <a:rPr lang="en-IN" b="1" dirty="0" smtClean="0"/>
              <a:t>        Dog d = new Dog();</a:t>
            </a:r>
          </a:p>
          <a:p>
            <a:r>
              <a:rPr lang="en-IN" b="1" dirty="0" smtClean="0"/>
              <a:t>        </a:t>
            </a:r>
            <a:r>
              <a:rPr lang="en-IN" b="1" dirty="0" err="1" smtClean="0"/>
              <a:t>d.display</a:t>
            </a:r>
            <a:r>
              <a:rPr lang="en-IN" b="1" dirty="0" smtClean="0"/>
              <a:t>();</a:t>
            </a:r>
          </a:p>
          <a:p>
            <a:r>
              <a:rPr lang="en-IN" b="1" dirty="0" smtClean="0"/>
              <a:t>    }</a:t>
            </a:r>
          </a:p>
          <a:p>
            <a:endParaRPr lang="en-US" b="1" dirty="0"/>
          </a:p>
          <a:p>
            <a:endParaRPr lang="en-US" b="1" dirty="0" smtClean="0"/>
          </a:p>
          <a:p>
            <a:endParaRPr lang="en-US" b="1" dirty="0"/>
          </a:p>
          <a:p>
            <a:endParaRPr lang="en-US" b="1" dirty="0" smtClean="0"/>
          </a:p>
          <a:p>
            <a:endParaRPr lang="en-US" b="1" dirty="0"/>
          </a:p>
          <a:p>
            <a:r>
              <a:rPr lang="en-IN" b="1" dirty="0"/>
              <a:t>Dog </a:t>
            </a:r>
            <a:r>
              <a:rPr lang="en-IN" b="1" dirty="0" err="1"/>
              <a:t>Color</a:t>
            </a:r>
            <a:r>
              <a:rPr lang="en-IN" b="1" dirty="0"/>
              <a:t> = Black</a:t>
            </a:r>
          </a:p>
          <a:p>
            <a:r>
              <a:rPr lang="en-IN" b="1" dirty="0"/>
              <a:t>Animal </a:t>
            </a:r>
            <a:r>
              <a:rPr lang="en-IN" b="1" dirty="0" err="1"/>
              <a:t>Color</a:t>
            </a:r>
            <a:r>
              <a:rPr lang="en-IN" b="1" dirty="0"/>
              <a:t> = White</a:t>
            </a:r>
          </a:p>
          <a:p>
            <a:endParaRPr lang="en-IN" b="1" dirty="0"/>
          </a:p>
        </p:txBody>
      </p:sp>
      <p:sp>
        <p:nvSpPr>
          <p:cNvPr id="31750" name="Rectangle 6"/>
          <p:cNvSpPr>
            <a:spLocks noChangeArrowheads="1"/>
          </p:cNvSpPr>
          <p:nvPr/>
        </p:nvSpPr>
        <p:spPr bwMode="auto">
          <a:xfrm>
            <a:off x="0" y="381000"/>
            <a:ext cx="9144000" cy="498475"/>
          </a:xfrm>
          <a:prstGeom prst="rect">
            <a:avLst/>
          </a:prstGeom>
          <a:solidFill>
            <a:srgbClr val="0066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006666"/>
            </a:extrusionClr>
          </a:sp3d>
        </p:spPr>
        <p:txBody>
          <a:bodyPr lIns="92075" tIns="46038" rIns="92075" bIns="46038" anchor="b">
            <a:flatTx/>
          </a:bodyPr>
          <a:lstStyle/>
          <a:p>
            <a:pPr>
              <a:lnSpc>
                <a:spcPct val="90000"/>
              </a:lnSpc>
            </a:pPr>
            <a:r>
              <a:rPr lang="en-US" sz="2800">
                <a:solidFill>
                  <a:schemeClr val="bg1"/>
                </a:solidFill>
                <a:latin typeface="Calibri" pitchFamily="34" charset="0"/>
              </a:rPr>
              <a:t>Use of super keyword</a:t>
            </a:r>
          </a:p>
        </p:txBody>
      </p:sp>
      <p:sp>
        <p:nvSpPr>
          <p:cNvPr id="45064" name="AutoShape 8"/>
          <p:cNvSpPr>
            <a:spLocks noChangeArrowheads="1"/>
          </p:cNvSpPr>
          <p:nvPr/>
        </p:nvSpPr>
        <p:spPr bwMode="auto">
          <a:xfrm>
            <a:off x="2819400" y="2514600"/>
            <a:ext cx="2971800" cy="2057400"/>
          </a:xfrm>
          <a:prstGeom prst="cloudCallout">
            <a:avLst>
              <a:gd name="adj1" fmla="val -43750"/>
              <a:gd name="adj2" fmla="val 70000"/>
            </a:avLst>
          </a:prstGeom>
          <a:noFill/>
          <a:ln w="12700">
            <a:solidFill>
              <a:schemeClr val="tx1"/>
            </a:solidFill>
            <a:round/>
            <a:headEnd type="none" w="sm" len="sm"/>
            <a:tailEnd type="none" w="sm" len="sm"/>
          </a:ln>
        </p:spPr>
        <p:txBody>
          <a:bodyPr anchor="ctr"/>
          <a:lstStyle/>
          <a:p>
            <a:r>
              <a:rPr lang="en-US" sz="2800">
                <a:latin typeface="Calibri" pitchFamily="34" charset="0"/>
              </a:rPr>
              <a:t>Example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wipe(left)">
                                      <p:cBhvr>
                                        <p:cTn id="7" dur="1000"/>
                                        <p:tgtEl>
                                          <p:spTgt spid="45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5064"/>
                                        </p:tgtEl>
                                        <p:attrNameLst>
                                          <p:attrName>style.visibility</p:attrName>
                                        </p:attrNameLst>
                                      </p:cBhvr>
                                      <p:to>
                                        <p:strVal val="visible"/>
                                      </p:to>
                                    </p:set>
                                    <p:animEffect transition="in" filter="wipe(up)">
                                      <p:cBhvr>
                                        <p:cTn id="12" dur="1000"/>
                                        <p:tgtEl>
                                          <p:spTgt spid="45064"/>
                                        </p:tgtEl>
                                      </p:cBhvr>
                                    </p:animEffect>
                                  </p:childTnLst>
                                  <p:subTnLst>
                                    <p:set>
                                      <p:cBhvr override="childStyle">
                                        <p:cTn dur="1" fill="hold" display="0" masterRel="nextClick" afterEffect="1"/>
                                        <p:tgtEl>
                                          <p:spTgt spid="45064"/>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5060"/>
                                        </p:tgtEl>
                                        <p:attrNameLst>
                                          <p:attrName>style.visibility</p:attrName>
                                        </p:attrNameLst>
                                      </p:cBhvr>
                                      <p:to>
                                        <p:strVal val="visible"/>
                                      </p:to>
                                    </p:set>
                                    <p:animEffect transition="in" filter="wipe(up)">
                                      <p:cBhvr>
                                        <p:cTn id="17" dur="1000"/>
                                        <p:tgtEl>
                                          <p:spTgt spid="450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5061"/>
                                        </p:tgtEl>
                                        <p:attrNameLst>
                                          <p:attrName>style.visibility</p:attrName>
                                        </p:attrNameLst>
                                      </p:cBhvr>
                                      <p:to>
                                        <p:strVal val="visible"/>
                                      </p:to>
                                    </p:set>
                                    <p:animEffect transition="in" filter="wipe(up)">
                                      <p:cBhvr>
                                        <p:cTn id="22" dur="1000"/>
                                        <p:tgtEl>
                                          <p:spTgt spid="45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P spid="45060" grpId="0" animBg="1"/>
      <p:bldP spid="45061" grpId="0" animBg="1"/>
      <p:bldP spid="4506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533400" y="1371600"/>
            <a:ext cx="7772400" cy="457200"/>
          </a:xfrm>
        </p:spPr>
        <p:txBody>
          <a:bodyPr>
            <a:normAutofit fontScale="85000" lnSpcReduction="10000"/>
          </a:bodyPr>
          <a:lstStyle/>
          <a:p>
            <a:pPr eaLnBrk="1" hangingPunct="1">
              <a:lnSpc>
                <a:spcPct val="90000"/>
              </a:lnSpc>
            </a:pPr>
            <a:r>
              <a:rPr lang="en-US" sz="2400" b="1" smtClean="0"/>
              <a:t>Allows you to access methods and properties of the parent class, </a:t>
            </a:r>
          </a:p>
        </p:txBody>
      </p:sp>
      <p:sp>
        <p:nvSpPr>
          <p:cNvPr id="45060" name="Rectangle 4"/>
          <p:cNvSpPr>
            <a:spLocks noChangeArrowheads="1"/>
          </p:cNvSpPr>
          <p:nvPr/>
        </p:nvSpPr>
        <p:spPr bwMode="auto">
          <a:xfrm>
            <a:off x="-12700" y="2406650"/>
            <a:ext cx="4203700" cy="4038600"/>
          </a:xfrm>
          <a:prstGeom prst="rect">
            <a:avLst/>
          </a:prstGeom>
          <a:solidFill>
            <a:schemeClr val="accent1">
              <a:alpha val="12941"/>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accent1"/>
            </a:extrusionClr>
          </a:sp3d>
        </p:spPr>
        <p:txBody>
          <a:bodyPr wrap="none" anchor="ctr">
            <a:flatTx/>
          </a:bodyPr>
          <a:lstStyle/>
          <a:p>
            <a:endParaRPr lang="en-US" dirty="0">
              <a:latin typeface="Calibri" pitchFamily="34" charset="0"/>
            </a:endParaRPr>
          </a:p>
          <a:p>
            <a:endParaRPr lang="en-US" dirty="0">
              <a:latin typeface="Calibri" pitchFamily="34" charset="0"/>
            </a:endParaRPr>
          </a:p>
          <a:p>
            <a:endParaRPr lang="en-US" dirty="0">
              <a:latin typeface="Calibri" pitchFamily="34" charset="0"/>
            </a:endParaRPr>
          </a:p>
          <a:p>
            <a:r>
              <a:rPr lang="en-US" dirty="0">
                <a:latin typeface="Calibri" pitchFamily="34" charset="0"/>
              </a:rPr>
              <a:t>public class Person {</a:t>
            </a:r>
          </a:p>
          <a:p>
            <a:r>
              <a:rPr lang="en-US" dirty="0">
                <a:latin typeface="Calibri" pitchFamily="34" charset="0"/>
              </a:rPr>
              <a:t>    private String name;</a:t>
            </a:r>
          </a:p>
          <a:p>
            <a:endParaRPr lang="en-US" dirty="0">
              <a:latin typeface="Calibri" pitchFamily="34" charset="0"/>
            </a:endParaRPr>
          </a:p>
          <a:p>
            <a:r>
              <a:rPr lang="en-US" dirty="0">
                <a:latin typeface="Calibri" pitchFamily="34" charset="0"/>
              </a:rPr>
              <a:t>    public Person(String name) {</a:t>
            </a:r>
          </a:p>
          <a:p>
            <a:r>
              <a:rPr lang="en-US" dirty="0">
                <a:latin typeface="Calibri" pitchFamily="34" charset="0"/>
              </a:rPr>
              <a:t>        this.name = name;</a:t>
            </a:r>
          </a:p>
          <a:p>
            <a:r>
              <a:rPr lang="en-US" dirty="0">
                <a:latin typeface="Calibri" pitchFamily="34" charset="0"/>
              </a:rPr>
              <a:t>    }</a:t>
            </a:r>
          </a:p>
          <a:p>
            <a:r>
              <a:rPr lang="en-US" dirty="0">
                <a:latin typeface="Calibri" pitchFamily="34" charset="0"/>
              </a:rPr>
              <a:t>    </a:t>
            </a:r>
          </a:p>
          <a:p>
            <a:r>
              <a:rPr lang="en-US" dirty="0">
                <a:latin typeface="Calibri" pitchFamily="34" charset="0"/>
              </a:rPr>
              <a:t>    public String </a:t>
            </a:r>
            <a:r>
              <a:rPr lang="en-US" dirty="0" err="1">
                <a:latin typeface="Calibri" pitchFamily="34" charset="0"/>
              </a:rPr>
              <a:t>getName</a:t>
            </a:r>
            <a:r>
              <a:rPr lang="en-US" dirty="0">
                <a:latin typeface="Calibri" pitchFamily="34" charset="0"/>
              </a:rPr>
              <a:t>() {</a:t>
            </a:r>
          </a:p>
          <a:p>
            <a:r>
              <a:rPr lang="en-US" dirty="0">
                <a:latin typeface="Calibri" pitchFamily="34" charset="0"/>
              </a:rPr>
              <a:t>        return name;</a:t>
            </a:r>
          </a:p>
          <a:p>
            <a:r>
              <a:rPr lang="en-US" dirty="0">
                <a:latin typeface="Calibri" pitchFamily="34" charset="0"/>
              </a:rPr>
              <a:t>    }</a:t>
            </a:r>
          </a:p>
          <a:p>
            <a:r>
              <a:rPr lang="en-US" dirty="0">
                <a:latin typeface="Calibri" pitchFamily="34" charset="0"/>
              </a:rPr>
              <a:t>}</a:t>
            </a:r>
          </a:p>
          <a:p>
            <a:endParaRPr lang="en-US" dirty="0">
              <a:latin typeface="Calibri" pitchFamily="34" charset="0"/>
            </a:endParaRPr>
          </a:p>
          <a:p>
            <a:endParaRPr lang="en-US" dirty="0">
              <a:latin typeface="Calibri" pitchFamily="34" charset="0"/>
            </a:endParaRPr>
          </a:p>
          <a:p>
            <a:endParaRPr lang="en-US" dirty="0">
              <a:latin typeface="Calibri" pitchFamily="34" charset="0"/>
            </a:endParaRPr>
          </a:p>
          <a:p>
            <a:endParaRPr lang="en-US" dirty="0">
              <a:latin typeface="Calibri" pitchFamily="34" charset="0"/>
            </a:endParaRPr>
          </a:p>
          <a:p>
            <a:endParaRPr lang="en-US" dirty="0">
              <a:latin typeface="Calibri" pitchFamily="34" charset="0"/>
            </a:endParaRPr>
          </a:p>
        </p:txBody>
      </p:sp>
      <p:sp>
        <p:nvSpPr>
          <p:cNvPr id="45061" name="Rectangle 5"/>
          <p:cNvSpPr>
            <a:spLocks noChangeArrowheads="1"/>
          </p:cNvSpPr>
          <p:nvPr/>
        </p:nvSpPr>
        <p:spPr bwMode="auto">
          <a:xfrm>
            <a:off x="4343400" y="2432050"/>
            <a:ext cx="4819650" cy="4013200"/>
          </a:xfrm>
          <a:prstGeom prst="rect">
            <a:avLst/>
          </a:prstGeom>
          <a:solidFill>
            <a:schemeClr val="accent1">
              <a:alpha val="14117"/>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accent1"/>
            </a:extrusionClr>
          </a:sp3d>
        </p:spPr>
        <p:txBody>
          <a:bodyPr wrap="none" anchor="ctr">
            <a:flatTx/>
          </a:bodyPr>
          <a:lstStyle/>
          <a:p>
            <a:r>
              <a:rPr lang="en-US">
                <a:latin typeface="Calibri" pitchFamily="34" charset="0"/>
              </a:rPr>
              <a:t>public class Employee extends Person {</a:t>
            </a:r>
          </a:p>
          <a:p>
            <a:r>
              <a:rPr lang="en-US">
                <a:latin typeface="Calibri" pitchFamily="34" charset="0"/>
              </a:rPr>
              <a:t>    private String empID;</a:t>
            </a:r>
          </a:p>
          <a:p>
            <a:r>
              <a:rPr lang="en-US">
                <a:latin typeface="Calibri" pitchFamily="34" charset="0"/>
              </a:rPr>
              <a:t>    </a:t>
            </a:r>
          </a:p>
          <a:p>
            <a:r>
              <a:rPr lang="en-US">
                <a:latin typeface="Calibri" pitchFamily="34" charset="0"/>
              </a:rPr>
              <a:t>    public Employee(String name) {</a:t>
            </a:r>
          </a:p>
          <a:p>
            <a:r>
              <a:rPr lang="en-US">
                <a:latin typeface="Calibri" pitchFamily="34" charset="0"/>
              </a:rPr>
              <a:t>   super(name); // Calls Person constructor</a:t>
            </a:r>
          </a:p>
          <a:p>
            <a:r>
              <a:rPr lang="en-US">
                <a:latin typeface="Calibri" pitchFamily="34" charset="0"/>
              </a:rPr>
              <a:t>    }</a:t>
            </a:r>
          </a:p>
          <a:p>
            <a:r>
              <a:rPr lang="en-US">
                <a:latin typeface="Calibri" pitchFamily="34" charset="0"/>
              </a:rPr>
              <a:t>   public void setID(String empID){</a:t>
            </a:r>
          </a:p>
          <a:p>
            <a:r>
              <a:rPr lang="en-US">
                <a:latin typeface="Calibri" pitchFamily="34" charset="0"/>
              </a:rPr>
              <a:t>       this.empID=empID;</a:t>
            </a:r>
          </a:p>
          <a:p>
            <a:r>
              <a:rPr lang="en-US">
                <a:latin typeface="Calibri" pitchFamily="34" charset="0"/>
              </a:rPr>
              <a:t>  }</a:t>
            </a:r>
          </a:p>
          <a:p>
            <a:r>
              <a:rPr lang="en-US">
                <a:latin typeface="Calibri" pitchFamily="34" charset="0"/>
              </a:rPr>
              <a:t>      public String getID(){</a:t>
            </a:r>
          </a:p>
          <a:p>
            <a:r>
              <a:rPr lang="en-US">
                <a:latin typeface="Calibri" pitchFamily="34" charset="0"/>
              </a:rPr>
              <a:t>      return empID;</a:t>
            </a:r>
          </a:p>
          <a:p>
            <a:r>
              <a:rPr lang="en-US">
                <a:latin typeface="Calibri" pitchFamily="34" charset="0"/>
              </a:rPr>
              <a:t>    }</a:t>
            </a:r>
          </a:p>
          <a:p>
            <a:r>
              <a:rPr lang="en-US">
                <a:latin typeface="Calibri" pitchFamily="34" charset="0"/>
              </a:rPr>
              <a:t>}</a:t>
            </a:r>
          </a:p>
        </p:txBody>
      </p:sp>
      <p:sp>
        <p:nvSpPr>
          <p:cNvPr id="31750" name="Rectangle 6"/>
          <p:cNvSpPr>
            <a:spLocks noChangeArrowheads="1"/>
          </p:cNvSpPr>
          <p:nvPr/>
        </p:nvSpPr>
        <p:spPr bwMode="auto">
          <a:xfrm>
            <a:off x="0" y="381000"/>
            <a:ext cx="9144000" cy="498475"/>
          </a:xfrm>
          <a:prstGeom prst="rect">
            <a:avLst/>
          </a:prstGeom>
          <a:solidFill>
            <a:srgbClr val="0066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006666"/>
            </a:extrusionClr>
          </a:sp3d>
        </p:spPr>
        <p:txBody>
          <a:bodyPr lIns="92075" tIns="46038" rIns="92075" bIns="46038" anchor="b">
            <a:flatTx/>
          </a:bodyPr>
          <a:lstStyle/>
          <a:p>
            <a:pPr>
              <a:lnSpc>
                <a:spcPct val="90000"/>
              </a:lnSpc>
            </a:pPr>
            <a:r>
              <a:rPr lang="en-US" sz="2800">
                <a:solidFill>
                  <a:schemeClr val="bg1"/>
                </a:solidFill>
                <a:latin typeface="Calibri" pitchFamily="34" charset="0"/>
              </a:rPr>
              <a:t>Use of super keyword</a:t>
            </a:r>
          </a:p>
        </p:txBody>
      </p:sp>
      <p:sp>
        <p:nvSpPr>
          <p:cNvPr id="45064" name="AutoShape 8"/>
          <p:cNvSpPr>
            <a:spLocks noChangeArrowheads="1"/>
          </p:cNvSpPr>
          <p:nvPr/>
        </p:nvSpPr>
        <p:spPr bwMode="auto">
          <a:xfrm>
            <a:off x="2819400" y="2514600"/>
            <a:ext cx="2971800" cy="2057400"/>
          </a:xfrm>
          <a:prstGeom prst="cloudCallout">
            <a:avLst>
              <a:gd name="adj1" fmla="val -43750"/>
              <a:gd name="adj2" fmla="val 70000"/>
            </a:avLst>
          </a:prstGeom>
          <a:noFill/>
          <a:ln w="12700">
            <a:solidFill>
              <a:schemeClr val="tx1"/>
            </a:solidFill>
            <a:round/>
            <a:headEnd type="none" w="sm" len="sm"/>
            <a:tailEnd type="none" w="sm" len="sm"/>
          </a:ln>
        </p:spPr>
        <p:txBody>
          <a:bodyPr anchor="ctr"/>
          <a:lstStyle/>
          <a:p>
            <a:r>
              <a:rPr lang="en-US" sz="2800">
                <a:latin typeface="Calibri" pitchFamily="34" charset="0"/>
              </a:rPr>
              <a:t>Example</a:t>
            </a:r>
          </a:p>
        </p:txBody>
      </p:sp>
    </p:spTree>
    <p:extLst>
      <p:ext uri="{BB962C8B-B14F-4D97-AF65-F5344CB8AC3E}">
        <p14:creationId xmlns:p14="http://schemas.microsoft.com/office/powerpoint/2010/main" val="33629071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wipe(left)">
                                      <p:cBhvr>
                                        <p:cTn id="7" dur="1000"/>
                                        <p:tgtEl>
                                          <p:spTgt spid="45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5064"/>
                                        </p:tgtEl>
                                        <p:attrNameLst>
                                          <p:attrName>style.visibility</p:attrName>
                                        </p:attrNameLst>
                                      </p:cBhvr>
                                      <p:to>
                                        <p:strVal val="visible"/>
                                      </p:to>
                                    </p:set>
                                    <p:animEffect transition="in" filter="wipe(up)">
                                      <p:cBhvr>
                                        <p:cTn id="12" dur="1000"/>
                                        <p:tgtEl>
                                          <p:spTgt spid="45064"/>
                                        </p:tgtEl>
                                      </p:cBhvr>
                                    </p:animEffect>
                                  </p:childTnLst>
                                  <p:subTnLst>
                                    <p:set>
                                      <p:cBhvr override="childStyle">
                                        <p:cTn dur="1" fill="hold" display="0" masterRel="nextClick" afterEffect="1"/>
                                        <p:tgtEl>
                                          <p:spTgt spid="45064"/>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5060"/>
                                        </p:tgtEl>
                                        <p:attrNameLst>
                                          <p:attrName>style.visibility</p:attrName>
                                        </p:attrNameLst>
                                      </p:cBhvr>
                                      <p:to>
                                        <p:strVal val="visible"/>
                                      </p:to>
                                    </p:set>
                                    <p:animEffect transition="in" filter="wipe(up)">
                                      <p:cBhvr>
                                        <p:cTn id="17" dur="1000"/>
                                        <p:tgtEl>
                                          <p:spTgt spid="450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5061"/>
                                        </p:tgtEl>
                                        <p:attrNameLst>
                                          <p:attrName>style.visibility</p:attrName>
                                        </p:attrNameLst>
                                      </p:cBhvr>
                                      <p:to>
                                        <p:strVal val="visible"/>
                                      </p:to>
                                    </p:set>
                                    <p:animEffect transition="in" filter="wipe(up)">
                                      <p:cBhvr>
                                        <p:cTn id="22" dur="1000"/>
                                        <p:tgtEl>
                                          <p:spTgt spid="45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P spid="45060" grpId="0" animBg="1"/>
      <p:bldP spid="45061" grpId="0" animBg="1"/>
      <p:bldP spid="4506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04800" y="685800"/>
            <a:ext cx="8229600" cy="1143000"/>
          </a:xfrm>
        </p:spPr>
        <p:txBody>
          <a:bodyPr/>
          <a:lstStyle/>
          <a:p>
            <a:pPr eaLnBrk="1" hangingPunct="1"/>
            <a:r>
              <a:rPr lang="en-GB" sz="2400" smtClean="0"/>
              <a:t>Final Classes: A way for Preventing Classes being extended</a:t>
            </a:r>
          </a:p>
        </p:txBody>
      </p:sp>
      <p:sp>
        <p:nvSpPr>
          <p:cNvPr id="198659" name="Rectangle 3"/>
          <p:cNvSpPr>
            <a:spLocks noGrp="1" noChangeArrowheads="1"/>
          </p:cNvSpPr>
          <p:nvPr>
            <p:ph idx="1"/>
          </p:nvPr>
        </p:nvSpPr>
        <p:spPr/>
        <p:txBody>
          <a:bodyPr rtlCol="0">
            <a:normAutofit lnSpcReduction="10000"/>
          </a:bodyPr>
          <a:lstStyle/>
          <a:p>
            <a:pPr eaLnBrk="1" fontAlgn="auto" hangingPunct="1">
              <a:lnSpc>
                <a:spcPct val="90000"/>
              </a:lnSpc>
              <a:spcAft>
                <a:spcPts val="0"/>
              </a:spcAft>
              <a:defRPr/>
            </a:pPr>
            <a:r>
              <a:rPr lang="en-GB" dirty="0" smtClean="0"/>
              <a:t>We can prevent an inheritance of classes by other classes by declaring them as final classes.</a:t>
            </a:r>
          </a:p>
          <a:p>
            <a:pPr eaLnBrk="1" fontAlgn="auto" hangingPunct="1">
              <a:lnSpc>
                <a:spcPct val="90000"/>
              </a:lnSpc>
              <a:spcAft>
                <a:spcPts val="0"/>
              </a:spcAft>
              <a:defRPr/>
            </a:pPr>
            <a:r>
              <a:rPr lang="en-GB" dirty="0" smtClean="0"/>
              <a:t>This is achieved in Java by using the keyword final as follows:</a:t>
            </a:r>
          </a:p>
          <a:p>
            <a:pPr lvl="1" eaLnBrk="1" fontAlgn="auto" hangingPunct="1">
              <a:lnSpc>
                <a:spcPct val="90000"/>
              </a:lnSpc>
              <a:spcAft>
                <a:spcPts val="0"/>
              </a:spcAft>
              <a:buFont typeface="Wingdings" pitchFamily="2" charset="2"/>
              <a:buNone/>
              <a:defRPr/>
            </a:pPr>
            <a:r>
              <a:rPr lang="en-GB" dirty="0" smtClean="0">
                <a:solidFill>
                  <a:srgbClr val="FF0000"/>
                </a:solidFill>
              </a:rPr>
              <a:t>final class Employee extends Person</a:t>
            </a:r>
          </a:p>
          <a:p>
            <a:pPr lvl="1" eaLnBrk="1" fontAlgn="auto" hangingPunct="1">
              <a:lnSpc>
                <a:spcPct val="90000"/>
              </a:lnSpc>
              <a:spcAft>
                <a:spcPts val="0"/>
              </a:spcAft>
              <a:buFont typeface="Wingdings" pitchFamily="2" charset="2"/>
              <a:buNone/>
              <a:defRPr/>
            </a:pPr>
            <a:r>
              <a:rPr lang="en-GB" dirty="0" smtClean="0">
                <a:solidFill>
                  <a:srgbClr val="FF0000"/>
                </a:solidFill>
              </a:rPr>
              <a:t>{ // members</a:t>
            </a:r>
          </a:p>
          <a:p>
            <a:pPr lvl="1" eaLnBrk="1" fontAlgn="auto" hangingPunct="1">
              <a:lnSpc>
                <a:spcPct val="90000"/>
              </a:lnSpc>
              <a:spcAft>
                <a:spcPts val="0"/>
              </a:spcAft>
              <a:buFont typeface="Wingdings" pitchFamily="2" charset="2"/>
              <a:buNone/>
              <a:defRPr/>
            </a:pPr>
            <a:r>
              <a:rPr lang="en-GB" dirty="0" smtClean="0">
                <a:solidFill>
                  <a:srgbClr val="FF0000"/>
                </a:solidFill>
              </a:rPr>
              <a:t>}</a:t>
            </a:r>
          </a:p>
          <a:p>
            <a:pPr eaLnBrk="1" fontAlgn="auto" hangingPunct="1">
              <a:lnSpc>
                <a:spcPct val="90000"/>
              </a:lnSpc>
              <a:spcAft>
                <a:spcPts val="0"/>
              </a:spcAft>
              <a:defRPr/>
            </a:pPr>
            <a:r>
              <a:rPr lang="en-GB" dirty="0" smtClean="0"/>
              <a:t>Any attempt to inherit these classes will cause an error.</a:t>
            </a:r>
          </a:p>
        </p:txBody>
      </p:sp>
      <p:sp>
        <p:nvSpPr>
          <p:cNvPr id="6" name="Title 1"/>
          <p:cNvSpPr txBox="1">
            <a:spLocks/>
          </p:cNvSpPr>
          <p:nvPr/>
        </p:nvSpPr>
        <p:spPr>
          <a:xfrm>
            <a:off x="0" y="0"/>
            <a:ext cx="9144000" cy="639763"/>
          </a:xfrm>
          <a:prstGeom prst="rect">
            <a:avLst/>
          </a:prstGeom>
        </p:spPr>
        <p:style>
          <a:lnRef idx="1">
            <a:schemeClr val="accent1"/>
          </a:lnRef>
          <a:fillRef idx="2">
            <a:schemeClr val="accent1"/>
          </a:fillRef>
          <a:effectRef idx="1">
            <a:schemeClr val="accent1"/>
          </a:effectRef>
          <a:fontRef idx="minor">
            <a:schemeClr val="dk1"/>
          </a:fontRef>
        </p:style>
        <p:txBody>
          <a:bodyPr anchor="ctr">
            <a:normAutofit fontScale="90000" lnSpcReduction="20000"/>
          </a:bodyPr>
          <a:lstStyle/>
          <a:p>
            <a:pPr algn="ctr" fontAlgn="auto">
              <a:spcAft>
                <a:spcPts val="0"/>
              </a:spcAft>
              <a:defRPr/>
            </a:pPr>
            <a:r>
              <a:rPr lang="en-US" sz="4400" b="1" dirty="0">
                <a:solidFill>
                  <a:schemeClr val="tx2">
                    <a:lumMod val="75000"/>
                  </a:schemeClr>
                </a:solidFill>
                <a:effectLst>
                  <a:outerShdw blurRad="38100" dist="38100" dir="2700000" algn="tl">
                    <a:srgbClr val="000000">
                      <a:alpha val="43137"/>
                    </a:srgbClr>
                  </a:outerShdw>
                </a:effectLst>
              </a:rPr>
              <a:t>Final</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8659">
                                            <p:txEl>
                                              <p:pRg st="0" end="0"/>
                                            </p:txEl>
                                          </p:spTgt>
                                        </p:tgtEl>
                                        <p:attrNameLst>
                                          <p:attrName>style.visibility</p:attrName>
                                        </p:attrNameLst>
                                      </p:cBhvr>
                                      <p:to>
                                        <p:strVal val="visible"/>
                                      </p:to>
                                    </p:set>
                                    <p:animEffect transition="in" filter="wipe(left)">
                                      <p:cBhvr>
                                        <p:cTn id="7" dur="1000"/>
                                        <p:tgtEl>
                                          <p:spTgt spid="1986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8659">
                                            <p:txEl>
                                              <p:pRg st="1" end="1"/>
                                            </p:txEl>
                                          </p:spTgt>
                                        </p:tgtEl>
                                        <p:attrNameLst>
                                          <p:attrName>style.visibility</p:attrName>
                                        </p:attrNameLst>
                                      </p:cBhvr>
                                      <p:to>
                                        <p:strVal val="visible"/>
                                      </p:to>
                                    </p:set>
                                    <p:animEffect transition="in" filter="wipe(left)">
                                      <p:cBhvr>
                                        <p:cTn id="12" dur="1000"/>
                                        <p:tgtEl>
                                          <p:spTgt spid="198659">
                                            <p:txEl>
                                              <p:pRg st="1" end="1"/>
                                            </p:txEl>
                                          </p:spTgt>
                                        </p:tgtEl>
                                      </p:cBhvr>
                                    </p:animEffect>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198659">
                                            <p:txEl>
                                              <p:pRg st="2" end="2"/>
                                            </p:txEl>
                                          </p:spTgt>
                                        </p:tgtEl>
                                        <p:attrNameLst>
                                          <p:attrName>style.visibility</p:attrName>
                                        </p:attrNameLst>
                                      </p:cBhvr>
                                      <p:to>
                                        <p:strVal val="visible"/>
                                      </p:to>
                                    </p:set>
                                    <p:animEffect transition="in" filter="wipe(left)">
                                      <p:cBhvr>
                                        <p:cTn id="16" dur="1000"/>
                                        <p:tgtEl>
                                          <p:spTgt spid="198659">
                                            <p:txEl>
                                              <p:pRg st="2" end="2"/>
                                            </p:txEl>
                                          </p:spTgt>
                                        </p:tgtEl>
                                      </p:cBhvr>
                                    </p:animEffect>
                                  </p:childTnLst>
                                </p:cTn>
                              </p:par>
                            </p:childTnLst>
                          </p:cTn>
                        </p:par>
                        <p:par>
                          <p:cTn id="17" fill="hold" nodeType="afterGroup">
                            <p:stCondLst>
                              <p:cond delay="2000"/>
                            </p:stCondLst>
                            <p:childTnLst>
                              <p:par>
                                <p:cTn id="18" presetID="22" presetClass="entr" presetSubtype="8" fill="hold" grpId="0" nodeType="afterEffect">
                                  <p:stCondLst>
                                    <p:cond delay="0"/>
                                  </p:stCondLst>
                                  <p:childTnLst>
                                    <p:set>
                                      <p:cBhvr>
                                        <p:cTn id="19" dur="1" fill="hold">
                                          <p:stCondLst>
                                            <p:cond delay="0"/>
                                          </p:stCondLst>
                                        </p:cTn>
                                        <p:tgtEl>
                                          <p:spTgt spid="198659">
                                            <p:txEl>
                                              <p:pRg st="3" end="3"/>
                                            </p:txEl>
                                          </p:spTgt>
                                        </p:tgtEl>
                                        <p:attrNameLst>
                                          <p:attrName>style.visibility</p:attrName>
                                        </p:attrNameLst>
                                      </p:cBhvr>
                                      <p:to>
                                        <p:strVal val="visible"/>
                                      </p:to>
                                    </p:set>
                                    <p:animEffect transition="in" filter="wipe(left)">
                                      <p:cBhvr>
                                        <p:cTn id="20" dur="1000"/>
                                        <p:tgtEl>
                                          <p:spTgt spid="198659">
                                            <p:txEl>
                                              <p:pRg st="3" end="3"/>
                                            </p:txEl>
                                          </p:spTgt>
                                        </p:tgtEl>
                                      </p:cBhvr>
                                    </p:animEffect>
                                  </p:childTnLst>
                                </p:cTn>
                              </p:par>
                            </p:childTnLst>
                          </p:cTn>
                        </p:par>
                        <p:par>
                          <p:cTn id="21" fill="hold" nodeType="afterGroup">
                            <p:stCondLst>
                              <p:cond delay="3000"/>
                            </p:stCondLst>
                            <p:childTnLst>
                              <p:par>
                                <p:cTn id="22" presetID="22" presetClass="entr" presetSubtype="8" fill="hold" grpId="0" nodeType="afterEffect">
                                  <p:stCondLst>
                                    <p:cond delay="0"/>
                                  </p:stCondLst>
                                  <p:childTnLst>
                                    <p:set>
                                      <p:cBhvr>
                                        <p:cTn id="23" dur="1" fill="hold">
                                          <p:stCondLst>
                                            <p:cond delay="0"/>
                                          </p:stCondLst>
                                        </p:cTn>
                                        <p:tgtEl>
                                          <p:spTgt spid="198659">
                                            <p:txEl>
                                              <p:pRg st="4" end="4"/>
                                            </p:txEl>
                                          </p:spTgt>
                                        </p:tgtEl>
                                        <p:attrNameLst>
                                          <p:attrName>style.visibility</p:attrName>
                                        </p:attrNameLst>
                                      </p:cBhvr>
                                      <p:to>
                                        <p:strVal val="visible"/>
                                      </p:to>
                                    </p:set>
                                    <p:animEffect transition="in" filter="wipe(left)">
                                      <p:cBhvr>
                                        <p:cTn id="24" dur="1000"/>
                                        <p:tgtEl>
                                          <p:spTgt spid="198659">
                                            <p:txEl>
                                              <p:pRg st="4" end="4"/>
                                            </p:txEl>
                                          </p:spTgt>
                                        </p:tgtEl>
                                      </p:cBhvr>
                                    </p:animEffect>
                                  </p:childTnLst>
                                </p:cTn>
                              </p:par>
                            </p:childTnLst>
                          </p:cTn>
                        </p:par>
                        <p:par>
                          <p:cTn id="25" fill="hold" nodeType="afterGroup">
                            <p:stCondLst>
                              <p:cond delay="4000"/>
                            </p:stCondLst>
                            <p:childTnLst>
                              <p:par>
                                <p:cTn id="26" presetID="22" presetClass="entr" presetSubtype="8" fill="hold" grpId="0" nodeType="afterEffect">
                                  <p:stCondLst>
                                    <p:cond delay="0"/>
                                  </p:stCondLst>
                                  <p:childTnLst>
                                    <p:set>
                                      <p:cBhvr>
                                        <p:cTn id="27" dur="1" fill="hold">
                                          <p:stCondLst>
                                            <p:cond delay="0"/>
                                          </p:stCondLst>
                                        </p:cTn>
                                        <p:tgtEl>
                                          <p:spTgt spid="198659">
                                            <p:txEl>
                                              <p:pRg st="5" end="5"/>
                                            </p:txEl>
                                          </p:spTgt>
                                        </p:tgtEl>
                                        <p:attrNameLst>
                                          <p:attrName>style.visibility</p:attrName>
                                        </p:attrNameLst>
                                      </p:cBhvr>
                                      <p:to>
                                        <p:strVal val="visible"/>
                                      </p:to>
                                    </p:set>
                                    <p:animEffect transition="in" filter="wipe(left)">
                                      <p:cBhvr>
                                        <p:cTn id="28" dur="1000"/>
                                        <p:tgtEl>
                                          <p:spTgt spid="1986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685800"/>
            <a:ext cx="8229600" cy="1143000"/>
          </a:xfrm>
        </p:spPr>
        <p:txBody>
          <a:bodyPr/>
          <a:lstStyle/>
          <a:p>
            <a:pPr eaLnBrk="1" hangingPunct="1"/>
            <a:r>
              <a:rPr lang="en-GB" sz="2400" b="1" smtClean="0"/>
              <a:t>Final Members: </a:t>
            </a:r>
            <a:r>
              <a:rPr lang="en-GB" sz="2400" smtClean="0"/>
              <a:t>A way for Preventing Overriding of Members in Subclasses</a:t>
            </a:r>
          </a:p>
        </p:txBody>
      </p:sp>
      <p:sp>
        <p:nvSpPr>
          <p:cNvPr id="199683" name="Rectangle 3"/>
          <p:cNvSpPr>
            <a:spLocks noGrp="1" noChangeArrowheads="1"/>
          </p:cNvSpPr>
          <p:nvPr>
            <p:ph idx="1"/>
          </p:nvPr>
        </p:nvSpPr>
        <p:spPr>
          <a:xfrm>
            <a:off x="457200" y="1905000"/>
            <a:ext cx="8229600" cy="4525963"/>
          </a:xfrm>
        </p:spPr>
        <p:txBody>
          <a:bodyPr rtlCol="0">
            <a:normAutofit/>
          </a:bodyPr>
          <a:lstStyle/>
          <a:p>
            <a:pPr eaLnBrk="1" fontAlgn="auto" hangingPunct="1">
              <a:lnSpc>
                <a:spcPct val="90000"/>
              </a:lnSpc>
              <a:spcAft>
                <a:spcPts val="0"/>
              </a:spcAft>
              <a:buFont typeface="Arial" charset="0"/>
              <a:buChar char="•"/>
              <a:defRPr/>
            </a:pPr>
            <a:r>
              <a:rPr lang="en-GB" sz="2400" dirty="0" smtClean="0"/>
              <a:t>All methods and variables can be overridden by default in subclasses. </a:t>
            </a:r>
          </a:p>
          <a:p>
            <a:pPr eaLnBrk="1" fontAlgn="auto" hangingPunct="1">
              <a:lnSpc>
                <a:spcPct val="90000"/>
              </a:lnSpc>
              <a:spcAft>
                <a:spcPts val="0"/>
              </a:spcAft>
              <a:buFont typeface="Arial" charset="0"/>
              <a:buChar char="•"/>
              <a:defRPr/>
            </a:pPr>
            <a:r>
              <a:rPr lang="en-GB" sz="2400" dirty="0" smtClean="0"/>
              <a:t>This can be prevented by declaring them as final using the keyword “final” as a modifier. For example:</a:t>
            </a:r>
          </a:p>
          <a:p>
            <a:pPr lvl="1" eaLnBrk="1" fontAlgn="auto" hangingPunct="1">
              <a:lnSpc>
                <a:spcPct val="90000"/>
              </a:lnSpc>
              <a:spcAft>
                <a:spcPts val="0"/>
              </a:spcAft>
              <a:buFont typeface="Arial" charset="0"/>
              <a:buChar char="–"/>
              <a:defRPr/>
            </a:pPr>
            <a:r>
              <a:rPr lang="en-GB" sz="2400" dirty="0" smtClean="0">
                <a:solidFill>
                  <a:srgbClr val="FF0000"/>
                </a:solidFill>
              </a:rPr>
              <a:t>final </a:t>
            </a:r>
            <a:r>
              <a:rPr lang="en-GB" sz="2400" dirty="0" err="1" smtClean="0">
                <a:solidFill>
                  <a:srgbClr val="FF0000"/>
                </a:solidFill>
              </a:rPr>
              <a:t>int</a:t>
            </a:r>
            <a:r>
              <a:rPr lang="en-GB" sz="2400" dirty="0" smtClean="0">
                <a:solidFill>
                  <a:srgbClr val="FF0000"/>
                </a:solidFill>
              </a:rPr>
              <a:t> marks = 100;  </a:t>
            </a:r>
            <a:r>
              <a:rPr lang="en-GB" sz="2400" dirty="0" smtClean="0">
                <a:solidFill>
                  <a:schemeClr val="bg1">
                    <a:lumMod val="50000"/>
                  </a:schemeClr>
                </a:solidFill>
              </a:rPr>
              <a:t>// Const in C and C++</a:t>
            </a:r>
          </a:p>
          <a:p>
            <a:pPr lvl="1" eaLnBrk="1" fontAlgn="auto" hangingPunct="1">
              <a:lnSpc>
                <a:spcPct val="90000"/>
              </a:lnSpc>
              <a:spcAft>
                <a:spcPts val="0"/>
              </a:spcAft>
              <a:buFont typeface="Arial" charset="0"/>
              <a:buChar char="–"/>
              <a:defRPr/>
            </a:pPr>
            <a:r>
              <a:rPr lang="en-GB" sz="2400" dirty="0" smtClean="0">
                <a:solidFill>
                  <a:srgbClr val="FF0000"/>
                </a:solidFill>
              </a:rPr>
              <a:t>final void display();</a:t>
            </a:r>
          </a:p>
          <a:p>
            <a:pPr eaLnBrk="1" fontAlgn="auto" hangingPunct="1">
              <a:lnSpc>
                <a:spcPct val="90000"/>
              </a:lnSpc>
              <a:spcAft>
                <a:spcPts val="0"/>
              </a:spcAft>
              <a:buFont typeface="Arial" charset="0"/>
              <a:buChar char="•"/>
              <a:defRPr/>
            </a:pPr>
            <a:r>
              <a:rPr lang="en-GB" sz="2400" dirty="0" smtClean="0"/>
              <a:t>This ensures that functionality defined in this method cannot be altered. Similarly, the value of a final variable cannot be altered.</a:t>
            </a:r>
          </a:p>
        </p:txBody>
      </p:sp>
      <p:sp>
        <p:nvSpPr>
          <p:cNvPr id="6" name="Title 1"/>
          <p:cNvSpPr txBox="1">
            <a:spLocks/>
          </p:cNvSpPr>
          <p:nvPr/>
        </p:nvSpPr>
        <p:spPr>
          <a:xfrm>
            <a:off x="0" y="0"/>
            <a:ext cx="9144000" cy="639763"/>
          </a:xfrm>
          <a:prstGeom prst="rect">
            <a:avLst/>
          </a:prstGeom>
        </p:spPr>
        <p:style>
          <a:lnRef idx="1">
            <a:schemeClr val="accent1"/>
          </a:lnRef>
          <a:fillRef idx="2">
            <a:schemeClr val="accent1"/>
          </a:fillRef>
          <a:effectRef idx="1">
            <a:schemeClr val="accent1"/>
          </a:effectRef>
          <a:fontRef idx="minor">
            <a:schemeClr val="dk1"/>
          </a:fontRef>
        </p:style>
        <p:txBody>
          <a:bodyPr anchor="ctr">
            <a:normAutofit fontScale="90000" lnSpcReduction="20000"/>
          </a:bodyPr>
          <a:lstStyle/>
          <a:p>
            <a:pPr algn="ctr" fontAlgn="auto">
              <a:spcAft>
                <a:spcPts val="0"/>
              </a:spcAft>
              <a:defRPr/>
            </a:pPr>
            <a:r>
              <a:rPr lang="en-US" sz="4400" b="1" dirty="0">
                <a:solidFill>
                  <a:schemeClr val="tx2">
                    <a:lumMod val="75000"/>
                  </a:schemeClr>
                </a:solidFill>
                <a:effectLst>
                  <a:outerShdw blurRad="38100" dist="38100" dir="2700000" algn="tl">
                    <a:srgbClr val="000000">
                      <a:alpha val="43137"/>
                    </a:srgbClr>
                  </a:outerShdw>
                </a:effectLst>
              </a:rPr>
              <a:t>Final</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9683">
                                            <p:txEl>
                                              <p:pRg st="0" end="0"/>
                                            </p:txEl>
                                          </p:spTgt>
                                        </p:tgtEl>
                                        <p:attrNameLst>
                                          <p:attrName>style.visibility</p:attrName>
                                        </p:attrNameLst>
                                      </p:cBhvr>
                                      <p:to>
                                        <p:strVal val="visible"/>
                                      </p:to>
                                    </p:set>
                                    <p:animEffect transition="in" filter="wipe(left)">
                                      <p:cBhvr>
                                        <p:cTn id="7" dur="1000"/>
                                        <p:tgtEl>
                                          <p:spTgt spid="1996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9683">
                                            <p:txEl>
                                              <p:pRg st="1" end="1"/>
                                            </p:txEl>
                                          </p:spTgt>
                                        </p:tgtEl>
                                        <p:attrNameLst>
                                          <p:attrName>style.visibility</p:attrName>
                                        </p:attrNameLst>
                                      </p:cBhvr>
                                      <p:to>
                                        <p:strVal val="visible"/>
                                      </p:to>
                                    </p:set>
                                    <p:animEffect transition="in" filter="wipe(left)">
                                      <p:cBhvr>
                                        <p:cTn id="12" dur="1000"/>
                                        <p:tgtEl>
                                          <p:spTgt spid="199683">
                                            <p:txEl>
                                              <p:pRg st="1" end="1"/>
                                            </p:txEl>
                                          </p:spTgt>
                                        </p:tgtEl>
                                      </p:cBhvr>
                                    </p:animEffect>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199683">
                                            <p:txEl>
                                              <p:pRg st="2" end="2"/>
                                            </p:txEl>
                                          </p:spTgt>
                                        </p:tgtEl>
                                        <p:attrNameLst>
                                          <p:attrName>style.visibility</p:attrName>
                                        </p:attrNameLst>
                                      </p:cBhvr>
                                      <p:to>
                                        <p:strVal val="visible"/>
                                      </p:to>
                                    </p:set>
                                    <p:animEffect transition="in" filter="wipe(left)">
                                      <p:cBhvr>
                                        <p:cTn id="16" dur="1000"/>
                                        <p:tgtEl>
                                          <p:spTgt spid="199683">
                                            <p:txEl>
                                              <p:pRg st="2" end="2"/>
                                            </p:txEl>
                                          </p:spTgt>
                                        </p:tgtEl>
                                      </p:cBhvr>
                                    </p:animEffect>
                                  </p:childTnLst>
                                </p:cTn>
                              </p:par>
                            </p:childTnLst>
                          </p:cTn>
                        </p:par>
                        <p:par>
                          <p:cTn id="17" fill="hold" nodeType="afterGroup">
                            <p:stCondLst>
                              <p:cond delay="2000"/>
                            </p:stCondLst>
                            <p:childTnLst>
                              <p:par>
                                <p:cTn id="18" presetID="22" presetClass="entr" presetSubtype="8" fill="hold" grpId="0" nodeType="afterEffect">
                                  <p:stCondLst>
                                    <p:cond delay="0"/>
                                  </p:stCondLst>
                                  <p:childTnLst>
                                    <p:set>
                                      <p:cBhvr>
                                        <p:cTn id="19" dur="1" fill="hold">
                                          <p:stCondLst>
                                            <p:cond delay="0"/>
                                          </p:stCondLst>
                                        </p:cTn>
                                        <p:tgtEl>
                                          <p:spTgt spid="199683">
                                            <p:txEl>
                                              <p:pRg st="3" end="3"/>
                                            </p:txEl>
                                          </p:spTgt>
                                        </p:tgtEl>
                                        <p:attrNameLst>
                                          <p:attrName>style.visibility</p:attrName>
                                        </p:attrNameLst>
                                      </p:cBhvr>
                                      <p:to>
                                        <p:strVal val="visible"/>
                                      </p:to>
                                    </p:set>
                                    <p:animEffect transition="in" filter="wipe(left)">
                                      <p:cBhvr>
                                        <p:cTn id="20" dur="1000"/>
                                        <p:tgtEl>
                                          <p:spTgt spid="199683">
                                            <p:txEl>
                                              <p:pRg st="3" end="3"/>
                                            </p:txEl>
                                          </p:spTgt>
                                        </p:tgtEl>
                                      </p:cBhvr>
                                    </p:animEffect>
                                  </p:childTnLst>
                                </p:cTn>
                              </p:par>
                            </p:childTnLst>
                          </p:cTn>
                        </p:par>
                        <p:par>
                          <p:cTn id="21" fill="hold" nodeType="afterGroup">
                            <p:stCondLst>
                              <p:cond delay="3000"/>
                            </p:stCondLst>
                            <p:childTnLst>
                              <p:par>
                                <p:cTn id="22" presetID="22" presetClass="entr" presetSubtype="8" fill="hold" grpId="0" nodeType="afterEffect">
                                  <p:stCondLst>
                                    <p:cond delay="0"/>
                                  </p:stCondLst>
                                  <p:childTnLst>
                                    <p:set>
                                      <p:cBhvr>
                                        <p:cTn id="23" dur="1" fill="hold">
                                          <p:stCondLst>
                                            <p:cond delay="0"/>
                                          </p:stCondLst>
                                        </p:cTn>
                                        <p:tgtEl>
                                          <p:spTgt spid="199683">
                                            <p:txEl>
                                              <p:pRg st="4" end="4"/>
                                            </p:txEl>
                                          </p:spTgt>
                                        </p:tgtEl>
                                        <p:attrNameLst>
                                          <p:attrName>style.visibility</p:attrName>
                                        </p:attrNameLst>
                                      </p:cBhvr>
                                      <p:to>
                                        <p:strVal val="visible"/>
                                      </p:to>
                                    </p:set>
                                    <p:animEffect transition="in" filter="wipe(left)">
                                      <p:cBhvr>
                                        <p:cTn id="24" dur="1000"/>
                                        <p:tgtEl>
                                          <p:spTgt spid="1996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5" name="Rectangle 21"/>
          <p:cNvSpPr>
            <a:spLocks noGrp="1" noChangeArrowheads="1"/>
          </p:cNvSpPr>
          <p:nvPr>
            <p:ph type="title"/>
          </p:nvPr>
        </p:nvSpPr>
        <p:spPr>
          <a:xfrm>
            <a:off x="153988" y="609600"/>
            <a:ext cx="8245475" cy="498475"/>
          </a:xfrm>
        </p:spPr>
        <p:txBody>
          <a:bodyPr rtlCol="0">
            <a:normAutofit fontScale="90000"/>
          </a:bodyPr>
          <a:lstStyle/>
          <a:p>
            <a:pPr eaLnBrk="1" fontAlgn="auto" hangingPunct="1">
              <a:spcAft>
                <a:spcPts val="0"/>
              </a:spcAft>
              <a:defRPr/>
            </a:pPr>
            <a:r>
              <a:rPr lang="en-US" smtClean="0"/>
              <a:t>Overriding Members</a:t>
            </a:r>
          </a:p>
        </p:txBody>
      </p:sp>
      <p:sp>
        <p:nvSpPr>
          <p:cNvPr id="50179" name="Rectangle 3"/>
          <p:cNvSpPr>
            <a:spLocks noGrp="1" noChangeArrowheads="1"/>
          </p:cNvSpPr>
          <p:nvPr>
            <p:ph idx="1"/>
          </p:nvPr>
        </p:nvSpPr>
        <p:spPr>
          <a:xfrm>
            <a:off x="685800" y="1447800"/>
            <a:ext cx="7775575" cy="1447800"/>
          </a:xfrm>
        </p:spPr>
        <p:txBody>
          <a:bodyPr rtlCol="0">
            <a:normAutofit fontScale="85000" lnSpcReduction="20000"/>
          </a:bodyPr>
          <a:lstStyle/>
          <a:p>
            <a:pPr eaLnBrk="1" fontAlgn="auto" hangingPunct="1">
              <a:lnSpc>
                <a:spcPct val="90000"/>
              </a:lnSpc>
              <a:spcAft>
                <a:spcPts val="0"/>
              </a:spcAft>
              <a:buFontTx/>
              <a:buNone/>
              <a:defRPr/>
            </a:pPr>
            <a:endParaRPr lang="en-US" b="1" smtClean="0"/>
          </a:p>
          <a:p>
            <a:pPr eaLnBrk="1" fontAlgn="auto" hangingPunct="1">
              <a:lnSpc>
                <a:spcPct val="90000"/>
              </a:lnSpc>
              <a:spcAft>
                <a:spcPts val="0"/>
              </a:spcAft>
              <a:defRPr/>
            </a:pPr>
            <a:r>
              <a:rPr lang="en-US" b="1" smtClean="0"/>
              <a:t>Method overriding is defined as creating a method in the subclass that has the same return type and signature as a method defined in the superclass.</a:t>
            </a:r>
          </a:p>
          <a:p>
            <a:pPr eaLnBrk="1" fontAlgn="auto" hangingPunct="1">
              <a:lnSpc>
                <a:spcPct val="90000"/>
              </a:lnSpc>
              <a:spcAft>
                <a:spcPts val="0"/>
              </a:spcAft>
              <a:defRPr/>
            </a:pPr>
            <a:endParaRPr lang="en-US" b="1" smtClean="0"/>
          </a:p>
        </p:txBody>
      </p:sp>
      <p:sp>
        <p:nvSpPr>
          <p:cNvPr id="50180" name="Rectangle 4"/>
          <p:cNvSpPr>
            <a:spLocks noChangeArrowheads="1"/>
          </p:cNvSpPr>
          <p:nvPr/>
        </p:nvSpPr>
        <p:spPr bwMode="auto">
          <a:xfrm>
            <a:off x="533400" y="2971800"/>
            <a:ext cx="8229600" cy="1981200"/>
          </a:xfrm>
          <a:prstGeom prst="rect">
            <a:avLst/>
          </a:prstGeom>
          <a:solidFill>
            <a:schemeClr val="accent1">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accent1"/>
            </a:extrusionClr>
          </a:sp3d>
        </p:spPr>
        <p:txBody>
          <a:bodyPr wrap="none">
            <a:flatTx/>
          </a:bodyPr>
          <a:lstStyle/>
          <a:p>
            <a:endParaRPr lang="en-US" sz="2000">
              <a:latin typeface="Calibri" pitchFamily="34" charset="0"/>
            </a:endParaRPr>
          </a:p>
          <a:p>
            <a:r>
              <a:rPr lang="en-US" sz="2000">
                <a:latin typeface="Calibri" pitchFamily="34" charset="0"/>
              </a:rPr>
              <a:t>  Signature of a method includes</a:t>
            </a:r>
          </a:p>
        </p:txBody>
      </p:sp>
      <p:sp>
        <p:nvSpPr>
          <p:cNvPr id="50181" name="Rectangle 5"/>
          <p:cNvSpPr>
            <a:spLocks noChangeArrowheads="1"/>
          </p:cNvSpPr>
          <p:nvPr/>
        </p:nvSpPr>
        <p:spPr bwMode="auto">
          <a:xfrm>
            <a:off x="838200" y="4191000"/>
            <a:ext cx="1295400" cy="609600"/>
          </a:xfrm>
          <a:prstGeom prst="rect">
            <a:avLst/>
          </a:prstGeom>
          <a:solidFill>
            <a:schemeClr val="accent1">
              <a:alpha val="30196"/>
            </a:schemeClr>
          </a:solidFill>
          <a:ln w="12700" algn="ctr">
            <a:noFill/>
            <a:miter lim="800000"/>
            <a:headEnd type="none" w="sm" len="sm"/>
            <a:tailEnd type="none" w="sm" len="sm"/>
          </a:ln>
        </p:spPr>
        <p:txBody>
          <a:bodyPr wrap="none" anchor="ctr"/>
          <a:lstStyle/>
          <a:p>
            <a:r>
              <a:rPr lang="en-US" sz="2000">
                <a:latin typeface="Calibri" pitchFamily="34" charset="0"/>
              </a:rPr>
              <a:t>name</a:t>
            </a:r>
          </a:p>
        </p:txBody>
      </p:sp>
      <p:sp>
        <p:nvSpPr>
          <p:cNvPr id="50182" name="Rectangle 6"/>
          <p:cNvSpPr>
            <a:spLocks noChangeArrowheads="1"/>
          </p:cNvSpPr>
          <p:nvPr/>
        </p:nvSpPr>
        <p:spPr bwMode="auto">
          <a:xfrm>
            <a:off x="2819400" y="4191000"/>
            <a:ext cx="1447800" cy="609600"/>
          </a:xfrm>
          <a:prstGeom prst="rect">
            <a:avLst/>
          </a:prstGeom>
          <a:solidFill>
            <a:schemeClr val="accent1">
              <a:alpha val="30196"/>
            </a:schemeClr>
          </a:solidFill>
          <a:ln w="12700" algn="ctr">
            <a:noFill/>
            <a:miter lim="800000"/>
            <a:headEnd type="none" w="sm" len="sm"/>
            <a:tailEnd type="none" w="sm" len="sm"/>
          </a:ln>
        </p:spPr>
        <p:txBody>
          <a:bodyPr wrap="none" anchor="ctr"/>
          <a:lstStyle/>
          <a:p>
            <a:r>
              <a:rPr lang="en-US" sz="2000">
                <a:latin typeface="Calibri" pitchFamily="34" charset="0"/>
              </a:rPr>
              <a:t>number</a:t>
            </a:r>
          </a:p>
        </p:txBody>
      </p:sp>
      <p:sp>
        <p:nvSpPr>
          <p:cNvPr id="50183" name="Rectangle 7"/>
          <p:cNvSpPr>
            <a:spLocks noChangeArrowheads="1"/>
          </p:cNvSpPr>
          <p:nvPr/>
        </p:nvSpPr>
        <p:spPr bwMode="auto">
          <a:xfrm>
            <a:off x="5029200" y="4191000"/>
            <a:ext cx="1295400" cy="609600"/>
          </a:xfrm>
          <a:prstGeom prst="rect">
            <a:avLst/>
          </a:prstGeom>
          <a:solidFill>
            <a:schemeClr val="accent1">
              <a:alpha val="30196"/>
            </a:schemeClr>
          </a:solidFill>
          <a:ln w="12700" algn="ctr">
            <a:noFill/>
            <a:miter lim="800000"/>
            <a:headEnd type="none" w="sm" len="sm"/>
            <a:tailEnd type="none" w="sm" len="sm"/>
          </a:ln>
        </p:spPr>
        <p:txBody>
          <a:bodyPr wrap="none" anchor="ctr"/>
          <a:lstStyle/>
          <a:p>
            <a:r>
              <a:rPr lang="en-US" sz="2000">
                <a:latin typeface="Calibri" pitchFamily="34" charset="0"/>
              </a:rPr>
              <a:t>sequence </a:t>
            </a:r>
          </a:p>
        </p:txBody>
      </p:sp>
      <p:sp>
        <p:nvSpPr>
          <p:cNvPr id="50184" name="Rectangle 8"/>
          <p:cNvSpPr>
            <a:spLocks noChangeArrowheads="1"/>
          </p:cNvSpPr>
          <p:nvPr/>
        </p:nvSpPr>
        <p:spPr bwMode="auto">
          <a:xfrm>
            <a:off x="7086600" y="4191000"/>
            <a:ext cx="1295400" cy="609600"/>
          </a:xfrm>
          <a:prstGeom prst="rect">
            <a:avLst/>
          </a:prstGeom>
          <a:solidFill>
            <a:schemeClr val="accent1">
              <a:alpha val="30196"/>
            </a:schemeClr>
          </a:solidFill>
          <a:ln w="12700" algn="ctr">
            <a:noFill/>
            <a:miter lim="800000"/>
            <a:headEnd type="none" w="sm" len="sm"/>
            <a:tailEnd type="none" w="sm" len="sm"/>
          </a:ln>
        </p:spPr>
        <p:txBody>
          <a:bodyPr wrap="none" anchor="ctr"/>
          <a:lstStyle/>
          <a:p>
            <a:r>
              <a:rPr lang="en-US" sz="2000">
                <a:latin typeface="Calibri" pitchFamily="34" charset="0"/>
              </a:rPr>
              <a:t>type</a:t>
            </a:r>
          </a:p>
        </p:txBody>
      </p:sp>
      <p:grpSp>
        <p:nvGrpSpPr>
          <p:cNvPr id="2" name="Group 16"/>
          <p:cNvGrpSpPr>
            <a:grpSpLocks/>
          </p:cNvGrpSpPr>
          <p:nvPr/>
        </p:nvGrpSpPr>
        <p:grpSpPr bwMode="auto">
          <a:xfrm>
            <a:off x="1447800" y="3657600"/>
            <a:ext cx="6248400" cy="457200"/>
            <a:chOff x="912" y="2880"/>
            <a:chExt cx="3936" cy="288"/>
          </a:xfrm>
        </p:grpSpPr>
        <p:sp>
          <p:nvSpPr>
            <p:cNvPr id="34831" name="Line 9"/>
            <p:cNvSpPr>
              <a:spLocks noChangeShapeType="1"/>
            </p:cNvSpPr>
            <p:nvPr/>
          </p:nvSpPr>
          <p:spPr bwMode="auto">
            <a:xfrm>
              <a:off x="2832" y="2880"/>
              <a:ext cx="0" cy="144"/>
            </a:xfrm>
            <a:prstGeom prst="line">
              <a:avLst/>
            </a:prstGeom>
            <a:noFill/>
            <a:ln w="12700">
              <a:solidFill>
                <a:schemeClr val="tx1"/>
              </a:solidFill>
              <a:round/>
              <a:headEnd type="none" w="sm" len="sm"/>
              <a:tailEnd type="none" w="sm" len="sm"/>
            </a:ln>
          </p:spPr>
          <p:txBody>
            <a:bodyPr/>
            <a:lstStyle/>
            <a:p>
              <a:endParaRPr lang="en-US"/>
            </a:p>
          </p:txBody>
        </p:sp>
        <p:sp>
          <p:nvSpPr>
            <p:cNvPr id="34832" name="Line 10"/>
            <p:cNvSpPr>
              <a:spLocks noChangeShapeType="1"/>
            </p:cNvSpPr>
            <p:nvPr/>
          </p:nvSpPr>
          <p:spPr bwMode="auto">
            <a:xfrm flipH="1">
              <a:off x="912" y="3024"/>
              <a:ext cx="3936" cy="0"/>
            </a:xfrm>
            <a:prstGeom prst="line">
              <a:avLst/>
            </a:prstGeom>
            <a:noFill/>
            <a:ln w="12700">
              <a:solidFill>
                <a:schemeClr val="tx1"/>
              </a:solidFill>
              <a:round/>
              <a:headEnd type="none" w="sm" len="sm"/>
              <a:tailEnd type="none" w="sm" len="sm"/>
            </a:ln>
          </p:spPr>
          <p:txBody>
            <a:bodyPr/>
            <a:lstStyle/>
            <a:p>
              <a:endParaRPr lang="en-US"/>
            </a:p>
          </p:txBody>
        </p:sp>
        <p:sp>
          <p:nvSpPr>
            <p:cNvPr id="34833" name="Line 11"/>
            <p:cNvSpPr>
              <a:spLocks noChangeShapeType="1"/>
            </p:cNvSpPr>
            <p:nvPr/>
          </p:nvSpPr>
          <p:spPr bwMode="auto">
            <a:xfrm>
              <a:off x="912" y="3024"/>
              <a:ext cx="0" cy="144"/>
            </a:xfrm>
            <a:prstGeom prst="line">
              <a:avLst/>
            </a:prstGeom>
            <a:noFill/>
            <a:ln w="12700">
              <a:solidFill>
                <a:schemeClr val="tx1"/>
              </a:solidFill>
              <a:round/>
              <a:headEnd type="none" w="sm" len="sm"/>
              <a:tailEnd type="none" w="sm" len="sm"/>
            </a:ln>
          </p:spPr>
          <p:txBody>
            <a:bodyPr/>
            <a:lstStyle/>
            <a:p>
              <a:endParaRPr lang="en-US"/>
            </a:p>
          </p:txBody>
        </p:sp>
        <p:sp>
          <p:nvSpPr>
            <p:cNvPr id="34834" name="Line 12"/>
            <p:cNvSpPr>
              <a:spLocks noChangeShapeType="1"/>
            </p:cNvSpPr>
            <p:nvPr/>
          </p:nvSpPr>
          <p:spPr bwMode="auto">
            <a:xfrm>
              <a:off x="2208" y="3024"/>
              <a:ext cx="0" cy="144"/>
            </a:xfrm>
            <a:prstGeom prst="line">
              <a:avLst/>
            </a:prstGeom>
            <a:noFill/>
            <a:ln w="12700">
              <a:solidFill>
                <a:schemeClr val="tx1"/>
              </a:solidFill>
              <a:round/>
              <a:headEnd type="none" w="sm" len="sm"/>
              <a:tailEnd type="none" w="sm" len="sm"/>
            </a:ln>
          </p:spPr>
          <p:txBody>
            <a:bodyPr/>
            <a:lstStyle/>
            <a:p>
              <a:endParaRPr lang="en-US"/>
            </a:p>
          </p:txBody>
        </p:sp>
        <p:sp>
          <p:nvSpPr>
            <p:cNvPr id="34835" name="Line 13"/>
            <p:cNvSpPr>
              <a:spLocks noChangeShapeType="1"/>
            </p:cNvSpPr>
            <p:nvPr/>
          </p:nvSpPr>
          <p:spPr bwMode="auto">
            <a:xfrm>
              <a:off x="3552" y="3024"/>
              <a:ext cx="0" cy="144"/>
            </a:xfrm>
            <a:prstGeom prst="line">
              <a:avLst/>
            </a:prstGeom>
            <a:noFill/>
            <a:ln w="12700">
              <a:solidFill>
                <a:schemeClr val="tx1"/>
              </a:solidFill>
              <a:round/>
              <a:headEnd type="none" w="sm" len="sm"/>
              <a:tailEnd type="none" w="sm" len="sm"/>
            </a:ln>
          </p:spPr>
          <p:txBody>
            <a:bodyPr/>
            <a:lstStyle/>
            <a:p>
              <a:endParaRPr lang="en-US"/>
            </a:p>
          </p:txBody>
        </p:sp>
        <p:sp>
          <p:nvSpPr>
            <p:cNvPr id="34836" name="Line 14"/>
            <p:cNvSpPr>
              <a:spLocks noChangeShapeType="1"/>
            </p:cNvSpPr>
            <p:nvPr/>
          </p:nvSpPr>
          <p:spPr bwMode="auto">
            <a:xfrm>
              <a:off x="4848" y="3024"/>
              <a:ext cx="0" cy="144"/>
            </a:xfrm>
            <a:prstGeom prst="line">
              <a:avLst/>
            </a:prstGeom>
            <a:noFill/>
            <a:ln w="12700">
              <a:solidFill>
                <a:schemeClr val="tx1"/>
              </a:solidFill>
              <a:round/>
              <a:headEnd type="none" w="sm" len="sm"/>
              <a:tailEnd type="none" w="sm" len="sm"/>
            </a:ln>
          </p:spPr>
          <p:txBody>
            <a:bodyPr/>
            <a:lstStyle/>
            <a:p>
              <a:endParaRPr lang="en-US"/>
            </a:p>
          </p:txBody>
        </p:sp>
      </p:grpSp>
      <p:sp>
        <p:nvSpPr>
          <p:cNvPr id="50191" name="AutoShape 15"/>
          <p:cNvSpPr>
            <a:spLocks/>
          </p:cNvSpPr>
          <p:nvPr/>
        </p:nvSpPr>
        <p:spPr bwMode="auto">
          <a:xfrm rot="5400000">
            <a:off x="4189412" y="2284413"/>
            <a:ext cx="688975" cy="6019800"/>
          </a:xfrm>
          <a:prstGeom prst="rightBrace">
            <a:avLst>
              <a:gd name="adj1" fmla="val 72811"/>
              <a:gd name="adj2" fmla="val 50000"/>
            </a:avLst>
          </a:prstGeom>
          <a:noFill/>
          <a:ln w="12700">
            <a:solidFill>
              <a:schemeClr val="tx1"/>
            </a:solidFill>
            <a:round/>
            <a:headEnd type="none" w="sm" len="sm"/>
            <a:tailEnd type="none" w="sm" len="sm"/>
          </a:ln>
        </p:spPr>
        <p:txBody>
          <a:bodyPr wrap="none" anchor="ctr"/>
          <a:lstStyle/>
          <a:p>
            <a:endParaRPr lang="en-SG">
              <a:latin typeface="Calibri" pitchFamily="34" charset="0"/>
            </a:endParaRPr>
          </a:p>
        </p:txBody>
      </p:sp>
      <p:sp>
        <p:nvSpPr>
          <p:cNvPr id="50193" name="Text Box 17"/>
          <p:cNvSpPr txBox="1">
            <a:spLocks noChangeArrowheads="1"/>
          </p:cNvSpPr>
          <p:nvPr/>
        </p:nvSpPr>
        <p:spPr bwMode="auto">
          <a:xfrm>
            <a:off x="2762250" y="5638800"/>
            <a:ext cx="3641725" cy="457200"/>
          </a:xfrm>
          <a:prstGeom prst="rect">
            <a:avLst/>
          </a:prstGeom>
          <a:noFill/>
          <a:ln w="12700">
            <a:noFill/>
            <a:miter lim="800000"/>
            <a:headEnd type="none" w="sm" len="sm"/>
            <a:tailEnd type="none" w="sm" len="sm"/>
          </a:ln>
        </p:spPr>
        <p:txBody>
          <a:bodyPr wrap="none">
            <a:spAutoFit/>
          </a:bodyPr>
          <a:lstStyle/>
          <a:p>
            <a:r>
              <a:rPr lang="en-US">
                <a:latin typeface="Calibri" pitchFamily="34" charset="0"/>
              </a:rPr>
              <a:t>of arguments in a method</a:t>
            </a:r>
          </a:p>
        </p:txBody>
      </p:sp>
      <p:sp>
        <p:nvSpPr>
          <p:cNvPr id="34830" name="Rectangle 18"/>
          <p:cNvSpPr>
            <a:spLocks noChangeArrowheads="1"/>
          </p:cNvSpPr>
          <p:nvPr/>
        </p:nvSpPr>
        <p:spPr bwMode="auto">
          <a:xfrm>
            <a:off x="0" y="1219200"/>
            <a:ext cx="9144000" cy="498475"/>
          </a:xfrm>
          <a:prstGeom prst="rect">
            <a:avLst/>
          </a:prstGeom>
          <a:solidFill>
            <a:srgbClr val="0066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006666"/>
            </a:extrusionClr>
          </a:sp3d>
        </p:spPr>
        <p:txBody>
          <a:bodyPr lIns="92075" tIns="46038" rIns="92075" bIns="46038" anchor="b">
            <a:flatTx/>
          </a:bodyPr>
          <a:lstStyle/>
          <a:p>
            <a:pPr>
              <a:lnSpc>
                <a:spcPct val="90000"/>
              </a:lnSpc>
            </a:pPr>
            <a:r>
              <a:rPr lang="en-US" sz="2800">
                <a:solidFill>
                  <a:schemeClr val="bg1"/>
                </a:solidFill>
                <a:latin typeface="Calibri" pitchFamily="34" charset="0"/>
              </a:rPr>
              <a:t>Method Overriding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179">
                                            <p:txEl>
                                              <p:pRg st="1" end="1"/>
                                            </p:txEl>
                                          </p:spTgt>
                                        </p:tgtEl>
                                        <p:attrNameLst>
                                          <p:attrName>style.visibility</p:attrName>
                                        </p:attrNameLst>
                                      </p:cBhvr>
                                      <p:to>
                                        <p:strVal val="visible"/>
                                      </p:to>
                                    </p:set>
                                    <p:animEffect transition="in" filter="wipe(left)">
                                      <p:cBhvr>
                                        <p:cTn id="7" dur="1000"/>
                                        <p:tgtEl>
                                          <p:spTgt spid="5017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180"/>
                                        </p:tgtEl>
                                        <p:attrNameLst>
                                          <p:attrName>style.visibility</p:attrName>
                                        </p:attrNameLst>
                                      </p:cBhvr>
                                      <p:to>
                                        <p:strVal val="visible"/>
                                      </p:to>
                                    </p:set>
                                    <p:animEffect transition="in" filter="wipe(up)">
                                      <p:cBhvr>
                                        <p:cTn id="12" dur="1000"/>
                                        <p:tgtEl>
                                          <p:spTgt spid="50180"/>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1000"/>
                                        <p:tgtEl>
                                          <p:spTgt spid="2"/>
                                        </p:tgtEl>
                                      </p:cBhvr>
                                    </p:animEffect>
                                  </p:childTnLst>
                                </p:cTn>
                              </p:par>
                            </p:childTnLst>
                          </p:cTn>
                        </p:par>
                        <p:par>
                          <p:cTn id="17" fill="hold" nodeType="afterGroup">
                            <p:stCondLst>
                              <p:cond delay="2000"/>
                            </p:stCondLst>
                            <p:childTnLst>
                              <p:par>
                                <p:cTn id="18" presetID="22" presetClass="entr" presetSubtype="8" fill="hold" grpId="0" nodeType="afterEffect">
                                  <p:stCondLst>
                                    <p:cond delay="0"/>
                                  </p:stCondLst>
                                  <p:childTnLst>
                                    <p:set>
                                      <p:cBhvr>
                                        <p:cTn id="19" dur="1" fill="hold">
                                          <p:stCondLst>
                                            <p:cond delay="0"/>
                                          </p:stCondLst>
                                        </p:cTn>
                                        <p:tgtEl>
                                          <p:spTgt spid="50181"/>
                                        </p:tgtEl>
                                        <p:attrNameLst>
                                          <p:attrName>style.visibility</p:attrName>
                                        </p:attrNameLst>
                                      </p:cBhvr>
                                      <p:to>
                                        <p:strVal val="visible"/>
                                      </p:to>
                                    </p:set>
                                    <p:animEffect transition="in" filter="wipe(left)">
                                      <p:cBhvr>
                                        <p:cTn id="20" dur="1000"/>
                                        <p:tgtEl>
                                          <p:spTgt spid="50181"/>
                                        </p:tgtEl>
                                      </p:cBhvr>
                                    </p:animEffect>
                                  </p:childTnLst>
                                </p:cTn>
                              </p:par>
                            </p:childTnLst>
                          </p:cTn>
                        </p:par>
                        <p:par>
                          <p:cTn id="21" fill="hold" nodeType="afterGroup">
                            <p:stCondLst>
                              <p:cond delay="3000"/>
                            </p:stCondLst>
                            <p:childTnLst>
                              <p:par>
                                <p:cTn id="22" presetID="22" presetClass="entr" presetSubtype="8" fill="hold" grpId="0" nodeType="afterEffect">
                                  <p:stCondLst>
                                    <p:cond delay="0"/>
                                  </p:stCondLst>
                                  <p:childTnLst>
                                    <p:set>
                                      <p:cBhvr>
                                        <p:cTn id="23" dur="1" fill="hold">
                                          <p:stCondLst>
                                            <p:cond delay="0"/>
                                          </p:stCondLst>
                                        </p:cTn>
                                        <p:tgtEl>
                                          <p:spTgt spid="50182"/>
                                        </p:tgtEl>
                                        <p:attrNameLst>
                                          <p:attrName>style.visibility</p:attrName>
                                        </p:attrNameLst>
                                      </p:cBhvr>
                                      <p:to>
                                        <p:strVal val="visible"/>
                                      </p:to>
                                    </p:set>
                                    <p:animEffect transition="in" filter="wipe(left)">
                                      <p:cBhvr>
                                        <p:cTn id="24" dur="1000"/>
                                        <p:tgtEl>
                                          <p:spTgt spid="50182"/>
                                        </p:tgtEl>
                                      </p:cBhvr>
                                    </p:animEffect>
                                  </p:childTnLst>
                                </p:cTn>
                              </p:par>
                            </p:childTnLst>
                          </p:cTn>
                        </p:par>
                        <p:par>
                          <p:cTn id="25" fill="hold" nodeType="afterGroup">
                            <p:stCondLst>
                              <p:cond delay="4000"/>
                            </p:stCondLst>
                            <p:childTnLst>
                              <p:par>
                                <p:cTn id="26" presetID="22" presetClass="entr" presetSubtype="8" fill="hold" grpId="0" nodeType="afterEffect">
                                  <p:stCondLst>
                                    <p:cond delay="0"/>
                                  </p:stCondLst>
                                  <p:childTnLst>
                                    <p:set>
                                      <p:cBhvr>
                                        <p:cTn id="27" dur="1" fill="hold">
                                          <p:stCondLst>
                                            <p:cond delay="0"/>
                                          </p:stCondLst>
                                        </p:cTn>
                                        <p:tgtEl>
                                          <p:spTgt spid="50183"/>
                                        </p:tgtEl>
                                        <p:attrNameLst>
                                          <p:attrName>style.visibility</p:attrName>
                                        </p:attrNameLst>
                                      </p:cBhvr>
                                      <p:to>
                                        <p:strVal val="visible"/>
                                      </p:to>
                                    </p:set>
                                    <p:animEffect transition="in" filter="wipe(left)">
                                      <p:cBhvr>
                                        <p:cTn id="28" dur="1000"/>
                                        <p:tgtEl>
                                          <p:spTgt spid="50183"/>
                                        </p:tgtEl>
                                      </p:cBhvr>
                                    </p:animEffect>
                                  </p:childTnLst>
                                </p:cTn>
                              </p:par>
                            </p:childTnLst>
                          </p:cTn>
                        </p:par>
                        <p:par>
                          <p:cTn id="29" fill="hold" nodeType="afterGroup">
                            <p:stCondLst>
                              <p:cond delay="5000"/>
                            </p:stCondLst>
                            <p:childTnLst>
                              <p:par>
                                <p:cTn id="30" presetID="22" presetClass="entr" presetSubtype="8" fill="hold" grpId="0" nodeType="afterEffect">
                                  <p:stCondLst>
                                    <p:cond delay="0"/>
                                  </p:stCondLst>
                                  <p:childTnLst>
                                    <p:set>
                                      <p:cBhvr>
                                        <p:cTn id="31" dur="1" fill="hold">
                                          <p:stCondLst>
                                            <p:cond delay="0"/>
                                          </p:stCondLst>
                                        </p:cTn>
                                        <p:tgtEl>
                                          <p:spTgt spid="50184"/>
                                        </p:tgtEl>
                                        <p:attrNameLst>
                                          <p:attrName>style.visibility</p:attrName>
                                        </p:attrNameLst>
                                      </p:cBhvr>
                                      <p:to>
                                        <p:strVal val="visible"/>
                                      </p:to>
                                    </p:set>
                                    <p:animEffect transition="in" filter="wipe(left)">
                                      <p:cBhvr>
                                        <p:cTn id="32" dur="1000"/>
                                        <p:tgtEl>
                                          <p:spTgt spid="50184"/>
                                        </p:tgtEl>
                                      </p:cBhvr>
                                    </p:animEffect>
                                  </p:childTnLst>
                                </p:cTn>
                              </p:par>
                            </p:childTnLst>
                          </p:cTn>
                        </p:par>
                        <p:par>
                          <p:cTn id="33" fill="hold" nodeType="afterGroup">
                            <p:stCondLst>
                              <p:cond delay="6000"/>
                            </p:stCondLst>
                            <p:childTnLst>
                              <p:par>
                                <p:cTn id="34" presetID="22" presetClass="entr" presetSubtype="4" fill="hold" grpId="0" nodeType="afterEffect">
                                  <p:stCondLst>
                                    <p:cond delay="0"/>
                                  </p:stCondLst>
                                  <p:childTnLst>
                                    <p:set>
                                      <p:cBhvr>
                                        <p:cTn id="35" dur="1" fill="hold">
                                          <p:stCondLst>
                                            <p:cond delay="0"/>
                                          </p:stCondLst>
                                        </p:cTn>
                                        <p:tgtEl>
                                          <p:spTgt spid="50191"/>
                                        </p:tgtEl>
                                        <p:attrNameLst>
                                          <p:attrName>style.visibility</p:attrName>
                                        </p:attrNameLst>
                                      </p:cBhvr>
                                      <p:to>
                                        <p:strVal val="visible"/>
                                      </p:to>
                                    </p:set>
                                    <p:animEffect transition="in" filter="wipe(down)">
                                      <p:cBhvr>
                                        <p:cTn id="36" dur="1000"/>
                                        <p:tgtEl>
                                          <p:spTgt spid="50191"/>
                                        </p:tgtEl>
                                      </p:cBhvr>
                                    </p:animEffect>
                                  </p:childTnLst>
                                </p:cTn>
                              </p:par>
                            </p:childTnLst>
                          </p:cTn>
                        </p:par>
                        <p:par>
                          <p:cTn id="37" fill="hold" nodeType="afterGroup">
                            <p:stCondLst>
                              <p:cond delay="7000"/>
                            </p:stCondLst>
                            <p:childTnLst>
                              <p:par>
                                <p:cTn id="38" presetID="22" presetClass="entr" presetSubtype="8" fill="hold" grpId="0" nodeType="afterEffect">
                                  <p:stCondLst>
                                    <p:cond delay="0"/>
                                  </p:stCondLst>
                                  <p:childTnLst>
                                    <p:set>
                                      <p:cBhvr>
                                        <p:cTn id="39" dur="1" fill="hold">
                                          <p:stCondLst>
                                            <p:cond delay="0"/>
                                          </p:stCondLst>
                                        </p:cTn>
                                        <p:tgtEl>
                                          <p:spTgt spid="50193"/>
                                        </p:tgtEl>
                                        <p:attrNameLst>
                                          <p:attrName>style.visibility</p:attrName>
                                        </p:attrNameLst>
                                      </p:cBhvr>
                                      <p:to>
                                        <p:strVal val="visible"/>
                                      </p:to>
                                    </p:set>
                                    <p:animEffect transition="in" filter="wipe(left)">
                                      <p:cBhvr>
                                        <p:cTn id="40" dur="1000"/>
                                        <p:tgtEl>
                                          <p:spTgt spid="50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P spid="50180" grpId="0" animBg="1"/>
      <p:bldP spid="50181" grpId="0" animBg="1"/>
      <p:bldP spid="50182" grpId="0" animBg="1"/>
      <p:bldP spid="50183" grpId="0" animBg="1"/>
      <p:bldP spid="50184" grpId="0" animBg="1"/>
      <p:bldP spid="50191" grpId="0" animBg="1"/>
      <p:bldP spid="5019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6"/>
          <p:cNvSpPr>
            <a:spLocks noGrp="1" noChangeArrowheads="1"/>
          </p:cNvSpPr>
          <p:nvPr>
            <p:ph type="title"/>
          </p:nvPr>
        </p:nvSpPr>
        <p:spPr>
          <a:xfrm>
            <a:off x="153988" y="609600"/>
            <a:ext cx="8245475" cy="498475"/>
          </a:xfrm>
        </p:spPr>
        <p:txBody>
          <a:bodyPr rtlCol="0">
            <a:normAutofit fontScale="90000"/>
          </a:bodyPr>
          <a:lstStyle/>
          <a:p>
            <a:pPr eaLnBrk="1" fontAlgn="auto" hangingPunct="1">
              <a:spcAft>
                <a:spcPts val="0"/>
              </a:spcAft>
              <a:defRPr/>
            </a:pPr>
            <a:r>
              <a:rPr lang="en-US" smtClean="0"/>
              <a:t>Overriding Members (Continued)</a:t>
            </a:r>
          </a:p>
        </p:txBody>
      </p:sp>
      <p:sp>
        <p:nvSpPr>
          <p:cNvPr id="193539" name="Rectangle 3"/>
          <p:cNvSpPr>
            <a:spLocks noGrp="1" noChangeArrowheads="1"/>
          </p:cNvSpPr>
          <p:nvPr>
            <p:ph idx="1"/>
          </p:nvPr>
        </p:nvSpPr>
        <p:spPr>
          <a:xfrm>
            <a:off x="685800" y="1447800"/>
            <a:ext cx="7775575" cy="4648200"/>
          </a:xfrm>
        </p:spPr>
        <p:txBody>
          <a:bodyPr/>
          <a:lstStyle/>
          <a:p>
            <a:pPr eaLnBrk="1" hangingPunct="1">
              <a:buFontTx/>
              <a:buNone/>
            </a:pPr>
            <a:endParaRPr lang="en-US" sz="1800" b="1" smtClean="0"/>
          </a:p>
          <a:p>
            <a:pPr eaLnBrk="1" hangingPunct="1"/>
            <a:r>
              <a:rPr lang="en-US" sz="2400" b="1" smtClean="0"/>
              <a:t>You can override (most) methods in a parent class by defining a method with the same name and parameter list in the child class.</a:t>
            </a:r>
          </a:p>
          <a:p>
            <a:pPr eaLnBrk="1" hangingPunct="1"/>
            <a:r>
              <a:rPr lang="en-US" sz="2400" b="1" smtClean="0"/>
              <a:t>This is useful for changing the behavior of a class without changing its interface.</a:t>
            </a:r>
          </a:p>
          <a:p>
            <a:pPr eaLnBrk="1" hangingPunct="1"/>
            <a:r>
              <a:rPr lang="en-US" sz="2400" b="1" smtClean="0"/>
              <a:t>You cannot override the </a:t>
            </a:r>
            <a:r>
              <a:rPr lang="en-US" sz="2400" b="1" smtClean="0">
                <a:solidFill>
                  <a:srgbClr val="FF0000"/>
                </a:solidFill>
              </a:rPr>
              <a:t>final</a:t>
            </a:r>
            <a:r>
              <a:rPr lang="en-US" sz="2400" b="1" smtClean="0"/>
              <a:t> methods of a superclass.</a:t>
            </a:r>
          </a:p>
          <a:p>
            <a:pPr eaLnBrk="1" hangingPunct="1"/>
            <a:r>
              <a:rPr lang="en-US" sz="2400" b="1" smtClean="0"/>
              <a:t>A subclass must override the abstract methods of a superclass.</a:t>
            </a:r>
          </a:p>
          <a:p>
            <a:pPr eaLnBrk="1" hangingPunct="1"/>
            <a:endParaRPr lang="en-US" sz="1800" b="1" smtClean="0"/>
          </a:p>
          <a:p>
            <a:pPr eaLnBrk="1" hangingPunct="1"/>
            <a:endParaRPr lang="en-US" sz="1800" b="1" smtClean="0"/>
          </a:p>
          <a:p>
            <a:pPr eaLnBrk="1" hangingPunct="1"/>
            <a:endParaRPr lang="en-US" sz="1800" b="1" smtClean="0"/>
          </a:p>
        </p:txBody>
      </p:sp>
      <p:sp>
        <p:nvSpPr>
          <p:cNvPr id="35846" name="Rectangle 4"/>
          <p:cNvSpPr>
            <a:spLocks noChangeArrowheads="1"/>
          </p:cNvSpPr>
          <p:nvPr/>
        </p:nvSpPr>
        <p:spPr bwMode="auto">
          <a:xfrm>
            <a:off x="0" y="1219200"/>
            <a:ext cx="9144000" cy="498475"/>
          </a:xfrm>
          <a:prstGeom prst="rect">
            <a:avLst/>
          </a:prstGeom>
          <a:solidFill>
            <a:srgbClr val="0066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006666"/>
            </a:extrusionClr>
          </a:sp3d>
        </p:spPr>
        <p:txBody>
          <a:bodyPr lIns="92075" tIns="46038" rIns="92075" bIns="46038" anchor="b">
            <a:flatTx/>
          </a:bodyPr>
          <a:lstStyle/>
          <a:p>
            <a:pPr>
              <a:lnSpc>
                <a:spcPct val="90000"/>
              </a:lnSpc>
            </a:pPr>
            <a:r>
              <a:rPr lang="en-US" sz="2800">
                <a:solidFill>
                  <a:schemeClr val="bg1"/>
                </a:solidFill>
                <a:latin typeface="Calibri" pitchFamily="34" charset="0"/>
              </a:rPr>
              <a:t>Method Overriding (Continued)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3539">
                                            <p:txEl>
                                              <p:pRg st="1" end="1"/>
                                            </p:txEl>
                                          </p:spTgt>
                                        </p:tgtEl>
                                        <p:attrNameLst>
                                          <p:attrName>style.visibility</p:attrName>
                                        </p:attrNameLst>
                                      </p:cBhvr>
                                      <p:to>
                                        <p:strVal val="visible"/>
                                      </p:to>
                                    </p:set>
                                    <p:animEffect transition="in" filter="wipe(left)">
                                      <p:cBhvr>
                                        <p:cTn id="7" dur="1000"/>
                                        <p:tgtEl>
                                          <p:spTgt spid="19353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3539">
                                            <p:txEl>
                                              <p:pRg st="2" end="2"/>
                                            </p:txEl>
                                          </p:spTgt>
                                        </p:tgtEl>
                                        <p:attrNameLst>
                                          <p:attrName>style.visibility</p:attrName>
                                        </p:attrNameLst>
                                      </p:cBhvr>
                                      <p:to>
                                        <p:strVal val="visible"/>
                                      </p:to>
                                    </p:set>
                                    <p:animEffect transition="in" filter="wipe(left)">
                                      <p:cBhvr>
                                        <p:cTn id="12" dur="1000"/>
                                        <p:tgtEl>
                                          <p:spTgt spid="19353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3539">
                                            <p:txEl>
                                              <p:pRg st="3" end="3"/>
                                            </p:txEl>
                                          </p:spTgt>
                                        </p:tgtEl>
                                        <p:attrNameLst>
                                          <p:attrName>style.visibility</p:attrName>
                                        </p:attrNameLst>
                                      </p:cBhvr>
                                      <p:to>
                                        <p:strVal val="visible"/>
                                      </p:to>
                                    </p:set>
                                    <p:animEffect transition="in" filter="wipe(left)">
                                      <p:cBhvr>
                                        <p:cTn id="17" dur="1000"/>
                                        <p:tgtEl>
                                          <p:spTgt spid="19353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3539">
                                            <p:txEl>
                                              <p:pRg st="4" end="4"/>
                                            </p:txEl>
                                          </p:spTgt>
                                        </p:tgtEl>
                                        <p:attrNameLst>
                                          <p:attrName>style.visibility</p:attrName>
                                        </p:attrNameLst>
                                      </p:cBhvr>
                                      <p:to>
                                        <p:strVal val="visible"/>
                                      </p:to>
                                    </p:set>
                                    <p:animEffect transition="in" filter="wipe(left)">
                                      <p:cBhvr>
                                        <p:cTn id="22" dur="1000"/>
                                        <p:tgtEl>
                                          <p:spTgt spid="1935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1" name="Rectangle 15"/>
          <p:cNvSpPr>
            <a:spLocks noGrp="1" noChangeArrowheads="1"/>
          </p:cNvSpPr>
          <p:nvPr>
            <p:ph type="title"/>
          </p:nvPr>
        </p:nvSpPr>
        <p:spPr>
          <a:xfrm>
            <a:off x="153988" y="609600"/>
            <a:ext cx="8245475" cy="498475"/>
          </a:xfrm>
        </p:spPr>
        <p:txBody>
          <a:bodyPr rtlCol="0">
            <a:normAutofit fontScale="90000"/>
          </a:bodyPr>
          <a:lstStyle/>
          <a:p>
            <a:pPr eaLnBrk="1" fontAlgn="auto" hangingPunct="1">
              <a:spcAft>
                <a:spcPts val="0"/>
              </a:spcAft>
              <a:defRPr/>
            </a:pPr>
            <a:r>
              <a:rPr lang="en-US" smtClean="0"/>
              <a:t>Overriding Members (Continued)</a:t>
            </a:r>
          </a:p>
        </p:txBody>
      </p:sp>
      <p:sp>
        <p:nvSpPr>
          <p:cNvPr id="86020" name="Rectangle 4"/>
          <p:cNvSpPr>
            <a:spLocks noChangeArrowheads="1"/>
          </p:cNvSpPr>
          <p:nvPr/>
        </p:nvSpPr>
        <p:spPr bwMode="auto">
          <a:xfrm>
            <a:off x="0" y="1676400"/>
            <a:ext cx="4343400" cy="4800600"/>
          </a:xfrm>
          <a:prstGeom prst="rect">
            <a:avLst/>
          </a:prstGeom>
          <a:solidFill>
            <a:schemeClr val="accent1">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accent1"/>
            </a:extrusionClr>
          </a:sp3d>
        </p:spPr>
        <p:txBody>
          <a:bodyPr wrap="none" anchor="ctr">
            <a:flatTx/>
          </a:bodyPr>
          <a:lstStyle/>
          <a:p>
            <a:r>
              <a:rPr lang="en-US">
                <a:solidFill>
                  <a:schemeClr val="bg1"/>
                </a:solidFill>
                <a:latin typeface="Calibri" pitchFamily="34" charset="0"/>
              </a:rPr>
              <a:t>public class Person {</a:t>
            </a:r>
          </a:p>
          <a:p>
            <a:r>
              <a:rPr lang="en-US">
                <a:solidFill>
                  <a:schemeClr val="bg1"/>
                </a:solidFill>
                <a:latin typeface="Calibri" pitchFamily="34" charset="0"/>
              </a:rPr>
              <a:t>    private String name;</a:t>
            </a:r>
          </a:p>
          <a:p>
            <a:r>
              <a:rPr lang="en-US">
                <a:solidFill>
                  <a:schemeClr val="bg1"/>
                </a:solidFill>
                <a:latin typeface="Calibri" pitchFamily="34" charset="0"/>
              </a:rPr>
              <a:t>    private String ssn;</a:t>
            </a:r>
          </a:p>
          <a:p>
            <a:r>
              <a:rPr lang="en-US">
                <a:solidFill>
                  <a:schemeClr val="bg1"/>
                </a:solidFill>
                <a:latin typeface="Calibri" pitchFamily="34" charset="0"/>
              </a:rPr>
              <a:t>        public void setName(String name) {</a:t>
            </a:r>
          </a:p>
          <a:p>
            <a:r>
              <a:rPr lang="en-US">
                <a:solidFill>
                  <a:schemeClr val="bg1"/>
                </a:solidFill>
                <a:latin typeface="Calibri" pitchFamily="34" charset="0"/>
              </a:rPr>
              <a:t>        this.name = name;</a:t>
            </a:r>
          </a:p>
          <a:p>
            <a:r>
              <a:rPr lang="en-US">
                <a:solidFill>
                  <a:schemeClr val="bg1"/>
                </a:solidFill>
                <a:latin typeface="Calibri" pitchFamily="34" charset="0"/>
              </a:rPr>
              <a:t>    }</a:t>
            </a:r>
          </a:p>
          <a:p>
            <a:r>
              <a:rPr lang="en-US">
                <a:solidFill>
                  <a:schemeClr val="bg1"/>
                </a:solidFill>
                <a:latin typeface="Calibri" pitchFamily="34" charset="0"/>
              </a:rPr>
              <a:t>    </a:t>
            </a:r>
          </a:p>
          <a:p>
            <a:r>
              <a:rPr lang="en-US">
                <a:solidFill>
                  <a:schemeClr val="bg1"/>
                </a:solidFill>
                <a:latin typeface="Calibri" pitchFamily="34" charset="0"/>
              </a:rPr>
              <a:t>    public String getName() {</a:t>
            </a:r>
          </a:p>
          <a:p>
            <a:r>
              <a:rPr lang="en-US">
                <a:solidFill>
                  <a:schemeClr val="bg1"/>
                </a:solidFill>
                <a:latin typeface="Calibri" pitchFamily="34" charset="0"/>
              </a:rPr>
              <a:t>        return name;</a:t>
            </a:r>
          </a:p>
          <a:p>
            <a:r>
              <a:rPr lang="en-US">
                <a:solidFill>
                  <a:schemeClr val="bg1"/>
                </a:solidFill>
                <a:latin typeface="Calibri" pitchFamily="34" charset="0"/>
              </a:rPr>
              <a:t>    }</a:t>
            </a:r>
          </a:p>
          <a:p>
            <a:r>
              <a:rPr lang="en-US">
                <a:solidFill>
                  <a:schemeClr val="bg1"/>
                </a:solidFill>
                <a:latin typeface="Calibri" pitchFamily="34" charset="0"/>
              </a:rPr>
              <a:t>   </a:t>
            </a:r>
          </a:p>
          <a:p>
            <a:r>
              <a:rPr lang="en-US">
                <a:solidFill>
                  <a:schemeClr val="bg1"/>
                </a:solidFill>
                <a:latin typeface="Calibri" pitchFamily="34" charset="0"/>
              </a:rPr>
              <a:t>    </a:t>
            </a:r>
          </a:p>
          <a:p>
            <a:endParaRPr lang="en-US">
              <a:solidFill>
                <a:schemeClr val="bg1"/>
              </a:solidFill>
              <a:latin typeface="Calibri" pitchFamily="34" charset="0"/>
            </a:endParaRPr>
          </a:p>
          <a:p>
            <a:endParaRPr lang="en-US">
              <a:solidFill>
                <a:schemeClr val="bg1"/>
              </a:solidFill>
              <a:latin typeface="Calibri" pitchFamily="34" charset="0"/>
            </a:endParaRPr>
          </a:p>
          <a:p>
            <a:endParaRPr lang="en-US">
              <a:solidFill>
                <a:schemeClr val="bg1"/>
              </a:solidFill>
              <a:latin typeface="Calibri" pitchFamily="34" charset="0"/>
            </a:endParaRPr>
          </a:p>
          <a:p>
            <a:endParaRPr lang="en-US">
              <a:solidFill>
                <a:schemeClr val="bg1"/>
              </a:solidFill>
              <a:latin typeface="Calibri" pitchFamily="34" charset="0"/>
            </a:endParaRPr>
          </a:p>
        </p:txBody>
      </p:sp>
      <p:sp>
        <p:nvSpPr>
          <p:cNvPr id="86021" name="Rectangle 5"/>
          <p:cNvSpPr>
            <a:spLocks noChangeArrowheads="1"/>
          </p:cNvSpPr>
          <p:nvPr/>
        </p:nvSpPr>
        <p:spPr bwMode="auto">
          <a:xfrm>
            <a:off x="4495800" y="1676400"/>
            <a:ext cx="4648200" cy="4800600"/>
          </a:xfrm>
          <a:prstGeom prst="rect">
            <a:avLst/>
          </a:prstGeom>
          <a:solidFill>
            <a:schemeClr val="accent1">
              <a:alpha val="39999"/>
            </a:schemeClr>
          </a:solidFill>
          <a:ln w="9525">
            <a:miter lim="800000"/>
            <a:headEnd/>
            <a:tailEnd/>
          </a:ln>
          <a:scene3d>
            <a:camera prst="legacyPerspectiveBottom"/>
            <a:lightRig rig="legacyFlat3" dir="t"/>
          </a:scene3d>
          <a:sp3d extrusionH="290500" prstMaterial="legacyMatte">
            <a:bevelT w="13500" h="13500" prst="angle"/>
            <a:bevelB w="13500" h="13500" prst="angle"/>
            <a:extrusionClr>
              <a:schemeClr val="accent1"/>
            </a:extrusionClr>
          </a:sp3d>
        </p:spPr>
        <p:txBody>
          <a:bodyPr wrap="none" anchor="ctr">
            <a:flatTx/>
          </a:bodyPr>
          <a:lstStyle/>
          <a:p>
            <a:r>
              <a:rPr lang="en-US">
                <a:solidFill>
                  <a:schemeClr val="bg1"/>
                </a:solidFill>
                <a:latin typeface="Calibri" pitchFamily="34" charset="0"/>
              </a:rPr>
              <a:t>public class Employee extends Person</a:t>
            </a:r>
          </a:p>
          <a:p>
            <a:r>
              <a:rPr lang="en-US">
                <a:solidFill>
                  <a:schemeClr val="bg1"/>
                </a:solidFill>
                <a:latin typeface="Calibri" pitchFamily="34" charset="0"/>
              </a:rPr>
              <a:t> {</a:t>
            </a:r>
          </a:p>
          <a:p>
            <a:r>
              <a:rPr lang="en-US">
                <a:solidFill>
                  <a:schemeClr val="bg1"/>
                </a:solidFill>
                <a:latin typeface="Calibri" pitchFamily="34" charset="0"/>
              </a:rPr>
              <a:t>    private String empId;</a:t>
            </a:r>
          </a:p>
          <a:p>
            <a:r>
              <a:rPr lang="en-US">
                <a:solidFill>
                  <a:schemeClr val="bg1"/>
                </a:solidFill>
                <a:latin typeface="Calibri" pitchFamily="34" charset="0"/>
              </a:rPr>
              <a:t>    </a:t>
            </a:r>
          </a:p>
          <a:p>
            <a:r>
              <a:rPr lang="en-US">
                <a:solidFill>
                  <a:schemeClr val="bg1"/>
                </a:solidFill>
                <a:latin typeface="Calibri" pitchFamily="34" charset="0"/>
              </a:rPr>
              <a:t>    </a:t>
            </a:r>
          </a:p>
          <a:p>
            <a:r>
              <a:rPr lang="en-US">
                <a:solidFill>
                  <a:schemeClr val="bg1"/>
                </a:solidFill>
                <a:latin typeface="Calibri" pitchFamily="34" charset="0"/>
              </a:rPr>
              <a:t>    public void setID(String empID) </a:t>
            </a:r>
          </a:p>
          <a:p>
            <a:r>
              <a:rPr lang="en-US">
                <a:solidFill>
                  <a:schemeClr val="bg1"/>
                </a:solidFill>
                <a:latin typeface="Calibri" pitchFamily="34" charset="0"/>
              </a:rPr>
              <a:t>     {</a:t>
            </a:r>
          </a:p>
          <a:p>
            <a:r>
              <a:rPr lang="en-US">
                <a:solidFill>
                  <a:schemeClr val="bg1"/>
                </a:solidFill>
                <a:latin typeface="Calibri" pitchFamily="34" charset="0"/>
              </a:rPr>
              <a:t>        this.empID=empID;</a:t>
            </a:r>
          </a:p>
          <a:p>
            <a:r>
              <a:rPr lang="en-US">
                <a:solidFill>
                  <a:schemeClr val="bg1"/>
                </a:solidFill>
                <a:latin typeface="Calibri" pitchFamily="34" charset="0"/>
              </a:rPr>
              <a:t>     }</a:t>
            </a:r>
          </a:p>
          <a:p>
            <a:r>
              <a:rPr lang="en-US">
                <a:solidFill>
                  <a:schemeClr val="bg1"/>
                </a:solidFill>
                <a:latin typeface="Calibri" pitchFamily="34" charset="0"/>
              </a:rPr>
              <a:t>        </a:t>
            </a:r>
          </a:p>
          <a:p>
            <a:endParaRPr lang="en-US">
              <a:solidFill>
                <a:schemeClr val="bg1"/>
              </a:solidFill>
              <a:latin typeface="Calibri" pitchFamily="34" charset="0"/>
            </a:endParaRPr>
          </a:p>
          <a:p>
            <a:endParaRPr lang="en-US">
              <a:solidFill>
                <a:schemeClr val="bg1"/>
              </a:solidFill>
              <a:latin typeface="Calibri" pitchFamily="34" charset="0"/>
            </a:endParaRPr>
          </a:p>
          <a:p>
            <a:endParaRPr lang="en-US">
              <a:solidFill>
                <a:schemeClr val="bg1"/>
              </a:solidFill>
              <a:latin typeface="Calibri" pitchFamily="34" charset="0"/>
            </a:endParaRPr>
          </a:p>
          <a:p>
            <a:endParaRPr lang="en-US">
              <a:solidFill>
                <a:schemeClr val="bg1"/>
              </a:solidFill>
              <a:latin typeface="Calibri" pitchFamily="34" charset="0"/>
            </a:endParaRPr>
          </a:p>
          <a:p>
            <a:endParaRPr lang="en-US">
              <a:solidFill>
                <a:schemeClr val="bg1"/>
              </a:solidFill>
              <a:latin typeface="Calibri" pitchFamily="34" charset="0"/>
            </a:endParaRPr>
          </a:p>
        </p:txBody>
      </p:sp>
      <p:sp>
        <p:nvSpPr>
          <p:cNvPr id="86023" name="Rectangle 7"/>
          <p:cNvSpPr>
            <a:spLocks noChangeArrowheads="1"/>
          </p:cNvSpPr>
          <p:nvPr/>
        </p:nvSpPr>
        <p:spPr bwMode="auto">
          <a:xfrm>
            <a:off x="152400" y="4813300"/>
            <a:ext cx="2819400" cy="1295400"/>
          </a:xfrm>
          <a:prstGeom prst="rect">
            <a:avLst/>
          </a:prstGeom>
          <a:noFill/>
          <a:ln w="12700">
            <a:noFill/>
            <a:miter lim="800000"/>
            <a:headEnd type="none" w="sm" len="sm"/>
            <a:tailEnd type="none" w="sm" len="sm"/>
          </a:ln>
        </p:spPr>
        <p:txBody>
          <a:bodyPr wrap="none" anchor="ctr"/>
          <a:lstStyle/>
          <a:p>
            <a:r>
              <a:rPr lang="en-US">
                <a:solidFill>
                  <a:schemeClr val="bg1"/>
                </a:solidFill>
                <a:latin typeface="Calibri" pitchFamily="34" charset="0"/>
              </a:rPr>
              <a:t>public String getId() {</a:t>
            </a:r>
          </a:p>
          <a:p>
            <a:r>
              <a:rPr lang="en-US">
                <a:solidFill>
                  <a:schemeClr val="bg1"/>
                </a:solidFill>
                <a:latin typeface="Calibri" pitchFamily="34" charset="0"/>
              </a:rPr>
              <a:t>        return ssn;</a:t>
            </a:r>
          </a:p>
          <a:p>
            <a:r>
              <a:rPr lang="en-US">
                <a:solidFill>
                  <a:schemeClr val="bg1"/>
                </a:solidFill>
                <a:latin typeface="Calibri" pitchFamily="34" charset="0"/>
              </a:rPr>
              <a:t>    }</a:t>
            </a:r>
          </a:p>
        </p:txBody>
      </p:sp>
      <p:sp>
        <p:nvSpPr>
          <p:cNvPr id="86024" name="Text Box 8"/>
          <p:cNvSpPr txBox="1">
            <a:spLocks noChangeArrowheads="1"/>
          </p:cNvSpPr>
          <p:nvPr/>
        </p:nvSpPr>
        <p:spPr bwMode="auto">
          <a:xfrm>
            <a:off x="174625" y="6056313"/>
            <a:ext cx="260350" cy="366712"/>
          </a:xfrm>
          <a:prstGeom prst="rect">
            <a:avLst/>
          </a:prstGeom>
          <a:noFill/>
          <a:ln w="12700">
            <a:noFill/>
            <a:miter lim="800000"/>
            <a:headEnd type="none" w="sm" len="sm"/>
            <a:tailEnd type="none" w="sm" len="sm"/>
          </a:ln>
        </p:spPr>
        <p:txBody>
          <a:bodyPr wrap="none">
            <a:spAutoFit/>
          </a:bodyPr>
          <a:lstStyle/>
          <a:p>
            <a:r>
              <a:rPr lang="en-US">
                <a:solidFill>
                  <a:schemeClr val="bg1"/>
                </a:solidFill>
                <a:latin typeface="Calibri" pitchFamily="34" charset="0"/>
              </a:rPr>
              <a:t>}</a:t>
            </a:r>
          </a:p>
        </p:txBody>
      </p:sp>
      <p:sp>
        <p:nvSpPr>
          <p:cNvPr id="86025" name="Rectangle 9"/>
          <p:cNvSpPr>
            <a:spLocks noChangeArrowheads="1"/>
          </p:cNvSpPr>
          <p:nvPr/>
        </p:nvSpPr>
        <p:spPr bwMode="auto">
          <a:xfrm>
            <a:off x="4648200" y="4724400"/>
            <a:ext cx="2819400" cy="1295400"/>
          </a:xfrm>
          <a:prstGeom prst="rect">
            <a:avLst/>
          </a:prstGeom>
          <a:noFill/>
          <a:ln w="12700">
            <a:noFill/>
            <a:miter lim="800000"/>
            <a:headEnd type="none" w="sm" len="sm"/>
            <a:tailEnd type="none" w="sm" len="sm"/>
          </a:ln>
        </p:spPr>
        <p:txBody>
          <a:bodyPr wrap="none" anchor="ctr"/>
          <a:lstStyle/>
          <a:p>
            <a:r>
              <a:rPr lang="en-US">
                <a:solidFill>
                  <a:schemeClr val="bg1"/>
                </a:solidFill>
                <a:latin typeface="Calibri" pitchFamily="34" charset="0"/>
              </a:rPr>
              <a:t>public String getId() {</a:t>
            </a:r>
          </a:p>
          <a:p>
            <a:r>
              <a:rPr lang="en-US">
                <a:solidFill>
                  <a:schemeClr val="bg1"/>
                </a:solidFill>
                <a:latin typeface="Calibri" pitchFamily="34" charset="0"/>
              </a:rPr>
              <a:t>        return empID;</a:t>
            </a:r>
          </a:p>
          <a:p>
            <a:r>
              <a:rPr lang="en-US">
                <a:solidFill>
                  <a:schemeClr val="bg1"/>
                </a:solidFill>
                <a:latin typeface="Calibri" pitchFamily="34" charset="0"/>
              </a:rPr>
              <a:t>    }</a:t>
            </a:r>
          </a:p>
        </p:txBody>
      </p:sp>
      <p:sp>
        <p:nvSpPr>
          <p:cNvPr id="86026" name="Text Box 10"/>
          <p:cNvSpPr txBox="1">
            <a:spLocks noChangeArrowheads="1"/>
          </p:cNvSpPr>
          <p:nvPr/>
        </p:nvSpPr>
        <p:spPr bwMode="auto">
          <a:xfrm>
            <a:off x="4648200" y="6019800"/>
            <a:ext cx="260350" cy="366713"/>
          </a:xfrm>
          <a:prstGeom prst="rect">
            <a:avLst/>
          </a:prstGeom>
          <a:noFill/>
          <a:ln w="12700">
            <a:noFill/>
            <a:miter lim="800000"/>
            <a:headEnd type="none" w="sm" len="sm"/>
            <a:tailEnd type="none" w="sm" len="sm"/>
          </a:ln>
        </p:spPr>
        <p:txBody>
          <a:bodyPr wrap="none">
            <a:spAutoFit/>
          </a:bodyPr>
          <a:lstStyle/>
          <a:p>
            <a:r>
              <a:rPr lang="en-US">
                <a:solidFill>
                  <a:schemeClr val="bg1"/>
                </a:solidFill>
                <a:latin typeface="Calibri" pitchFamily="34" charset="0"/>
              </a:rPr>
              <a:t>}</a:t>
            </a:r>
          </a:p>
        </p:txBody>
      </p:sp>
      <p:sp>
        <p:nvSpPr>
          <p:cNvPr id="86027" name="AutoShape 11"/>
          <p:cNvSpPr>
            <a:spLocks noChangeArrowheads="1"/>
          </p:cNvSpPr>
          <p:nvPr/>
        </p:nvSpPr>
        <p:spPr bwMode="auto">
          <a:xfrm>
            <a:off x="2590800" y="4114800"/>
            <a:ext cx="2057400" cy="1752600"/>
          </a:xfrm>
          <a:prstGeom prst="cloudCallout">
            <a:avLst>
              <a:gd name="adj1" fmla="val -22917"/>
              <a:gd name="adj2" fmla="val 80435"/>
            </a:avLst>
          </a:prstGeom>
          <a:gradFill rotWithShape="1">
            <a:gsLst>
              <a:gs pos="0">
                <a:schemeClr val="bg1"/>
              </a:gs>
              <a:gs pos="50000">
                <a:schemeClr val="accent1"/>
              </a:gs>
              <a:gs pos="100000">
                <a:schemeClr val="bg1"/>
              </a:gs>
            </a:gsLst>
            <a:lin ang="5400000" scaled="1"/>
          </a:gradFill>
          <a:ln>
            <a:noFill/>
          </a:ln>
          <a:effectLst/>
          <a:extLst/>
        </p:spPr>
        <p:txBody>
          <a:bodyPr/>
          <a:lstStyle/>
          <a:p>
            <a:pPr fontAlgn="auto">
              <a:spcBef>
                <a:spcPts val="0"/>
              </a:spcBef>
              <a:spcAft>
                <a:spcPts val="0"/>
              </a:spcAft>
              <a:defRPr/>
            </a:pPr>
            <a:r>
              <a:rPr lang="en-US" sz="2000">
                <a:latin typeface="Arial" charset="0"/>
                <a:cs typeface="+mn-cs"/>
              </a:rPr>
              <a:t>getID method is overridden</a:t>
            </a:r>
          </a:p>
        </p:txBody>
      </p:sp>
      <p:sp>
        <p:nvSpPr>
          <p:cNvPr id="36876" name="Rectangle 14"/>
          <p:cNvSpPr>
            <a:spLocks noChangeArrowheads="1"/>
          </p:cNvSpPr>
          <p:nvPr/>
        </p:nvSpPr>
        <p:spPr bwMode="auto">
          <a:xfrm>
            <a:off x="0" y="1219200"/>
            <a:ext cx="9144000" cy="498475"/>
          </a:xfrm>
          <a:prstGeom prst="rect">
            <a:avLst/>
          </a:prstGeom>
          <a:solidFill>
            <a:srgbClr val="006666"/>
          </a:solidFill>
          <a:ln w="9525">
            <a:miter lim="800000"/>
            <a:headEnd/>
            <a:tailEnd/>
          </a:ln>
          <a:scene3d>
            <a:camera prst="legacyPerspectiveBottom"/>
            <a:lightRig rig="legacyFlat3" dir="t"/>
          </a:scene3d>
          <a:sp3d extrusionH="887400" prstMaterial="legacyMatte">
            <a:bevelT w="13500" h="13500" prst="angle"/>
            <a:bevelB w="13500" h="13500" prst="angle"/>
            <a:extrusionClr>
              <a:srgbClr val="006666"/>
            </a:extrusionClr>
          </a:sp3d>
        </p:spPr>
        <p:txBody>
          <a:bodyPr lIns="92075" tIns="46038" rIns="92075" bIns="46038" anchor="b">
            <a:flatTx/>
          </a:bodyPr>
          <a:lstStyle/>
          <a:p>
            <a:pPr>
              <a:lnSpc>
                <a:spcPct val="90000"/>
              </a:lnSpc>
            </a:pPr>
            <a:r>
              <a:rPr lang="en-US" sz="2800">
                <a:solidFill>
                  <a:schemeClr val="bg1"/>
                </a:solidFill>
                <a:latin typeface="Calibri" pitchFamily="34" charset="0"/>
              </a:rPr>
              <a:t>Example on Method Overriding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6020"/>
                                        </p:tgtEl>
                                        <p:attrNameLst>
                                          <p:attrName>style.visibility</p:attrName>
                                        </p:attrNameLst>
                                      </p:cBhvr>
                                      <p:to>
                                        <p:strVal val="visible"/>
                                      </p:to>
                                    </p:set>
                                    <p:animEffect transition="in" filter="wipe(up)">
                                      <p:cBhvr>
                                        <p:cTn id="7" dur="1000"/>
                                        <p:tgtEl>
                                          <p:spTgt spid="86020"/>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86023"/>
                                        </p:tgtEl>
                                        <p:attrNameLst>
                                          <p:attrName>style.visibility</p:attrName>
                                        </p:attrNameLst>
                                      </p:cBhvr>
                                      <p:to>
                                        <p:strVal val="visible"/>
                                      </p:to>
                                    </p:set>
                                    <p:animEffect transition="in" filter="wipe(up)">
                                      <p:cBhvr>
                                        <p:cTn id="11" dur="1000"/>
                                        <p:tgtEl>
                                          <p:spTgt spid="86023"/>
                                        </p:tgtEl>
                                      </p:cBhvr>
                                    </p:animEffect>
                                  </p:childTnLst>
                                </p:cTn>
                              </p:par>
                            </p:childTnLst>
                          </p:cTn>
                        </p:par>
                        <p:par>
                          <p:cTn id="12" fill="hold" nodeType="afterGroup">
                            <p:stCondLst>
                              <p:cond delay="2000"/>
                            </p:stCondLst>
                            <p:childTnLst>
                              <p:par>
                                <p:cTn id="13" presetID="22" presetClass="entr" presetSubtype="1" fill="hold" grpId="0" nodeType="afterEffect">
                                  <p:stCondLst>
                                    <p:cond delay="0"/>
                                  </p:stCondLst>
                                  <p:childTnLst>
                                    <p:set>
                                      <p:cBhvr>
                                        <p:cTn id="14" dur="1" fill="hold">
                                          <p:stCondLst>
                                            <p:cond delay="0"/>
                                          </p:stCondLst>
                                        </p:cTn>
                                        <p:tgtEl>
                                          <p:spTgt spid="86024"/>
                                        </p:tgtEl>
                                        <p:attrNameLst>
                                          <p:attrName>style.visibility</p:attrName>
                                        </p:attrNameLst>
                                      </p:cBhvr>
                                      <p:to>
                                        <p:strVal val="visible"/>
                                      </p:to>
                                    </p:set>
                                    <p:animEffect transition="in" filter="wipe(up)">
                                      <p:cBhvr>
                                        <p:cTn id="15" dur="1000"/>
                                        <p:tgtEl>
                                          <p:spTgt spid="8602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86021"/>
                                        </p:tgtEl>
                                        <p:attrNameLst>
                                          <p:attrName>style.visibility</p:attrName>
                                        </p:attrNameLst>
                                      </p:cBhvr>
                                      <p:to>
                                        <p:strVal val="visible"/>
                                      </p:to>
                                    </p:set>
                                    <p:animEffect transition="in" filter="wipe(up)">
                                      <p:cBhvr>
                                        <p:cTn id="20" dur="1000"/>
                                        <p:tgtEl>
                                          <p:spTgt spid="86021"/>
                                        </p:tgtEl>
                                      </p:cBhvr>
                                    </p:animEffect>
                                  </p:childTnLst>
                                </p:cTn>
                              </p:par>
                            </p:childTnLst>
                          </p:cTn>
                        </p:par>
                        <p:par>
                          <p:cTn id="21" fill="hold" nodeType="afterGroup">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86025"/>
                                        </p:tgtEl>
                                        <p:attrNameLst>
                                          <p:attrName>style.visibility</p:attrName>
                                        </p:attrNameLst>
                                      </p:cBhvr>
                                      <p:to>
                                        <p:strVal val="visible"/>
                                      </p:to>
                                    </p:set>
                                    <p:animEffect transition="in" filter="wipe(up)">
                                      <p:cBhvr>
                                        <p:cTn id="24" dur="1000"/>
                                        <p:tgtEl>
                                          <p:spTgt spid="86025"/>
                                        </p:tgtEl>
                                      </p:cBhvr>
                                    </p:animEffect>
                                  </p:childTnLst>
                                </p:cTn>
                              </p:par>
                            </p:childTnLst>
                          </p:cTn>
                        </p:par>
                        <p:par>
                          <p:cTn id="25" fill="hold" nodeType="afterGroup">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86026"/>
                                        </p:tgtEl>
                                        <p:attrNameLst>
                                          <p:attrName>style.visibility</p:attrName>
                                        </p:attrNameLst>
                                      </p:cBhvr>
                                      <p:to>
                                        <p:strVal val="visible"/>
                                      </p:to>
                                    </p:set>
                                    <p:animEffect transition="in" filter="wipe(up)">
                                      <p:cBhvr>
                                        <p:cTn id="28" dur="1000"/>
                                        <p:tgtEl>
                                          <p:spTgt spid="86026"/>
                                        </p:tgtEl>
                                      </p:cBhvr>
                                    </p:animEffect>
                                  </p:childTnLst>
                                </p:cTn>
                              </p:par>
                            </p:childTnLst>
                          </p:cTn>
                        </p:par>
                        <p:par>
                          <p:cTn id="29" fill="hold" nodeType="afterGroup">
                            <p:stCondLst>
                              <p:cond delay="3000"/>
                            </p:stCondLst>
                            <p:childTnLst>
                              <p:par>
                                <p:cTn id="30" presetID="1" presetClass="emph" presetSubtype="10" repeatCount="indefinite" fill="hold" nodeType="afterEffect">
                                  <p:stCondLst>
                                    <p:cond delay="0"/>
                                  </p:stCondLst>
                                  <p:endCondLst>
                                    <p:cond evt="onNext" delay="0">
                                      <p:tgtEl>
                                        <p:sldTgt/>
                                      </p:tgtEl>
                                    </p:cond>
                                  </p:endCondLst>
                                  <p:childTnLst>
                                    <p:animClr clrSpc="hsl" dir="ccw">
                                      <p:cBhvr>
                                        <p:cTn id="31" dur="2000" fill="hold"/>
                                        <p:tgtEl>
                                          <p:spTgt spid="86023"/>
                                        </p:tgtEl>
                                        <p:attrNameLst>
                                          <p:attrName>fillcolor</p:attrName>
                                        </p:attrNameLst>
                                      </p:cBhvr>
                                      <p:to>
                                        <a:schemeClr val="accent1"/>
                                      </p:to>
                                    </p:animClr>
                                    <p:set>
                                      <p:cBhvr>
                                        <p:cTn id="32" dur="2000" fill="hold"/>
                                        <p:tgtEl>
                                          <p:spTgt spid="86023"/>
                                        </p:tgtEl>
                                        <p:attrNameLst>
                                          <p:attrName>fill.type</p:attrName>
                                        </p:attrNameLst>
                                      </p:cBhvr>
                                      <p:to>
                                        <p:strVal val="solid"/>
                                      </p:to>
                                    </p:set>
                                    <p:set>
                                      <p:cBhvr>
                                        <p:cTn id="33" dur="2000" fill="hold"/>
                                        <p:tgtEl>
                                          <p:spTgt spid="86023"/>
                                        </p:tgtEl>
                                        <p:attrNameLst>
                                          <p:attrName>fill.on</p:attrName>
                                        </p:attrNameLst>
                                      </p:cBhvr>
                                      <p:to>
                                        <p:strVal val="true"/>
                                      </p:to>
                                    </p:set>
                                  </p:childTnLst>
                                </p:cTn>
                              </p:par>
                              <p:par>
                                <p:cTn id="34" presetID="1" presetClass="emph" presetSubtype="10" repeatCount="indefinite" fill="hold" nodeType="withEffect">
                                  <p:stCondLst>
                                    <p:cond delay="0"/>
                                  </p:stCondLst>
                                  <p:endCondLst>
                                    <p:cond evt="onNext" delay="0">
                                      <p:tgtEl>
                                        <p:sldTgt/>
                                      </p:tgtEl>
                                    </p:cond>
                                  </p:endCondLst>
                                  <p:childTnLst>
                                    <p:animClr clrSpc="hsl" dir="ccw">
                                      <p:cBhvr>
                                        <p:cTn id="35" dur="2000" fill="hold"/>
                                        <p:tgtEl>
                                          <p:spTgt spid="86025"/>
                                        </p:tgtEl>
                                        <p:attrNameLst>
                                          <p:attrName>fillcolor</p:attrName>
                                        </p:attrNameLst>
                                      </p:cBhvr>
                                      <p:to>
                                        <a:schemeClr val="accent1"/>
                                      </p:to>
                                    </p:animClr>
                                    <p:set>
                                      <p:cBhvr>
                                        <p:cTn id="36" dur="2000" fill="hold"/>
                                        <p:tgtEl>
                                          <p:spTgt spid="86025"/>
                                        </p:tgtEl>
                                        <p:attrNameLst>
                                          <p:attrName>fill.type</p:attrName>
                                        </p:attrNameLst>
                                      </p:cBhvr>
                                      <p:to>
                                        <p:strVal val="solid"/>
                                      </p:to>
                                    </p:set>
                                    <p:set>
                                      <p:cBhvr>
                                        <p:cTn id="37" dur="2000" fill="hold"/>
                                        <p:tgtEl>
                                          <p:spTgt spid="86025"/>
                                        </p:tgtEl>
                                        <p:attrNameLst>
                                          <p:attrName>fill.on</p:attrName>
                                        </p:attrNameLst>
                                      </p:cBhvr>
                                      <p:to>
                                        <p:strVal val="true"/>
                                      </p:to>
                                    </p:set>
                                  </p:childTnLst>
                                </p:cTn>
                              </p:par>
                              <p:par>
                                <p:cTn id="38" presetID="20" presetClass="entr" presetSubtype="0" fill="hold" grpId="0" nodeType="withEffect">
                                  <p:stCondLst>
                                    <p:cond delay="0"/>
                                  </p:stCondLst>
                                  <p:childTnLst>
                                    <p:set>
                                      <p:cBhvr>
                                        <p:cTn id="39" dur="1" fill="hold">
                                          <p:stCondLst>
                                            <p:cond delay="0"/>
                                          </p:stCondLst>
                                        </p:cTn>
                                        <p:tgtEl>
                                          <p:spTgt spid="86027"/>
                                        </p:tgtEl>
                                        <p:attrNameLst>
                                          <p:attrName>style.visibility</p:attrName>
                                        </p:attrNameLst>
                                      </p:cBhvr>
                                      <p:to>
                                        <p:strVal val="visible"/>
                                      </p:to>
                                    </p:set>
                                    <p:animEffect transition="in" filter="wedge">
                                      <p:cBhvr>
                                        <p:cTn id="40" dur="2000"/>
                                        <p:tgtEl>
                                          <p:spTgt spid="86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animBg="1"/>
      <p:bldP spid="86021" grpId="0" animBg="1"/>
      <p:bldP spid="86023" grpId="0"/>
      <p:bldP spid="86024" grpId="0"/>
      <p:bldP spid="86025" grpId="0"/>
      <p:bldP spid="86026" grpId="0"/>
      <p:bldP spid="8602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idx="4294967295"/>
          </p:nvPr>
        </p:nvSpPr>
        <p:spPr>
          <a:xfrm>
            <a:off x="0" y="0"/>
            <a:ext cx="7772400" cy="1428750"/>
          </a:xfrm>
          <a:noFill/>
        </p:spPr>
        <p:txBody>
          <a:bodyPr/>
          <a:lstStyle/>
          <a:p>
            <a:pPr eaLnBrk="1" hangingPunct="1"/>
            <a:r>
              <a:rPr lang="en-US" smtClean="0"/>
              <a:t>Wrapper Classes</a:t>
            </a:r>
          </a:p>
        </p:txBody>
      </p:sp>
      <p:sp>
        <p:nvSpPr>
          <p:cNvPr id="1029" name="Slide Number Placeholder 4"/>
          <p:cNvSpPr txBox="1">
            <a:spLocks noGrp="1"/>
          </p:cNvSpPr>
          <p:nvPr/>
        </p:nvSpPr>
        <p:spPr bwMode="auto">
          <a:xfrm>
            <a:off x="6553200" y="6399213"/>
            <a:ext cx="1905000" cy="457200"/>
          </a:xfrm>
          <a:prstGeom prst="rect">
            <a:avLst/>
          </a:prstGeom>
          <a:noFill/>
          <a:ln w="9525">
            <a:noFill/>
            <a:miter lim="800000"/>
            <a:headEnd/>
            <a:tailEnd/>
          </a:ln>
        </p:spPr>
        <p:txBody>
          <a:bodyPr wrap="none" lIns="92075" tIns="46038" rIns="92075" bIns="46038" anchor="ctr"/>
          <a:lstStyle/>
          <a:p>
            <a:pPr algn="r"/>
            <a:fld id="{DB6AAFFD-0331-4B65-802F-ADAF3DF4C96F}" type="slidenum">
              <a:rPr lang="en-US" sz="1400">
                <a:latin typeface="Calibri" pitchFamily="34" charset="0"/>
              </a:rPr>
              <a:pPr algn="r"/>
              <a:t>45</a:t>
            </a:fld>
            <a:endParaRPr lang="en-US" sz="1400">
              <a:latin typeface="Calibri" pitchFamily="34" charset="0"/>
            </a:endParaRPr>
          </a:p>
        </p:txBody>
      </p:sp>
      <p:sp>
        <p:nvSpPr>
          <p:cNvPr id="1031" name="Rectangle 5"/>
          <p:cNvSpPr>
            <a:spLocks noChangeArrowheads="1"/>
          </p:cNvSpPr>
          <p:nvPr/>
        </p:nvSpPr>
        <p:spPr bwMode="auto">
          <a:xfrm>
            <a:off x="2114550" y="2541588"/>
            <a:ext cx="9144000" cy="0"/>
          </a:xfrm>
          <a:prstGeom prst="rect">
            <a:avLst/>
          </a:prstGeom>
          <a:noFill/>
          <a:ln w="12700">
            <a:noFill/>
            <a:miter lim="800000"/>
            <a:headEnd type="none" w="sm" len="sm"/>
            <a:tailEnd type="none" w="sm" len="sm"/>
          </a:ln>
        </p:spPr>
        <p:txBody>
          <a:bodyPr>
            <a:spAutoFit/>
          </a:bodyPr>
          <a:lstStyle/>
          <a:p>
            <a:endParaRPr lang="tr-TR">
              <a:latin typeface="Calibri" pitchFamily="34" charset="0"/>
            </a:endParaRPr>
          </a:p>
        </p:txBody>
      </p:sp>
      <p:sp>
        <p:nvSpPr>
          <p:cNvPr id="2" name="Rectangle 1"/>
          <p:cNvSpPr/>
          <p:nvPr/>
        </p:nvSpPr>
        <p:spPr>
          <a:xfrm>
            <a:off x="457200" y="1402984"/>
            <a:ext cx="8458200" cy="923330"/>
          </a:xfrm>
          <a:prstGeom prst="rect">
            <a:avLst/>
          </a:prstGeom>
        </p:spPr>
        <p:txBody>
          <a:bodyPr wrap="square">
            <a:spAutoFit/>
          </a:bodyPr>
          <a:lstStyle/>
          <a:p>
            <a:pPr marL="285750" indent="-285750">
              <a:buFont typeface="Wingdings" panose="05000000000000000000" pitchFamily="2" charset="2"/>
              <a:buChar char="q"/>
            </a:pPr>
            <a:r>
              <a:rPr lang="en-US" dirty="0"/>
              <a:t>A </a:t>
            </a:r>
            <a:r>
              <a:rPr lang="en-US" b="1" dirty="0"/>
              <a:t>Wrapper Class</a:t>
            </a:r>
            <a:r>
              <a:rPr lang="en-US" dirty="0"/>
              <a:t> is a class that converts a </a:t>
            </a:r>
            <a:r>
              <a:rPr lang="en-US" b="1" dirty="0"/>
              <a:t>primitive data type into an </a:t>
            </a:r>
            <a:r>
              <a:rPr lang="en-US" b="1" dirty="0" smtClean="0"/>
              <a:t>object</a:t>
            </a:r>
            <a:r>
              <a:rPr lang="en-US" dirty="0" smtClean="0"/>
              <a:t>.</a:t>
            </a:r>
          </a:p>
          <a:p>
            <a:pPr marL="285750" indent="-285750">
              <a:buFont typeface="Wingdings" panose="05000000000000000000" pitchFamily="2" charset="2"/>
              <a:buChar char="q"/>
            </a:pPr>
            <a:r>
              <a:rPr lang="en-US" dirty="0" smtClean="0"/>
              <a:t>Java </a:t>
            </a:r>
            <a:r>
              <a:rPr lang="en-US" dirty="0"/>
              <a:t>provides wrapper classes because </a:t>
            </a:r>
            <a:r>
              <a:rPr lang="en-US" b="1" dirty="0"/>
              <a:t>collections (</a:t>
            </a:r>
            <a:r>
              <a:rPr lang="en-US" b="1" dirty="0" err="1"/>
              <a:t>ArrayList</a:t>
            </a:r>
            <a:r>
              <a:rPr lang="en-US" b="1" dirty="0"/>
              <a:t>, </a:t>
            </a:r>
            <a:r>
              <a:rPr lang="en-US" b="1" dirty="0" err="1"/>
              <a:t>HashMap</a:t>
            </a:r>
            <a:r>
              <a:rPr lang="en-US" b="1" dirty="0"/>
              <a:t>, etc.) and many APIs work only with objects, not primitive data types.</a:t>
            </a:r>
            <a:endParaRPr lang="en-US" dirty="0"/>
          </a:p>
        </p:txBody>
      </p:sp>
      <p:graphicFrame>
        <p:nvGraphicFramePr>
          <p:cNvPr id="10" name="Object 6"/>
          <p:cNvGraphicFramePr>
            <a:graphicFrameLocks noChangeAspect="1"/>
          </p:cNvGraphicFramePr>
          <p:nvPr>
            <p:extLst>
              <p:ext uri="{D42A27DB-BD31-4B8C-83A1-F6EECF244321}">
                <p14:modId xmlns:p14="http://schemas.microsoft.com/office/powerpoint/2010/main" val="3255837977"/>
              </p:ext>
            </p:extLst>
          </p:nvPr>
        </p:nvGraphicFramePr>
        <p:xfrm>
          <a:off x="762000" y="2326314"/>
          <a:ext cx="6858000" cy="2237917"/>
        </p:xfrm>
        <a:graphic>
          <a:graphicData uri="http://schemas.openxmlformats.org/presentationml/2006/ole">
            <mc:AlternateContent xmlns:mc="http://schemas.openxmlformats.org/markup-compatibility/2006">
              <mc:Choice xmlns:v="urn:schemas-microsoft-com:vml" Requires="v">
                <p:oleObj spid="_x0000_s24616" name="Picture" r:id="rId3" imgW="4915080" imgH="1600200" progId="Word.Picture.8">
                  <p:embed/>
                </p:oleObj>
              </mc:Choice>
              <mc:Fallback>
                <p:oleObj name="Picture" r:id="rId3" imgW="4915080" imgH="1600200" progId="Word.Picture.8">
                  <p:embed/>
                  <p:pic>
                    <p:nvPicPr>
                      <p:cNvPr id="102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326314"/>
                        <a:ext cx="6858000" cy="2237917"/>
                      </a:xfrm>
                      <a:prstGeom prst="rect">
                        <a:avLst/>
                      </a:prstGeom>
                      <a:solidFill>
                        <a:schemeClr val="bg2"/>
                      </a:solidFill>
                    </p:spPr>
                  </p:pic>
                </p:oleObj>
              </mc:Fallback>
            </mc:AlternateContent>
          </a:graphicData>
        </a:graphic>
      </p:graphicFrame>
      <p:sp>
        <p:nvSpPr>
          <p:cNvPr id="11" name="Rectangle 3"/>
          <p:cNvSpPr txBox="1">
            <a:spLocks noChangeArrowheads="1"/>
          </p:cNvSpPr>
          <p:nvPr/>
        </p:nvSpPr>
        <p:spPr>
          <a:xfrm>
            <a:off x="304800" y="4564231"/>
            <a:ext cx="2286000" cy="2133600"/>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smtClean="0"/>
              <a:t>Boolean</a:t>
            </a:r>
          </a:p>
          <a:p>
            <a:pPr>
              <a:spcBef>
                <a:spcPct val="50000"/>
              </a:spcBef>
            </a:pPr>
            <a:r>
              <a:rPr lang="en-US" sz="2400" dirty="0" smtClean="0"/>
              <a:t>Character</a:t>
            </a:r>
          </a:p>
          <a:p>
            <a:pPr>
              <a:spcBef>
                <a:spcPct val="50000"/>
              </a:spcBef>
            </a:pPr>
            <a:r>
              <a:rPr lang="en-US" sz="2400" dirty="0" smtClean="0"/>
              <a:t>Short</a:t>
            </a:r>
          </a:p>
          <a:p>
            <a:pPr>
              <a:spcBef>
                <a:spcPct val="50000"/>
              </a:spcBef>
            </a:pPr>
            <a:r>
              <a:rPr lang="en-US" sz="2400" dirty="0" smtClean="0"/>
              <a:t>Byte</a:t>
            </a:r>
            <a:endParaRPr lang="en-US" sz="2800" dirty="0" smtClean="0"/>
          </a:p>
        </p:txBody>
      </p:sp>
      <p:sp>
        <p:nvSpPr>
          <p:cNvPr id="12" name="Rectangle 4"/>
          <p:cNvSpPr>
            <a:spLocks noChangeArrowheads="1"/>
          </p:cNvSpPr>
          <p:nvPr/>
        </p:nvSpPr>
        <p:spPr bwMode="auto">
          <a:xfrm>
            <a:off x="2590800" y="4564231"/>
            <a:ext cx="2362200" cy="2133600"/>
          </a:xfrm>
          <a:prstGeom prst="rect">
            <a:avLst/>
          </a:prstGeom>
          <a:noFill/>
          <a:ln w="9525">
            <a:noFill/>
            <a:miter lim="800000"/>
            <a:headEnd/>
            <a:tailEnd/>
          </a:ln>
        </p:spPr>
        <p:txBody>
          <a:bodyPr lIns="92075" tIns="46038" rIns="92075" bIns="46038"/>
          <a:lstStyle/>
          <a:p>
            <a:pPr>
              <a:spcBef>
                <a:spcPct val="20000"/>
              </a:spcBef>
              <a:buClr>
                <a:schemeClr val="tx2"/>
              </a:buClr>
              <a:buSzPct val="75000"/>
            </a:pPr>
            <a:r>
              <a:rPr lang="en-US" sz="2400" dirty="0"/>
              <a:t>Integer</a:t>
            </a:r>
          </a:p>
          <a:p>
            <a:pPr>
              <a:spcBef>
                <a:spcPct val="20000"/>
              </a:spcBef>
              <a:buClr>
                <a:schemeClr val="tx2"/>
              </a:buClr>
              <a:buSzPct val="75000"/>
            </a:pPr>
            <a:r>
              <a:rPr lang="en-US" sz="2400" dirty="0" smtClean="0"/>
              <a:t>Long</a:t>
            </a:r>
            <a:endParaRPr lang="en-US" sz="2400" dirty="0"/>
          </a:p>
          <a:p>
            <a:pPr>
              <a:spcBef>
                <a:spcPct val="50000"/>
              </a:spcBef>
              <a:buClr>
                <a:schemeClr val="tx2"/>
              </a:buClr>
              <a:buSzPct val="75000"/>
            </a:pPr>
            <a:r>
              <a:rPr lang="en-US" sz="2400" dirty="0"/>
              <a:t>Float</a:t>
            </a:r>
          </a:p>
          <a:p>
            <a:pPr>
              <a:spcBef>
                <a:spcPct val="50000"/>
              </a:spcBef>
              <a:buClr>
                <a:schemeClr val="tx2"/>
              </a:buClr>
              <a:buSzPct val="75000"/>
            </a:pPr>
            <a:r>
              <a:rPr lang="en-US" sz="2400" dirty="0"/>
              <a:t>Double</a:t>
            </a:r>
          </a:p>
        </p:txBody>
      </p:sp>
      <p:sp>
        <p:nvSpPr>
          <p:cNvPr id="13" name="Text Box 7"/>
          <p:cNvSpPr txBox="1">
            <a:spLocks noChangeArrowheads="1"/>
          </p:cNvSpPr>
          <p:nvPr/>
        </p:nvSpPr>
        <p:spPr bwMode="auto">
          <a:xfrm>
            <a:off x="3733800" y="4738322"/>
            <a:ext cx="5257800" cy="1785104"/>
          </a:xfrm>
          <a:prstGeom prst="rect">
            <a:avLst/>
          </a:prstGeom>
          <a:noFill/>
          <a:ln w="12700">
            <a:noFill/>
            <a:miter lim="800000"/>
            <a:headEnd type="none" w="sm" len="sm"/>
            <a:tailEnd type="none" w="sm" len="sm"/>
          </a:ln>
        </p:spPr>
        <p:txBody>
          <a:bodyPr wrap="square">
            <a:spAutoFit/>
          </a:bodyPr>
          <a:lstStyle/>
          <a:p>
            <a:pPr>
              <a:spcBef>
                <a:spcPct val="50000"/>
              </a:spcBef>
            </a:pPr>
            <a:r>
              <a:rPr lang="en-US" sz="2000" dirty="0">
                <a:solidFill>
                  <a:srgbClr val="FF0000"/>
                </a:solidFill>
                <a:latin typeface="Calibri" pitchFamily="34" charset="0"/>
                <a:cs typeface="Courier New" pitchFamily="49" charset="0"/>
              </a:rPr>
              <a:t>NOTE: (1) The wrapper classes do not have no-</a:t>
            </a:r>
            <a:r>
              <a:rPr lang="en-US" sz="2000" dirty="0" err="1">
                <a:solidFill>
                  <a:srgbClr val="FF0000"/>
                </a:solidFill>
                <a:latin typeface="Calibri" pitchFamily="34" charset="0"/>
                <a:cs typeface="Courier New" pitchFamily="49" charset="0"/>
              </a:rPr>
              <a:t>arg</a:t>
            </a:r>
            <a:r>
              <a:rPr lang="en-US" sz="2000" dirty="0">
                <a:solidFill>
                  <a:srgbClr val="FF0000"/>
                </a:solidFill>
                <a:latin typeface="Calibri" pitchFamily="34" charset="0"/>
                <a:cs typeface="Courier New" pitchFamily="49" charset="0"/>
              </a:rPr>
              <a:t> constructors. </a:t>
            </a:r>
            <a:endParaRPr lang="en-US" sz="2000" dirty="0" smtClean="0">
              <a:solidFill>
                <a:srgbClr val="FF0000"/>
              </a:solidFill>
              <a:latin typeface="Calibri" pitchFamily="34" charset="0"/>
              <a:cs typeface="Courier New" pitchFamily="49" charset="0"/>
            </a:endParaRPr>
          </a:p>
          <a:p>
            <a:pPr>
              <a:spcBef>
                <a:spcPct val="50000"/>
              </a:spcBef>
            </a:pPr>
            <a:r>
              <a:rPr lang="en-US" sz="2000" dirty="0" smtClean="0">
                <a:solidFill>
                  <a:srgbClr val="FF0000"/>
                </a:solidFill>
                <a:latin typeface="Calibri" pitchFamily="34" charset="0"/>
                <a:cs typeface="Courier New" pitchFamily="49" charset="0"/>
              </a:rPr>
              <a:t>(</a:t>
            </a:r>
            <a:r>
              <a:rPr lang="en-US" sz="2000" dirty="0">
                <a:solidFill>
                  <a:srgbClr val="FF0000"/>
                </a:solidFill>
                <a:latin typeface="Calibri" pitchFamily="34" charset="0"/>
                <a:cs typeface="Courier New" pitchFamily="49" charset="0"/>
              </a:rPr>
              <a:t>2) The instances of all wrapper classes are immutable, i.e., their internal values cannot be changed once the objects are created.</a:t>
            </a:r>
            <a:r>
              <a:rPr lang="en-US" sz="2000" dirty="0">
                <a:solidFill>
                  <a:srgbClr val="FF0000"/>
                </a:solidFill>
                <a:latin typeface="Calibri" pitchFamily="34" charset="0"/>
              </a:rPr>
              <a:t> </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idx="4294967295"/>
          </p:nvPr>
        </p:nvSpPr>
        <p:spPr>
          <a:xfrm>
            <a:off x="181708" y="132276"/>
            <a:ext cx="7772400" cy="914400"/>
          </a:xfrm>
          <a:noFill/>
        </p:spPr>
        <p:txBody>
          <a:bodyPr>
            <a:normAutofit fontScale="90000"/>
          </a:bodyPr>
          <a:lstStyle/>
          <a:p>
            <a:r>
              <a:rPr lang="en-IN" dirty="0"/>
              <a:t>Why do we need Wrapper </a:t>
            </a:r>
            <a:r>
              <a:rPr lang="en-IN" dirty="0" smtClean="0"/>
              <a:t>Classes</a:t>
            </a:r>
            <a:endParaRPr lang="en-US" dirty="0" smtClean="0"/>
          </a:p>
        </p:txBody>
      </p:sp>
      <p:sp>
        <p:nvSpPr>
          <p:cNvPr id="1029" name="Slide Number Placeholder 4"/>
          <p:cNvSpPr txBox="1">
            <a:spLocks noGrp="1"/>
          </p:cNvSpPr>
          <p:nvPr/>
        </p:nvSpPr>
        <p:spPr bwMode="auto">
          <a:xfrm>
            <a:off x="6553200" y="6399213"/>
            <a:ext cx="1905000" cy="457200"/>
          </a:xfrm>
          <a:prstGeom prst="rect">
            <a:avLst/>
          </a:prstGeom>
          <a:noFill/>
          <a:ln w="9525">
            <a:noFill/>
            <a:miter lim="800000"/>
            <a:headEnd/>
            <a:tailEnd/>
          </a:ln>
        </p:spPr>
        <p:txBody>
          <a:bodyPr wrap="none" lIns="92075" tIns="46038" rIns="92075" bIns="46038" anchor="ctr"/>
          <a:lstStyle/>
          <a:p>
            <a:pPr algn="r"/>
            <a:fld id="{DB6AAFFD-0331-4B65-802F-ADAF3DF4C96F}" type="slidenum">
              <a:rPr lang="en-US" sz="1400">
                <a:latin typeface="Calibri" pitchFamily="34" charset="0"/>
              </a:rPr>
              <a:pPr algn="r"/>
              <a:t>46</a:t>
            </a:fld>
            <a:endParaRPr lang="en-US" sz="1400">
              <a:latin typeface="Calibri" pitchFamily="34" charset="0"/>
            </a:endParaRPr>
          </a:p>
        </p:txBody>
      </p:sp>
      <p:sp>
        <p:nvSpPr>
          <p:cNvPr id="1031" name="Rectangle 5"/>
          <p:cNvSpPr>
            <a:spLocks noChangeArrowheads="1"/>
          </p:cNvSpPr>
          <p:nvPr/>
        </p:nvSpPr>
        <p:spPr bwMode="auto">
          <a:xfrm>
            <a:off x="2114550" y="2541588"/>
            <a:ext cx="9144000" cy="0"/>
          </a:xfrm>
          <a:prstGeom prst="rect">
            <a:avLst/>
          </a:prstGeom>
          <a:noFill/>
          <a:ln w="12700">
            <a:noFill/>
            <a:miter lim="800000"/>
            <a:headEnd type="none" w="sm" len="sm"/>
            <a:tailEnd type="none" w="sm" len="sm"/>
          </a:ln>
        </p:spPr>
        <p:txBody>
          <a:bodyPr>
            <a:spAutoFit/>
          </a:bodyPr>
          <a:lstStyle/>
          <a:p>
            <a:endParaRPr lang="tr-TR">
              <a:latin typeface="Calibri" pitchFamily="34" charset="0"/>
            </a:endParaRPr>
          </a:p>
        </p:txBody>
      </p:sp>
      <p:sp>
        <p:nvSpPr>
          <p:cNvPr id="3" name="Rectangle 2"/>
          <p:cNvSpPr/>
          <p:nvPr/>
        </p:nvSpPr>
        <p:spPr>
          <a:xfrm>
            <a:off x="152400" y="1219200"/>
            <a:ext cx="9067800" cy="1200329"/>
          </a:xfrm>
          <a:prstGeom prst="rect">
            <a:avLst/>
          </a:prstGeom>
        </p:spPr>
        <p:txBody>
          <a:bodyPr wrap="square">
            <a:spAutoFit/>
          </a:bodyPr>
          <a:lstStyle/>
          <a:p>
            <a:r>
              <a:rPr lang="en-IN" dirty="0" smtClean="0"/>
              <a:t>To convert </a:t>
            </a:r>
            <a:r>
              <a:rPr lang="en-IN" dirty="0"/>
              <a:t>primitive values into </a:t>
            </a:r>
            <a:r>
              <a:rPr lang="en-IN" dirty="0" smtClean="0"/>
              <a:t>objects.</a:t>
            </a:r>
          </a:p>
          <a:p>
            <a:r>
              <a:rPr lang="en-IN" dirty="0" smtClean="0"/>
              <a:t>To </a:t>
            </a:r>
            <a:r>
              <a:rPr lang="en-IN" dirty="0"/>
              <a:t>use primitive values in Java Collections</a:t>
            </a:r>
            <a:r>
              <a:rPr lang="en-IN" dirty="0" smtClean="0"/>
              <a:t>.</a:t>
            </a:r>
          </a:p>
          <a:p>
            <a:r>
              <a:rPr lang="en-IN" dirty="0" smtClean="0"/>
              <a:t>To </a:t>
            </a:r>
            <a:r>
              <a:rPr lang="en-IN" dirty="0"/>
              <a:t>convert String to numbers and vice versa</a:t>
            </a:r>
            <a:r>
              <a:rPr lang="en-IN" dirty="0" smtClean="0"/>
              <a:t>.</a:t>
            </a:r>
          </a:p>
          <a:p>
            <a:r>
              <a:rPr lang="en-IN" dirty="0" smtClean="0"/>
              <a:t>To </a:t>
            </a:r>
            <a:r>
              <a:rPr lang="en-IN" dirty="0"/>
              <a:t>access utility methods like </a:t>
            </a:r>
            <a:r>
              <a:rPr lang="en-IN" dirty="0" err="1"/>
              <a:t>parseInt</a:t>
            </a:r>
            <a:r>
              <a:rPr lang="en-IN" dirty="0"/>
              <a:t>(), compare(), </a:t>
            </a:r>
            <a:r>
              <a:rPr lang="en-IN" dirty="0" err="1"/>
              <a:t>toString</a:t>
            </a:r>
            <a:r>
              <a:rPr lang="en-IN" dirty="0"/>
              <a:t>(), etc.</a:t>
            </a:r>
          </a:p>
        </p:txBody>
      </p:sp>
      <p:graphicFrame>
        <p:nvGraphicFramePr>
          <p:cNvPr id="4" name="Table 3"/>
          <p:cNvGraphicFramePr>
            <a:graphicFrameLocks noGrp="1"/>
          </p:cNvGraphicFramePr>
          <p:nvPr>
            <p:extLst>
              <p:ext uri="{D42A27DB-BD31-4B8C-83A1-F6EECF244321}">
                <p14:modId xmlns:p14="http://schemas.microsoft.com/office/powerpoint/2010/main" val="3046654622"/>
              </p:ext>
            </p:extLst>
          </p:nvPr>
        </p:nvGraphicFramePr>
        <p:xfrm>
          <a:off x="228600" y="2592053"/>
          <a:ext cx="8229600" cy="2346960"/>
        </p:xfrm>
        <a:graphic>
          <a:graphicData uri="http://schemas.openxmlformats.org/drawingml/2006/table">
            <a:tbl>
              <a:tblPr/>
              <a:tblGrid>
                <a:gridCol w="2743200">
                  <a:extLst>
                    <a:ext uri="{9D8B030D-6E8A-4147-A177-3AD203B41FA5}">
                      <a16:colId xmlns:a16="http://schemas.microsoft.com/office/drawing/2014/main" val="2427680386"/>
                    </a:ext>
                  </a:extLst>
                </a:gridCol>
                <a:gridCol w="2743200">
                  <a:extLst>
                    <a:ext uri="{9D8B030D-6E8A-4147-A177-3AD203B41FA5}">
                      <a16:colId xmlns:a16="http://schemas.microsoft.com/office/drawing/2014/main" val="1865751606"/>
                    </a:ext>
                  </a:extLst>
                </a:gridCol>
                <a:gridCol w="2743200">
                  <a:extLst>
                    <a:ext uri="{9D8B030D-6E8A-4147-A177-3AD203B41FA5}">
                      <a16:colId xmlns:a16="http://schemas.microsoft.com/office/drawing/2014/main" val="3314438888"/>
                    </a:ext>
                  </a:extLst>
                </a:gridCol>
              </a:tblGrid>
              <a:tr h="0">
                <a:tc>
                  <a:txBody>
                    <a:bodyPr/>
                    <a:lstStyle/>
                    <a:p>
                      <a:r>
                        <a:rPr lang="en-IN" sz="1400" b="1"/>
                        <a:t>Method</a:t>
                      </a:r>
                    </a:p>
                  </a:txBody>
                  <a:tcPr anchor="ctr">
                    <a:lnL>
                      <a:noFill/>
                    </a:lnL>
                    <a:lnR>
                      <a:noFill/>
                    </a:lnR>
                    <a:lnT>
                      <a:noFill/>
                    </a:lnT>
                    <a:lnB>
                      <a:noFill/>
                    </a:lnB>
                  </a:tcPr>
                </a:tc>
                <a:tc>
                  <a:txBody>
                    <a:bodyPr/>
                    <a:lstStyle/>
                    <a:p>
                      <a:r>
                        <a:rPr lang="en-IN" sz="1400" b="1"/>
                        <a:t>Description</a:t>
                      </a:r>
                    </a:p>
                  </a:txBody>
                  <a:tcPr anchor="ctr">
                    <a:lnL>
                      <a:noFill/>
                    </a:lnL>
                    <a:lnR>
                      <a:noFill/>
                    </a:lnR>
                    <a:lnT>
                      <a:noFill/>
                    </a:lnT>
                    <a:lnB>
                      <a:noFill/>
                    </a:lnB>
                  </a:tcPr>
                </a:tc>
                <a:tc>
                  <a:txBody>
                    <a:bodyPr/>
                    <a:lstStyle/>
                    <a:p>
                      <a:r>
                        <a:rPr lang="en-IN" sz="1400" b="1"/>
                        <a:t>Example</a:t>
                      </a:r>
                    </a:p>
                  </a:txBody>
                  <a:tcPr anchor="ctr">
                    <a:lnL>
                      <a:noFill/>
                    </a:lnL>
                    <a:lnR>
                      <a:noFill/>
                    </a:lnR>
                    <a:lnT>
                      <a:noFill/>
                    </a:lnT>
                    <a:lnB>
                      <a:noFill/>
                    </a:lnB>
                  </a:tcPr>
                </a:tc>
                <a:extLst>
                  <a:ext uri="{0D108BD9-81ED-4DB2-BD59-A6C34878D82A}">
                    <a16:rowId xmlns:a16="http://schemas.microsoft.com/office/drawing/2014/main" val="145945837"/>
                  </a:ext>
                </a:extLst>
              </a:tr>
              <a:tr h="0">
                <a:tc>
                  <a:txBody>
                    <a:bodyPr/>
                    <a:lstStyle/>
                    <a:p>
                      <a:r>
                        <a:rPr lang="en-IN" sz="1400" b="1"/>
                        <a:t>parseInt()</a:t>
                      </a:r>
                    </a:p>
                  </a:txBody>
                  <a:tcPr anchor="ctr">
                    <a:lnL>
                      <a:noFill/>
                    </a:lnL>
                    <a:lnR>
                      <a:noFill/>
                    </a:lnR>
                    <a:lnT>
                      <a:noFill/>
                    </a:lnT>
                    <a:lnB>
                      <a:noFill/>
                    </a:lnB>
                  </a:tcPr>
                </a:tc>
                <a:tc>
                  <a:txBody>
                    <a:bodyPr/>
                    <a:lstStyle/>
                    <a:p>
                      <a:r>
                        <a:rPr lang="en-IN" sz="1400" b="1"/>
                        <a:t>Converts String to int</a:t>
                      </a:r>
                    </a:p>
                  </a:txBody>
                  <a:tcPr anchor="ctr">
                    <a:lnL>
                      <a:noFill/>
                    </a:lnL>
                    <a:lnR>
                      <a:noFill/>
                    </a:lnR>
                    <a:lnT>
                      <a:noFill/>
                    </a:lnT>
                    <a:lnB>
                      <a:noFill/>
                    </a:lnB>
                  </a:tcPr>
                </a:tc>
                <a:tc>
                  <a:txBody>
                    <a:bodyPr/>
                    <a:lstStyle/>
                    <a:p>
                      <a:r>
                        <a:rPr lang="en-IN" sz="1400" b="1"/>
                        <a:t>Integer.parseInt("123")</a:t>
                      </a:r>
                    </a:p>
                  </a:txBody>
                  <a:tcPr anchor="ctr">
                    <a:lnL>
                      <a:noFill/>
                    </a:lnL>
                    <a:lnR>
                      <a:noFill/>
                    </a:lnR>
                    <a:lnT>
                      <a:noFill/>
                    </a:lnT>
                    <a:lnB>
                      <a:noFill/>
                    </a:lnB>
                  </a:tcPr>
                </a:tc>
                <a:extLst>
                  <a:ext uri="{0D108BD9-81ED-4DB2-BD59-A6C34878D82A}">
                    <a16:rowId xmlns:a16="http://schemas.microsoft.com/office/drawing/2014/main" val="464435798"/>
                  </a:ext>
                </a:extLst>
              </a:tr>
              <a:tr h="0">
                <a:tc>
                  <a:txBody>
                    <a:bodyPr/>
                    <a:lstStyle/>
                    <a:p>
                      <a:r>
                        <a:rPr lang="en-IN" sz="1400" b="1"/>
                        <a:t>valueOf()</a:t>
                      </a:r>
                    </a:p>
                  </a:txBody>
                  <a:tcPr anchor="ctr">
                    <a:lnL>
                      <a:noFill/>
                    </a:lnL>
                    <a:lnR>
                      <a:noFill/>
                    </a:lnR>
                    <a:lnT>
                      <a:noFill/>
                    </a:lnT>
                    <a:lnB>
                      <a:noFill/>
                    </a:lnB>
                  </a:tcPr>
                </a:tc>
                <a:tc>
                  <a:txBody>
                    <a:bodyPr/>
                    <a:lstStyle/>
                    <a:p>
                      <a:r>
                        <a:rPr lang="en-US" sz="1400" b="1"/>
                        <a:t>Converts primitive/String to wrapper object</a:t>
                      </a:r>
                    </a:p>
                  </a:txBody>
                  <a:tcPr anchor="ctr">
                    <a:lnL>
                      <a:noFill/>
                    </a:lnL>
                    <a:lnR>
                      <a:noFill/>
                    </a:lnR>
                    <a:lnT>
                      <a:noFill/>
                    </a:lnT>
                    <a:lnB>
                      <a:noFill/>
                    </a:lnB>
                  </a:tcPr>
                </a:tc>
                <a:tc>
                  <a:txBody>
                    <a:bodyPr/>
                    <a:lstStyle/>
                    <a:p>
                      <a:r>
                        <a:rPr lang="en-IN" sz="1400" b="1"/>
                        <a:t>Integer.valueOf(100)</a:t>
                      </a:r>
                    </a:p>
                  </a:txBody>
                  <a:tcPr anchor="ctr">
                    <a:lnL>
                      <a:noFill/>
                    </a:lnL>
                    <a:lnR>
                      <a:noFill/>
                    </a:lnR>
                    <a:lnT>
                      <a:noFill/>
                    </a:lnT>
                    <a:lnB>
                      <a:noFill/>
                    </a:lnB>
                  </a:tcPr>
                </a:tc>
                <a:extLst>
                  <a:ext uri="{0D108BD9-81ED-4DB2-BD59-A6C34878D82A}">
                    <a16:rowId xmlns:a16="http://schemas.microsoft.com/office/drawing/2014/main" val="2419513685"/>
                  </a:ext>
                </a:extLst>
              </a:tr>
              <a:tr h="0">
                <a:tc>
                  <a:txBody>
                    <a:bodyPr/>
                    <a:lstStyle/>
                    <a:p>
                      <a:r>
                        <a:rPr lang="en-IN" sz="1400" b="1"/>
                        <a:t>toString()</a:t>
                      </a:r>
                    </a:p>
                  </a:txBody>
                  <a:tcPr anchor="ctr">
                    <a:lnL>
                      <a:noFill/>
                    </a:lnL>
                    <a:lnR>
                      <a:noFill/>
                    </a:lnR>
                    <a:lnT>
                      <a:noFill/>
                    </a:lnT>
                    <a:lnB>
                      <a:noFill/>
                    </a:lnB>
                  </a:tcPr>
                </a:tc>
                <a:tc>
                  <a:txBody>
                    <a:bodyPr/>
                    <a:lstStyle/>
                    <a:p>
                      <a:r>
                        <a:rPr lang="en-IN" sz="1400" b="1"/>
                        <a:t>Converts number to String</a:t>
                      </a:r>
                    </a:p>
                  </a:txBody>
                  <a:tcPr anchor="ctr">
                    <a:lnL>
                      <a:noFill/>
                    </a:lnL>
                    <a:lnR>
                      <a:noFill/>
                    </a:lnR>
                    <a:lnT>
                      <a:noFill/>
                    </a:lnT>
                    <a:lnB>
                      <a:noFill/>
                    </a:lnB>
                  </a:tcPr>
                </a:tc>
                <a:tc>
                  <a:txBody>
                    <a:bodyPr/>
                    <a:lstStyle/>
                    <a:p>
                      <a:r>
                        <a:rPr lang="en-IN" sz="1400" b="1"/>
                        <a:t>Integer.toString(100)</a:t>
                      </a:r>
                    </a:p>
                  </a:txBody>
                  <a:tcPr anchor="ctr">
                    <a:lnL>
                      <a:noFill/>
                    </a:lnL>
                    <a:lnR>
                      <a:noFill/>
                    </a:lnR>
                    <a:lnT>
                      <a:noFill/>
                    </a:lnT>
                    <a:lnB>
                      <a:noFill/>
                    </a:lnB>
                  </a:tcPr>
                </a:tc>
                <a:extLst>
                  <a:ext uri="{0D108BD9-81ED-4DB2-BD59-A6C34878D82A}">
                    <a16:rowId xmlns:a16="http://schemas.microsoft.com/office/drawing/2014/main" val="3551046860"/>
                  </a:ext>
                </a:extLst>
              </a:tr>
              <a:tr h="0">
                <a:tc>
                  <a:txBody>
                    <a:bodyPr/>
                    <a:lstStyle/>
                    <a:p>
                      <a:r>
                        <a:rPr lang="en-IN" sz="1400" b="1"/>
                        <a:t>compare()</a:t>
                      </a:r>
                    </a:p>
                  </a:txBody>
                  <a:tcPr anchor="ctr">
                    <a:lnL>
                      <a:noFill/>
                    </a:lnL>
                    <a:lnR>
                      <a:noFill/>
                    </a:lnR>
                    <a:lnT>
                      <a:noFill/>
                    </a:lnT>
                    <a:lnB>
                      <a:noFill/>
                    </a:lnB>
                  </a:tcPr>
                </a:tc>
                <a:tc>
                  <a:txBody>
                    <a:bodyPr/>
                    <a:lstStyle/>
                    <a:p>
                      <a:r>
                        <a:rPr lang="en-IN" sz="1400" b="1"/>
                        <a:t>Compares two values</a:t>
                      </a:r>
                    </a:p>
                  </a:txBody>
                  <a:tcPr anchor="ctr">
                    <a:lnL>
                      <a:noFill/>
                    </a:lnL>
                    <a:lnR>
                      <a:noFill/>
                    </a:lnR>
                    <a:lnT>
                      <a:noFill/>
                    </a:lnT>
                    <a:lnB>
                      <a:noFill/>
                    </a:lnB>
                  </a:tcPr>
                </a:tc>
                <a:tc>
                  <a:txBody>
                    <a:bodyPr/>
                    <a:lstStyle/>
                    <a:p>
                      <a:r>
                        <a:rPr lang="en-IN" sz="1400" b="1"/>
                        <a:t>Integer.compare(10,20)</a:t>
                      </a:r>
                    </a:p>
                  </a:txBody>
                  <a:tcPr anchor="ctr">
                    <a:lnL>
                      <a:noFill/>
                    </a:lnL>
                    <a:lnR>
                      <a:noFill/>
                    </a:lnR>
                    <a:lnT>
                      <a:noFill/>
                    </a:lnT>
                    <a:lnB>
                      <a:noFill/>
                    </a:lnB>
                  </a:tcPr>
                </a:tc>
                <a:extLst>
                  <a:ext uri="{0D108BD9-81ED-4DB2-BD59-A6C34878D82A}">
                    <a16:rowId xmlns:a16="http://schemas.microsoft.com/office/drawing/2014/main" val="1779624806"/>
                  </a:ext>
                </a:extLst>
              </a:tr>
              <a:tr h="0">
                <a:tc>
                  <a:txBody>
                    <a:bodyPr/>
                    <a:lstStyle/>
                    <a:p>
                      <a:r>
                        <a:rPr lang="en-IN" sz="1400" b="1"/>
                        <a:t>max()</a:t>
                      </a:r>
                    </a:p>
                  </a:txBody>
                  <a:tcPr anchor="ctr">
                    <a:lnL>
                      <a:noFill/>
                    </a:lnL>
                    <a:lnR>
                      <a:noFill/>
                    </a:lnR>
                    <a:lnT>
                      <a:noFill/>
                    </a:lnT>
                    <a:lnB>
                      <a:noFill/>
                    </a:lnB>
                  </a:tcPr>
                </a:tc>
                <a:tc>
                  <a:txBody>
                    <a:bodyPr/>
                    <a:lstStyle/>
                    <a:p>
                      <a:r>
                        <a:rPr lang="en-IN" sz="1400" b="1"/>
                        <a:t>Returns maximum</a:t>
                      </a:r>
                    </a:p>
                  </a:txBody>
                  <a:tcPr anchor="ctr">
                    <a:lnL>
                      <a:noFill/>
                    </a:lnL>
                    <a:lnR>
                      <a:noFill/>
                    </a:lnR>
                    <a:lnT>
                      <a:noFill/>
                    </a:lnT>
                    <a:lnB>
                      <a:noFill/>
                    </a:lnB>
                  </a:tcPr>
                </a:tc>
                <a:tc>
                  <a:txBody>
                    <a:bodyPr/>
                    <a:lstStyle/>
                    <a:p>
                      <a:r>
                        <a:rPr lang="en-IN" sz="1400" b="1"/>
                        <a:t>Integer.max(10,20)</a:t>
                      </a:r>
                    </a:p>
                  </a:txBody>
                  <a:tcPr anchor="ctr">
                    <a:lnL>
                      <a:noFill/>
                    </a:lnL>
                    <a:lnR>
                      <a:noFill/>
                    </a:lnR>
                    <a:lnT>
                      <a:noFill/>
                    </a:lnT>
                    <a:lnB>
                      <a:noFill/>
                    </a:lnB>
                  </a:tcPr>
                </a:tc>
                <a:extLst>
                  <a:ext uri="{0D108BD9-81ED-4DB2-BD59-A6C34878D82A}">
                    <a16:rowId xmlns:a16="http://schemas.microsoft.com/office/drawing/2014/main" val="101645120"/>
                  </a:ext>
                </a:extLst>
              </a:tr>
              <a:tr h="0">
                <a:tc>
                  <a:txBody>
                    <a:bodyPr/>
                    <a:lstStyle/>
                    <a:p>
                      <a:r>
                        <a:rPr lang="en-IN" sz="1400" b="1"/>
                        <a:t>min()</a:t>
                      </a:r>
                    </a:p>
                  </a:txBody>
                  <a:tcPr anchor="ctr">
                    <a:lnL>
                      <a:noFill/>
                    </a:lnL>
                    <a:lnR>
                      <a:noFill/>
                    </a:lnR>
                    <a:lnT>
                      <a:noFill/>
                    </a:lnT>
                    <a:lnB>
                      <a:noFill/>
                    </a:lnB>
                  </a:tcPr>
                </a:tc>
                <a:tc>
                  <a:txBody>
                    <a:bodyPr/>
                    <a:lstStyle/>
                    <a:p>
                      <a:r>
                        <a:rPr lang="en-IN" sz="1400" b="1"/>
                        <a:t>Returns minimum</a:t>
                      </a:r>
                    </a:p>
                  </a:txBody>
                  <a:tcPr anchor="ctr">
                    <a:lnL>
                      <a:noFill/>
                    </a:lnL>
                    <a:lnR>
                      <a:noFill/>
                    </a:lnR>
                    <a:lnT>
                      <a:noFill/>
                    </a:lnT>
                    <a:lnB>
                      <a:noFill/>
                    </a:lnB>
                  </a:tcPr>
                </a:tc>
                <a:tc>
                  <a:txBody>
                    <a:bodyPr/>
                    <a:lstStyle/>
                    <a:p>
                      <a:r>
                        <a:rPr lang="en-IN" sz="1400" b="1" dirty="0" err="1"/>
                        <a:t>Integer.min</a:t>
                      </a:r>
                      <a:r>
                        <a:rPr lang="en-IN" sz="1400" b="1" dirty="0"/>
                        <a:t>(10,20)</a:t>
                      </a:r>
                    </a:p>
                  </a:txBody>
                  <a:tcPr anchor="ctr">
                    <a:lnL>
                      <a:noFill/>
                    </a:lnL>
                    <a:lnR>
                      <a:noFill/>
                    </a:lnR>
                    <a:lnT>
                      <a:noFill/>
                    </a:lnT>
                    <a:lnB>
                      <a:noFill/>
                    </a:lnB>
                  </a:tcPr>
                </a:tc>
                <a:extLst>
                  <a:ext uri="{0D108BD9-81ED-4DB2-BD59-A6C34878D82A}">
                    <a16:rowId xmlns:a16="http://schemas.microsoft.com/office/drawing/2014/main" val="2588217579"/>
                  </a:ext>
                </a:extLst>
              </a:tr>
            </a:tbl>
          </a:graphicData>
        </a:graphic>
      </p:graphicFrame>
      <p:sp>
        <p:nvSpPr>
          <p:cNvPr id="6" name="Rectangle 5"/>
          <p:cNvSpPr/>
          <p:nvPr/>
        </p:nvSpPr>
        <p:spPr>
          <a:xfrm>
            <a:off x="228600" y="4931289"/>
            <a:ext cx="8534400" cy="1754326"/>
          </a:xfrm>
          <a:prstGeom prst="rect">
            <a:avLst/>
          </a:prstGeom>
        </p:spPr>
        <p:txBody>
          <a:bodyPr wrap="square">
            <a:spAutoFit/>
          </a:bodyPr>
          <a:lstStyle/>
          <a:p>
            <a:r>
              <a:rPr lang="en-IN" b="1" dirty="0"/>
              <a:t>Advantages of Wrapper </a:t>
            </a:r>
            <a:r>
              <a:rPr lang="en-IN" b="1" dirty="0" smtClean="0"/>
              <a:t>Classes</a:t>
            </a:r>
          </a:p>
          <a:p>
            <a:r>
              <a:rPr lang="en-IN" b="1" dirty="0" smtClean="0"/>
              <a:t>Used </a:t>
            </a:r>
            <a:r>
              <a:rPr lang="en-IN" b="1" dirty="0"/>
              <a:t>in Java Collections (</a:t>
            </a:r>
            <a:r>
              <a:rPr lang="en-IN" b="1" dirty="0" err="1"/>
              <a:t>ArrayList</a:t>
            </a:r>
            <a:r>
              <a:rPr lang="en-IN" b="1" dirty="0"/>
              <a:t>, </a:t>
            </a:r>
            <a:r>
              <a:rPr lang="en-IN" b="1" dirty="0" err="1"/>
              <a:t>HashMap</a:t>
            </a:r>
            <a:r>
              <a:rPr lang="en-IN" b="1" dirty="0"/>
              <a:t>, etc</a:t>
            </a:r>
            <a:r>
              <a:rPr lang="en-IN" b="1" dirty="0" smtClean="0"/>
              <a:t>.)</a:t>
            </a:r>
          </a:p>
          <a:p>
            <a:r>
              <a:rPr lang="en-IN" b="1" dirty="0" smtClean="0"/>
              <a:t>Supports </a:t>
            </a:r>
            <a:r>
              <a:rPr lang="en-IN" b="1" dirty="0"/>
              <a:t>object-oriented programming</a:t>
            </a:r>
            <a:r>
              <a:rPr lang="en-IN" b="1" dirty="0" smtClean="0"/>
              <a:t>.</a:t>
            </a:r>
          </a:p>
          <a:p>
            <a:r>
              <a:rPr lang="en-IN" b="1" dirty="0" smtClean="0"/>
              <a:t>Provides </a:t>
            </a:r>
            <a:r>
              <a:rPr lang="en-IN" b="1" dirty="0"/>
              <a:t>useful utility methods</a:t>
            </a:r>
            <a:r>
              <a:rPr lang="en-IN" b="1" dirty="0" smtClean="0"/>
              <a:t>.</a:t>
            </a:r>
          </a:p>
          <a:p>
            <a:r>
              <a:rPr lang="en-IN" b="1" dirty="0" smtClean="0"/>
              <a:t>Enables </a:t>
            </a:r>
            <a:r>
              <a:rPr lang="en-IN" b="1" dirty="0"/>
              <a:t>automatic boxing and unboxing</a:t>
            </a:r>
            <a:r>
              <a:rPr lang="en-IN" b="1" dirty="0" smtClean="0"/>
              <a:t>.</a:t>
            </a:r>
          </a:p>
          <a:p>
            <a:r>
              <a:rPr lang="en-IN" b="1" dirty="0" smtClean="0"/>
              <a:t>Helps </a:t>
            </a:r>
            <a:r>
              <a:rPr lang="en-IN" b="1" dirty="0"/>
              <a:t>in converting between String and primitive types.</a:t>
            </a:r>
          </a:p>
        </p:txBody>
      </p:sp>
    </p:spTree>
    <p:extLst>
      <p:ext uri="{BB962C8B-B14F-4D97-AF65-F5344CB8AC3E}">
        <p14:creationId xmlns:p14="http://schemas.microsoft.com/office/powerpoint/2010/main" val="380164841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9" name="Rectangle 2"/>
          <p:cNvSpPr>
            <a:spLocks noGrp="1" noChangeArrowheads="1"/>
          </p:cNvSpPr>
          <p:nvPr>
            <p:ph type="title" idx="4294967295"/>
          </p:nvPr>
        </p:nvSpPr>
        <p:spPr>
          <a:xfrm>
            <a:off x="0" y="228600"/>
            <a:ext cx="8610600" cy="609600"/>
          </a:xfrm>
        </p:spPr>
        <p:txBody>
          <a:bodyPr rtlCol="0">
            <a:normAutofit fontScale="90000"/>
          </a:bodyPr>
          <a:lstStyle/>
          <a:p>
            <a:pPr eaLnBrk="1" fontAlgn="auto" hangingPunct="1">
              <a:spcAft>
                <a:spcPts val="0"/>
              </a:spcAft>
              <a:defRPr/>
            </a:pPr>
            <a:r>
              <a:rPr lang="en-US" smtClean="0"/>
              <a:t>The </a:t>
            </a:r>
            <a:r>
              <a:rPr lang="en-US" sz="4200" smtClean="0">
                <a:latin typeface="Courier New" pitchFamily="49" charset="0"/>
              </a:rPr>
              <a:t>Integer</a:t>
            </a:r>
            <a:r>
              <a:rPr lang="en-US" smtClean="0"/>
              <a:t> and </a:t>
            </a:r>
            <a:r>
              <a:rPr lang="en-US" sz="4200" smtClean="0">
                <a:latin typeface="Courier New" pitchFamily="49" charset="0"/>
              </a:rPr>
              <a:t>Double</a:t>
            </a:r>
            <a:r>
              <a:rPr lang="en-US" smtClean="0"/>
              <a:t> Classes</a:t>
            </a:r>
          </a:p>
        </p:txBody>
      </p:sp>
      <p:sp>
        <p:nvSpPr>
          <p:cNvPr id="2052" name="Slide Number Placeholder 4"/>
          <p:cNvSpPr txBox="1">
            <a:spLocks noGrp="1"/>
          </p:cNvSpPr>
          <p:nvPr/>
        </p:nvSpPr>
        <p:spPr bwMode="auto">
          <a:xfrm>
            <a:off x="6553200" y="6399213"/>
            <a:ext cx="1905000" cy="457200"/>
          </a:xfrm>
          <a:prstGeom prst="rect">
            <a:avLst/>
          </a:prstGeom>
          <a:noFill/>
          <a:ln w="9525">
            <a:noFill/>
            <a:miter lim="800000"/>
            <a:headEnd/>
            <a:tailEnd/>
          </a:ln>
        </p:spPr>
        <p:txBody>
          <a:bodyPr wrap="none" lIns="92075" tIns="46038" rIns="92075" bIns="46038" anchor="ctr"/>
          <a:lstStyle/>
          <a:p>
            <a:pPr algn="r"/>
            <a:fld id="{38028E63-3CDC-447F-AA54-55B827BC857D}" type="slidenum">
              <a:rPr lang="en-US" sz="1400">
                <a:latin typeface="Calibri" pitchFamily="34" charset="0"/>
              </a:rPr>
              <a:pPr algn="r"/>
              <a:t>47</a:t>
            </a:fld>
            <a:endParaRPr lang="en-US" sz="1400">
              <a:latin typeface="Calibri" pitchFamily="34" charset="0"/>
            </a:endParaRPr>
          </a:p>
        </p:txBody>
      </p:sp>
      <p:sp>
        <p:nvSpPr>
          <p:cNvPr id="2053" name="Rectangle 6"/>
          <p:cNvSpPr>
            <a:spLocks noChangeArrowheads="1"/>
          </p:cNvSpPr>
          <p:nvPr/>
        </p:nvSpPr>
        <p:spPr bwMode="auto">
          <a:xfrm>
            <a:off x="2743200" y="1885950"/>
            <a:ext cx="9144000" cy="0"/>
          </a:xfrm>
          <a:prstGeom prst="rect">
            <a:avLst/>
          </a:prstGeom>
          <a:noFill/>
          <a:ln w="12700">
            <a:noFill/>
            <a:miter lim="800000"/>
            <a:headEnd type="none" w="sm" len="sm"/>
            <a:tailEnd type="none" w="sm" len="sm"/>
          </a:ln>
        </p:spPr>
        <p:txBody>
          <a:bodyPr>
            <a:spAutoFit/>
          </a:bodyPr>
          <a:lstStyle/>
          <a:p>
            <a:endParaRPr lang="tr-TR">
              <a:latin typeface="Calibri" pitchFamily="34" charset="0"/>
            </a:endParaRPr>
          </a:p>
        </p:txBody>
      </p:sp>
      <p:sp>
        <p:nvSpPr>
          <p:cNvPr id="2054" name="Rectangle 8"/>
          <p:cNvSpPr>
            <a:spLocks noChangeArrowheads="1"/>
          </p:cNvSpPr>
          <p:nvPr/>
        </p:nvSpPr>
        <p:spPr bwMode="auto">
          <a:xfrm>
            <a:off x="2743200" y="1885950"/>
            <a:ext cx="9144000" cy="0"/>
          </a:xfrm>
          <a:prstGeom prst="rect">
            <a:avLst/>
          </a:prstGeom>
          <a:noFill/>
          <a:ln w="12700">
            <a:noFill/>
            <a:miter lim="800000"/>
            <a:headEnd type="none" w="sm" len="sm"/>
            <a:tailEnd type="none" w="sm" len="sm"/>
          </a:ln>
        </p:spPr>
        <p:txBody>
          <a:bodyPr>
            <a:spAutoFit/>
          </a:bodyPr>
          <a:lstStyle/>
          <a:p>
            <a:endParaRPr lang="tr-TR">
              <a:latin typeface="Calibri" pitchFamily="34" charset="0"/>
            </a:endParaRPr>
          </a:p>
        </p:txBody>
      </p:sp>
      <p:sp>
        <p:nvSpPr>
          <p:cNvPr id="2055" name="Rectangle 10"/>
          <p:cNvSpPr>
            <a:spLocks noChangeArrowheads="1"/>
          </p:cNvSpPr>
          <p:nvPr/>
        </p:nvSpPr>
        <p:spPr bwMode="auto">
          <a:xfrm>
            <a:off x="2628900" y="1885950"/>
            <a:ext cx="9144000" cy="0"/>
          </a:xfrm>
          <a:prstGeom prst="rect">
            <a:avLst/>
          </a:prstGeom>
          <a:noFill/>
          <a:ln w="12700">
            <a:noFill/>
            <a:miter lim="800000"/>
            <a:headEnd type="none" w="sm" len="sm"/>
            <a:tailEnd type="none" w="sm" len="sm"/>
          </a:ln>
        </p:spPr>
        <p:txBody>
          <a:bodyPr>
            <a:spAutoFit/>
          </a:bodyPr>
          <a:lstStyle/>
          <a:p>
            <a:endParaRPr lang="tr-TR">
              <a:latin typeface="Calibri" pitchFamily="34" charset="0"/>
            </a:endParaRPr>
          </a:p>
        </p:txBody>
      </p:sp>
      <p:graphicFrame>
        <p:nvGraphicFramePr>
          <p:cNvPr id="2050" name="Object 9"/>
          <p:cNvGraphicFramePr>
            <a:graphicFrameLocks noChangeAspect="1"/>
          </p:cNvGraphicFramePr>
          <p:nvPr/>
        </p:nvGraphicFramePr>
        <p:xfrm>
          <a:off x="762000" y="914400"/>
          <a:ext cx="6934200" cy="5507038"/>
        </p:xfrm>
        <a:graphic>
          <a:graphicData uri="http://schemas.openxmlformats.org/presentationml/2006/ole">
            <mc:AlternateContent xmlns:mc="http://schemas.openxmlformats.org/markup-compatibility/2006">
              <mc:Choice xmlns:v="urn:schemas-microsoft-com:vml" Requires="v">
                <p:oleObj spid="_x0000_s25640" r:id="rId3" imgW="3886200" imgH="3086100" progId="Word.Picture.8">
                  <p:embed/>
                </p:oleObj>
              </mc:Choice>
              <mc:Fallback>
                <p:oleObj r:id="rId3" imgW="3886200" imgH="3086100" progId="Word.Picture.8">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914400"/>
                        <a:ext cx="6934200" cy="5507038"/>
                      </a:xfrm>
                      <a:prstGeom prst="rect">
                        <a:avLst/>
                      </a:prstGeom>
                      <a:solidFill>
                        <a:schemeClr val="tx1"/>
                      </a:solidFill>
                    </p:spPr>
                  </p:pic>
                </p:oleObj>
              </mc:Fallback>
            </mc:AlternateContent>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smtClean="0"/>
              <a:t>Autoboxing and auto-unboxing</a:t>
            </a:r>
            <a:endParaRPr lang="en-IN" smtClean="0"/>
          </a:p>
        </p:txBody>
      </p:sp>
      <p:sp>
        <p:nvSpPr>
          <p:cNvPr id="3" name="Content Placeholder 2"/>
          <p:cNvSpPr>
            <a:spLocks noGrp="1"/>
          </p:cNvSpPr>
          <p:nvPr>
            <p:ph idx="1"/>
          </p:nvPr>
        </p:nvSpPr>
        <p:spPr/>
        <p:txBody>
          <a:bodyPr rtlCol="0">
            <a:normAutofit lnSpcReduction="10000"/>
          </a:bodyPr>
          <a:lstStyle/>
          <a:p>
            <a:pPr eaLnBrk="1" fontAlgn="auto" hangingPunct="1">
              <a:spcAft>
                <a:spcPts val="0"/>
              </a:spcAft>
              <a:defRPr/>
            </a:pPr>
            <a:r>
              <a:rPr lang="en-US" dirty="0" smtClean="0"/>
              <a:t>Auto boxing is a process by which a primitive type is automatically encapsulated(boxed) into its equivalent type wrapper.</a:t>
            </a:r>
          </a:p>
          <a:p>
            <a:pPr eaLnBrk="1" fontAlgn="auto" hangingPunct="1">
              <a:spcAft>
                <a:spcPts val="0"/>
              </a:spcAft>
              <a:buFont typeface="Arial" pitchFamily="34" charset="0"/>
              <a:buNone/>
              <a:defRPr/>
            </a:pPr>
            <a:r>
              <a:rPr lang="en-US" dirty="0" smtClean="0"/>
              <a:t>   </a:t>
            </a:r>
            <a:r>
              <a:rPr lang="en-US" dirty="0" err="1" smtClean="0"/>
              <a:t>eg</a:t>
            </a:r>
            <a:r>
              <a:rPr lang="en-US" dirty="0" smtClean="0"/>
              <a:t>:- </a:t>
            </a:r>
            <a:r>
              <a:rPr lang="en-US" b="1" i="1" dirty="0" smtClean="0"/>
              <a:t>Integer </a:t>
            </a:r>
            <a:r>
              <a:rPr lang="en-US" b="1" i="1" dirty="0" err="1" smtClean="0"/>
              <a:t>iob</a:t>
            </a:r>
            <a:r>
              <a:rPr lang="en-US" b="1" i="1" dirty="0" smtClean="0"/>
              <a:t>=100</a:t>
            </a:r>
            <a:r>
              <a:rPr lang="en-US" i="1" dirty="0" smtClean="0"/>
              <a:t>;</a:t>
            </a:r>
          </a:p>
          <a:p>
            <a:pPr eaLnBrk="1" fontAlgn="auto" hangingPunct="1">
              <a:spcAft>
                <a:spcPts val="0"/>
              </a:spcAft>
              <a:defRPr/>
            </a:pPr>
            <a:r>
              <a:rPr lang="en-US" dirty="0" smtClean="0"/>
              <a:t>Auto </a:t>
            </a:r>
            <a:r>
              <a:rPr lang="en-US" dirty="0" err="1" smtClean="0"/>
              <a:t>unboxing</a:t>
            </a:r>
            <a:r>
              <a:rPr lang="en-US" dirty="0" smtClean="0"/>
              <a:t> is a process by which the value of boxed object is automatically extracted(unboxed) from a type wrapper.</a:t>
            </a:r>
          </a:p>
          <a:p>
            <a:pPr eaLnBrk="1" fontAlgn="auto" hangingPunct="1">
              <a:spcAft>
                <a:spcPts val="0"/>
              </a:spcAft>
              <a:buFont typeface="Arial" pitchFamily="34" charset="0"/>
              <a:buNone/>
              <a:defRPr/>
            </a:pPr>
            <a:r>
              <a:rPr lang="en-US" dirty="0" smtClean="0"/>
              <a:t>  </a:t>
            </a:r>
            <a:r>
              <a:rPr lang="en-US" dirty="0" err="1" smtClean="0"/>
              <a:t>eg</a:t>
            </a:r>
            <a:r>
              <a:rPr lang="en-US" b="1" i="1" dirty="0" smtClean="0"/>
              <a:t>:- </a:t>
            </a:r>
            <a:r>
              <a:rPr lang="en-US" b="1" i="1" dirty="0" err="1" smtClean="0"/>
              <a:t>int</a:t>
            </a:r>
            <a:r>
              <a:rPr lang="en-US" b="1" i="1" dirty="0" smtClean="0"/>
              <a:t> I =</a:t>
            </a:r>
            <a:r>
              <a:rPr lang="en-US" b="1" i="1" dirty="0" err="1" smtClean="0"/>
              <a:t>iob</a:t>
            </a:r>
            <a:r>
              <a:rPr lang="en-US" b="1" i="1" dirty="0" smtClean="0"/>
              <a:t>;</a:t>
            </a:r>
          </a:p>
          <a:p>
            <a:pPr eaLnBrk="1" fontAlgn="auto" hangingPunct="1">
              <a:spcAft>
                <a:spcPts val="0"/>
              </a:spcAft>
              <a:buFont typeface="Arial" pitchFamily="34" charset="0"/>
              <a:buNone/>
              <a:defRPr/>
            </a:pPr>
            <a:r>
              <a:rPr lang="en-US" dirty="0" smtClean="0"/>
              <a:t> </a:t>
            </a:r>
            <a:endParaRPr lang="en-IN" dirty="0"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smtClean="0"/>
              <a:t>Autoboxing and auto-unboxing</a:t>
            </a:r>
            <a:endParaRPr lang="en-IN" smtClean="0"/>
          </a:p>
        </p:txBody>
      </p:sp>
      <p:sp>
        <p:nvSpPr>
          <p:cNvPr id="3" name="Content Placeholder 2"/>
          <p:cNvSpPr>
            <a:spLocks noGrp="1"/>
          </p:cNvSpPr>
          <p:nvPr>
            <p:ph idx="1"/>
          </p:nvPr>
        </p:nvSpPr>
        <p:spPr>
          <a:xfrm>
            <a:off x="457200" y="1600200"/>
            <a:ext cx="4724400" cy="4525963"/>
          </a:xfrm>
        </p:spPr>
        <p:txBody>
          <a:bodyPr rtlCol="0">
            <a:normAutofit fontScale="55000" lnSpcReduction="20000"/>
          </a:bodyPr>
          <a:lstStyle/>
          <a:p>
            <a:r>
              <a:rPr lang="en-IN" b="1" dirty="0" err="1"/>
              <a:t>Autoboxing</a:t>
            </a:r>
            <a:r>
              <a:rPr lang="en-IN" b="1" dirty="0"/>
              <a:t> (Java 5+)</a:t>
            </a:r>
          </a:p>
          <a:p>
            <a:r>
              <a:rPr lang="en-IN" dirty="0"/>
              <a:t>Java automatically converts primitive into wrapper object.</a:t>
            </a:r>
          </a:p>
          <a:p>
            <a:pPr>
              <a:buNone/>
              <a:defRPr/>
            </a:pPr>
            <a:endParaRPr lang="en-US" dirty="0" smtClean="0"/>
          </a:p>
          <a:p>
            <a:pPr>
              <a:buNone/>
              <a:defRPr/>
            </a:pPr>
            <a:r>
              <a:rPr lang="en-US" dirty="0" smtClean="0"/>
              <a:t>public </a:t>
            </a:r>
            <a:r>
              <a:rPr lang="en-US" dirty="0"/>
              <a:t>class </a:t>
            </a:r>
            <a:r>
              <a:rPr lang="en-US" dirty="0" err="1"/>
              <a:t>AutoBoxing</a:t>
            </a:r>
            <a:r>
              <a:rPr lang="en-US" dirty="0"/>
              <a:t> {</a:t>
            </a:r>
          </a:p>
          <a:p>
            <a:pPr>
              <a:buNone/>
              <a:defRPr/>
            </a:pPr>
            <a:endParaRPr lang="en-US" dirty="0"/>
          </a:p>
          <a:p>
            <a:pPr>
              <a:buNone/>
              <a:defRPr/>
            </a:pPr>
            <a:r>
              <a:rPr lang="en-US" dirty="0"/>
              <a:t>    public static void main(String[] </a:t>
            </a:r>
            <a:r>
              <a:rPr lang="en-US" dirty="0" err="1"/>
              <a:t>args</a:t>
            </a:r>
            <a:r>
              <a:rPr lang="en-US" dirty="0"/>
              <a:t>) {</a:t>
            </a:r>
          </a:p>
          <a:p>
            <a:pPr>
              <a:buNone/>
              <a:defRPr/>
            </a:pPr>
            <a:endParaRPr lang="en-US" dirty="0"/>
          </a:p>
          <a:p>
            <a:pPr>
              <a:buNone/>
              <a:defRPr/>
            </a:pPr>
            <a:r>
              <a:rPr lang="en-US" dirty="0"/>
              <a:t>        </a:t>
            </a:r>
            <a:r>
              <a:rPr lang="en-US" dirty="0" err="1"/>
              <a:t>int</a:t>
            </a:r>
            <a:r>
              <a:rPr lang="en-US" dirty="0"/>
              <a:t> </a:t>
            </a:r>
            <a:r>
              <a:rPr lang="en-US" dirty="0" err="1"/>
              <a:t>num</a:t>
            </a:r>
            <a:r>
              <a:rPr lang="en-US" dirty="0"/>
              <a:t> = 50;</a:t>
            </a:r>
          </a:p>
          <a:p>
            <a:pPr>
              <a:buNone/>
              <a:defRPr/>
            </a:pPr>
            <a:endParaRPr lang="en-US" dirty="0"/>
          </a:p>
          <a:p>
            <a:pPr>
              <a:buNone/>
              <a:defRPr/>
            </a:pPr>
            <a:r>
              <a:rPr lang="en-US" dirty="0"/>
              <a:t>        Integer </a:t>
            </a:r>
            <a:r>
              <a:rPr lang="en-US" dirty="0" err="1"/>
              <a:t>obj</a:t>
            </a:r>
            <a:r>
              <a:rPr lang="en-US" dirty="0"/>
              <a:t> = </a:t>
            </a:r>
            <a:r>
              <a:rPr lang="en-US" dirty="0" err="1"/>
              <a:t>num</a:t>
            </a:r>
            <a:r>
              <a:rPr lang="en-US" dirty="0"/>
              <a:t>;</a:t>
            </a:r>
          </a:p>
          <a:p>
            <a:pPr>
              <a:buNone/>
              <a:defRPr/>
            </a:pPr>
            <a:endParaRPr lang="en-US" dirty="0"/>
          </a:p>
          <a:p>
            <a:pPr>
              <a:buNone/>
              <a:defRPr/>
            </a:pPr>
            <a:r>
              <a:rPr lang="en-US" dirty="0"/>
              <a:t>        </a:t>
            </a:r>
            <a:r>
              <a:rPr lang="en-US" dirty="0" err="1"/>
              <a:t>System.out.println</a:t>
            </a:r>
            <a:r>
              <a:rPr lang="en-US" dirty="0"/>
              <a:t>(</a:t>
            </a:r>
            <a:r>
              <a:rPr lang="en-US" dirty="0" err="1"/>
              <a:t>obj</a:t>
            </a:r>
            <a:r>
              <a:rPr lang="en-US" dirty="0"/>
              <a:t>);</a:t>
            </a:r>
          </a:p>
          <a:p>
            <a:pPr>
              <a:buNone/>
              <a:defRPr/>
            </a:pPr>
            <a:r>
              <a:rPr lang="en-US" dirty="0"/>
              <a:t>    }</a:t>
            </a:r>
          </a:p>
          <a:p>
            <a:pPr>
              <a:buNone/>
              <a:defRPr/>
            </a:pPr>
            <a:r>
              <a:rPr lang="en-US" dirty="0"/>
              <a:t>} </a:t>
            </a:r>
            <a:endParaRPr lang="en-IN" dirty="0" smtClean="0"/>
          </a:p>
        </p:txBody>
      </p:sp>
      <p:sp>
        <p:nvSpPr>
          <p:cNvPr id="2" name="Rectangle 1"/>
          <p:cNvSpPr/>
          <p:nvPr/>
        </p:nvSpPr>
        <p:spPr>
          <a:xfrm>
            <a:off x="5002823" y="2155845"/>
            <a:ext cx="3683977" cy="3970318"/>
          </a:xfrm>
          <a:prstGeom prst="rect">
            <a:avLst/>
          </a:prstGeom>
        </p:spPr>
        <p:txBody>
          <a:bodyPr wrap="square">
            <a:spAutoFit/>
          </a:bodyPr>
          <a:lstStyle/>
          <a:p>
            <a:endParaRPr lang="en-US" b="1" dirty="0" smtClean="0"/>
          </a:p>
          <a:p>
            <a:r>
              <a:rPr lang="en-US" b="1" dirty="0"/>
              <a:t>public class </a:t>
            </a:r>
            <a:r>
              <a:rPr lang="en-US" b="1" dirty="0" err="1"/>
              <a:t>AutoUnboxing</a:t>
            </a:r>
            <a:r>
              <a:rPr lang="en-US" b="1" dirty="0"/>
              <a:t> {</a:t>
            </a:r>
          </a:p>
          <a:p>
            <a:endParaRPr lang="en-US" b="1" dirty="0"/>
          </a:p>
          <a:p>
            <a:r>
              <a:rPr lang="en-US" b="1" dirty="0"/>
              <a:t>    public static void main(String[] </a:t>
            </a:r>
            <a:r>
              <a:rPr lang="en-US" b="1" dirty="0" err="1"/>
              <a:t>args</a:t>
            </a:r>
            <a:r>
              <a:rPr lang="en-US" b="1" dirty="0"/>
              <a:t>) {</a:t>
            </a:r>
          </a:p>
          <a:p>
            <a:endParaRPr lang="en-US" b="1" dirty="0"/>
          </a:p>
          <a:p>
            <a:r>
              <a:rPr lang="en-US" b="1" dirty="0"/>
              <a:t>        Integer </a:t>
            </a:r>
            <a:r>
              <a:rPr lang="en-US" b="1" dirty="0" err="1"/>
              <a:t>obj</a:t>
            </a:r>
            <a:r>
              <a:rPr lang="en-US" b="1" dirty="0"/>
              <a:t> = 75;</a:t>
            </a:r>
          </a:p>
          <a:p>
            <a:endParaRPr lang="en-US" b="1" dirty="0"/>
          </a:p>
          <a:p>
            <a:r>
              <a:rPr lang="en-US" b="1" dirty="0"/>
              <a:t>        </a:t>
            </a:r>
            <a:r>
              <a:rPr lang="en-US" b="1" dirty="0" err="1"/>
              <a:t>int</a:t>
            </a:r>
            <a:r>
              <a:rPr lang="en-US" b="1" dirty="0"/>
              <a:t> </a:t>
            </a:r>
            <a:r>
              <a:rPr lang="en-US" b="1" dirty="0" err="1"/>
              <a:t>num</a:t>
            </a:r>
            <a:r>
              <a:rPr lang="en-US" b="1" dirty="0"/>
              <a:t> = </a:t>
            </a:r>
            <a:r>
              <a:rPr lang="en-US" b="1" dirty="0" err="1"/>
              <a:t>obj</a:t>
            </a:r>
            <a:r>
              <a:rPr lang="en-US" b="1" dirty="0"/>
              <a:t>;</a:t>
            </a:r>
          </a:p>
          <a:p>
            <a:endParaRPr lang="en-US" b="1" dirty="0"/>
          </a:p>
          <a:p>
            <a:r>
              <a:rPr lang="en-US" b="1" dirty="0"/>
              <a:t>        </a:t>
            </a:r>
            <a:r>
              <a:rPr lang="en-US" b="1" dirty="0" err="1"/>
              <a:t>System.out.println</a:t>
            </a:r>
            <a:r>
              <a:rPr lang="en-US" b="1" dirty="0"/>
              <a:t>(</a:t>
            </a:r>
            <a:r>
              <a:rPr lang="en-US" b="1" dirty="0" err="1"/>
              <a:t>num</a:t>
            </a:r>
            <a:r>
              <a:rPr lang="en-US" b="1" dirty="0"/>
              <a:t>);</a:t>
            </a:r>
          </a:p>
          <a:p>
            <a:r>
              <a:rPr lang="en-US" b="1" dirty="0"/>
              <a:t>    }</a:t>
            </a:r>
          </a:p>
          <a:p>
            <a:r>
              <a:rPr lang="en-US" b="1" dirty="0"/>
              <a:t>}</a:t>
            </a:r>
          </a:p>
          <a:p>
            <a:endParaRPr lang="en-US" b="1" dirty="0" smtClean="0"/>
          </a:p>
        </p:txBody>
      </p:sp>
    </p:spTree>
    <p:extLst>
      <p:ext uri="{BB962C8B-B14F-4D97-AF65-F5344CB8AC3E}">
        <p14:creationId xmlns:p14="http://schemas.microsoft.com/office/powerpoint/2010/main" val="233892807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Common Methods of Wrapper Classes</a:t>
            </a:r>
            <a:endParaRPr lang="en-IN" dirty="0"/>
          </a:p>
        </p:txBody>
      </p:sp>
      <p:graphicFrame>
        <p:nvGraphicFramePr>
          <p:cNvPr id="4" name="Content Placeholder 3"/>
          <p:cNvGraphicFramePr>
            <a:graphicFrameLocks noGrp="1"/>
          </p:cNvGraphicFramePr>
          <p:nvPr>
            <p:ph idx="1"/>
          </p:nvPr>
        </p:nvGraphicFramePr>
        <p:xfrm>
          <a:off x="457200" y="2445861"/>
          <a:ext cx="8229600" cy="2834640"/>
        </p:xfrm>
        <a:graphic>
          <a:graphicData uri="http://schemas.openxmlformats.org/drawingml/2006/table">
            <a:tbl>
              <a:tblPr/>
              <a:tblGrid>
                <a:gridCol w="2743200">
                  <a:extLst>
                    <a:ext uri="{9D8B030D-6E8A-4147-A177-3AD203B41FA5}">
                      <a16:colId xmlns:a16="http://schemas.microsoft.com/office/drawing/2014/main" val="2123988049"/>
                    </a:ext>
                  </a:extLst>
                </a:gridCol>
                <a:gridCol w="2743200">
                  <a:extLst>
                    <a:ext uri="{9D8B030D-6E8A-4147-A177-3AD203B41FA5}">
                      <a16:colId xmlns:a16="http://schemas.microsoft.com/office/drawing/2014/main" val="1177537604"/>
                    </a:ext>
                  </a:extLst>
                </a:gridCol>
                <a:gridCol w="2743200">
                  <a:extLst>
                    <a:ext uri="{9D8B030D-6E8A-4147-A177-3AD203B41FA5}">
                      <a16:colId xmlns:a16="http://schemas.microsoft.com/office/drawing/2014/main" val="1880141485"/>
                    </a:ext>
                  </a:extLst>
                </a:gridCol>
              </a:tblGrid>
              <a:tr h="0">
                <a:tc>
                  <a:txBody>
                    <a:bodyPr/>
                    <a:lstStyle/>
                    <a:p>
                      <a:r>
                        <a:rPr lang="en-IN"/>
                        <a:t>Method</a:t>
                      </a:r>
                    </a:p>
                  </a:txBody>
                  <a:tcPr anchor="ctr">
                    <a:lnL>
                      <a:noFill/>
                    </a:lnL>
                    <a:lnR>
                      <a:noFill/>
                    </a:lnR>
                    <a:lnT>
                      <a:noFill/>
                    </a:lnT>
                    <a:lnB>
                      <a:noFill/>
                    </a:lnB>
                  </a:tcPr>
                </a:tc>
                <a:tc>
                  <a:txBody>
                    <a:bodyPr/>
                    <a:lstStyle/>
                    <a:p>
                      <a:r>
                        <a:rPr lang="en-IN"/>
                        <a:t>Description</a:t>
                      </a:r>
                    </a:p>
                  </a:txBody>
                  <a:tcPr anchor="ctr">
                    <a:lnL>
                      <a:noFill/>
                    </a:lnL>
                    <a:lnR>
                      <a:noFill/>
                    </a:lnR>
                    <a:lnT>
                      <a:noFill/>
                    </a:lnT>
                    <a:lnB>
                      <a:noFill/>
                    </a:lnB>
                  </a:tcPr>
                </a:tc>
                <a:tc>
                  <a:txBody>
                    <a:bodyPr/>
                    <a:lstStyle/>
                    <a:p>
                      <a:r>
                        <a:rPr lang="en-IN"/>
                        <a:t>Example</a:t>
                      </a:r>
                    </a:p>
                  </a:txBody>
                  <a:tcPr anchor="ctr">
                    <a:lnL>
                      <a:noFill/>
                    </a:lnL>
                    <a:lnR>
                      <a:noFill/>
                    </a:lnR>
                    <a:lnT>
                      <a:noFill/>
                    </a:lnT>
                    <a:lnB>
                      <a:noFill/>
                    </a:lnB>
                  </a:tcPr>
                </a:tc>
                <a:extLst>
                  <a:ext uri="{0D108BD9-81ED-4DB2-BD59-A6C34878D82A}">
                    <a16:rowId xmlns:a16="http://schemas.microsoft.com/office/drawing/2014/main" val="2631332599"/>
                  </a:ext>
                </a:extLst>
              </a:tr>
              <a:tr h="0">
                <a:tc>
                  <a:txBody>
                    <a:bodyPr/>
                    <a:lstStyle/>
                    <a:p>
                      <a:r>
                        <a:rPr lang="en-IN"/>
                        <a:t>parseInt()</a:t>
                      </a:r>
                    </a:p>
                  </a:txBody>
                  <a:tcPr anchor="ctr">
                    <a:lnL>
                      <a:noFill/>
                    </a:lnL>
                    <a:lnR>
                      <a:noFill/>
                    </a:lnR>
                    <a:lnT>
                      <a:noFill/>
                    </a:lnT>
                    <a:lnB>
                      <a:noFill/>
                    </a:lnB>
                  </a:tcPr>
                </a:tc>
                <a:tc>
                  <a:txBody>
                    <a:bodyPr/>
                    <a:lstStyle/>
                    <a:p>
                      <a:r>
                        <a:rPr lang="en-IN"/>
                        <a:t>Converts String to int</a:t>
                      </a:r>
                    </a:p>
                  </a:txBody>
                  <a:tcPr anchor="ctr">
                    <a:lnL>
                      <a:noFill/>
                    </a:lnL>
                    <a:lnR>
                      <a:noFill/>
                    </a:lnR>
                    <a:lnT>
                      <a:noFill/>
                    </a:lnT>
                    <a:lnB>
                      <a:noFill/>
                    </a:lnB>
                  </a:tcPr>
                </a:tc>
                <a:tc>
                  <a:txBody>
                    <a:bodyPr/>
                    <a:lstStyle/>
                    <a:p>
                      <a:r>
                        <a:rPr lang="en-IN"/>
                        <a:t>Integer.parseInt("123")</a:t>
                      </a:r>
                    </a:p>
                  </a:txBody>
                  <a:tcPr anchor="ctr">
                    <a:lnL>
                      <a:noFill/>
                    </a:lnL>
                    <a:lnR>
                      <a:noFill/>
                    </a:lnR>
                    <a:lnT>
                      <a:noFill/>
                    </a:lnT>
                    <a:lnB>
                      <a:noFill/>
                    </a:lnB>
                  </a:tcPr>
                </a:tc>
                <a:extLst>
                  <a:ext uri="{0D108BD9-81ED-4DB2-BD59-A6C34878D82A}">
                    <a16:rowId xmlns:a16="http://schemas.microsoft.com/office/drawing/2014/main" val="4007280343"/>
                  </a:ext>
                </a:extLst>
              </a:tr>
              <a:tr h="0">
                <a:tc>
                  <a:txBody>
                    <a:bodyPr/>
                    <a:lstStyle/>
                    <a:p>
                      <a:r>
                        <a:rPr lang="en-IN"/>
                        <a:t>valueOf()</a:t>
                      </a:r>
                    </a:p>
                  </a:txBody>
                  <a:tcPr anchor="ctr">
                    <a:lnL>
                      <a:noFill/>
                    </a:lnL>
                    <a:lnR>
                      <a:noFill/>
                    </a:lnR>
                    <a:lnT>
                      <a:noFill/>
                    </a:lnT>
                    <a:lnB>
                      <a:noFill/>
                    </a:lnB>
                  </a:tcPr>
                </a:tc>
                <a:tc>
                  <a:txBody>
                    <a:bodyPr/>
                    <a:lstStyle/>
                    <a:p>
                      <a:r>
                        <a:rPr lang="en-US"/>
                        <a:t>Converts primitive/String to wrapper object</a:t>
                      </a:r>
                    </a:p>
                  </a:txBody>
                  <a:tcPr anchor="ctr">
                    <a:lnL>
                      <a:noFill/>
                    </a:lnL>
                    <a:lnR>
                      <a:noFill/>
                    </a:lnR>
                    <a:lnT>
                      <a:noFill/>
                    </a:lnT>
                    <a:lnB>
                      <a:noFill/>
                    </a:lnB>
                  </a:tcPr>
                </a:tc>
                <a:tc>
                  <a:txBody>
                    <a:bodyPr/>
                    <a:lstStyle/>
                    <a:p>
                      <a:r>
                        <a:rPr lang="en-IN"/>
                        <a:t>Integer.valueOf(100)</a:t>
                      </a:r>
                    </a:p>
                  </a:txBody>
                  <a:tcPr anchor="ctr">
                    <a:lnL>
                      <a:noFill/>
                    </a:lnL>
                    <a:lnR>
                      <a:noFill/>
                    </a:lnR>
                    <a:lnT>
                      <a:noFill/>
                    </a:lnT>
                    <a:lnB>
                      <a:noFill/>
                    </a:lnB>
                  </a:tcPr>
                </a:tc>
                <a:extLst>
                  <a:ext uri="{0D108BD9-81ED-4DB2-BD59-A6C34878D82A}">
                    <a16:rowId xmlns:a16="http://schemas.microsoft.com/office/drawing/2014/main" val="222554645"/>
                  </a:ext>
                </a:extLst>
              </a:tr>
              <a:tr h="0">
                <a:tc>
                  <a:txBody>
                    <a:bodyPr/>
                    <a:lstStyle/>
                    <a:p>
                      <a:r>
                        <a:rPr lang="en-IN"/>
                        <a:t>toString()</a:t>
                      </a:r>
                    </a:p>
                  </a:txBody>
                  <a:tcPr anchor="ctr">
                    <a:lnL>
                      <a:noFill/>
                    </a:lnL>
                    <a:lnR>
                      <a:noFill/>
                    </a:lnR>
                    <a:lnT>
                      <a:noFill/>
                    </a:lnT>
                    <a:lnB>
                      <a:noFill/>
                    </a:lnB>
                  </a:tcPr>
                </a:tc>
                <a:tc>
                  <a:txBody>
                    <a:bodyPr/>
                    <a:lstStyle/>
                    <a:p>
                      <a:r>
                        <a:rPr lang="en-IN"/>
                        <a:t>Converts number to String</a:t>
                      </a:r>
                    </a:p>
                  </a:txBody>
                  <a:tcPr anchor="ctr">
                    <a:lnL>
                      <a:noFill/>
                    </a:lnL>
                    <a:lnR>
                      <a:noFill/>
                    </a:lnR>
                    <a:lnT>
                      <a:noFill/>
                    </a:lnT>
                    <a:lnB>
                      <a:noFill/>
                    </a:lnB>
                  </a:tcPr>
                </a:tc>
                <a:tc>
                  <a:txBody>
                    <a:bodyPr/>
                    <a:lstStyle/>
                    <a:p>
                      <a:r>
                        <a:rPr lang="en-IN"/>
                        <a:t>Integer.toString(100)</a:t>
                      </a:r>
                    </a:p>
                  </a:txBody>
                  <a:tcPr anchor="ctr">
                    <a:lnL>
                      <a:noFill/>
                    </a:lnL>
                    <a:lnR>
                      <a:noFill/>
                    </a:lnR>
                    <a:lnT>
                      <a:noFill/>
                    </a:lnT>
                    <a:lnB>
                      <a:noFill/>
                    </a:lnB>
                  </a:tcPr>
                </a:tc>
                <a:extLst>
                  <a:ext uri="{0D108BD9-81ED-4DB2-BD59-A6C34878D82A}">
                    <a16:rowId xmlns:a16="http://schemas.microsoft.com/office/drawing/2014/main" val="3385596947"/>
                  </a:ext>
                </a:extLst>
              </a:tr>
              <a:tr h="0">
                <a:tc>
                  <a:txBody>
                    <a:bodyPr/>
                    <a:lstStyle/>
                    <a:p>
                      <a:r>
                        <a:rPr lang="en-IN"/>
                        <a:t>compare()</a:t>
                      </a:r>
                    </a:p>
                  </a:txBody>
                  <a:tcPr anchor="ctr">
                    <a:lnL>
                      <a:noFill/>
                    </a:lnL>
                    <a:lnR>
                      <a:noFill/>
                    </a:lnR>
                    <a:lnT>
                      <a:noFill/>
                    </a:lnT>
                    <a:lnB>
                      <a:noFill/>
                    </a:lnB>
                  </a:tcPr>
                </a:tc>
                <a:tc>
                  <a:txBody>
                    <a:bodyPr/>
                    <a:lstStyle/>
                    <a:p>
                      <a:r>
                        <a:rPr lang="en-IN"/>
                        <a:t>Compares two values</a:t>
                      </a:r>
                    </a:p>
                  </a:txBody>
                  <a:tcPr anchor="ctr">
                    <a:lnL>
                      <a:noFill/>
                    </a:lnL>
                    <a:lnR>
                      <a:noFill/>
                    </a:lnR>
                    <a:lnT>
                      <a:noFill/>
                    </a:lnT>
                    <a:lnB>
                      <a:noFill/>
                    </a:lnB>
                  </a:tcPr>
                </a:tc>
                <a:tc>
                  <a:txBody>
                    <a:bodyPr/>
                    <a:lstStyle/>
                    <a:p>
                      <a:r>
                        <a:rPr lang="en-IN"/>
                        <a:t>Integer.compare(10,20)</a:t>
                      </a:r>
                    </a:p>
                  </a:txBody>
                  <a:tcPr anchor="ctr">
                    <a:lnL>
                      <a:noFill/>
                    </a:lnL>
                    <a:lnR>
                      <a:noFill/>
                    </a:lnR>
                    <a:lnT>
                      <a:noFill/>
                    </a:lnT>
                    <a:lnB>
                      <a:noFill/>
                    </a:lnB>
                  </a:tcPr>
                </a:tc>
                <a:extLst>
                  <a:ext uri="{0D108BD9-81ED-4DB2-BD59-A6C34878D82A}">
                    <a16:rowId xmlns:a16="http://schemas.microsoft.com/office/drawing/2014/main" val="165887488"/>
                  </a:ext>
                </a:extLst>
              </a:tr>
              <a:tr h="0">
                <a:tc>
                  <a:txBody>
                    <a:bodyPr/>
                    <a:lstStyle/>
                    <a:p>
                      <a:r>
                        <a:rPr lang="en-IN"/>
                        <a:t>max()</a:t>
                      </a:r>
                    </a:p>
                  </a:txBody>
                  <a:tcPr anchor="ctr">
                    <a:lnL>
                      <a:noFill/>
                    </a:lnL>
                    <a:lnR>
                      <a:noFill/>
                    </a:lnR>
                    <a:lnT>
                      <a:noFill/>
                    </a:lnT>
                    <a:lnB>
                      <a:noFill/>
                    </a:lnB>
                  </a:tcPr>
                </a:tc>
                <a:tc>
                  <a:txBody>
                    <a:bodyPr/>
                    <a:lstStyle/>
                    <a:p>
                      <a:r>
                        <a:rPr lang="en-IN"/>
                        <a:t>Returns maximum</a:t>
                      </a:r>
                    </a:p>
                  </a:txBody>
                  <a:tcPr anchor="ctr">
                    <a:lnL>
                      <a:noFill/>
                    </a:lnL>
                    <a:lnR>
                      <a:noFill/>
                    </a:lnR>
                    <a:lnT>
                      <a:noFill/>
                    </a:lnT>
                    <a:lnB>
                      <a:noFill/>
                    </a:lnB>
                  </a:tcPr>
                </a:tc>
                <a:tc>
                  <a:txBody>
                    <a:bodyPr/>
                    <a:lstStyle/>
                    <a:p>
                      <a:r>
                        <a:rPr lang="en-IN"/>
                        <a:t>Integer.max(10,20)</a:t>
                      </a:r>
                    </a:p>
                  </a:txBody>
                  <a:tcPr anchor="ctr">
                    <a:lnL>
                      <a:noFill/>
                    </a:lnL>
                    <a:lnR>
                      <a:noFill/>
                    </a:lnR>
                    <a:lnT>
                      <a:noFill/>
                    </a:lnT>
                    <a:lnB>
                      <a:noFill/>
                    </a:lnB>
                  </a:tcPr>
                </a:tc>
                <a:extLst>
                  <a:ext uri="{0D108BD9-81ED-4DB2-BD59-A6C34878D82A}">
                    <a16:rowId xmlns:a16="http://schemas.microsoft.com/office/drawing/2014/main" val="2425565875"/>
                  </a:ext>
                </a:extLst>
              </a:tr>
              <a:tr h="0">
                <a:tc>
                  <a:txBody>
                    <a:bodyPr/>
                    <a:lstStyle/>
                    <a:p>
                      <a:r>
                        <a:rPr lang="en-IN"/>
                        <a:t>min()</a:t>
                      </a:r>
                    </a:p>
                  </a:txBody>
                  <a:tcPr anchor="ctr">
                    <a:lnL>
                      <a:noFill/>
                    </a:lnL>
                    <a:lnR>
                      <a:noFill/>
                    </a:lnR>
                    <a:lnT>
                      <a:noFill/>
                    </a:lnT>
                    <a:lnB>
                      <a:noFill/>
                    </a:lnB>
                  </a:tcPr>
                </a:tc>
                <a:tc>
                  <a:txBody>
                    <a:bodyPr/>
                    <a:lstStyle/>
                    <a:p>
                      <a:r>
                        <a:rPr lang="en-IN"/>
                        <a:t>Returns minimum</a:t>
                      </a:r>
                    </a:p>
                  </a:txBody>
                  <a:tcPr anchor="ctr">
                    <a:lnL>
                      <a:noFill/>
                    </a:lnL>
                    <a:lnR>
                      <a:noFill/>
                    </a:lnR>
                    <a:lnT>
                      <a:noFill/>
                    </a:lnT>
                    <a:lnB>
                      <a:noFill/>
                    </a:lnB>
                  </a:tcPr>
                </a:tc>
                <a:tc>
                  <a:txBody>
                    <a:bodyPr/>
                    <a:lstStyle/>
                    <a:p>
                      <a:r>
                        <a:rPr lang="en-IN" dirty="0" err="1"/>
                        <a:t>Integer.min</a:t>
                      </a:r>
                      <a:r>
                        <a:rPr lang="en-IN" dirty="0"/>
                        <a:t>(10,20)</a:t>
                      </a:r>
                    </a:p>
                  </a:txBody>
                  <a:tcPr anchor="ctr">
                    <a:lnL>
                      <a:noFill/>
                    </a:lnL>
                    <a:lnR>
                      <a:noFill/>
                    </a:lnR>
                    <a:lnT>
                      <a:noFill/>
                    </a:lnT>
                    <a:lnB>
                      <a:noFill/>
                    </a:lnB>
                  </a:tcPr>
                </a:tc>
                <a:extLst>
                  <a:ext uri="{0D108BD9-81ED-4DB2-BD59-A6C34878D82A}">
                    <a16:rowId xmlns:a16="http://schemas.microsoft.com/office/drawing/2014/main" val="2358238561"/>
                  </a:ext>
                </a:extLst>
              </a:tr>
            </a:tbl>
          </a:graphicData>
        </a:graphic>
      </p:graphicFrame>
    </p:spTree>
    <p:extLst>
      <p:ext uri="{BB962C8B-B14F-4D97-AF65-F5344CB8AC3E}">
        <p14:creationId xmlns:p14="http://schemas.microsoft.com/office/powerpoint/2010/main" val="1104539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6226AAA7F4B542A10FCC523231F55A" ma:contentTypeVersion="3" ma:contentTypeDescription="Create a new document." ma:contentTypeScope="" ma:versionID="784d34875c8804f0120ac89ceb5bfe3c">
  <xsd:schema xmlns:xsd="http://www.w3.org/2001/XMLSchema" xmlns:xs="http://www.w3.org/2001/XMLSchema" xmlns:p="http://schemas.microsoft.com/office/2006/metadata/properties" xmlns:ns2="86d9dd93-5116-43e5-bce8-674d1673b63e" targetNamespace="http://schemas.microsoft.com/office/2006/metadata/properties" ma:root="true" ma:fieldsID="8f9017261e4237658df159888ddd00b3" ns2:_="">
    <xsd:import namespace="86d9dd93-5116-43e5-bce8-674d1673b63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d9dd93-5116-43e5-bce8-674d1673b6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879821B-6048-4449-A288-3534E0D08C27}"/>
</file>

<file path=customXml/itemProps2.xml><?xml version="1.0" encoding="utf-8"?>
<ds:datastoreItem xmlns:ds="http://schemas.openxmlformats.org/officeDocument/2006/customXml" ds:itemID="{077FDF4D-F3D6-4D83-8F98-C36243A86C39}"/>
</file>

<file path=customXml/itemProps3.xml><?xml version="1.0" encoding="utf-8"?>
<ds:datastoreItem xmlns:ds="http://schemas.openxmlformats.org/officeDocument/2006/customXml" ds:itemID="{BE05345E-7A2B-4A65-AE5A-199B79FF0E82}"/>
</file>

<file path=docProps/app.xml><?xml version="1.0" encoding="utf-8"?>
<Properties xmlns="http://schemas.openxmlformats.org/officeDocument/2006/extended-properties" xmlns:vt="http://schemas.openxmlformats.org/officeDocument/2006/docPropsVTypes">
  <TotalTime>385</TotalTime>
  <Words>3365</Words>
  <Application>Microsoft Office PowerPoint</Application>
  <PresentationFormat>On-screen Show (4:3)</PresentationFormat>
  <Paragraphs>834</Paragraphs>
  <Slides>50</Slides>
  <Notes>17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50</vt:i4>
      </vt:variant>
    </vt:vector>
  </HeadingPairs>
  <TitlesOfParts>
    <vt:vector size="61" baseType="lpstr">
      <vt:lpstr>Arial</vt:lpstr>
      <vt:lpstr>Brush Script MT</vt:lpstr>
      <vt:lpstr>Calibri</vt:lpstr>
      <vt:lpstr>Courier New</vt:lpstr>
      <vt:lpstr>Monotype Corsiva</vt:lpstr>
      <vt:lpstr>Times New Roman</vt:lpstr>
      <vt:lpstr>Trebuchet MS</vt:lpstr>
      <vt:lpstr>Wingdings</vt:lpstr>
      <vt:lpstr>Office Theme</vt:lpstr>
      <vt:lpstr>Microsoft Word Picture</vt:lpstr>
      <vt:lpstr>Picture</vt:lpstr>
      <vt:lpstr>PowerPoint Presentation</vt:lpstr>
      <vt:lpstr>Syllabus</vt:lpstr>
      <vt:lpstr>PowerPoint Presentation</vt:lpstr>
      <vt:lpstr>PowerPoint Presentation</vt:lpstr>
      <vt:lpstr>PowerPoint Presentation</vt:lpstr>
      <vt:lpstr>PowerPoint Presentation</vt:lpstr>
      <vt:lpstr>PowerPoint Presentation</vt:lpstr>
      <vt:lpstr>Constructor</vt:lpstr>
      <vt:lpstr>Class Date: Constructors</vt:lpstr>
      <vt:lpstr>Method overloading</vt:lpstr>
      <vt:lpstr>PowerPoint Presentation</vt:lpstr>
      <vt:lpstr>PowerPoint Presentation</vt:lpstr>
      <vt:lpstr>PowerPoint Presentation</vt:lpstr>
      <vt:lpstr>PowerPoint Presentation</vt:lpstr>
      <vt:lpstr>Public </vt:lpstr>
      <vt:lpstr>default</vt:lpstr>
      <vt:lpstr>PowerPoint Presentation</vt:lpstr>
      <vt:lpstr>PowerPoint Presentation</vt:lpstr>
      <vt:lpstr>PowerPoint Presentation</vt:lpstr>
      <vt:lpstr>Inheritance (Continued)</vt:lpstr>
      <vt:lpstr>Inheritance (Continued)</vt:lpstr>
      <vt:lpstr>PowerPoint Presentation</vt:lpstr>
      <vt:lpstr>No more Silly questions</vt:lpstr>
      <vt:lpstr>No more Silly questions</vt:lpstr>
      <vt:lpstr>Create  Single-Level Inheritance by creating an Employee class and a Manager class, where the Manager inherits the properties of Employee and calculates the total salary.</vt:lpstr>
      <vt:lpstr>Employee Management System  Create a class Employee that stores the employee's name and basic salary. Create a class Manager that inherits from Employee and stores the bonus. </vt:lpstr>
      <vt:lpstr>Create another class SeniorManager that inherits from Manager and stores the performance incentive. Calculate and display the total salary.  Formula: Total Salary = Basic Salary + Bonus + Performance Incentive</vt:lpstr>
      <vt:lpstr>Static </vt:lpstr>
      <vt:lpstr>Terminology for Class Members</vt:lpstr>
      <vt:lpstr>This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Final Classes: A way for Preventing Classes being extended</vt:lpstr>
      <vt:lpstr>Final Members: A way for Preventing Overriding of Members in Subclasses</vt:lpstr>
      <vt:lpstr>Overriding Members</vt:lpstr>
      <vt:lpstr>Overriding Members (Continued)</vt:lpstr>
      <vt:lpstr>Overriding Members (Continued)</vt:lpstr>
      <vt:lpstr>Wrapper Classes</vt:lpstr>
      <vt:lpstr>Why do we need Wrapper Classes</vt:lpstr>
      <vt:lpstr>The Integer and Double Classes</vt:lpstr>
      <vt:lpstr>Autoboxing and auto-unboxing</vt:lpstr>
      <vt:lpstr>Autoboxing and auto-unboxing</vt:lpstr>
      <vt:lpstr>Common Methods of Wrapper Classes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Admin</dc:creator>
  <cp:lastModifiedBy>Zahirabbas Mulani</cp:lastModifiedBy>
  <cp:revision>50</cp:revision>
  <dcterms:created xsi:type="dcterms:W3CDTF">2017-07-14T06:29:08Z</dcterms:created>
  <dcterms:modified xsi:type="dcterms:W3CDTF">2026-07-24T04:46:18Z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0x010100316226AAA7F4B542A10FCC523231F55A</vt:lpwstr>
  </property>
</Properties>
</file>