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3" r:id="rId2"/>
    <p:sldId id="300" r:id="rId3"/>
    <p:sldId id="301" r:id="rId4"/>
    <p:sldId id="302" r:id="rId5"/>
    <p:sldId id="303" r:id="rId6"/>
    <p:sldId id="304" r:id="rId7"/>
    <p:sldId id="287" r:id="rId8"/>
    <p:sldId id="288" r:id="rId9"/>
    <p:sldId id="289" r:id="rId10"/>
    <p:sldId id="290" r:id="rId11"/>
    <p:sldId id="291" r:id="rId12"/>
    <p:sldId id="296" r:id="rId13"/>
    <p:sldId id="297" r:id="rId14"/>
    <p:sldId id="29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0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</inkml:traceFormat>
        <inkml:channelProperties>
          <inkml:channelProperty channel="X" name="resolution" value="28.31858" units="1/cm"/>
          <inkml:channelProperty channel="Y" name="resolution" value="28.36879" units="1/cm"/>
        </inkml:channelProperties>
      </inkml:inkSource>
      <inkml:timestamp xml:id="ts0" timeString="2009-01-12T00:25:57.59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145FF-D4D6-499F-988D-A69ADB1E666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08102-4FFB-401D-8921-31C4C2C014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FE2614-511A-4C26-9EE6-13517341C7D0}" type="slidenum">
              <a:rPr lang="en-US"/>
              <a:pPr/>
              <a:t>12</a:t>
            </a:fld>
            <a:endParaRPr lang="en-US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6486B3-5DE6-45B7-89E5-D8FB88CD00E8}" type="slidenum">
              <a:rPr lang="en-US"/>
              <a:pPr/>
              <a:t>13</a:t>
            </a:fld>
            <a:endParaRPr lang="en-US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E2033B-EEE1-4E6C-84B2-E7EF34453D35}" type="slidenum">
              <a:rPr lang="en-US"/>
              <a:pPr/>
              <a:t>14</a:t>
            </a:fld>
            <a:endParaRPr lang="en-US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81AB3-6B1B-4CA9-BAF3-123DCDF75C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5933440-3F62-438D-B399-3BAED261D1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6FA14D5-65AC-41FF-B882-AB0CA0377B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9357-51BC-4D3A-B3DD-8867E70503C1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DF51-A880-4CC5-A9A1-E65718A191E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705600"/>
          </a:xfrm>
        </p:spPr>
        <p:txBody>
          <a:bodyPr>
            <a:normAutofit/>
          </a:bodyPr>
          <a:lstStyle/>
          <a:p>
            <a:r>
              <a:rPr lang="en-US" sz="8000" b="1" dirty="0" smtClean="0">
                <a:latin typeface="Bernard MT Condensed" panose="02050806060905020404" pitchFamily="18" charset="0"/>
              </a:rPr>
              <a:t>JAVA STATEMENTS </a:t>
            </a:r>
            <a:endParaRPr lang="en-US" sz="8000" b="1" dirty="0" smtClean="0">
              <a:latin typeface="Bernard MT Condensed" panose="020508060609050204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3733800" y="228600"/>
            <a:ext cx="2362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latin typeface="Arial" charset="0"/>
              </a:rPr>
              <a:t>Java statements</a:t>
            </a:r>
          </a:p>
        </p:txBody>
      </p:sp>
      <p:sp>
        <p:nvSpPr>
          <p:cNvPr id="79875" name="Line 3"/>
          <p:cNvSpPr>
            <a:spLocks noChangeShapeType="1"/>
          </p:cNvSpPr>
          <p:nvPr/>
        </p:nvSpPr>
        <p:spPr bwMode="auto">
          <a:xfrm flipH="1">
            <a:off x="1219200" y="609600"/>
            <a:ext cx="2514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76" name="Line 4"/>
          <p:cNvSpPr>
            <a:spLocks noChangeShapeType="1"/>
          </p:cNvSpPr>
          <p:nvPr/>
        </p:nvSpPr>
        <p:spPr bwMode="auto">
          <a:xfrm flipH="1">
            <a:off x="2971800" y="762000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77" name="Line 5"/>
          <p:cNvSpPr>
            <a:spLocks noChangeShapeType="1"/>
          </p:cNvSpPr>
          <p:nvPr/>
        </p:nvSpPr>
        <p:spPr bwMode="auto">
          <a:xfrm>
            <a:off x="4800600" y="7620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78" name="Line 6"/>
          <p:cNvSpPr>
            <a:spLocks noChangeShapeType="1"/>
          </p:cNvSpPr>
          <p:nvPr/>
        </p:nvSpPr>
        <p:spPr bwMode="auto">
          <a:xfrm>
            <a:off x="5486400" y="7620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79" name="Line 7"/>
          <p:cNvSpPr>
            <a:spLocks noChangeShapeType="1"/>
          </p:cNvSpPr>
          <p:nvPr/>
        </p:nvSpPr>
        <p:spPr bwMode="auto">
          <a:xfrm>
            <a:off x="6096000" y="457200"/>
            <a:ext cx="1981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80" name="Oval 8"/>
          <p:cNvSpPr>
            <a:spLocks noChangeArrowheads="1"/>
          </p:cNvSpPr>
          <p:nvPr/>
        </p:nvSpPr>
        <p:spPr bwMode="auto">
          <a:xfrm>
            <a:off x="0" y="1295400"/>
            <a:ext cx="23622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latin typeface="Arial" charset="0"/>
              </a:rPr>
              <a:t>Expression statement</a:t>
            </a:r>
          </a:p>
        </p:txBody>
      </p:sp>
      <p:sp>
        <p:nvSpPr>
          <p:cNvPr id="79881" name="Oval 9"/>
          <p:cNvSpPr>
            <a:spLocks noChangeArrowheads="1"/>
          </p:cNvSpPr>
          <p:nvPr/>
        </p:nvSpPr>
        <p:spPr bwMode="auto">
          <a:xfrm>
            <a:off x="2209800" y="1676400"/>
            <a:ext cx="19812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 smtClean="0">
                <a:latin typeface="Arial" charset="0"/>
              </a:rPr>
              <a:t>Labeled </a:t>
            </a:r>
            <a:r>
              <a:rPr lang="en-US" sz="1800" dirty="0">
                <a:latin typeface="Arial" charset="0"/>
              </a:rPr>
              <a:t>statement</a:t>
            </a:r>
          </a:p>
        </p:txBody>
      </p:sp>
      <p:sp>
        <p:nvSpPr>
          <p:cNvPr id="79882" name="Oval 10"/>
          <p:cNvSpPr>
            <a:spLocks noChangeArrowheads="1"/>
          </p:cNvSpPr>
          <p:nvPr/>
        </p:nvSpPr>
        <p:spPr bwMode="auto">
          <a:xfrm>
            <a:off x="3810000" y="2514600"/>
            <a:ext cx="2057400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latin typeface="Arial" charset="0"/>
              </a:rPr>
              <a:t>Control statement</a:t>
            </a:r>
          </a:p>
        </p:txBody>
      </p:sp>
      <p:sp>
        <p:nvSpPr>
          <p:cNvPr id="79883" name="Oval 11"/>
          <p:cNvSpPr>
            <a:spLocks noChangeArrowheads="1"/>
          </p:cNvSpPr>
          <p:nvPr/>
        </p:nvSpPr>
        <p:spPr bwMode="auto">
          <a:xfrm>
            <a:off x="5029200" y="15240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latin typeface="Arial" charset="0"/>
              </a:rPr>
              <a:t>Synchronization </a:t>
            </a:r>
          </a:p>
          <a:p>
            <a:pPr algn="ctr"/>
            <a:r>
              <a:rPr lang="en-US" sz="1800" dirty="0">
                <a:latin typeface="Arial" charset="0"/>
              </a:rPr>
              <a:t>statement</a:t>
            </a:r>
          </a:p>
        </p:txBody>
      </p:sp>
      <p:sp>
        <p:nvSpPr>
          <p:cNvPr id="79884" name="Oval 12"/>
          <p:cNvSpPr>
            <a:spLocks noChangeArrowheads="1"/>
          </p:cNvSpPr>
          <p:nvPr/>
        </p:nvSpPr>
        <p:spPr bwMode="auto">
          <a:xfrm>
            <a:off x="7239000" y="1295400"/>
            <a:ext cx="1752600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latin typeface="Arial" charset="0"/>
              </a:rPr>
              <a:t>Guarding </a:t>
            </a:r>
          </a:p>
          <a:p>
            <a:pPr algn="ctr"/>
            <a:r>
              <a:rPr lang="en-US" sz="1800" dirty="0">
                <a:latin typeface="Arial" charset="0"/>
              </a:rPr>
              <a:t>statement</a:t>
            </a:r>
          </a:p>
        </p:txBody>
      </p:sp>
      <p:sp>
        <p:nvSpPr>
          <p:cNvPr id="79885" name="Line 13"/>
          <p:cNvSpPr>
            <a:spLocks noChangeShapeType="1"/>
          </p:cNvSpPr>
          <p:nvPr/>
        </p:nvSpPr>
        <p:spPr bwMode="auto">
          <a:xfrm flipH="1">
            <a:off x="838200" y="3124200"/>
            <a:ext cx="2971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86" name="Line 14"/>
          <p:cNvSpPr>
            <a:spLocks noChangeShapeType="1"/>
          </p:cNvSpPr>
          <p:nvPr/>
        </p:nvSpPr>
        <p:spPr bwMode="auto">
          <a:xfrm>
            <a:off x="48768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87" name="Line 15"/>
          <p:cNvSpPr>
            <a:spLocks noChangeShapeType="1"/>
          </p:cNvSpPr>
          <p:nvPr/>
        </p:nvSpPr>
        <p:spPr bwMode="auto">
          <a:xfrm>
            <a:off x="5867400" y="2971800"/>
            <a:ext cx="1905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88" name="Rectangle 16"/>
          <p:cNvSpPr>
            <a:spLocks noChangeArrowheads="1"/>
          </p:cNvSpPr>
          <p:nvPr/>
        </p:nvSpPr>
        <p:spPr bwMode="auto">
          <a:xfrm>
            <a:off x="0" y="3886200"/>
            <a:ext cx="2667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Selection statement</a:t>
            </a:r>
          </a:p>
        </p:txBody>
      </p:sp>
      <p:sp>
        <p:nvSpPr>
          <p:cNvPr id="79889" name="Rectangle 17"/>
          <p:cNvSpPr>
            <a:spLocks noChangeArrowheads="1"/>
          </p:cNvSpPr>
          <p:nvPr/>
        </p:nvSpPr>
        <p:spPr bwMode="auto">
          <a:xfrm>
            <a:off x="3429000" y="4267200"/>
            <a:ext cx="2514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Iteration statement</a:t>
            </a:r>
          </a:p>
        </p:txBody>
      </p:sp>
      <p:sp>
        <p:nvSpPr>
          <p:cNvPr id="79890" name="Rectangle 18"/>
          <p:cNvSpPr>
            <a:spLocks noChangeArrowheads="1"/>
          </p:cNvSpPr>
          <p:nvPr/>
        </p:nvSpPr>
        <p:spPr bwMode="auto">
          <a:xfrm>
            <a:off x="6553200" y="3733800"/>
            <a:ext cx="2209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Jump statement</a:t>
            </a:r>
          </a:p>
        </p:txBody>
      </p:sp>
      <p:sp>
        <p:nvSpPr>
          <p:cNvPr id="79891" name="Line 19"/>
          <p:cNvSpPr>
            <a:spLocks noChangeShapeType="1"/>
          </p:cNvSpPr>
          <p:nvPr/>
        </p:nvSpPr>
        <p:spPr bwMode="auto">
          <a:xfrm>
            <a:off x="228600" y="4419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92" name="Line 20"/>
          <p:cNvSpPr>
            <a:spLocks noChangeShapeType="1"/>
          </p:cNvSpPr>
          <p:nvPr/>
        </p:nvSpPr>
        <p:spPr bwMode="auto">
          <a:xfrm>
            <a:off x="228600" y="4800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93" name="Line 21"/>
          <p:cNvSpPr>
            <a:spLocks noChangeShapeType="1"/>
          </p:cNvSpPr>
          <p:nvPr/>
        </p:nvSpPr>
        <p:spPr bwMode="auto">
          <a:xfrm>
            <a:off x="228600" y="5562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94" name="Line 22"/>
          <p:cNvSpPr>
            <a:spLocks noChangeShapeType="1"/>
          </p:cNvSpPr>
          <p:nvPr/>
        </p:nvSpPr>
        <p:spPr bwMode="auto">
          <a:xfrm>
            <a:off x="228600" y="6248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895" name="Oval 23"/>
          <p:cNvSpPr>
            <a:spLocks noChangeArrowheads="1"/>
          </p:cNvSpPr>
          <p:nvPr/>
        </p:nvSpPr>
        <p:spPr bwMode="auto">
          <a:xfrm>
            <a:off x="685800" y="4648200"/>
            <a:ext cx="1676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if</a:t>
            </a:r>
          </a:p>
        </p:txBody>
      </p:sp>
      <p:sp>
        <p:nvSpPr>
          <p:cNvPr id="79896" name="Oval 24"/>
          <p:cNvSpPr>
            <a:spLocks noChangeArrowheads="1"/>
          </p:cNvSpPr>
          <p:nvPr/>
        </p:nvSpPr>
        <p:spPr bwMode="auto">
          <a:xfrm>
            <a:off x="838200" y="5334000"/>
            <a:ext cx="1676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latin typeface="Arial" charset="0"/>
              </a:rPr>
              <a:t>If-else</a:t>
            </a:r>
          </a:p>
        </p:txBody>
      </p:sp>
      <p:sp>
        <p:nvSpPr>
          <p:cNvPr id="79897" name="Oval 25"/>
          <p:cNvSpPr>
            <a:spLocks noChangeArrowheads="1"/>
          </p:cNvSpPr>
          <p:nvPr/>
        </p:nvSpPr>
        <p:spPr bwMode="auto">
          <a:xfrm>
            <a:off x="990600" y="6019800"/>
            <a:ext cx="1676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switch</a:t>
            </a:r>
          </a:p>
        </p:txBody>
      </p:sp>
      <p:sp>
        <p:nvSpPr>
          <p:cNvPr id="79898" name="Line 26"/>
          <p:cNvSpPr>
            <a:spLocks noChangeShapeType="1"/>
          </p:cNvSpPr>
          <p:nvPr/>
        </p:nvSpPr>
        <p:spPr bwMode="auto">
          <a:xfrm>
            <a:off x="3733800" y="4800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99" name="Line 27"/>
          <p:cNvSpPr>
            <a:spLocks noChangeShapeType="1"/>
          </p:cNvSpPr>
          <p:nvPr/>
        </p:nvSpPr>
        <p:spPr bwMode="auto">
          <a:xfrm>
            <a:off x="3733800" y="647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900" name="Line 28"/>
          <p:cNvSpPr>
            <a:spLocks noChangeShapeType="1"/>
          </p:cNvSpPr>
          <p:nvPr/>
        </p:nvSpPr>
        <p:spPr bwMode="auto">
          <a:xfrm>
            <a:off x="37338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901" name="Line 29"/>
          <p:cNvSpPr>
            <a:spLocks noChangeShapeType="1"/>
          </p:cNvSpPr>
          <p:nvPr/>
        </p:nvSpPr>
        <p:spPr bwMode="auto">
          <a:xfrm>
            <a:off x="37338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902" name="Oval 30"/>
          <p:cNvSpPr>
            <a:spLocks noChangeArrowheads="1"/>
          </p:cNvSpPr>
          <p:nvPr/>
        </p:nvSpPr>
        <p:spPr bwMode="auto">
          <a:xfrm>
            <a:off x="4419600" y="5029200"/>
            <a:ext cx="1600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dirty="0">
                <a:latin typeface="Arial" charset="0"/>
              </a:rPr>
              <a:t>while</a:t>
            </a:r>
          </a:p>
        </p:txBody>
      </p:sp>
      <p:sp>
        <p:nvSpPr>
          <p:cNvPr id="79903" name="Oval 31"/>
          <p:cNvSpPr>
            <a:spLocks noChangeArrowheads="1"/>
          </p:cNvSpPr>
          <p:nvPr/>
        </p:nvSpPr>
        <p:spPr bwMode="auto">
          <a:xfrm>
            <a:off x="4419600" y="5638800"/>
            <a:ext cx="16002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do</a:t>
            </a:r>
          </a:p>
        </p:txBody>
      </p:sp>
      <p:sp>
        <p:nvSpPr>
          <p:cNvPr id="79904" name="Oval 32"/>
          <p:cNvSpPr>
            <a:spLocks noChangeArrowheads="1"/>
          </p:cNvSpPr>
          <p:nvPr/>
        </p:nvSpPr>
        <p:spPr bwMode="auto">
          <a:xfrm>
            <a:off x="4419600" y="6324600"/>
            <a:ext cx="17526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for</a:t>
            </a:r>
          </a:p>
        </p:txBody>
      </p:sp>
      <p:sp>
        <p:nvSpPr>
          <p:cNvPr id="79905" name="Line 33"/>
          <p:cNvSpPr>
            <a:spLocks noChangeShapeType="1"/>
          </p:cNvSpPr>
          <p:nvPr/>
        </p:nvSpPr>
        <p:spPr bwMode="auto">
          <a:xfrm>
            <a:off x="6705600" y="43434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906" name="Line 34"/>
          <p:cNvSpPr>
            <a:spLocks noChangeShapeType="1"/>
          </p:cNvSpPr>
          <p:nvPr/>
        </p:nvSpPr>
        <p:spPr bwMode="auto">
          <a:xfrm>
            <a:off x="6705600" y="4648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907" name="Line 35"/>
          <p:cNvSpPr>
            <a:spLocks noChangeShapeType="1"/>
          </p:cNvSpPr>
          <p:nvPr/>
        </p:nvSpPr>
        <p:spPr bwMode="auto">
          <a:xfrm>
            <a:off x="67056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908" name="Line 36"/>
          <p:cNvSpPr>
            <a:spLocks noChangeShapeType="1"/>
          </p:cNvSpPr>
          <p:nvPr/>
        </p:nvSpPr>
        <p:spPr bwMode="auto">
          <a:xfrm>
            <a:off x="6705600" y="6019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9909" name="Oval 37"/>
          <p:cNvSpPr>
            <a:spLocks noChangeArrowheads="1"/>
          </p:cNvSpPr>
          <p:nvPr/>
        </p:nvSpPr>
        <p:spPr bwMode="auto">
          <a:xfrm>
            <a:off x="7391400" y="4419600"/>
            <a:ext cx="1600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break</a:t>
            </a:r>
          </a:p>
        </p:txBody>
      </p:sp>
      <p:sp>
        <p:nvSpPr>
          <p:cNvPr id="79910" name="Oval 38"/>
          <p:cNvSpPr>
            <a:spLocks noChangeArrowheads="1"/>
          </p:cNvSpPr>
          <p:nvPr/>
        </p:nvSpPr>
        <p:spPr bwMode="auto">
          <a:xfrm>
            <a:off x="7467600" y="5029200"/>
            <a:ext cx="16764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continue</a:t>
            </a:r>
          </a:p>
        </p:txBody>
      </p:sp>
      <p:sp>
        <p:nvSpPr>
          <p:cNvPr id="79911" name="Oval 39"/>
          <p:cNvSpPr>
            <a:spLocks noChangeArrowheads="1"/>
          </p:cNvSpPr>
          <p:nvPr/>
        </p:nvSpPr>
        <p:spPr bwMode="auto">
          <a:xfrm>
            <a:off x="7467600" y="5715000"/>
            <a:ext cx="1676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>
                <a:latin typeface="Arial" charset="0"/>
              </a:rPr>
              <a:t>return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AA65-B67B-47CD-9D6A-3C9ECFF3AAE2}" type="slidenum">
              <a:rPr lang="en-US"/>
              <a:pPr/>
              <a:t>3</a:t>
            </a:fld>
            <a:endParaRPr lang="en-US"/>
          </a:p>
        </p:txBody>
      </p:sp>
      <p:sp>
        <p:nvSpPr>
          <p:cNvPr id="52241" name="Rectangle 17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Flow Control – if-else if-else</a:t>
            </a:r>
          </a:p>
        </p:txBody>
      </p:sp>
      <p:sp>
        <p:nvSpPr>
          <p:cNvPr id="52296" name="Rectangle 72"/>
          <p:cNvSpPr>
            <a:spLocks noChangeArrowheads="1"/>
          </p:cNvSpPr>
          <p:nvPr/>
        </p:nvSpPr>
        <p:spPr bwMode="auto">
          <a:xfrm>
            <a:off x="228600" y="1524000"/>
            <a:ext cx="533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</a:pPr>
            <a:endParaRPr lang="en-US" sz="1600">
              <a:latin typeface="Trebuchet MS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	</a:t>
            </a:r>
          </a:p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sz="1400">
              <a:latin typeface="Trebuchet MS" pitchFamily="34" charset="0"/>
            </a:endParaRPr>
          </a:p>
        </p:txBody>
      </p:sp>
      <p:sp>
        <p:nvSpPr>
          <p:cNvPr id="52297" name="Rectangle 7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8600" cy="457200"/>
          </a:xfrm>
          <a:noFill/>
          <a:ln/>
        </p:spPr>
        <p:txBody>
          <a:bodyPr>
            <a:normAutofit fontScale="92500" lnSpcReduction="10000"/>
          </a:bodyPr>
          <a:lstStyle/>
          <a:p>
            <a:pPr>
              <a:buClr>
                <a:srgbClr val="FF9900"/>
              </a:buClr>
              <a:buSzPct val="125000"/>
            </a:pPr>
            <a:r>
              <a:rPr lang="en-US" sz="1800" b="1">
                <a:latin typeface="Trebuchet MS" pitchFamily="34" charset="0"/>
              </a:rPr>
              <a:t>if-else</a:t>
            </a:r>
            <a:r>
              <a:rPr lang="en-US" sz="2800" b="1"/>
              <a:t>		</a:t>
            </a:r>
          </a:p>
          <a:p>
            <a:pPr lvl="1">
              <a:buClr>
                <a:srgbClr val="FF9900"/>
              </a:buClr>
              <a:buSzPct val="125000"/>
            </a:pPr>
            <a:endParaRPr lang="en-US" sz="1400" b="1">
              <a:latin typeface="Trebuchet MS" pitchFamily="34" charset="0"/>
            </a:endParaRPr>
          </a:p>
        </p:txBody>
      </p:sp>
      <p:sp>
        <p:nvSpPr>
          <p:cNvPr id="52299" name="Rectangle 75"/>
          <p:cNvSpPr>
            <a:spLocks noChangeArrowheads="1"/>
          </p:cNvSpPr>
          <p:nvPr/>
        </p:nvSpPr>
        <p:spPr bwMode="auto">
          <a:xfrm>
            <a:off x="0" y="4953000"/>
            <a:ext cx="4038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 b="1">
                <a:latin typeface="Trebuchet MS" pitchFamily="34" charset="0"/>
              </a:rPr>
              <a:t>	</a:t>
            </a:r>
          </a:p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b="1">
              <a:latin typeface="Trebuchet MS" pitchFamily="34" charset="0"/>
            </a:endParaRPr>
          </a:p>
        </p:txBody>
      </p:sp>
      <p:graphicFrame>
        <p:nvGraphicFramePr>
          <p:cNvPr id="52338" name="Group 114"/>
          <p:cNvGraphicFramePr>
            <a:graphicFrameLocks noGrp="1"/>
          </p:cNvGraphicFramePr>
          <p:nvPr>
            <p:ph sz="half" idx="2"/>
          </p:nvPr>
        </p:nvGraphicFramePr>
        <p:xfrm>
          <a:off x="457200" y="2286000"/>
          <a:ext cx="7848600" cy="4114801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Syntax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(&lt;condition-1&gt;)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// logic for true condition-1 goes here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 else if (&lt;condition-2&gt;)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// logic for true condition-2 goes here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 else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// if no condition is met, control comes here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a = 10;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(a &lt; 10 )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System.out.println(“Less than 10”);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 else if (a &gt; 10)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System.out.pritln(“Greater than 10”);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  else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System.out.println(“Equal to 10”);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Result: Equal to 10s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F214-0935-4C03-869E-824F650952F6}" type="slidenum">
              <a:rPr lang="en-US"/>
              <a:pPr/>
              <a:t>4</a:t>
            </a:fld>
            <a:endParaRPr lang="en-US"/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228600" y="4114800"/>
            <a:ext cx="4038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b="1">
              <a:latin typeface="Trebuchet MS" pitchFamily="34" charset="0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Flow Control – switch</a:t>
            </a:r>
          </a:p>
        </p:txBody>
      </p:sp>
      <p:graphicFrame>
        <p:nvGraphicFramePr>
          <p:cNvPr id="55322" name="Group 26"/>
          <p:cNvGraphicFramePr>
            <a:graphicFrameLocks noGrp="1"/>
          </p:cNvGraphicFramePr>
          <p:nvPr>
            <p:ph/>
          </p:nvPr>
        </p:nvGraphicFramePr>
        <p:xfrm>
          <a:off x="457200" y="1981200"/>
          <a:ext cx="8229600" cy="4706049"/>
        </p:xfrm>
        <a:graphic>
          <a:graphicData uri="http://schemas.openxmlformats.org/drawingml/2006/table">
            <a:tbl>
              <a:tblPr/>
              <a:tblGrid>
                <a:gridCol w="383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Syntax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switch (&lt;value&gt;)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case &lt;a&gt;: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// stmt-1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break;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case &lt;b&gt;: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//stmt-2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break;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default: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//stmt-3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		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a = 10;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switch (a)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case 1: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System.out.println(“1”);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break;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case 10: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System.out.println(“10”);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break;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default: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 System.out.println(“None”);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Result: 10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		</a:t>
                      </a: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316" name="Rectangle 20"/>
          <p:cNvSpPr>
            <a:spLocks noChangeArrowheads="1"/>
          </p:cNvSpPr>
          <p:nvPr/>
        </p:nvSpPr>
        <p:spPr bwMode="auto">
          <a:xfrm>
            <a:off x="457200" y="1447800"/>
            <a:ext cx="403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b="1">
                <a:latin typeface="Trebuchet MS" pitchFamily="34" charset="0"/>
              </a:rPr>
              <a:t>switch</a:t>
            </a:r>
            <a:r>
              <a:rPr lang="en-US" sz="2800" b="1"/>
              <a:t>	</a:t>
            </a:r>
          </a:p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sz="1400" b="1">
              <a:latin typeface="Trebuchet M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569C2-AE3F-4BD2-949B-D1250CAFE88C}" type="slidenum">
              <a:rPr lang="en-US"/>
              <a:pPr/>
              <a:t>5</a:t>
            </a:fld>
            <a:endParaRPr lang="en-US"/>
          </a:p>
        </p:txBody>
      </p:sp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Flow Control – do-while / while 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228600" y="1524000"/>
            <a:ext cx="5334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</a:pPr>
            <a:endParaRPr lang="en-US" sz="1600">
              <a:latin typeface="Trebuchet MS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	</a:t>
            </a:r>
          </a:p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sz="1400">
              <a:latin typeface="Trebuchet MS" pitchFamily="34" charset="0"/>
            </a:endParaRP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2819400" cy="381000"/>
          </a:xfrm>
          <a:noFill/>
          <a:ln/>
        </p:spPr>
        <p:txBody>
          <a:bodyPr>
            <a:normAutofit fontScale="62500" lnSpcReduction="20000"/>
          </a:bodyPr>
          <a:lstStyle/>
          <a:p>
            <a:pPr>
              <a:buClr>
                <a:srgbClr val="FF9900"/>
              </a:buClr>
              <a:buSzPct val="125000"/>
            </a:pPr>
            <a:r>
              <a:rPr lang="en-US" sz="1800" b="1">
                <a:latin typeface="Trebuchet MS" pitchFamily="34" charset="0"/>
              </a:rPr>
              <a:t>do-while</a:t>
            </a:r>
            <a:r>
              <a:rPr lang="en-US" sz="2800" b="1"/>
              <a:t>		</a:t>
            </a:r>
          </a:p>
          <a:p>
            <a:pPr>
              <a:buClr>
                <a:srgbClr val="FF9900"/>
              </a:buClr>
              <a:buSzPct val="125000"/>
            </a:pPr>
            <a:endParaRPr lang="en-US" sz="1600" b="1">
              <a:latin typeface="Trebuchet MS" pitchFamily="34" charset="0"/>
            </a:endParaRPr>
          </a:p>
        </p:txBody>
      </p:sp>
      <p:graphicFrame>
        <p:nvGraphicFramePr>
          <p:cNvPr id="53310" name="Group 62"/>
          <p:cNvGraphicFramePr>
            <a:graphicFrameLocks noGrp="1"/>
          </p:cNvGraphicFramePr>
          <p:nvPr>
            <p:ph sz="quarter" idx="2"/>
          </p:nvPr>
        </p:nvGraphicFramePr>
        <p:xfrm>
          <a:off x="914400" y="1600200"/>
          <a:ext cx="7772400" cy="2103120"/>
        </p:xfrm>
        <a:graphic>
          <a:graphicData uri="http://schemas.openxmlformats.org/drawingml/2006/table">
            <a:tbl>
              <a:tblPr/>
              <a:tblGrid>
                <a:gridCol w="364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5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Syntax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do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// stmt-1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  while (&lt;condition&gt;);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do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System.out.println(“In do”);  i++;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  while ( i &lt; 10);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Result: Prints “In do” 11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228600" y="3810000"/>
            <a:ext cx="4038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b="1">
                <a:latin typeface="Trebuchet MS" pitchFamily="34" charset="0"/>
              </a:rPr>
              <a:t>while</a:t>
            </a:r>
          </a:p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b="1">
              <a:latin typeface="Trebuchet MS" pitchFamily="34" charset="0"/>
            </a:endParaRPr>
          </a:p>
        </p:txBody>
      </p:sp>
      <p:graphicFrame>
        <p:nvGraphicFramePr>
          <p:cNvPr id="53311" name="Group 63"/>
          <p:cNvGraphicFramePr>
            <a:graphicFrameLocks noGrp="1"/>
          </p:cNvGraphicFramePr>
          <p:nvPr>
            <p:ph sz="quarter" idx="3"/>
          </p:nvPr>
        </p:nvGraphicFramePr>
        <p:xfrm>
          <a:off x="914400" y="4191000"/>
          <a:ext cx="7772400" cy="2147570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Syntax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while (&lt;condition&gt;)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	//stmt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while ( i &lt; 10 )  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System.out.println(“In while”);  i++;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Result: “In while” 10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A8D0-AD45-4868-8481-E4C5A45E040A}" type="slidenum">
              <a:rPr lang="en-US"/>
              <a:pPr/>
              <a:t>6</a:t>
            </a:fld>
            <a:endParaRPr lang="en-US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Flow Control – for loop </a:t>
            </a: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body" sz="half" idx="1"/>
          </p:nvPr>
        </p:nvSpPr>
        <p:spPr>
          <a:noFill/>
          <a:ln/>
        </p:spPr>
        <p:txBody>
          <a:bodyPr/>
          <a:lstStyle/>
          <a:p>
            <a:pPr>
              <a:buClr>
                <a:srgbClr val="FF9900"/>
              </a:buClr>
              <a:buSzPct val="125000"/>
            </a:pPr>
            <a:r>
              <a:rPr lang="en-US" sz="1800" b="1">
                <a:latin typeface="Trebuchet MS" pitchFamily="34" charset="0"/>
              </a:rPr>
              <a:t>for	</a:t>
            </a:r>
          </a:p>
          <a:p>
            <a:pPr>
              <a:buClr>
                <a:srgbClr val="FF9900"/>
              </a:buClr>
              <a:buSzPct val="125000"/>
            </a:pPr>
            <a:endParaRPr lang="en-US" sz="1800" b="1">
              <a:latin typeface="Trebuchet MS" pitchFamily="34" charset="0"/>
            </a:endParaRPr>
          </a:p>
        </p:txBody>
      </p:sp>
      <p:graphicFrame>
        <p:nvGraphicFramePr>
          <p:cNvPr id="59412" name="Group 20"/>
          <p:cNvGraphicFramePr>
            <a:graphicFrameLocks noGrp="1"/>
          </p:cNvGraphicFramePr>
          <p:nvPr>
            <p:ph sz="half" idx="2"/>
          </p:nvPr>
        </p:nvGraphicFramePr>
        <p:xfrm>
          <a:off x="685800" y="2133600"/>
          <a:ext cx="7620000" cy="3048000"/>
        </p:xfrm>
        <a:graphic>
          <a:graphicData uri="http://schemas.openxmlformats.org/drawingml/2006/table">
            <a:tbl>
              <a:tblPr/>
              <a:tblGrid>
                <a:gridCol w="361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5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Syntax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3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for ( initialize; condition; expression)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 // stmt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125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for (int i = 0; i &lt; 10; i++)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 System.out.println(“In for”);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}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Result: Prints “In do” 10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36A58-45C7-4E5B-A2E8-C2D6D5147D5B}" type="slidenum">
              <a:rPr lang="en-US"/>
              <a:pPr/>
              <a:t>7</a:t>
            </a:fld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800">
                <a:latin typeface="Trebuchet MS" pitchFamily="34" charset="0"/>
              </a:rPr>
              <a:t>Definition: </a:t>
            </a:r>
          </a:p>
          <a:p>
            <a:pPr>
              <a:lnSpc>
                <a:spcPct val="90000"/>
              </a:lnSpc>
              <a:buClr>
                <a:srgbClr val="FF9900"/>
              </a:buClr>
              <a:buSzPct val="125000"/>
              <a:buFontTx/>
              <a:buNone/>
            </a:pPr>
            <a:r>
              <a:rPr lang="en-US" sz="1800">
                <a:latin typeface="Trebuchet MS" pitchFamily="34" charset="0"/>
              </a:rPr>
              <a:t>	An operator performs a particular operation on the operands it is applied on</a:t>
            </a:r>
          </a:p>
          <a:p>
            <a:pPr>
              <a:lnSpc>
                <a:spcPct val="90000"/>
              </a:lnSpc>
              <a:buClr>
                <a:srgbClr val="FF9900"/>
              </a:buClr>
              <a:buSzPct val="125000"/>
            </a:pPr>
            <a:endParaRPr lang="en-US" sz="1800">
              <a:latin typeface="Trebuchet MS" pitchFamily="34" charset="0"/>
            </a:endParaRPr>
          </a:p>
          <a:p>
            <a:pPr>
              <a:lnSpc>
                <a:spcPct val="90000"/>
              </a:lnSpc>
              <a:buClr>
                <a:srgbClr val="FF9900"/>
              </a:buClr>
              <a:buSzPct val="125000"/>
            </a:pPr>
            <a:endParaRPr lang="en-US" sz="1800">
              <a:latin typeface="Trebuchet MS" pitchFamily="34" charset="0"/>
            </a:endParaRPr>
          </a:p>
          <a:p>
            <a:pPr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800">
                <a:latin typeface="Trebuchet MS" pitchFamily="34" charset="0"/>
              </a:rPr>
              <a:t>Types of operators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Assignment Operators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Arithmetic Operators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Unary Operators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Equality Operators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Relational Operators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Conditional Operators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instaceof Operator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Bitwise Operators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Shift Operators</a:t>
            </a:r>
          </a:p>
          <a:p>
            <a:pPr lvl="1">
              <a:lnSpc>
                <a:spcPct val="90000"/>
              </a:lnSpc>
              <a:buClr>
                <a:srgbClr val="FF9900"/>
              </a:buClr>
              <a:buSzPct val="125000"/>
            </a:pPr>
            <a:endParaRPr lang="en-US" sz="1600">
              <a:latin typeface="Trebuchet MS" pitchFamily="34" charset="0"/>
            </a:endParaRP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Operators - 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B9E0-E4D0-4E9D-95CF-CC1F60C74384}" type="slidenum">
              <a:rPr lang="en-US"/>
              <a:pPr/>
              <a:t>8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Assignment Operator</a:t>
            </a:r>
          </a:p>
          <a:p>
            <a:pPr>
              <a:buClr>
                <a:srgbClr val="FF9900"/>
              </a:buClr>
              <a:buSzPct val="125000"/>
            </a:pPr>
            <a:endParaRPr lang="en-US" sz="1600">
              <a:latin typeface="Trebuchet MS" pitchFamily="34" charset="0"/>
            </a:endParaRPr>
          </a:p>
          <a:p>
            <a:pPr>
              <a:buClr>
                <a:srgbClr val="FF9900"/>
              </a:buClr>
              <a:buSzPct val="125000"/>
            </a:pPr>
            <a:endParaRPr lang="en-US" sz="1600">
              <a:latin typeface="Trebuchet MS" pitchFamily="34" charset="0"/>
            </a:endParaRPr>
          </a:p>
          <a:p>
            <a:pPr>
              <a:buClr>
                <a:srgbClr val="FF9900"/>
              </a:buClr>
              <a:buSzPct val="125000"/>
            </a:pPr>
            <a:endParaRPr lang="en-US" sz="1600">
              <a:latin typeface="Trebuchet MS" pitchFamily="34" charset="0"/>
            </a:endParaRPr>
          </a:p>
          <a:p>
            <a:pPr>
              <a:buClr>
                <a:srgbClr val="FF9900"/>
              </a:buClr>
              <a:buSzPct val="125000"/>
              <a:buFontTx/>
              <a:buNone/>
            </a:pPr>
            <a:r>
              <a:rPr lang="en-US" sz="1600">
                <a:latin typeface="Trebuchet MS" pitchFamily="34" charset="0"/>
              </a:rPr>
              <a:t>	</a:t>
            </a:r>
          </a:p>
          <a:p>
            <a:pPr>
              <a:buClr>
                <a:srgbClr val="FF9900"/>
              </a:buClr>
              <a:buSzPct val="125000"/>
              <a:buFontTx/>
              <a:buNone/>
            </a:pPr>
            <a:endParaRPr lang="en-US" sz="1600">
              <a:latin typeface="Trebuchet MS" pitchFamily="34" charset="0"/>
            </a:endParaRPr>
          </a:p>
          <a:p>
            <a:pPr>
              <a:buClr>
                <a:srgbClr val="FF9900"/>
              </a:buClr>
              <a:buSzPct val="125000"/>
            </a:pPr>
            <a:endParaRPr lang="en-US" sz="1600">
              <a:latin typeface="Trebuchet MS" pitchFamily="34" charset="0"/>
            </a:endParaRPr>
          </a:p>
          <a:p>
            <a:pPr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Arithmetic Operators</a:t>
            </a:r>
          </a:p>
          <a:p>
            <a:pPr>
              <a:buClr>
                <a:srgbClr val="FF9900"/>
              </a:buClr>
              <a:buSzPct val="125000"/>
              <a:buFontTx/>
              <a:buNone/>
            </a:pPr>
            <a:r>
              <a:rPr lang="en-US" sz="1600">
                <a:latin typeface="Trebuchet MS" pitchFamily="34" charset="0"/>
              </a:rPr>
              <a:t>	</a:t>
            </a:r>
          </a:p>
          <a:p>
            <a:pPr lvl="1">
              <a:buClr>
                <a:srgbClr val="FF9900"/>
              </a:buClr>
              <a:buSzPct val="125000"/>
            </a:pPr>
            <a:endParaRPr lang="en-US" sz="1400">
              <a:latin typeface="Trebuchet MS" pitchFamily="34" charset="0"/>
            </a:endParaRPr>
          </a:p>
        </p:txBody>
      </p:sp>
      <p:graphicFrame>
        <p:nvGraphicFramePr>
          <p:cNvPr id="44180" name="Group 148"/>
          <p:cNvGraphicFramePr>
            <a:graphicFrameLocks noGrp="1"/>
          </p:cNvGraphicFramePr>
          <p:nvPr>
            <p:ph sz="quarter" idx="2"/>
          </p:nvPr>
        </p:nvGraphicFramePr>
        <p:xfrm>
          <a:off x="762000" y="1905000"/>
          <a:ext cx="7162800" cy="1391984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Assignment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10;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j = i;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Operators – Assignment Operators/Arithmetic Operators</a:t>
            </a:r>
          </a:p>
        </p:txBody>
      </p:sp>
      <p:graphicFrame>
        <p:nvGraphicFramePr>
          <p:cNvPr id="44178" name="Group 146"/>
          <p:cNvGraphicFramePr>
            <a:graphicFrameLocks noGrp="1"/>
          </p:cNvGraphicFramePr>
          <p:nvPr>
            <p:ph sz="quarter" idx="3"/>
          </p:nvPr>
        </p:nvGraphicFramePr>
        <p:xfrm>
          <a:off x="762000" y="4038600"/>
          <a:ext cx="7162800" cy="2134870"/>
        </p:xfrm>
        <a:graphic>
          <a:graphicData uri="http://schemas.openxmlformats.org/drawingml/2006/table">
            <a:tbl>
              <a:tblPr/>
              <a:tblGrid>
                <a:gridCol w="190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Addition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8 + 9; byte b = (byte) 5+4;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Subtraction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9 – 4;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*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Multiplication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8 * 6;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/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Division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10 / 2;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Remainder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10 % 3;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17E0-59EB-4C58-9F89-AFFE133F0986}" type="slidenum">
              <a:rPr lang="en-US"/>
              <a:pPr/>
              <a:t>9</a:t>
            </a:fld>
            <a:endParaRPr 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038600" cy="381000"/>
          </a:xfrm>
        </p:spPr>
        <p:txBody>
          <a:bodyPr/>
          <a:lstStyle/>
          <a:p>
            <a:pPr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Unary Operators	</a:t>
            </a:r>
          </a:p>
          <a:p>
            <a:pPr lvl="1">
              <a:buClr>
                <a:srgbClr val="FF9900"/>
              </a:buClr>
              <a:buSzPct val="125000"/>
            </a:pPr>
            <a:endParaRPr lang="en-US" sz="1400">
              <a:latin typeface="Trebuchet MS" pitchFamily="34" charset="0"/>
            </a:endParaRPr>
          </a:p>
        </p:txBody>
      </p:sp>
      <p:graphicFrame>
        <p:nvGraphicFramePr>
          <p:cNvPr id="49231" name="Group 79"/>
          <p:cNvGraphicFramePr>
            <a:graphicFrameLocks noGrp="1"/>
          </p:cNvGraphicFramePr>
          <p:nvPr>
            <p:ph sz="quarter" idx="2"/>
          </p:nvPr>
        </p:nvGraphicFramePr>
        <p:xfrm>
          <a:off x="762000" y="1676400"/>
          <a:ext cx="7162800" cy="201168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Unary plus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+1;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Unary minus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i = -1;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++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Increment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j = i++;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--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Decrement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int j = i--;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!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Logical Not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boolean j = !true;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169" name="Rectangle 17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Operators – Unary Operators/Equality Operators</a:t>
            </a:r>
          </a:p>
        </p:txBody>
      </p:sp>
      <p:graphicFrame>
        <p:nvGraphicFramePr>
          <p:cNvPr id="49233" name="Group 81"/>
          <p:cNvGraphicFramePr>
            <a:graphicFrameLocks noGrp="1"/>
          </p:cNvGraphicFramePr>
          <p:nvPr>
            <p:ph sz="quarter" idx="3"/>
          </p:nvPr>
        </p:nvGraphicFramePr>
        <p:xfrm>
          <a:off x="762000" y="4953000"/>
          <a:ext cx="7162800" cy="1005840"/>
        </p:xfrm>
        <a:graphic>
          <a:graphicData uri="http://schemas.openxmlformats.org/drawingml/2006/table">
            <a:tbl>
              <a:tblPr/>
              <a:tblGrid>
                <a:gridCol w="190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==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Equality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(i==1)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!=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Non equality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(i != 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232" name="Rectangle 80"/>
          <p:cNvSpPr>
            <a:spLocks noChangeArrowheads="1"/>
          </p:cNvSpPr>
          <p:nvPr/>
        </p:nvSpPr>
        <p:spPr bwMode="auto">
          <a:xfrm>
            <a:off x="228600" y="4343400"/>
            <a:ext cx="4038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sz="1600">
                <a:latin typeface="Trebuchet MS" pitchFamily="34" charset="0"/>
              </a:rPr>
              <a:t>Equality Operators	</a:t>
            </a:r>
          </a:p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sz="1400">
              <a:latin typeface="Trebuchet M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41E71-CD83-4567-8785-D6A188CD3D55}" type="slidenum">
              <a:rPr lang="en-US"/>
              <a:pPr/>
              <a:t>10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038600" cy="381000"/>
          </a:xfrm>
        </p:spPr>
        <p:txBody>
          <a:bodyPr/>
          <a:lstStyle/>
          <a:p>
            <a:pPr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Relational Operators	</a:t>
            </a:r>
          </a:p>
          <a:p>
            <a:pPr lvl="1">
              <a:buClr>
                <a:srgbClr val="FF9900"/>
              </a:buClr>
              <a:buSzPct val="125000"/>
            </a:pPr>
            <a:endParaRPr lang="en-US" sz="1400">
              <a:latin typeface="Trebuchet MS" pitchFamily="34" charset="0"/>
            </a:endParaRPr>
          </a:p>
        </p:txBody>
      </p:sp>
      <p:graphicFrame>
        <p:nvGraphicFramePr>
          <p:cNvPr id="50229" name="Group 53"/>
          <p:cNvGraphicFramePr>
            <a:graphicFrameLocks noGrp="1"/>
          </p:cNvGraphicFramePr>
          <p:nvPr>
            <p:ph sz="quarter" idx="2"/>
          </p:nvPr>
        </p:nvGraphicFramePr>
        <p:xfrm>
          <a:off x="762000" y="1676400"/>
          <a:ext cx="7162800" cy="167640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Greater than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 x &gt; 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&lt;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Less than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 x &lt; 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&gt;=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Greater than or equal 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 x &gt;= 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&lt;=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Less than or equal 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 x &lt;= 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209" name="Rectangle 33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Operators – Relational Operators/Conditional Operators</a:t>
            </a:r>
          </a:p>
        </p:txBody>
      </p:sp>
      <p:graphicFrame>
        <p:nvGraphicFramePr>
          <p:cNvPr id="50231" name="Group 55"/>
          <p:cNvGraphicFramePr>
            <a:graphicFrameLocks noGrp="1"/>
          </p:cNvGraphicFramePr>
          <p:nvPr>
            <p:ph sz="quarter" idx="3"/>
          </p:nvPr>
        </p:nvGraphicFramePr>
        <p:xfrm>
          <a:off x="762000" y="4495800"/>
          <a:ext cx="7162800" cy="1005840"/>
        </p:xfrm>
        <a:graphic>
          <a:graphicData uri="http://schemas.openxmlformats.org/drawingml/2006/table">
            <a:tbl>
              <a:tblPr/>
              <a:tblGrid>
                <a:gridCol w="190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&amp;&amp;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Conditional 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(a == 4 &amp;&amp; b == 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||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Conditional 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(a == 4 || b == 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228" name="Rectangle 52"/>
          <p:cNvSpPr>
            <a:spLocks noChangeArrowheads="1"/>
          </p:cNvSpPr>
          <p:nvPr/>
        </p:nvSpPr>
        <p:spPr bwMode="auto">
          <a:xfrm>
            <a:off x="228600" y="4038600"/>
            <a:ext cx="4038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sz="1600">
                <a:latin typeface="Trebuchet MS" pitchFamily="34" charset="0"/>
              </a:rPr>
              <a:t>Conditional Operators	</a:t>
            </a:r>
          </a:p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sz="1400">
              <a:latin typeface="Trebuchet M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FAE9-346A-4036-A60B-03E3E5F77217}" type="slidenum">
              <a:rPr lang="en-US"/>
              <a:pPr/>
              <a:t>11</a:t>
            </a:fld>
            <a:endParaRPr lang="en-US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038600" cy="381000"/>
          </a:xfrm>
        </p:spPr>
        <p:txBody>
          <a:bodyPr/>
          <a:lstStyle/>
          <a:p>
            <a:pPr>
              <a:buClr>
                <a:srgbClr val="FF9900"/>
              </a:buClr>
              <a:buSzPct val="125000"/>
            </a:pPr>
            <a:r>
              <a:rPr lang="en-US" sz="1600">
                <a:latin typeface="Trebuchet MS" pitchFamily="34" charset="0"/>
              </a:rPr>
              <a:t>instanceof Operator		</a:t>
            </a:r>
          </a:p>
          <a:p>
            <a:pPr lvl="1">
              <a:buClr>
                <a:srgbClr val="FF9900"/>
              </a:buClr>
              <a:buSzPct val="125000"/>
            </a:pPr>
            <a:endParaRPr lang="en-US" sz="1400">
              <a:latin typeface="Trebuchet MS" pitchFamily="34" charset="0"/>
            </a:endParaRPr>
          </a:p>
        </p:txBody>
      </p:sp>
      <p:graphicFrame>
        <p:nvGraphicFramePr>
          <p:cNvPr id="51249" name="Group 49"/>
          <p:cNvGraphicFramePr>
            <a:graphicFrameLocks noGrp="1"/>
          </p:cNvGraphicFramePr>
          <p:nvPr>
            <p:ph sz="quarter" idx="2"/>
          </p:nvPr>
        </p:nvGraphicFramePr>
        <p:xfrm>
          <a:off x="762000" y="1676400"/>
          <a:ext cx="7162800" cy="67056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instanceof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Instamce of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If (john instance of person)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229" name="Rectangle 29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Operators – instanceof Operator/Bitwise Operators/shift operators</a:t>
            </a:r>
          </a:p>
        </p:txBody>
      </p:sp>
      <p:graphicFrame>
        <p:nvGraphicFramePr>
          <p:cNvPr id="51266" name="Group 66"/>
          <p:cNvGraphicFramePr>
            <a:graphicFrameLocks noGrp="1"/>
          </p:cNvGraphicFramePr>
          <p:nvPr>
            <p:ph sz="quarter" idx="3"/>
          </p:nvPr>
        </p:nvGraphicFramePr>
        <p:xfrm>
          <a:off x="762000" y="2971800"/>
          <a:ext cx="7162800" cy="1722120"/>
        </p:xfrm>
        <a:graphic>
          <a:graphicData uri="http://schemas.openxmlformats.org/drawingml/2006/table">
            <a:tbl>
              <a:tblPr/>
              <a:tblGrid>
                <a:gridCol w="190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&amp;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Bitwise 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001 &amp; 111 =  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|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Bitwise 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001 | 110 = 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Bitwise ex-or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001 ^ 110 = 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~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Reverse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~011 = -10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248" name="Rectangle 48"/>
          <p:cNvSpPr>
            <a:spLocks noChangeArrowheads="1"/>
          </p:cNvSpPr>
          <p:nvPr/>
        </p:nvSpPr>
        <p:spPr bwMode="auto">
          <a:xfrm>
            <a:off x="304800" y="2590800"/>
            <a:ext cx="4038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sz="1600">
                <a:latin typeface="Trebuchet MS" pitchFamily="34" charset="0"/>
              </a:rPr>
              <a:t>Bitwise Operators	</a:t>
            </a:r>
          </a:p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sz="1400">
              <a:latin typeface="Trebuchet MS" pitchFamily="34" charset="0"/>
            </a:endParaRPr>
          </a:p>
        </p:txBody>
      </p:sp>
      <p:sp>
        <p:nvSpPr>
          <p:cNvPr id="51267" name="Rectangle 67"/>
          <p:cNvSpPr>
            <a:spLocks noChangeArrowheads="1"/>
          </p:cNvSpPr>
          <p:nvPr/>
        </p:nvSpPr>
        <p:spPr bwMode="auto">
          <a:xfrm>
            <a:off x="304800" y="4876800"/>
            <a:ext cx="4038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sz="1600">
                <a:latin typeface="Trebuchet MS" pitchFamily="34" charset="0"/>
              </a:rPr>
              <a:t>Shift Operators	</a:t>
            </a:r>
          </a:p>
          <a:p>
            <a:pPr marL="742950" lvl="1" indent="-28575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sz="1400">
              <a:latin typeface="Trebuchet MS" pitchFamily="34" charset="0"/>
            </a:endParaRPr>
          </a:p>
        </p:txBody>
      </p:sp>
      <p:graphicFrame>
        <p:nvGraphicFramePr>
          <p:cNvPr id="51300" name="Group 100"/>
          <p:cNvGraphicFramePr>
            <a:graphicFrameLocks noGrp="1"/>
          </p:cNvGraphicFramePr>
          <p:nvPr/>
        </p:nvGraphicFramePr>
        <p:xfrm>
          <a:off x="685800" y="5243513"/>
          <a:ext cx="7162800" cy="1386840"/>
        </p:xfrm>
        <a:graphic>
          <a:graphicData uri="http://schemas.openxmlformats.org/drawingml/2006/table">
            <a:tbl>
              <a:tblPr/>
              <a:tblGrid>
                <a:gridCol w="190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&gt;&gt;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Right shift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&gt;&gt; 1 = 100 &gt;&gt; 1 =  010 =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&lt;&lt;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Left Shift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&lt;&lt; 1 = 100 &lt;&lt; 1 = 1000 =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&gt;&gt;&gt;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Unsigned Right shift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&gt;&gt;&gt; 1 = 100 &gt;&gt;&gt; 1 = 010 =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2BB7-C1B2-4693-AA56-E0D8B4F0FE03}" type="slidenum">
              <a:rPr lang="en-US"/>
              <a:pPr/>
              <a:t>12</a:t>
            </a:fld>
            <a:endParaRPr lang="en-US"/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Arrays and Strings – Arrays Declaration/Construction/Initialization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b="1">
                <a:latin typeface="Trebuchet MS" pitchFamily="34" charset="0"/>
              </a:rPr>
              <a:t>Array Declaration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           int myArray[];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	      int[] myArray;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           double[][] doubleArray; 	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endParaRPr lang="en-US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b="1">
                <a:latin typeface="Trebuchet MS" pitchFamily="34" charset="0"/>
              </a:rPr>
              <a:t>Array Construction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		int[] myArray = new int[5];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             int[][] twoDimArray = new int[5][4]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endParaRPr lang="en-US">
              <a:latin typeface="Trebuchet MS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b="1">
                <a:latin typeface="Trebuchet MS" pitchFamily="34" charset="0"/>
              </a:rPr>
              <a:t>Array Initialization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		int[] myArray = new int[5];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		for (int I = 0; I &lt; 5; i++) {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		   myArray[i] = i++;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             }</a:t>
            </a:r>
            <a:br>
              <a:rPr lang="en-US">
                <a:latin typeface="Trebuchet MS" pitchFamily="34" charset="0"/>
              </a:rPr>
            </a:br>
            <a:r>
              <a:rPr lang="en-US">
                <a:latin typeface="Trebuchet MS" pitchFamily="34" charset="0"/>
              </a:rPr>
              <a:t> 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</a:pPr>
            <a:r>
              <a:rPr lang="en-US">
                <a:latin typeface="Trebuchet MS" pitchFamily="34" charset="0"/>
              </a:rPr>
              <a:t>             int[5] myArray = {1,2,3,4,5};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–"/>
            </a:pPr>
            <a:endParaRPr lang="en-US" sz="1600">
              <a:latin typeface="Trebuchet MS" pitchFamily="34" charset="0"/>
            </a:endParaRP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5867400" y="2743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6248400" y="2743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7391400" y="2743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6629400" y="2743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7010400" y="2743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61451" name="Rectangle 11"/>
          <p:cNvSpPr>
            <a:spLocks noChangeArrowheads="1"/>
          </p:cNvSpPr>
          <p:nvPr/>
        </p:nvSpPr>
        <p:spPr bwMode="auto">
          <a:xfrm>
            <a:off x="7772400" y="27432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6248400" y="41910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7</a:t>
            </a: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6629400" y="41910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7010400" y="45720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7010400" y="41910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6248400" y="45720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6629400" y="45720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3018650" y="66308288"/>
              <a:ext cx="0" cy="0"/>
            </p14:xfrm>
          </p:contentPart>
        </mc:Choice>
        <mc:Fallback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018650" y="66308288"/>
                <a:ext cx="0" cy="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964B-73E0-4A88-B4EE-51DD3BCA88B9}" type="slidenum">
              <a:rPr lang="en-US"/>
              <a:pPr/>
              <a:t>13</a:t>
            </a:fld>
            <a:endParaRPr lang="en-US"/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Arrays and Strings – Arrays Representation</a:t>
            </a:r>
          </a:p>
        </p:txBody>
      </p:sp>
      <p:sp>
        <p:nvSpPr>
          <p:cNvPr id="62469" name="AutoShape 5"/>
          <p:cNvSpPr>
            <a:spLocks noChangeArrowheads="1"/>
          </p:cNvSpPr>
          <p:nvPr/>
        </p:nvSpPr>
        <p:spPr bwMode="auto">
          <a:xfrm>
            <a:off x="1981200" y="1828800"/>
            <a:ext cx="5486400" cy="3505200"/>
          </a:xfrm>
          <a:prstGeom prst="cloudCallout">
            <a:avLst>
              <a:gd name="adj1" fmla="val -33421"/>
              <a:gd name="adj2" fmla="val 6870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2590800" y="5105400"/>
            <a:ext cx="14478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2471" name="Oval 7"/>
          <p:cNvSpPr>
            <a:spLocks noChangeArrowheads="1"/>
          </p:cNvSpPr>
          <p:nvPr/>
        </p:nvSpPr>
        <p:spPr bwMode="auto">
          <a:xfrm>
            <a:off x="3581400" y="3048000"/>
            <a:ext cx="26670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492" name="Group 28"/>
          <p:cNvGraphicFramePr>
            <a:graphicFrameLocks noGrp="1"/>
          </p:cNvGraphicFramePr>
          <p:nvPr>
            <p:ph/>
          </p:nvPr>
        </p:nvGraphicFramePr>
        <p:xfrm>
          <a:off x="4114800" y="3352800"/>
          <a:ext cx="1447800" cy="24384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493" name="Text Box 29"/>
          <p:cNvSpPr txBox="1">
            <a:spLocks noChangeArrowheads="1"/>
          </p:cNvSpPr>
          <p:nvPr/>
        </p:nvSpPr>
        <p:spPr bwMode="auto">
          <a:xfrm>
            <a:off x="746125" y="5522913"/>
            <a:ext cx="1035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myArray</a:t>
            </a:r>
          </a:p>
        </p:txBody>
      </p:sp>
      <p:cxnSp>
        <p:nvCxnSpPr>
          <p:cNvPr id="62496" name="AutoShape 32"/>
          <p:cNvCxnSpPr>
            <a:cxnSpLocks noChangeShapeType="1"/>
            <a:endCxn id="62471" idx="1"/>
          </p:cNvCxnSpPr>
          <p:nvPr/>
        </p:nvCxnSpPr>
        <p:spPr bwMode="auto">
          <a:xfrm flipV="1">
            <a:off x="1219200" y="3181350"/>
            <a:ext cx="2752725" cy="2228850"/>
          </a:xfrm>
          <a:prstGeom prst="curvedConnector4">
            <a:avLst>
              <a:gd name="adj1" fmla="val 42907"/>
              <a:gd name="adj2" fmla="val 11624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62497" name="Text Box 33"/>
          <p:cNvSpPr txBox="1">
            <a:spLocks noChangeArrowheads="1"/>
          </p:cNvSpPr>
          <p:nvPr/>
        </p:nvSpPr>
        <p:spPr bwMode="auto">
          <a:xfrm>
            <a:off x="3581400" y="579120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int[ ] myArray =  {1,2,3,4,5}</a:t>
            </a:r>
          </a:p>
        </p:txBody>
      </p:sp>
      <p:sp>
        <p:nvSpPr>
          <p:cNvPr id="62498" name="Text Box 34"/>
          <p:cNvSpPr txBox="1">
            <a:spLocks noChangeArrowheads="1"/>
          </p:cNvSpPr>
          <p:nvPr/>
        </p:nvSpPr>
        <p:spPr bwMode="auto">
          <a:xfrm>
            <a:off x="4251325" y="1560513"/>
            <a:ext cx="730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Heap</a:t>
            </a:r>
          </a:p>
        </p:txBody>
      </p:sp>
      <p:sp>
        <p:nvSpPr>
          <p:cNvPr id="62499" name="AutoShape 35"/>
          <p:cNvSpPr>
            <a:spLocks noChangeArrowheads="1"/>
          </p:cNvSpPr>
          <p:nvPr/>
        </p:nvSpPr>
        <p:spPr bwMode="auto">
          <a:xfrm>
            <a:off x="1981200" y="1828800"/>
            <a:ext cx="5486400" cy="3505200"/>
          </a:xfrm>
          <a:prstGeom prst="cloudCallout">
            <a:avLst>
              <a:gd name="adj1" fmla="val -33421"/>
              <a:gd name="adj2" fmla="val 6870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2500" name="Rectangle 36"/>
          <p:cNvSpPr>
            <a:spLocks noChangeArrowheads="1"/>
          </p:cNvSpPr>
          <p:nvPr/>
        </p:nvSpPr>
        <p:spPr bwMode="auto">
          <a:xfrm>
            <a:off x="2590800" y="5105400"/>
            <a:ext cx="14478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2501" name="Oval 37"/>
          <p:cNvSpPr>
            <a:spLocks noChangeArrowheads="1"/>
          </p:cNvSpPr>
          <p:nvPr/>
        </p:nvSpPr>
        <p:spPr bwMode="auto">
          <a:xfrm>
            <a:off x="3581400" y="3048000"/>
            <a:ext cx="26670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8F5A-AA07-4423-BF08-50E7EB2A3AB6}" type="slidenum">
              <a:rPr lang="en-US"/>
              <a:pPr/>
              <a:t>14</a:t>
            </a:fld>
            <a:endParaRPr lang="en-US"/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>
                <a:solidFill>
                  <a:schemeClr val="bg1"/>
                </a:solidFill>
                <a:latin typeface="Trebuchet MS" pitchFamily="34" charset="0"/>
              </a:rPr>
              <a:t>Arrays and Strings – Strings</a:t>
            </a: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609600" y="1905000"/>
            <a:ext cx="33607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Trebuchet MS" pitchFamily="34" charset="0"/>
              </a:rPr>
              <a:t>String myStr1 = new String(“abc”);</a:t>
            </a:r>
          </a:p>
          <a:p>
            <a:r>
              <a:rPr lang="en-US" sz="1600">
                <a:latin typeface="Trebuchet MS" pitchFamily="34" charset="0"/>
              </a:rPr>
              <a:t>String myStr2 = “abc”;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5181600" cy="457200"/>
          </a:xfrm>
          <a:noFill/>
          <a:ln/>
        </p:spPr>
        <p:txBody>
          <a:bodyPr>
            <a:normAutofit fontScale="92500" lnSpcReduction="10000"/>
          </a:bodyPr>
          <a:lstStyle/>
          <a:p>
            <a:pPr>
              <a:buClr>
                <a:srgbClr val="FF9900"/>
              </a:buClr>
              <a:buSzPct val="125000"/>
            </a:pPr>
            <a:r>
              <a:rPr lang="en-US" sz="1800" b="1">
                <a:latin typeface="Trebuchet MS" pitchFamily="34" charset="0"/>
              </a:rPr>
              <a:t>Creating String Objects</a:t>
            </a:r>
            <a:r>
              <a:rPr lang="en-US" sz="2800" b="1"/>
              <a:t>	</a:t>
            </a:r>
          </a:p>
          <a:p>
            <a:pPr lvl="1">
              <a:buClr>
                <a:srgbClr val="FF9900"/>
              </a:buClr>
              <a:buSzPct val="125000"/>
            </a:pPr>
            <a:endParaRPr lang="en-US" sz="1400" b="1">
              <a:latin typeface="Trebuchet MS" pitchFamily="34" charset="0"/>
            </a:endParaRPr>
          </a:p>
        </p:txBody>
      </p:sp>
      <p:sp>
        <p:nvSpPr>
          <p:cNvPr id="64524" name="Rectangle 12"/>
          <p:cNvSpPr>
            <a:spLocks noChangeArrowheads="1"/>
          </p:cNvSpPr>
          <p:nvPr/>
        </p:nvSpPr>
        <p:spPr bwMode="auto">
          <a:xfrm>
            <a:off x="304800" y="29718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9900"/>
              </a:buClr>
              <a:buSzPct val="125000"/>
              <a:buFontTx/>
              <a:buChar char="•"/>
            </a:pPr>
            <a:r>
              <a:rPr lang="en-US" b="1">
                <a:latin typeface="Trebuchet MS" pitchFamily="34" charset="0"/>
              </a:rPr>
              <a:t>Most frequently used String methods</a:t>
            </a:r>
            <a:endParaRPr lang="en-US" sz="1600" b="1">
              <a:latin typeface="Trebuchet MS" pitchFamily="34" charset="0"/>
            </a:endParaRPr>
          </a:p>
        </p:txBody>
      </p:sp>
      <p:sp>
        <p:nvSpPr>
          <p:cNvPr id="64525" name="Text Box 13"/>
          <p:cNvSpPr txBox="1">
            <a:spLocks noChangeArrowheads="1"/>
          </p:cNvSpPr>
          <p:nvPr/>
        </p:nvSpPr>
        <p:spPr bwMode="auto">
          <a:xfrm>
            <a:off x="685800" y="3505200"/>
            <a:ext cx="3994150" cy="253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-"/>
            </a:pPr>
            <a:r>
              <a:rPr lang="en-US" sz="1600">
                <a:latin typeface="Trebuchet MS" pitchFamily="34" charset="0"/>
              </a:rPr>
              <a:t>  charAt (int index)</a:t>
            </a:r>
          </a:p>
          <a:p>
            <a:pPr>
              <a:buFontTx/>
              <a:buChar char="-"/>
            </a:pPr>
            <a:r>
              <a:rPr lang="en-US" sz="1600">
                <a:latin typeface="Trebuchet MS" pitchFamily="34" charset="0"/>
              </a:rPr>
              <a:t>  compareTo (String str2)</a:t>
            </a:r>
          </a:p>
          <a:p>
            <a:pPr>
              <a:buFontTx/>
              <a:buChar char="-"/>
            </a:pPr>
            <a:r>
              <a:rPr lang="en-US" sz="1600">
                <a:latin typeface="Trebuchet MS" pitchFamily="34" charset="0"/>
              </a:rPr>
              <a:t>  concat (String str2)</a:t>
            </a:r>
          </a:p>
          <a:p>
            <a:pPr>
              <a:buFontTx/>
              <a:buChar char="-"/>
            </a:pPr>
            <a:r>
              <a:rPr lang="en-US" sz="1600">
                <a:latin typeface="Trebuchet MS" pitchFamily="34" charset="0"/>
              </a:rPr>
              <a:t>  equals (String str2)</a:t>
            </a:r>
          </a:p>
          <a:p>
            <a:pPr>
              <a:buFontTx/>
              <a:buChar char="-"/>
            </a:pPr>
            <a:r>
              <a:rPr lang="en-US" sz="1600">
                <a:latin typeface="Trebuchet MS" pitchFamily="34" charset="0"/>
              </a:rPr>
              <a:t>  indexOf (int ch)</a:t>
            </a:r>
          </a:p>
          <a:p>
            <a:pPr>
              <a:buFontTx/>
              <a:buChar char="-"/>
            </a:pPr>
            <a:r>
              <a:rPr lang="en-US" sz="1600">
                <a:latin typeface="Trebuchet MS" pitchFamily="34" charset="0"/>
              </a:rPr>
              <a:t>  length()</a:t>
            </a:r>
          </a:p>
          <a:p>
            <a:pPr>
              <a:buFontTx/>
              <a:buChar char="-"/>
            </a:pPr>
            <a:r>
              <a:rPr lang="en-US" sz="1600">
                <a:latin typeface="Trebuchet MS" pitchFamily="34" charset="0"/>
              </a:rPr>
              <a:t>  replace (char oldChar, char newChar)</a:t>
            </a:r>
          </a:p>
          <a:p>
            <a:pPr>
              <a:buFontTx/>
              <a:buChar char="-"/>
            </a:pPr>
            <a:r>
              <a:rPr lang="en-US" sz="1600">
                <a:latin typeface="Trebuchet MS" pitchFamily="34" charset="0"/>
              </a:rPr>
              <a:t>  substring (int beginIndex, int endIndex)</a:t>
            </a:r>
          </a:p>
          <a:p>
            <a:pPr>
              <a:buFontTx/>
              <a:buChar char="-"/>
            </a:pPr>
            <a:endParaRPr lang="en-US" sz="1600">
              <a:latin typeface="Trebuchet MS" pitchFamily="34" charset="0"/>
            </a:endParaRPr>
          </a:p>
          <a:p>
            <a:pPr>
              <a:buFontTx/>
              <a:buChar char="-"/>
            </a:pPr>
            <a:endParaRPr lang="en-US" sz="1600">
              <a:latin typeface="Trebuchet MS" pitchFamily="34" charset="0"/>
            </a:endParaRPr>
          </a:p>
        </p:txBody>
      </p:sp>
      <p:sp>
        <p:nvSpPr>
          <p:cNvPr id="64526" name="Oval 14"/>
          <p:cNvSpPr>
            <a:spLocks noChangeArrowheads="1"/>
          </p:cNvSpPr>
          <p:nvPr/>
        </p:nvSpPr>
        <p:spPr bwMode="auto">
          <a:xfrm>
            <a:off x="5562600" y="1828800"/>
            <a:ext cx="2057400" cy="3124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527" name="Text Box 15"/>
          <p:cNvSpPr txBox="1">
            <a:spLocks noChangeArrowheads="1"/>
          </p:cNvSpPr>
          <p:nvPr/>
        </p:nvSpPr>
        <p:spPr bwMode="auto">
          <a:xfrm>
            <a:off x="6324600" y="2438400"/>
            <a:ext cx="685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abc</a:t>
            </a:r>
          </a:p>
        </p:txBody>
      </p:sp>
      <p:cxnSp>
        <p:nvCxnSpPr>
          <p:cNvPr id="64528" name="AutoShape 16"/>
          <p:cNvCxnSpPr>
            <a:cxnSpLocks noChangeShapeType="1"/>
          </p:cNvCxnSpPr>
          <p:nvPr/>
        </p:nvCxnSpPr>
        <p:spPr bwMode="auto">
          <a:xfrm>
            <a:off x="3886200" y="2209800"/>
            <a:ext cx="2460625" cy="40798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64529" name="AutoShape 17"/>
          <p:cNvCxnSpPr>
            <a:cxnSpLocks noChangeShapeType="1"/>
            <a:endCxn id="64527" idx="2"/>
          </p:cNvCxnSpPr>
          <p:nvPr/>
        </p:nvCxnSpPr>
        <p:spPr bwMode="auto">
          <a:xfrm>
            <a:off x="2590800" y="2362200"/>
            <a:ext cx="4076700" cy="452438"/>
          </a:xfrm>
          <a:prstGeom prst="curvedConnector4">
            <a:avLst>
              <a:gd name="adj1" fmla="val 45796"/>
              <a:gd name="adj2" fmla="val 15017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64530" name="Text Box 18"/>
          <p:cNvSpPr txBox="1">
            <a:spLocks noChangeArrowheads="1"/>
          </p:cNvSpPr>
          <p:nvPr/>
        </p:nvSpPr>
        <p:spPr bwMode="auto">
          <a:xfrm>
            <a:off x="5562600" y="5105400"/>
            <a:ext cx="2457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String Constant Pool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6226AAA7F4B542A10FCC523231F55A" ma:contentTypeVersion="3" ma:contentTypeDescription="Create a new document." ma:contentTypeScope="" ma:versionID="784d34875c8804f0120ac89ceb5bfe3c">
  <xsd:schema xmlns:xsd="http://www.w3.org/2001/XMLSchema" xmlns:xs="http://www.w3.org/2001/XMLSchema" xmlns:p="http://schemas.microsoft.com/office/2006/metadata/properties" xmlns:ns2="86d9dd93-5116-43e5-bce8-674d1673b63e" targetNamespace="http://schemas.microsoft.com/office/2006/metadata/properties" ma:root="true" ma:fieldsID="8f9017261e4237658df159888ddd00b3" ns2:_="">
    <xsd:import namespace="86d9dd93-5116-43e5-bce8-674d1673b6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d9dd93-5116-43e5-bce8-674d1673b6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3F07E0-7F5C-49E9-BDC6-01770D24A5FB}"/>
</file>

<file path=customXml/itemProps2.xml><?xml version="1.0" encoding="utf-8"?>
<ds:datastoreItem xmlns:ds="http://schemas.openxmlformats.org/officeDocument/2006/customXml" ds:itemID="{E42D1D03-19DA-4F88-9DDE-F24E6D68681D}"/>
</file>

<file path=customXml/itemProps3.xml><?xml version="1.0" encoding="utf-8"?>
<ds:datastoreItem xmlns:ds="http://schemas.openxmlformats.org/officeDocument/2006/customXml" ds:itemID="{AB01CEF1-2A56-4702-AA07-A061A37CB422}"/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839</Words>
  <Application>Microsoft Office PowerPoint</Application>
  <PresentationFormat>On-screen Show (4:3)</PresentationFormat>
  <Paragraphs>322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Bernard MT Condensed</vt:lpstr>
      <vt:lpstr>Calibri</vt:lpstr>
      <vt:lpstr>Trebuchet MS</vt:lpstr>
      <vt:lpstr>Office Theme</vt:lpstr>
      <vt:lpstr>JAVA STATEMENTS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ZAHIR</dc:creator>
  <cp:lastModifiedBy>Zahirabbas Mulani</cp:lastModifiedBy>
  <cp:revision>13</cp:revision>
  <dcterms:created xsi:type="dcterms:W3CDTF">2013-01-04T03:42:04Z</dcterms:created>
  <dcterms:modified xsi:type="dcterms:W3CDTF">2026-06-18T05:26:59Z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0x010100316226AAA7F4B542A10FCC523231F55A</vt:lpwstr>
  </property>
</Properties>
</file>