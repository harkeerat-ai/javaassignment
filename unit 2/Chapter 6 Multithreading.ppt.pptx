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34.xml" ContentType="application/vnd.openxmlformats-officedocument.presentationml.slide+xml"/>
  <Override PartName="/ppt/slides/slide3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38.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64.xml" ContentType="application/vnd.openxmlformats-officedocument.presentationml.slide+xml"/>
  <Override PartName="/ppt/slides/slide69.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68.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47.xml" ContentType="application/vnd.openxmlformats-officedocument.presentationml.slide+xml"/>
  <Override PartName="/ppt/slides/slide44.xml" ContentType="application/vnd.openxmlformats-officedocument.presentationml.slide+xml"/>
  <Override PartName="/ppt/slides/slide48.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49.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4.xml" ContentType="application/vnd.openxmlformats-officedocument.presentationml.slideLayout+xml"/>
  <Override PartName="/ppt/notesSlides/notesSlide37.xml" ContentType="application/vnd.openxmlformats-officedocument.presentationml.notesSlide+xml"/>
  <Override PartName="/ppt/notesSlides/notesSlide27.xml" ContentType="application/vnd.openxmlformats-officedocument.presentationml.notesSlide+xml"/>
  <Override PartName="/ppt/notesSlides/notesSlide68.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66.xml" ContentType="application/vnd.openxmlformats-officedocument.presentationml.notesSlide+xml"/>
  <Override PartName="/ppt/notesSlides/notesSlide38.xml" ContentType="application/vnd.openxmlformats-officedocument.presentationml.notesSlide+xml"/>
  <Override PartName="/ppt/notesSlides/notesSlide65.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6.xml" ContentType="application/vnd.openxmlformats-officedocument.presentationml.notesSlide+xml"/>
  <Override PartName="/ppt/notesSlides/notesSlide73.xml" ContentType="application/vnd.openxmlformats-officedocument.presentationml.notesSlide+xml"/>
  <Override PartName="/ppt/notesSlides/notesSlide57.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60.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67.xml" ContentType="application/vnd.openxmlformats-officedocument.presentationml.notesSlide+xml"/>
  <Override PartName="/ppt/notesSlides/notesSlide52.xml" ContentType="application/vnd.openxmlformats-officedocument.presentationml.notesSlide+xml"/>
  <Override PartName="/ppt/notesSlides/notesSlide50.xml" ContentType="application/vnd.openxmlformats-officedocument.presentationml.notesSlide+xml"/>
  <Override PartName="/ppt/notesSlides/notesSlide41.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61.xml" ContentType="application/vnd.openxmlformats-officedocument.presentationml.notesSlide+xml"/>
  <Override PartName="/ppt/notesSlides/notesSlide40.xml" ContentType="application/vnd.openxmlformats-officedocument.presentationml.notesSlide+xml"/>
  <Override PartName="/ppt/notesSlides/notesSlide62.xml" ContentType="application/vnd.openxmlformats-officedocument.presentationml.notesSlide+xml"/>
  <Override PartName="/ppt/notesSlides/notesSlide39.xml" ContentType="application/vnd.openxmlformats-officedocument.presentationml.notesSlide+xml"/>
  <Override PartName="/ppt/notesSlides/notesSlide5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 id="2147483663" r:id="rId2"/>
  </p:sldMasterIdLst>
  <p:notesMasterIdLst>
    <p:notesMasterId r:id="rId7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Lst>
  <p:sldSz cx="9144000" cy="6858000" type="screen4x3"/>
  <p:notesSz cx="6735763" cy="9869488"/>
  <p:embeddedFontLst>
    <p:embeddedFont>
      <p:font typeface="Calibri" panose="020F0502020204030204" pitchFamily="34" charset="0"/>
      <p:regular r:id="rId79"/>
      <p:bold r:id="rId80"/>
      <p:italic r:id="rId81"/>
      <p:boldItalic r:id="rId82"/>
    </p:embeddedFont>
    <p:embeddedFont>
      <p:font typeface="Verdana" panose="020B0604030504040204" pitchFamily="34"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16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6.fntdata"/><Relationship Id="rId89" Type="http://schemas.openxmlformats.org/officeDocument/2006/relationships/theme" Target="theme/theme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1.fntdata"/><Relationship Id="rId5" Type="http://schemas.openxmlformats.org/officeDocument/2006/relationships/slide" Target="slides/slide3.xml"/><Relationship Id="rId90"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2.fntdata"/><Relationship Id="rId85" Type="http://schemas.openxmlformats.org/officeDocument/2006/relationships/font" Target="fonts/font7.fntdata"/><Relationship Id="rId93" Type="http://schemas.openxmlformats.org/officeDocument/2006/relationships/customXml" Target="../customXml/item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5.fntdata"/><Relationship Id="rId88" Type="http://schemas.openxmlformats.org/officeDocument/2006/relationships/viewProps" Target="viewProps.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customXml" Target="../customXml/item2.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font" Target="fonts/font4.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19412" cy="493712"/>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14762" y="0"/>
            <a:ext cx="2919412" cy="493712"/>
          </a:xfrm>
          <a:prstGeom prst="rect">
            <a:avLst/>
          </a:prstGeom>
          <a:noFill/>
          <a:ln>
            <a:noFill/>
          </a:ln>
        </p:spPr>
        <p:txBody>
          <a:bodyPr spcFirstLastPara="1" wrap="square" lIns="91425" tIns="91425" rIns="91425" bIns="91425" anchor="t" anchorCtr="0"/>
          <a:lstStyle>
            <a:lvl1pPr marL="0" marR="0" lvl="0" indent="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3100" y="4687887"/>
            <a:ext cx="5389562" cy="4441825"/>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374187"/>
            <a:ext cx="2919412" cy="493712"/>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6" name="Google Shape;116;p5: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117" name="Google Shape;117;p5: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a:t>
            </a:fld>
            <a:endParaRPr/>
          </a:p>
        </p:txBody>
      </p:sp>
      <p:sp>
        <p:nvSpPr>
          <p:cNvPr id="118" name="Google Shape;118;p5: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24" name="Google Shape;124;p7: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125" name="Google Shape;125;p7: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31" name="Google Shape;131;p8: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Threads make possible the implementation of programs that seem to perform multiple tasks at the same time (e.g. multi-threaded Web servers)</a:t>
            </a:r>
            <a:endParaRPr/>
          </a:p>
          <a:p>
            <a:pPr marL="0" marR="0" lvl="0" indent="0" algn="l" rtl="0">
              <a:spcBef>
                <a:spcPts val="0"/>
              </a:spcBef>
              <a:spcAft>
                <a:spcPts val="0"/>
              </a:spcAft>
              <a:buNone/>
            </a:pPr>
            <a:endParaRPr sz="1800" b="0" i="0" u="none" strike="noStrike" cap="none"/>
          </a:p>
        </p:txBody>
      </p:sp>
      <p:sp>
        <p:nvSpPr>
          <p:cNvPr id="132" name="Google Shape;132;p8: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a:t>
            </a:fld>
            <a:endParaRPr/>
          </a:p>
        </p:txBody>
      </p:sp>
      <p:sp>
        <p:nvSpPr>
          <p:cNvPr id="133" name="Google Shape;133;p8: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9: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0" name="Google Shape;150;p9: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Thread are also termed as Lightweight process – It is considered so because it runs within the context of a full-blown program and takes advantage of the resources allocated for that program and the program's environment. </a:t>
            </a:r>
            <a:endParaRPr/>
          </a:p>
        </p:txBody>
      </p:sp>
      <p:sp>
        <p:nvSpPr>
          <p:cNvPr id="151" name="Google Shape;151;p9: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a:t>
            </a:fld>
            <a:endParaRPr/>
          </a:p>
        </p:txBody>
      </p:sp>
      <p:sp>
        <p:nvSpPr>
          <p:cNvPr id="152" name="Google Shape;152;p9: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67" name="Google Shape;167;p10: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168" name="Google Shape;168;p10: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81" name="Google Shape;181;p11: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The diagram showing the working of a single thread.</a:t>
            </a:r>
            <a:endParaRPr/>
          </a:p>
        </p:txBody>
      </p:sp>
      <p:sp>
        <p:nvSpPr>
          <p:cNvPr id="182" name="Google Shape;182;p11: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7</a:t>
            </a:fld>
            <a:endParaRPr/>
          </a:p>
        </p:txBody>
      </p:sp>
      <p:sp>
        <p:nvSpPr>
          <p:cNvPr id="183" name="Google Shape;183;p11: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05" name="Google Shape;205;p1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The diagram show the working of multiple thread. </a:t>
            </a:r>
            <a:endParaRPr/>
          </a:p>
        </p:txBody>
      </p:sp>
      <p:sp>
        <p:nvSpPr>
          <p:cNvPr id="206" name="Google Shape;206;p12: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8</a:t>
            </a:fld>
            <a:endParaRPr/>
          </a:p>
        </p:txBody>
      </p:sp>
      <p:sp>
        <p:nvSpPr>
          <p:cNvPr id="207" name="Google Shape;207;p12: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4: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43" name="Google Shape;243;p14: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1" indent="0" algn="l" rtl="0">
              <a:spcBef>
                <a:spcPts val="0"/>
              </a:spcBef>
              <a:spcAft>
                <a:spcPts val="0"/>
              </a:spcAft>
              <a:buFont typeface="Arial"/>
              <a:buNone/>
            </a:pPr>
            <a:r>
              <a:rPr lang="en-US" sz="1800" b="0" i="0" u="none" strike="noStrike" cap="none"/>
              <a:t>For example, a Central Processing Unit (CPU) performs various tasks simultaneously, such as writing and printing a document, installing a software, and downloading a file from net etc. All these processes are handled by separate threads. </a:t>
            </a:r>
            <a:endParaRPr/>
          </a:p>
          <a:p>
            <a:pPr marL="0" marR="0" lvl="0" indent="0" algn="l" rtl="0">
              <a:spcBef>
                <a:spcPts val="0"/>
              </a:spcBef>
              <a:spcAft>
                <a:spcPts val="0"/>
              </a:spcAft>
              <a:buNone/>
            </a:pPr>
            <a:endParaRPr sz="1800" b="0" i="0" u="none" strike="noStrike" cap="none"/>
          </a:p>
        </p:txBody>
      </p:sp>
      <p:sp>
        <p:nvSpPr>
          <p:cNvPr id="244" name="Google Shape;244;p14: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9</a:t>
            </a:fld>
            <a:endParaRPr/>
          </a:p>
        </p:txBody>
      </p:sp>
      <p:sp>
        <p:nvSpPr>
          <p:cNvPr id="245" name="Google Shape;245;p14: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5: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63" name="Google Shape;263;p15: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264" name="Google Shape;264;p15: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6: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80" name="Google Shape;280;p16: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Process Based MultiTasking : Process-based multitasking is running two programs concurrently. Programmers refer to a program as a </a:t>
            </a:r>
            <a:r>
              <a:rPr lang="en-US" sz="1800" b="0" i="1" u="none" strike="noStrike" cap="none"/>
              <a:t>process</a:t>
            </a:r>
            <a:r>
              <a:rPr lang="en-US" sz="1800" b="0" i="0" u="none" strike="noStrike" cap="none"/>
              <a:t>. Process-based multitasking is can be called as program-based multitasking.</a:t>
            </a:r>
            <a:endParaRPr/>
          </a:p>
          <a:p>
            <a:pPr marL="0" marR="0" lvl="0" indent="0" algn="l" rtl="0">
              <a:spcBef>
                <a:spcPts val="0"/>
              </a:spcBef>
              <a:spcAft>
                <a:spcPts val="0"/>
              </a:spcAft>
              <a:buFont typeface="Arial"/>
              <a:buNone/>
            </a:pPr>
            <a:r>
              <a:rPr lang="en-US" sz="1800" b="0" i="0" u="none" strike="noStrike" cap="none"/>
              <a:t>Thread Based Multitasking : Thread-based multitasking is having a program perform two tasks at the same time. For example, a word processing program can check the spelling of words in a document while you write the document. This is thread-based multitasking.</a:t>
            </a:r>
            <a:endParaRPr/>
          </a:p>
          <a:p>
            <a:pPr marL="0" marR="0" lvl="0" indent="0" algn="l" rtl="0">
              <a:spcBef>
                <a:spcPts val="0"/>
              </a:spcBef>
              <a:spcAft>
                <a:spcPts val="0"/>
              </a:spcAft>
              <a:buFont typeface="Arial"/>
              <a:buNone/>
            </a:pPr>
            <a:r>
              <a:rPr lang="en-US" sz="1800" b="0" i="0" u="none" strike="noStrike" cap="none"/>
              <a:t>A good way to remember the difference between process-based multitasking and thread-based multitasking is to think of process-based as working with multiple programs and thread-based as working with parts of one program.</a:t>
            </a:r>
            <a:endParaRPr/>
          </a:p>
        </p:txBody>
      </p:sp>
      <p:sp>
        <p:nvSpPr>
          <p:cNvPr id="281" name="Google Shape;281;p16: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11</a:t>
            </a:fld>
            <a:endParaRPr/>
          </a:p>
        </p:txBody>
      </p:sp>
      <p:sp>
        <p:nvSpPr>
          <p:cNvPr id="282" name="Google Shape;282;p16: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7: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294" name="Google Shape;294;p17: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Process Based MultiTasking : Process-based multitasking is running two programs concurrently. Programmers refer to a program as a </a:t>
            </a:r>
            <a:r>
              <a:rPr lang="en-US" sz="1800" b="0" i="1" u="none" strike="noStrike" cap="none"/>
              <a:t>process</a:t>
            </a:r>
            <a:r>
              <a:rPr lang="en-US" sz="1800" b="0" i="0" u="none" strike="noStrike" cap="none"/>
              <a:t>. Process-based multitasking is can be called as program-based multitasking.</a:t>
            </a:r>
            <a:endParaRPr/>
          </a:p>
          <a:p>
            <a:pPr marL="0" marR="0" lvl="0" indent="0" algn="l" rtl="0">
              <a:spcBef>
                <a:spcPts val="0"/>
              </a:spcBef>
              <a:spcAft>
                <a:spcPts val="0"/>
              </a:spcAft>
              <a:buFont typeface="Arial"/>
              <a:buNone/>
            </a:pPr>
            <a:r>
              <a:rPr lang="en-US" sz="1800" b="0" i="0" u="none" strike="noStrike" cap="none"/>
              <a:t>Process-based multitasking has a larger overhead than thread-based multitasking. In process-based multitasking, each process requires its own address space in memory. </a:t>
            </a:r>
            <a:endParaRPr/>
          </a:p>
          <a:p>
            <a:pPr marL="0" marR="0" lvl="0" indent="0" algn="l" rtl="0">
              <a:spcBef>
                <a:spcPts val="0"/>
              </a:spcBef>
              <a:spcAft>
                <a:spcPts val="0"/>
              </a:spcAft>
              <a:buFont typeface="Arial"/>
              <a:buNone/>
            </a:pPr>
            <a:r>
              <a:rPr lang="en-US" sz="1800" b="0" i="0" u="none" strike="noStrike" cap="none"/>
              <a:t>The operating system requires a significant amount of CPU time to switch from one process to another process. This is known as context-switching.</a:t>
            </a:r>
            <a:endParaRPr/>
          </a:p>
        </p:txBody>
      </p:sp>
      <p:sp>
        <p:nvSpPr>
          <p:cNvPr id="295" name="Google Shape;295;p17: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12</a:t>
            </a:fld>
            <a:endParaRPr/>
          </a:p>
        </p:txBody>
      </p:sp>
      <p:sp>
        <p:nvSpPr>
          <p:cNvPr id="296" name="Google Shape;296;p17: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8: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05" name="Google Shape;305;p18: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Thread Based Multitasking : Thread-based multitasking is having a program perform two tasks at the same time. For example, a word processing program can check the spelling of words in a document while you write the document. </a:t>
            </a:r>
            <a:endParaRPr/>
          </a:p>
          <a:p>
            <a:pPr marL="0" marR="0" lvl="0" indent="0" algn="l" rtl="0">
              <a:spcBef>
                <a:spcPts val="0"/>
              </a:spcBef>
              <a:spcAft>
                <a:spcPts val="0"/>
              </a:spcAft>
              <a:buFont typeface="Arial"/>
              <a:buNone/>
            </a:pPr>
            <a:r>
              <a:rPr lang="en-US" sz="1800" b="0" i="0" u="none" strike="noStrike" cap="none"/>
              <a:t>Thread-based multitasking share the same address space in memory because they share the same program. This also has an impact on context switching, because switching from one part of the program to another happens within the same address space in memory. </a:t>
            </a:r>
            <a:endParaRPr/>
          </a:p>
        </p:txBody>
      </p:sp>
      <p:sp>
        <p:nvSpPr>
          <p:cNvPr id="306" name="Google Shape;306;p18: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13</a:t>
            </a:fld>
            <a:endParaRPr/>
          </a:p>
        </p:txBody>
      </p:sp>
      <p:sp>
        <p:nvSpPr>
          <p:cNvPr id="307" name="Google Shape;307;p18: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9: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6" name="Google Shape;316;p19: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1" i="0" u="none" strike="noStrike" cap="none"/>
              <a:t>Race Condition</a:t>
            </a:r>
            <a:r>
              <a:rPr lang="en-US" sz="1800" b="0" i="0" u="none" strike="noStrike" cap="none"/>
              <a:t> : Two or more threads access to same object and each call a method that modifier the state of the object. Corrupted object result!</a:t>
            </a:r>
            <a:endParaRPr/>
          </a:p>
          <a:p>
            <a:pPr marL="0" marR="0" lvl="0" indent="0" algn="l" rtl="0">
              <a:spcBef>
                <a:spcPts val="0"/>
              </a:spcBef>
              <a:spcAft>
                <a:spcPts val="0"/>
              </a:spcAft>
              <a:buFont typeface="Arial"/>
              <a:buNone/>
            </a:pPr>
            <a:r>
              <a:rPr lang="en-US" sz="1800" b="1" i="1" u="none" strike="noStrike" cap="none"/>
              <a:t>Deadlock</a:t>
            </a:r>
            <a:r>
              <a:rPr lang="en-US" sz="1800" b="0" i="0" u="none" strike="noStrike" cap="none"/>
              <a:t> describes a situation where two or more threads are blocked forever, waiting for each other. </a:t>
            </a:r>
            <a:endParaRPr sz="1800" b="0" i="0" u="none" strike="noStrike" cap="none"/>
          </a:p>
          <a:p>
            <a:pPr marL="0" marR="0" lvl="0" indent="0" algn="l" rtl="0">
              <a:spcBef>
                <a:spcPts val="0"/>
              </a:spcBef>
              <a:spcAft>
                <a:spcPts val="0"/>
              </a:spcAft>
              <a:buFont typeface="Arial"/>
              <a:buNone/>
            </a:pPr>
            <a:r>
              <a:rPr lang="en-US" sz="1800" b="1" i="1" u="none" strike="noStrike" cap="none"/>
              <a:t>Starvation</a:t>
            </a:r>
            <a:r>
              <a:rPr lang="en-US" sz="1800" b="0" i="0" u="none" strike="noStrike" cap="none"/>
              <a:t> describes a situation where a thread is unable to gain regular access to shared resources and is unable to make progress. This happens when shared resources are made unavailable for long periods by "greedy" threads. For example, suppose an object provides a synchronized method that often takes a long time to return. If one thread invokes this method frequently, other threads that also need frequent synchronized access to the same object will often be blocked. </a:t>
            </a:r>
            <a:endParaRPr/>
          </a:p>
          <a:p>
            <a:pPr marL="0" marR="0" lvl="0" indent="0" algn="l" rtl="0">
              <a:spcBef>
                <a:spcPts val="0"/>
              </a:spcBef>
              <a:spcAft>
                <a:spcPts val="0"/>
              </a:spcAft>
              <a:buFont typeface="Arial"/>
              <a:buNone/>
            </a:pPr>
            <a:r>
              <a:rPr lang="en-US" sz="1800" b="1" i="0" u="none" strike="noStrike" cap="none"/>
              <a:t>Livelock</a:t>
            </a:r>
            <a:endParaRPr/>
          </a:p>
          <a:p>
            <a:pPr marL="0" marR="0" lvl="0" indent="0" algn="l" rtl="0">
              <a:spcBef>
                <a:spcPts val="0"/>
              </a:spcBef>
              <a:spcAft>
                <a:spcPts val="0"/>
              </a:spcAft>
              <a:buFont typeface="Arial"/>
              <a:buNone/>
            </a:pPr>
            <a:r>
              <a:rPr lang="en-US" sz="1800" b="0" i="0" u="none" strike="noStrike" cap="none"/>
              <a:t>A thread often acts in response to the action of another thread. If the other thread's action is also a response to the action of another thread, then </a:t>
            </a:r>
            <a:r>
              <a:rPr lang="en-US" sz="1800" b="0" i="1" u="none" strike="noStrike" cap="none"/>
              <a:t>livelock</a:t>
            </a:r>
            <a:r>
              <a:rPr lang="en-US" sz="1800" b="0" i="0" u="none" strike="noStrike" cap="none"/>
              <a:t> may result. As with deadlock, livelocked threads are unable to make further progress. However, the threads are not blocked — they are simply too busy responding to each other to resume work. This is comparable to two people attempting to pass each other in a corridor. Joy moves to his left to let Raj pass, while Raj moves to his right to let Joy pass. Seeing that they are still blocking each other, Joy moves to his right, while Raj moves to his left. They're still blocking each other, so... </a:t>
            </a:r>
            <a:endParaRPr/>
          </a:p>
        </p:txBody>
      </p:sp>
      <p:sp>
        <p:nvSpPr>
          <p:cNvPr id="317" name="Google Shape;317;p19: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14</a:t>
            </a:fld>
            <a:endParaRPr/>
          </a:p>
        </p:txBody>
      </p:sp>
      <p:sp>
        <p:nvSpPr>
          <p:cNvPr id="318" name="Google Shape;318;p19: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24" name="Google Shape;324;p20: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325" name="Google Shape;325;p20: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15</a:t>
            </a:fld>
            <a:endParaRPr/>
          </a:p>
        </p:txBody>
      </p:sp>
      <p:sp>
        <p:nvSpPr>
          <p:cNvPr id="326" name="Google Shape;326;p20: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34" name="Google Shape;334;p21: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335" name="Google Shape;335;p21: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42" name="Google Shape;342;p2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Runnable does not imply the Runnable interface. It is just the running state of a thread.</a:t>
            </a:r>
            <a:endParaRPr/>
          </a:p>
        </p:txBody>
      </p:sp>
      <p:sp>
        <p:nvSpPr>
          <p:cNvPr id="343" name="Google Shape;343;p22: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17</a:t>
            </a:fld>
            <a:endParaRPr/>
          </a:p>
        </p:txBody>
      </p:sp>
      <p:sp>
        <p:nvSpPr>
          <p:cNvPr id="344" name="Google Shape;344;p22: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3: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23: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24: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0" name="Google Shape;400;p24: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25: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28" name="Google Shape;428;p25: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429" name="Google Shape;429;p25: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6: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42" name="Google Shape;442;p26: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443" name="Google Shape;443;p26: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21</a:t>
            </a:fld>
            <a:endParaRPr/>
          </a:p>
        </p:txBody>
      </p:sp>
      <p:sp>
        <p:nvSpPr>
          <p:cNvPr id="444" name="Google Shape;444;p26: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7: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55" name="Google Shape;455;p27: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456" name="Google Shape;456;p27: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22</a:t>
            </a:fld>
            <a:endParaRPr/>
          </a:p>
        </p:txBody>
      </p:sp>
      <p:sp>
        <p:nvSpPr>
          <p:cNvPr id="457" name="Google Shape;457;p27: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28: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69" name="Google Shape;469;p28: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470" name="Google Shape;470;p28: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23</a:t>
            </a:fld>
            <a:endParaRPr/>
          </a:p>
        </p:txBody>
      </p:sp>
      <p:sp>
        <p:nvSpPr>
          <p:cNvPr id="471" name="Google Shape;471;p28: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9: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83" name="Google Shape;483;p29: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484" name="Google Shape;484;p29: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24</a:t>
            </a:fld>
            <a:endParaRPr/>
          </a:p>
        </p:txBody>
      </p:sp>
      <p:sp>
        <p:nvSpPr>
          <p:cNvPr id="485" name="Google Shape;485;p29: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499" name="Google Shape;499;p30: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500" name="Google Shape;500;p30: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25</a:t>
            </a:fld>
            <a:endParaRPr/>
          </a:p>
        </p:txBody>
      </p:sp>
      <p:sp>
        <p:nvSpPr>
          <p:cNvPr id="501" name="Google Shape;501;p30: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15" name="Google Shape;515;p31: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java.lang.InterruptedException class is an Checked Exception derived from java.lang.Exception class.</a:t>
            </a:r>
            <a:endParaRPr/>
          </a:p>
          <a:p>
            <a:pPr marL="0" marR="0" lvl="0" indent="0" algn="l" rtl="0">
              <a:spcBef>
                <a:spcPts val="0"/>
              </a:spcBef>
              <a:spcAft>
                <a:spcPts val="0"/>
              </a:spcAft>
              <a:buFont typeface="Arial"/>
              <a:buNone/>
            </a:pPr>
            <a:r>
              <a:rPr lang="en-US" sz="1800" b="0" i="0" u="none" strike="noStrike" cap="none"/>
              <a:t>It is thrown when a thread is waiting, sleeping, or otherwise paused for a long time and another thread interrupts it using the interrupt method in class Thread. </a:t>
            </a:r>
            <a:endParaRPr/>
          </a:p>
        </p:txBody>
      </p:sp>
      <p:sp>
        <p:nvSpPr>
          <p:cNvPr id="516" name="Google Shape;516;p31: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26</a:t>
            </a:fld>
            <a:endParaRPr/>
          </a:p>
        </p:txBody>
      </p:sp>
      <p:sp>
        <p:nvSpPr>
          <p:cNvPr id="517" name="Google Shape;517;p31: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33" name="Google Shape;533;p3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java.lang.InterruptedException class is an Checked Exception derived from java.lang.Exception class.</a:t>
            </a:r>
            <a:endParaRPr/>
          </a:p>
          <a:p>
            <a:pPr marL="0" marR="0" lvl="0" indent="0" algn="l" rtl="0">
              <a:spcBef>
                <a:spcPts val="0"/>
              </a:spcBef>
              <a:spcAft>
                <a:spcPts val="0"/>
              </a:spcAft>
              <a:buFont typeface="Arial"/>
              <a:buNone/>
            </a:pPr>
            <a:r>
              <a:rPr lang="en-US" sz="1800" b="0" i="0" u="none" strike="noStrike" cap="none"/>
              <a:t>It is thrown when a thread is waiting, sleeping, or otherwise paused for a long time and another thread interrupts it using the interrupt method in class Thread. </a:t>
            </a:r>
            <a:endParaRPr/>
          </a:p>
        </p:txBody>
      </p:sp>
      <p:sp>
        <p:nvSpPr>
          <p:cNvPr id="534" name="Google Shape;534;p32: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27</a:t>
            </a:fld>
            <a:endParaRPr/>
          </a:p>
        </p:txBody>
      </p:sp>
      <p:sp>
        <p:nvSpPr>
          <p:cNvPr id="535" name="Google Shape;535;p32: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3: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44" name="Google Shape;544;p33: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545" name="Google Shape;545;p33: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28</a:t>
            </a:fld>
            <a:endParaRPr/>
          </a:p>
        </p:txBody>
      </p:sp>
      <p:sp>
        <p:nvSpPr>
          <p:cNvPr id="546" name="Google Shape;546;p33: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34: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55" name="Google Shape;555;p34: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556" name="Google Shape;556;p34: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29</a:t>
            </a:fld>
            <a:endParaRPr/>
          </a:p>
        </p:txBody>
      </p:sp>
      <p:sp>
        <p:nvSpPr>
          <p:cNvPr id="557" name="Google Shape;557;p34: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5: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69" name="Google Shape;569;p35: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A Thread is newly created.</a:t>
            </a:r>
            <a:endParaRPr/>
          </a:p>
        </p:txBody>
      </p:sp>
      <p:sp>
        <p:nvSpPr>
          <p:cNvPr id="570" name="Google Shape;570;p35: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30</a:t>
            </a:fld>
            <a:endParaRPr/>
          </a:p>
        </p:txBody>
      </p:sp>
      <p:sp>
        <p:nvSpPr>
          <p:cNvPr id="571" name="Google Shape;571;p35: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36: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83" name="Google Shape;583;p36: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584" name="Google Shape;584;p36: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31</a:t>
            </a:fld>
            <a:endParaRPr/>
          </a:p>
        </p:txBody>
      </p:sp>
      <p:sp>
        <p:nvSpPr>
          <p:cNvPr id="585" name="Google Shape;585;p36: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38: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594" name="Google Shape;594;p38: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595" name="Google Shape;595;p38: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32</a:t>
            </a:fld>
            <a:endParaRPr/>
          </a:p>
        </p:txBody>
      </p:sp>
      <p:sp>
        <p:nvSpPr>
          <p:cNvPr id="596" name="Google Shape;596;p38: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39: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06" name="Google Shape;606;p39: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07" name="Google Shape;607;p39: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33</a:t>
            </a:fld>
            <a:endParaRPr/>
          </a:p>
        </p:txBody>
      </p:sp>
      <p:sp>
        <p:nvSpPr>
          <p:cNvPr id="608" name="Google Shape;608;p39: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4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18" name="Google Shape;618;p40: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19" name="Google Shape;619;p40: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34</a:t>
            </a:fld>
            <a:endParaRPr/>
          </a:p>
        </p:txBody>
      </p:sp>
      <p:sp>
        <p:nvSpPr>
          <p:cNvPr id="620" name="Google Shape;620;p40: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4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30" name="Google Shape;630;p41: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31" name="Google Shape;631;p41: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35</a:t>
            </a:fld>
            <a:endParaRPr/>
          </a:p>
        </p:txBody>
      </p:sp>
      <p:sp>
        <p:nvSpPr>
          <p:cNvPr id="632" name="Google Shape;632;p41: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4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42" name="Google Shape;642;p4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43" name="Google Shape;643;p42: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36</a:t>
            </a:fld>
            <a:endParaRPr/>
          </a:p>
        </p:txBody>
      </p:sp>
      <p:sp>
        <p:nvSpPr>
          <p:cNvPr id="644" name="Google Shape;644;p42: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43: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54" name="Google Shape;654;p43: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55" name="Google Shape;655;p43: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37</a:t>
            </a:fld>
            <a:endParaRPr/>
          </a:p>
        </p:txBody>
      </p:sp>
      <p:sp>
        <p:nvSpPr>
          <p:cNvPr id="656" name="Google Shape;656;p43: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44: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66" name="Google Shape;666;p44: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67" name="Google Shape;667;p44: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38</a:t>
            </a:fld>
            <a:endParaRPr/>
          </a:p>
        </p:txBody>
      </p:sp>
      <p:sp>
        <p:nvSpPr>
          <p:cNvPr id="668" name="Google Shape;668;p44: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45: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79" name="Google Shape;679;p45: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80" name="Google Shape;680;p45: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39</a:t>
            </a:fld>
            <a:endParaRPr/>
          </a:p>
        </p:txBody>
      </p:sp>
      <p:sp>
        <p:nvSpPr>
          <p:cNvPr id="681" name="Google Shape;681;p45: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46: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693" name="Google Shape;693;p46: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694" name="Google Shape;694;p46: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40</a:t>
            </a:fld>
            <a:endParaRPr/>
          </a:p>
        </p:txBody>
      </p:sp>
      <p:sp>
        <p:nvSpPr>
          <p:cNvPr id="695" name="Google Shape;695;p46: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47: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07" name="Google Shape;707;p47: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Implemented the Runnable interface in MyRunnable class. </a:t>
            </a:r>
            <a:endParaRPr/>
          </a:p>
          <a:p>
            <a:pPr marL="0" marR="0" lvl="0" indent="0" algn="l" rtl="0">
              <a:spcBef>
                <a:spcPts val="0"/>
              </a:spcBef>
              <a:spcAft>
                <a:spcPts val="0"/>
              </a:spcAft>
              <a:buFont typeface="Arial"/>
              <a:buNone/>
            </a:pPr>
            <a:r>
              <a:rPr lang="en-US" sz="1800" b="0" i="0" u="none" strike="noStrike" cap="none"/>
              <a:t>MyRunnable class instance represents an Runnable object that will be passed as an argument in the Thread class constructor. Then by using the Thread class object you can make a call to start() method that will in turn call the run() method define inside the MyRunnable class.</a:t>
            </a:r>
            <a:endParaRPr/>
          </a:p>
        </p:txBody>
      </p:sp>
      <p:sp>
        <p:nvSpPr>
          <p:cNvPr id="708" name="Google Shape;708;p47: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41</a:t>
            </a:fld>
            <a:endParaRPr/>
          </a:p>
        </p:txBody>
      </p:sp>
      <p:sp>
        <p:nvSpPr>
          <p:cNvPr id="709" name="Google Shape;709;p47: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48: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23" name="Google Shape;723;p48: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724" name="Google Shape;724;p48: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42</a:t>
            </a:fld>
            <a:endParaRPr/>
          </a:p>
        </p:txBody>
      </p:sp>
      <p:sp>
        <p:nvSpPr>
          <p:cNvPr id="725" name="Google Shape;725;p48: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49: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34" name="Google Shape;734;p49: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735" name="Google Shape;735;p49: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43</a:t>
            </a:fld>
            <a:endParaRPr/>
          </a:p>
        </p:txBody>
      </p:sp>
      <p:sp>
        <p:nvSpPr>
          <p:cNvPr id="736" name="Google Shape;736;p49: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5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49" name="Google Shape;749;p50: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750" name="Google Shape;750;p50: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44</a:t>
            </a:fld>
            <a:endParaRPr/>
          </a:p>
        </p:txBody>
      </p:sp>
      <p:sp>
        <p:nvSpPr>
          <p:cNvPr id="751" name="Google Shape;751;p50: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5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64" name="Google Shape;764;p51: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765" name="Google Shape;765;p51: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45</a:t>
            </a:fld>
            <a:endParaRPr/>
          </a:p>
        </p:txBody>
      </p:sp>
      <p:sp>
        <p:nvSpPr>
          <p:cNvPr id="766" name="Google Shape;766;p51: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5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79" name="Google Shape;779;p5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780" name="Google Shape;780;p52: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46</a:t>
            </a:fld>
            <a:endParaRPr/>
          </a:p>
        </p:txBody>
      </p:sp>
      <p:sp>
        <p:nvSpPr>
          <p:cNvPr id="781" name="Google Shape;781;p52: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53: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90" name="Google Shape;790;p53: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791" name="Google Shape;791;p53: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47</a:t>
            </a:fld>
            <a:endParaRPr/>
          </a:p>
        </p:txBody>
      </p:sp>
      <p:sp>
        <p:nvSpPr>
          <p:cNvPr id="792" name="Google Shape;792;p53: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4: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799" name="Google Shape;799;p54: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800" name="Google Shape;800;p54: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55: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17" name="Google Shape;817;p55: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The execution of those threads depends on the Scheduler. The type of scheduling used is Preemptive Scheduling, i.e. depending upon the priority of the thread get chances to execute.</a:t>
            </a:r>
            <a:endParaRPr/>
          </a:p>
        </p:txBody>
      </p:sp>
      <p:sp>
        <p:nvSpPr>
          <p:cNvPr id="818" name="Google Shape;818;p55: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49</a:t>
            </a:fld>
            <a:endParaRPr/>
          </a:p>
        </p:txBody>
      </p:sp>
      <p:sp>
        <p:nvSpPr>
          <p:cNvPr id="819" name="Google Shape;819;p55: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p56: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26" name="Google Shape;826;p56: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827" name="Google Shape;827;p56: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50</a:t>
            </a:fld>
            <a:endParaRPr/>
          </a:p>
        </p:txBody>
      </p:sp>
      <p:sp>
        <p:nvSpPr>
          <p:cNvPr id="828" name="Google Shape;828;p56: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57: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34" name="Google Shape;834;p57: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228600" marR="0" lvl="0" indent="0" algn="l" rtl="0">
              <a:spcBef>
                <a:spcPts val="0"/>
              </a:spcBef>
              <a:spcAft>
                <a:spcPts val="0"/>
              </a:spcAft>
              <a:buFont typeface="Arial"/>
              <a:buNone/>
            </a:pPr>
            <a:r>
              <a:rPr lang="en-US" sz="1800" b="0" i="0" u="none" strike="noStrike" cap="none"/>
              <a:t>Types of Scheduling:-</a:t>
            </a:r>
            <a:endParaRPr/>
          </a:p>
          <a:p>
            <a:pPr marL="228600" marR="0" lvl="0" indent="0" algn="l" rtl="0">
              <a:spcBef>
                <a:spcPts val="0"/>
              </a:spcBef>
              <a:spcAft>
                <a:spcPts val="0"/>
              </a:spcAft>
              <a:buSzPts val="1800"/>
              <a:buFont typeface="Arial"/>
              <a:buAutoNum type="arabicPeriod"/>
            </a:pPr>
            <a:r>
              <a:rPr lang="en-US" sz="1800" b="0" i="0" u="none" strike="noStrike" cap="none"/>
              <a:t>Preemptive</a:t>
            </a:r>
            <a:endParaRPr/>
          </a:p>
          <a:p>
            <a:pPr marL="228600" marR="0" lvl="0" indent="0" algn="l" rtl="0">
              <a:spcBef>
                <a:spcPts val="0"/>
              </a:spcBef>
              <a:spcAft>
                <a:spcPts val="0"/>
              </a:spcAft>
              <a:buSzPts val="1800"/>
              <a:buFont typeface="Arial"/>
              <a:buAutoNum type="arabicPeriod"/>
            </a:pPr>
            <a:r>
              <a:rPr lang="en-US" sz="1800" b="0" i="0" u="none" strike="noStrike" cap="none"/>
              <a:t>Non-Preemptive</a:t>
            </a:r>
            <a:endParaRPr/>
          </a:p>
          <a:p>
            <a:pPr marL="228600" marR="0" lvl="0" indent="0" algn="l" rtl="0">
              <a:spcBef>
                <a:spcPts val="0"/>
              </a:spcBef>
              <a:spcAft>
                <a:spcPts val="0"/>
              </a:spcAft>
              <a:buFont typeface="Arial"/>
              <a:buNone/>
            </a:pPr>
            <a:r>
              <a:rPr lang="en-US" sz="1800" b="0" i="0" u="none" strike="noStrike" cap="none"/>
              <a:t>In Non-Preemptive Scheduling, Threads continue execution until </a:t>
            </a:r>
            <a:endParaRPr/>
          </a:p>
          <a:p>
            <a:pPr marL="685800" marR="0" lvl="1" indent="0" algn="l" rtl="0">
              <a:spcBef>
                <a:spcPts val="0"/>
              </a:spcBef>
              <a:spcAft>
                <a:spcPts val="0"/>
              </a:spcAft>
              <a:buFont typeface="Arial"/>
              <a:buNone/>
            </a:pPr>
            <a:r>
              <a:rPr lang="en-US" sz="1800" b="0" i="0" u="none" strike="noStrike" cap="none"/>
              <a:t>1. Thread terminates</a:t>
            </a:r>
            <a:endParaRPr/>
          </a:p>
          <a:p>
            <a:pPr marL="685800" marR="0" lvl="1" indent="0" algn="l" rtl="0">
              <a:spcBef>
                <a:spcPts val="0"/>
              </a:spcBef>
              <a:spcAft>
                <a:spcPts val="0"/>
              </a:spcAft>
              <a:buFont typeface="Arial"/>
              <a:buNone/>
            </a:pPr>
            <a:r>
              <a:rPr lang="en-US" sz="1800" b="0" i="0" u="none" strike="noStrike" cap="none"/>
              <a:t>2. Executes instruction causing wait (e.g., IO)</a:t>
            </a:r>
            <a:endParaRPr/>
          </a:p>
          <a:p>
            <a:pPr marL="685800" marR="0" lvl="1" indent="0" algn="l" rtl="0">
              <a:spcBef>
                <a:spcPts val="0"/>
              </a:spcBef>
              <a:spcAft>
                <a:spcPts val="0"/>
              </a:spcAft>
              <a:buFont typeface="Arial"/>
              <a:buNone/>
            </a:pPr>
            <a:r>
              <a:rPr lang="en-US" sz="1800" b="0" i="0" u="none" strike="noStrike" cap="none"/>
              <a:t>3. Thread volunteering to stop (invoking yield or sleep)</a:t>
            </a:r>
            <a:endParaRPr/>
          </a:p>
          <a:p>
            <a:pPr marL="228600" marR="0" lvl="0" indent="0" algn="l" rtl="0">
              <a:spcBef>
                <a:spcPts val="0"/>
              </a:spcBef>
              <a:spcAft>
                <a:spcPts val="0"/>
              </a:spcAft>
              <a:buFont typeface="Arial"/>
              <a:buNone/>
            </a:pPr>
            <a:r>
              <a:rPr lang="en-US" sz="1800" b="0" i="0" u="none" strike="noStrike" cap="none"/>
              <a:t>In Preemptive Scheduling, Threads continue execution until,</a:t>
            </a:r>
            <a:endParaRPr/>
          </a:p>
          <a:p>
            <a:pPr marL="228600" marR="0" lvl="0" indent="0" algn="l" rtl="0">
              <a:spcBef>
                <a:spcPts val="0"/>
              </a:spcBef>
              <a:spcAft>
                <a:spcPts val="0"/>
              </a:spcAft>
              <a:buNone/>
            </a:pPr>
            <a:r>
              <a:rPr lang="en-US" sz="1800" b="0" i="0" u="none" strike="noStrike" cap="none"/>
              <a:t>Preemted by Scheduler</a:t>
            </a:r>
            <a:endParaRPr/>
          </a:p>
          <a:p>
            <a:pPr marL="228600" marR="0" lvl="0" indent="0" algn="l" rtl="0">
              <a:spcBef>
                <a:spcPts val="0"/>
              </a:spcBef>
              <a:spcAft>
                <a:spcPts val="0"/>
              </a:spcAft>
              <a:buNone/>
            </a:pPr>
            <a:r>
              <a:rPr lang="en-US" sz="1800" b="0" i="0" u="none" strike="noStrike" cap="none"/>
              <a:t>Same reasons as Non-Preemptive Scheduling</a:t>
            </a:r>
            <a:endParaRPr/>
          </a:p>
        </p:txBody>
      </p:sp>
      <p:sp>
        <p:nvSpPr>
          <p:cNvPr id="835" name="Google Shape;835;p57: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51</a:t>
            </a:fld>
            <a:endParaRPr/>
          </a:p>
        </p:txBody>
      </p:sp>
      <p:sp>
        <p:nvSpPr>
          <p:cNvPr id="836" name="Google Shape;836;p57: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58: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45" name="Google Shape;845;p58: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Thread class has three int static fields namely MIN_PRIORITY with value 1, NORM_PRIORITY with value 5 , MAX_PRIORITY with value 10. </a:t>
            </a:r>
            <a:endParaRPr/>
          </a:p>
          <a:p>
            <a:pPr marL="0" marR="0" lvl="0" indent="0" algn="l" rtl="0">
              <a:spcBef>
                <a:spcPts val="360"/>
              </a:spcBef>
              <a:spcAft>
                <a:spcPts val="0"/>
              </a:spcAft>
              <a:buFont typeface="Arial"/>
              <a:buNone/>
            </a:pPr>
            <a:r>
              <a:rPr lang="en-US" sz="1800" b="0" i="0" u="none" strike="noStrike" cap="none"/>
              <a:t>Scheduling of the CPU is fully preemptive.</a:t>
            </a:r>
            <a:endParaRPr/>
          </a:p>
          <a:p>
            <a:pPr marL="0" marR="0" lvl="0" indent="0" algn="l" rtl="0">
              <a:spcBef>
                <a:spcPts val="360"/>
              </a:spcBef>
              <a:spcAft>
                <a:spcPts val="0"/>
              </a:spcAft>
              <a:buFont typeface="Arial"/>
              <a:buNone/>
            </a:pPr>
            <a:r>
              <a:rPr lang="en-US" sz="1800" b="0" i="0" u="none" strike="noStrike" cap="none"/>
              <a:t>A CPU can execute only one thread at a time. Therefore, the threads, which are ready for execution, queue up for their turn to get executed by the processor. </a:t>
            </a:r>
            <a:endParaRPr/>
          </a:p>
          <a:p>
            <a:pPr marL="0" marR="0" lvl="0" indent="0" algn="l" rtl="0">
              <a:spcBef>
                <a:spcPts val="0"/>
              </a:spcBef>
              <a:spcAft>
                <a:spcPts val="0"/>
              </a:spcAft>
              <a:buFont typeface="Arial"/>
              <a:buNone/>
            </a:pPr>
            <a:r>
              <a:rPr lang="en-US" sz="1800" b="0" i="0" u="none" strike="noStrike" cap="none"/>
              <a:t>The Java runtime will not preempt the currently running thread for another thread of the same priority. In other words, the Java runtime does not time-slice. </a:t>
            </a:r>
            <a:endParaRPr/>
          </a:p>
          <a:p>
            <a:pPr marL="0" marR="0" lvl="0" indent="0" algn="l" rtl="0">
              <a:spcBef>
                <a:spcPts val="0"/>
              </a:spcBef>
              <a:spcAft>
                <a:spcPts val="0"/>
              </a:spcAft>
              <a:buFont typeface="Arial"/>
              <a:buNone/>
            </a:pPr>
            <a:r>
              <a:rPr lang="en-US" sz="1800" b="0" i="0" u="none" strike="noStrike" cap="none"/>
              <a:t>The system implementation of threads underlying the Java Thread class may support time-slicing. Do not write code that relies on time-slicing. </a:t>
            </a:r>
            <a:endParaRPr/>
          </a:p>
          <a:p>
            <a:pPr marL="0" marR="0" lvl="0" indent="0" algn="l" rtl="0">
              <a:spcBef>
                <a:spcPts val="360"/>
              </a:spcBef>
              <a:spcAft>
                <a:spcPts val="0"/>
              </a:spcAft>
              <a:buFont typeface="Arial"/>
              <a:buNone/>
            </a:pPr>
            <a:endParaRPr sz="1800" b="0" i="0" u="none" strike="noStrike" cap="none"/>
          </a:p>
          <a:p>
            <a:pPr marL="0" marR="0" lvl="0" indent="0" algn="l" rtl="0">
              <a:spcBef>
                <a:spcPts val="0"/>
              </a:spcBef>
              <a:spcAft>
                <a:spcPts val="0"/>
              </a:spcAft>
              <a:buNone/>
            </a:pPr>
            <a:endParaRPr sz="1800" b="0" i="0" u="none" strike="noStrike" cap="none"/>
          </a:p>
        </p:txBody>
      </p:sp>
      <p:sp>
        <p:nvSpPr>
          <p:cNvPr id="846" name="Google Shape;846;p58: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52</a:t>
            </a:fld>
            <a:endParaRPr/>
          </a:p>
        </p:txBody>
      </p:sp>
      <p:sp>
        <p:nvSpPr>
          <p:cNvPr id="847" name="Google Shape;847;p58: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59: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53" name="Google Shape;853;p59: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854" name="Google Shape;854;p59: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53</a:t>
            </a:fld>
            <a:endParaRPr/>
          </a:p>
        </p:txBody>
      </p:sp>
      <p:sp>
        <p:nvSpPr>
          <p:cNvPr id="855" name="Google Shape;855;p59: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6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64" name="Google Shape;864;p60: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865" name="Google Shape;865;p60: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6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72" name="Google Shape;872;p61: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873" name="Google Shape;873;p61: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6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85" name="Google Shape;885;p6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886" name="Google Shape;886;p62: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63: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95" name="Google Shape;895;p63: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If two threads can both execute a method that modifies the state of an object then the method should be declared to be synchronized, allowing only one thread to execute the method at a time.</a:t>
            </a:r>
            <a:endParaRPr/>
          </a:p>
          <a:p>
            <a:pPr marL="0" marR="0" lvl="0" indent="0" algn="l" rtl="0">
              <a:spcBef>
                <a:spcPts val="0"/>
              </a:spcBef>
              <a:spcAft>
                <a:spcPts val="0"/>
              </a:spcAft>
              <a:buFont typeface="Arial"/>
              <a:buNone/>
            </a:pPr>
            <a:r>
              <a:rPr lang="en-US" sz="1800" b="0" i="0" u="none" strike="noStrike" cap="none"/>
              <a:t>If two threads can both execute a method that modifies the state of an object then the method should be declared to be synchronized, allowing only one thread to execute the method at a time.</a:t>
            </a:r>
            <a:endParaRPr/>
          </a:p>
          <a:p>
            <a:pPr marL="0" marR="0" lvl="0" indent="0" algn="l" rtl="0">
              <a:spcBef>
                <a:spcPts val="0"/>
              </a:spcBef>
              <a:spcAft>
                <a:spcPts val="0"/>
              </a:spcAft>
              <a:buFont typeface="Arial"/>
              <a:buNone/>
            </a:pPr>
            <a:r>
              <a:rPr lang="en-US" sz="1800" b="0" i="0" u="none" strike="noStrike" cap="none"/>
              <a:t>When a thread calls the wait() method, it temporarily releases the locks that it holds. In addition, the thread stops running and is added to the list of waiting threads for that object. </a:t>
            </a:r>
            <a:endParaRPr/>
          </a:p>
          <a:p>
            <a:pPr marL="0" marR="0" lvl="0" indent="0" algn="l" rtl="0">
              <a:spcBef>
                <a:spcPts val="0"/>
              </a:spcBef>
              <a:spcAft>
                <a:spcPts val="0"/>
              </a:spcAft>
              <a:buFont typeface="Arial"/>
              <a:buNone/>
            </a:pPr>
            <a:r>
              <a:rPr lang="en-US" sz="1800" b="0" i="0" u="none" strike="noStrike" cap="none"/>
              <a:t>Note: If a class has at least one synchronized methods, each instance of it has a monitor.</a:t>
            </a:r>
            <a:endParaRPr/>
          </a:p>
        </p:txBody>
      </p:sp>
      <p:sp>
        <p:nvSpPr>
          <p:cNvPr id="896" name="Google Shape;896;p63: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57</a:t>
            </a:fld>
            <a:endParaRPr/>
          </a:p>
        </p:txBody>
      </p:sp>
      <p:sp>
        <p:nvSpPr>
          <p:cNvPr id="897" name="Google Shape;897;p63: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64: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0" name="Google Shape;930;p64: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65: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1" name="Google Shape;941;p65: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p68: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8" name="Google Shape;948;p68: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69: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3" name="Google Shape;993;p69:notes"/>
          <p:cNvSpPr>
            <a:spLocks noGrp="1" noRot="1" noChangeAspect="1"/>
          </p:cNvSpPr>
          <p:nvPr>
            <p:ph type="sldImg" idx="2"/>
          </p:nvPr>
        </p:nvSpPr>
        <p:spPr>
          <a:xfrm>
            <a:off x="900113"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70: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6" name="Google Shape;1006;p7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p71: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6" name="Google Shape;1016;p7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7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25" name="Google Shape;1025;p7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Font typeface="Arial"/>
              <a:buNone/>
            </a:pPr>
            <a:r>
              <a:rPr lang="en-US" sz="1800" b="0" i="0" u="none" strike="noStrike" cap="none"/>
              <a:t> wait():- The wait() method is a part of java.lang.Object class that tells a thread to relinquish a monitor and go into suspension.</a:t>
            </a:r>
            <a:endParaRPr/>
          </a:p>
          <a:p>
            <a:pPr marL="0" marR="0" lvl="0" indent="0" algn="l" rtl="0">
              <a:spcBef>
                <a:spcPts val="900"/>
              </a:spcBef>
              <a:spcAft>
                <a:spcPts val="0"/>
              </a:spcAft>
              <a:buFont typeface="Arial"/>
              <a:buNone/>
            </a:pPr>
            <a:r>
              <a:rPr lang="en-US" sz="1800" b="0" i="0" u="none" strike="noStrike" cap="none"/>
              <a:t>There are two forms of the wait() method. One form is mentioned above that doesn’t require an argument and causes a thread to wait until it is notified. The other form of the wait() method let’s you specify the amount of time to wait. You specify the length of time in milliseconds, which is passed to the wait() method.</a:t>
            </a:r>
            <a:endParaRPr/>
          </a:p>
          <a:p>
            <a:pPr marL="0" marR="0" lvl="0" indent="0" algn="l" rtl="0">
              <a:spcBef>
                <a:spcPts val="900"/>
              </a:spcBef>
              <a:spcAft>
                <a:spcPts val="0"/>
              </a:spcAft>
              <a:buFont typeface="Arial"/>
              <a:buNone/>
            </a:pPr>
            <a:r>
              <a:rPr lang="en-US" sz="1800" b="0" i="0" u="none" strike="noStrike" cap="none"/>
              <a:t> notify():- The notify() method is part of java.lang.Object class that tells a thread that is suspended by the wait() method to wake up again and regain control of the monitor. </a:t>
            </a:r>
            <a:endParaRPr/>
          </a:p>
          <a:p>
            <a:pPr marL="0" marR="0" lvl="0" indent="0" algn="l" rtl="0">
              <a:spcBef>
                <a:spcPts val="900"/>
              </a:spcBef>
              <a:spcAft>
                <a:spcPts val="0"/>
              </a:spcAft>
              <a:buFont typeface="Arial"/>
              <a:buNone/>
            </a:pPr>
            <a:r>
              <a:rPr lang="en-US" sz="1800" b="0" i="0" u="none" strike="noStrike" cap="none"/>
              <a:t>notifyAll():- The notifyAll() method belongs to java.lang.Object class that wakes up all threads that are waiting for control of the monitor. </a:t>
            </a:r>
            <a:endParaRPr sz="1800" b="0" i="0" u="none" strike="noStrike" cap="none"/>
          </a:p>
          <a:p>
            <a:pPr marL="0" marR="0" lvl="0" indent="0" algn="l" rtl="0">
              <a:spcBef>
                <a:spcPts val="0"/>
              </a:spcBef>
              <a:spcAft>
                <a:spcPts val="0"/>
              </a:spcAft>
              <a:buNone/>
            </a:pPr>
            <a:endParaRPr sz="1800" b="0" i="0" u="none" strike="noStrike" cap="none"/>
          </a:p>
        </p:txBody>
      </p:sp>
      <p:sp>
        <p:nvSpPr>
          <p:cNvPr id="1026" name="Google Shape;1026;p72: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64</a:t>
            </a:fld>
            <a:endParaRPr/>
          </a:p>
        </p:txBody>
      </p:sp>
      <p:sp>
        <p:nvSpPr>
          <p:cNvPr id="1027" name="Google Shape;1027;p72:notes"/>
          <p:cNvSpPr txBox="1"/>
          <p:nvPr/>
        </p:nvSpPr>
        <p:spPr>
          <a:xfrm>
            <a:off x="0" y="0"/>
            <a:ext cx="2919412" cy="493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Font typeface="Calibri"/>
              <a:buNone/>
            </a:pPr>
            <a:r>
              <a:rPr lang="en-US" sz="1200" b="0" i="0" u="none">
                <a:solidFill>
                  <a:srgbClr val="000000"/>
                </a:solidFill>
                <a:latin typeface="Calibri"/>
                <a:ea typeface="Calibri"/>
                <a:cs typeface="Calibri"/>
                <a:sym typeface="Calibri"/>
              </a:rPr>
              <a:t>Java Programming Handouts</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p73: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41" name="Google Shape;1041;p73: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1042" name="Google Shape;1042;p73: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74: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51" name="Google Shape;1051;p74: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1052" name="Google Shape;1052;p74: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75: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62" name="Google Shape;1062;p75: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1063" name="Google Shape;1063;p75: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p76: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0" name="Google Shape;1070;p76: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p77: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82" name="Google Shape;1082;p77: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p78: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089" name="Google Shape;1089;p78: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p79:notes"/>
          <p:cNvSpPr txBox="1">
            <a:spLocks noGrp="1"/>
          </p:cNvSpPr>
          <p:nvPr>
            <p:ph type="body" idx="1"/>
          </p:nvPr>
        </p:nvSpPr>
        <p:spPr>
          <a:xfrm>
            <a:off x="673100" y="4687887"/>
            <a:ext cx="5389562" cy="4441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4" name="Google Shape;1104;p79: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p80: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19" name="Google Shape;1119;p80: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p81: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33" name="Google Shape;1133;p81: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p82: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47" name="Google Shape;1147;p82: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p83:notes"/>
          <p:cNvSpPr>
            <a:spLocks noGrp="1" noRot="1" noChangeAspect="1"/>
          </p:cNvSpPr>
          <p:nvPr>
            <p:ph type="sldImg" idx="2"/>
          </p:nvPr>
        </p:nvSpPr>
        <p:spPr>
          <a:xfrm>
            <a:off x="900112" y="739775"/>
            <a:ext cx="493553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160" name="Google Shape;1160;p83:notes"/>
          <p:cNvSpPr txBox="1">
            <a:spLocks noGrp="1"/>
          </p:cNvSpPr>
          <p:nvPr>
            <p:ph type="body" idx="1"/>
          </p:nvPr>
        </p:nvSpPr>
        <p:spPr>
          <a:xfrm>
            <a:off x="673100" y="4687887"/>
            <a:ext cx="5389562" cy="44418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p>
        </p:txBody>
      </p:sp>
      <p:sp>
        <p:nvSpPr>
          <p:cNvPr id="1161" name="Google Shape;1161;p83:notes"/>
          <p:cNvSpPr txBox="1"/>
          <p:nvPr/>
        </p:nvSpPr>
        <p:spPr>
          <a:xfrm>
            <a:off x="3814762" y="9374187"/>
            <a:ext cx="2919412" cy="493712"/>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Font typeface="Calibri"/>
              <a:buNone/>
            </a:pPr>
            <a:fld id="{00000000-1234-1234-1234-123412341234}" type="slidenum">
              <a:rPr lang="en-US" sz="1200" b="0" i="0" u="none">
                <a:solidFill>
                  <a:srgbClr val="000000"/>
                </a:solidFill>
                <a:latin typeface="Calibri"/>
                <a:ea typeface="Calibri"/>
                <a:cs typeface="Calibri"/>
                <a:sym typeface="Calibri"/>
              </a:rPr>
              <a:t>75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lstStyle>
            <a:lvl1pPr marL="0" marR="0" lvl="0" indent="0" algn="ctr" rtl="0">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457200" marR="0" lvl="1" indent="0"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914400" marR="0" lvl="2" indent="0"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371600" marR="0" lvl="3"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1828800" marR="0" lvl="4"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7"/>
            <a:ext cx="8229600" cy="11430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 name="Google Shape;25;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457200" y="274637"/>
            <a:ext cx="8229600" cy="11430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body" idx="1"/>
          </p:nvPr>
        </p:nvSpPr>
        <p:spPr>
          <a:xfrm>
            <a:off x="457200" y="1600200"/>
            <a:ext cx="8229600" cy="4525962"/>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 name="Google Shape;29;p4"/>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4 Content" type="fourObj">
  <p:cSld name="FOUR_OBJECT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153988" y="871538"/>
            <a:ext cx="8245475" cy="498475"/>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body" idx="1"/>
          </p:nvPr>
        </p:nvSpPr>
        <p:spPr>
          <a:xfrm>
            <a:off x="685800" y="1776413"/>
            <a:ext cx="3811588" cy="1874837"/>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body" idx="2"/>
          </p:nvPr>
        </p:nvSpPr>
        <p:spPr>
          <a:xfrm>
            <a:off x="4649788" y="1776413"/>
            <a:ext cx="3811587" cy="1874837"/>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3"/>
          </p:nvPr>
        </p:nvSpPr>
        <p:spPr>
          <a:xfrm>
            <a:off x="685800" y="3803650"/>
            <a:ext cx="3811588" cy="1874838"/>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body" idx="4"/>
          </p:nvPr>
        </p:nvSpPr>
        <p:spPr>
          <a:xfrm>
            <a:off x="4649788" y="3803650"/>
            <a:ext cx="3811587" cy="1874838"/>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9" name="Google Shape;39;p5"/>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0" name="Google Shape;4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type="objOnly">
  <p:cSld name="OBJECT_ONLY">
    <p:spTree>
      <p:nvGrpSpPr>
        <p:cNvPr id="1" name="Shape 41"/>
        <p:cNvGrpSpPr/>
        <p:nvPr/>
      </p:nvGrpSpPr>
      <p:grpSpPr>
        <a:xfrm>
          <a:off x="0" y="0"/>
          <a:ext cx="0" cy="0"/>
          <a:chOff x="0" y="0"/>
          <a:chExt cx="0" cy="0"/>
        </a:xfrm>
      </p:grpSpPr>
      <p:sp>
        <p:nvSpPr>
          <p:cNvPr id="42" name="Google Shape;42;p6"/>
          <p:cNvSpPr txBox="1">
            <a:spLocks noGrp="1"/>
          </p:cNvSpPr>
          <p:nvPr>
            <p:ph type="body" idx="1"/>
          </p:nvPr>
        </p:nvSpPr>
        <p:spPr>
          <a:xfrm>
            <a:off x="153988" y="871538"/>
            <a:ext cx="8307387" cy="4806950"/>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6"/>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5" name="Google Shape;4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0" name="Google Shape;50;p7"/>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1" name="Google Shape;51;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8"/>
          <p:cNvSpPr txBox="1">
            <a:spLocks noGrp="1"/>
          </p:cNvSpPr>
          <p:nvPr>
            <p:ph type="title"/>
          </p:nvPr>
        </p:nvSpPr>
        <p:spPr>
          <a:xfrm>
            <a:off x="457200" y="274637"/>
            <a:ext cx="8229600" cy="11430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SzPts val="1400"/>
              <a:buNone/>
              <a:defRPr sz="2000" b="1"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60" name="Google Shape;60;p9"/>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lstStyle>
            <a:lvl1pPr marL="0" marR="0" lvl="0" indent="0" algn="l" rtl="0">
              <a:spcBef>
                <a:spcPts val="640"/>
              </a:spcBef>
              <a:spcAft>
                <a:spcPts val="0"/>
              </a:spcAft>
              <a:buClr>
                <a:schemeClr val="dk1"/>
              </a:buClr>
              <a:buSzPts val="1400"/>
              <a:buFont typeface="Arial"/>
              <a:buNone/>
              <a:defRPr sz="3200">
                <a:solidFill>
                  <a:schemeClr val="dk1"/>
                </a:solidFill>
                <a:latin typeface="Calibri"/>
                <a:ea typeface="Calibri"/>
                <a:cs typeface="Calibri"/>
                <a:sym typeface="Calibri"/>
              </a:defRPr>
            </a:lvl1pPr>
            <a:lvl2pPr marL="457200" marR="0" lvl="1" indent="0" algn="l" rtl="0">
              <a:spcBef>
                <a:spcPts val="560"/>
              </a:spcBef>
              <a:spcAft>
                <a:spcPts val="0"/>
              </a:spcAft>
              <a:buClr>
                <a:schemeClr val="dk1"/>
              </a:buClr>
              <a:buSzPts val="1400"/>
              <a:buFont typeface="Arial"/>
              <a:buNone/>
              <a:defRPr sz="2800" b="0" i="0" u="none" strike="noStrike" cap="none">
                <a:solidFill>
                  <a:schemeClr val="dk1"/>
                </a:solidFill>
                <a:latin typeface="Calibri"/>
                <a:ea typeface="Calibri"/>
                <a:cs typeface="Calibri"/>
                <a:sym typeface="Calibri"/>
              </a:defRPr>
            </a:lvl2pPr>
            <a:lvl3pPr marL="914400" marR="0" lvl="2" indent="0" algn="l" rtl="0">
              <a:spcBef>
                <a:spcPts val="480"/>
              </a:spcBef>
              <a:spcAft>
                <a:spcPts val="0"/>
              </a:spcAft>
              <a:buClr>
                <a:schemeClr val="dk1"/>
              </a:buClr>
              <a:buSzPts val="1400"/>
              <a:buFont typeface="Arial"/>
              <a:buNone/>
              <a:defRPr sz="2400" b="0" i="0" u="none" strike="noStrike" cap="none">
                <a:solidFill>
                  <a:schemeClr val="dk1"/>
                </a:solidFill>
                <a:latin typeface="Calibri"/>
                <a:ea typeface="Calibri"/>
                <a:cs typeface="Calibri"/>
                <a:sym typeface="Calibri"/>
              </a:defRPr>
            </a:lvl3pPr>
            <a:lvl4pPr marL="1371600" marR="0" lvl="3"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4pPr>
            <a:lvl5pPr marL="1828800" marR="0" lvl="4"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5pPr>
            <a:lvl6pPr marL="2286000" marR="0" lvl="5"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chemeClr val="dk1"/>
              </a:buClr>
              <a:buSzPts val="3200"/>
              <a:buFont typeface="Arial"/>
              <a:buNone/>
              <a:defRPr sz="1400">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SzPts val="1400"/>
              <a:buNone/>
              <a:defRPr sz="2000" b="1"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67" name="Google Shape;67;p10"/>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chemeClr val="dk1"/>
              </a:buClr>
              <a:buSzPts val="3200"/>
              <a:buFont typeface="Arial"/>
              <a:buNone/>
              <a:defRPr sz="1400">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28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24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2"/>
        <p:cNvGrpSpPr/>
        <p:nvPr/>
      </p:nvGrpSpPr>
      <p:grpSpPr>
        <a:xfrm>
          <a:off x="0" y="0"/>
          <a:ext cx="0" cy="0"/>
          <a:chOff x="0" y="0"/>
          <a:chExt cx="0" cy="0"/>
        </a:xfrm>
      </p:grpSpPr>
      <p:sp>
        <p:nvSpPr>
          <p:cNvPr id="73" name="Google Shape;73;p11"/>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4" name="Google Shape;74;p11"/>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75" name="Google Shape;75;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a:off x="457200" y="274637"/>
            <a:ext cx="8229600" cy="11430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chemeClr val="dk1"/>
              </a:buClr>
              <a:buSzPts val="3200"/>
              <a:buFont typeface="Arial"/>
              <a:buNone/>
              <a:defRPr sz="2400" b="1">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chemeClr val="dk1"/>
              </a:buClr>
              <a:buSzPts val="2400"/>
              <a:buFont typeface="Arial"/>
              <a:buChar char="•"/>
              <a:defRPr sz="2400">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80" name="Google Shape;80;p12"/>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chemeClr val="dk1"/>
              </a:buClr>
              <a:buSzPts val="3200"/>
              <a:buFont typeface="Arial"/>
              <a:buNone/>
              <a:defRPr sz="2400" b="1">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8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24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chemeClr val="dk1"/>
              </a:buClr>
              <a:buSzPts val="2400"/>
              <a:buFont typeface="Arial"/>
              <a:buChar char="•"/>
              <a:defRPr sz="2400">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4" name="Google Shape;8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457200" y="274637"/>
            <a:ext cx="8229600" cy="11430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7" name="Google Shape;87;p13"/>
          <p:cNvSpPr txBox="1">
            <a:spLocks noGrp="1"/>
          </p:cNvSpPr>
          <p:nvPr>
            <p:ph type="body" idx="1"/>
          </p:nvPr>
        </p:nvSpPr>
        <p:spPr>
          <a:xfrm>
            <a:off x="457200" y="1600200"/>
            <a:ext cx="4038600" cy="45259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body" idx="2"/>
          </p:nvPr>
        </p:nvSpPr>
        <p:spPr>
          <a:xfrm>
            <a:off x="4648200" y="1600200"/>
            <a:ext cx="4038600" cy="45259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chemeClr val="dk1"/>
              </a:buClr>
              <a:buSzPts val="2800"/>
              <a:buFont typeface="Arial"/>
              <a:buChar char="•"/>
              <a:defRPr sz="2800">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9" name="Google Shape;89;p13"/>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0" name="Google Shape;90;p13"/>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1" name="Google Shape;9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lstStyle>
            <a:lvl1pPr marL="0" marR="0" lvl="0" indent="0" algn="l" rtl="0">
              <a:spcBef>
                <a:spcPts val="0"/>
              </a:spcBef>
              <a:spcAft>
                <a:spcPts val="0"/>
              </a:spcAft>
              <a:buSzPts val="1400"/>
              <a:buNone/>
              <a:defRPr sz="4000" b="1"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94" name="Google Shape;94;p14"/>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lstStyle>
            <a:lvl1pPr marL="457200" marR="0" lvl="0" indent="-228600" algn="l" rtl="0">
              <a:spcBef>
                <a:spcPts val="400"/>
              </a:spcBef>
              <a:spcAft>
                <a:spcPts val="0"/>
              </a:spcAft>
              <a:buClr>
                <a:srgbClr val="888888"/>
              </a:buClr>
              <a:buSzPts val="3200"/>
              <a:buFont typeface="Arial"/>
              <a:buNone/>
              <a:defRPr sz="2000">
                <a:solidFill>
                  <a:srgbClr val="888888"/>
                </a:solidFill>
                <a:latin typeface="Calibri"/>
                <a:ea typeface="Calibri"/>
                <a:cs typeface="Calibri"/>
                <a:sym typeface="Calibri"/>
              </a:defRPr>
            </a:lvl1pPr>
            <a:lvl2pPr marL="914400" marR="0" lvl="1" indent="-228600" algn="l" rtl="0">
              <a:spcBef>
                <a:spcPts val="360"/>
              </a:spcBef>
              <a:spcAft>
                <a:spcPts val="0"/>
              </a:spcAft>
              <a:buClr>
                <a:srgbClr val="888888"/>
              </a:buClr>
              <a:buSzPts val="2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24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95" name="Google Shape;95;p14"/>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6" name="Google Shape;96;p14"/>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7" name="Google Shape;9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152400" y="152400"/>
            <a:ext cx="8791575" cy="9906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04" name="Google Shape;104;p16"/>
          <p:cNvSpPr txBox="1">
            <a:spLocks noGrp="1"/>
          </p:cNvSpPr>
          <p:nvPr>
            <p:ph type="body" idx="1"/>
          </p:nvPr>
        </p:nvSpPr>
        <p:spPr>
          <a:xfrm>
            <a:off x="838200" y="1676400"/>
            <a:ext cx="3962400" cy="445611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5" name="Google Shape;105;p16"/>
          <p:cNvSpPr txBox="1">
            <a:spLocks noGrp="1"/>
          </p:cNvSpPr>
          <p:nvPr>
            <p:ph type="body" idx="2"/>
          </p:nvPr>
        </p:nvSpPr>
        <p:spPr>
          <a:xfrm>
            <a:off x="4953000" y="1676400"/>
            <a:ext cx="3962400" cy="215106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6" name="Google Shape;106;p16"/>
          <p:cNvSpPr txBox="1">
            <a:spLocks noGrp="1"/>
          </p:cNvSpPr>
          <p:nvPr>
            <p:ph type="body" idx="3"/>
          </p:nvPr>
        </p:nvSpPr>
        <p:spPr>
          <a:xfrm>
            <a:off x="4953000" y="3979863"/>
            <a:ext cx="3962400" cy="2152650"/>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7" name="Google Shape;10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7"/>
            <a:ext cx="8229600" cy="11430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457200" y="1600200"/>
            <a:ext cx="8229600" cy="4525962"/>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L="457200" marR="0" lvl="1"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L="1371600" marR="0" lvl="3"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L="1828800" marR="0" lvl="4"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L="2286000" marR="0" lvl="5"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L="3200400" marR="0" lvl="6"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L="4572000" marR="0" lvl="7"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L="6400800" marR="0" lvl="8" indent="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457200" y="274637"/>
            <a:ext cx="8229600" cy="11430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L="0" marR="0" lvl="1"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L="0" marR="0" lvl="2"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L="0" marR="0" lvl="3"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L="0" marR="0" lvl="4"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L="457200" marR="0" lvl="5"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L="914400" marR="0" lvl="6"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L="1371600" marR="0" lvl="7"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L="1828800" marR="0" lvl="8" indent="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00" name="Google Shape;100;p15"/>
          <p:cNvSpPr txBox="1">
            <a:spLocks noGrp="1"/>
          </p:cNvSpPr>
          <p:nvPr>
            <p:ph type="body" idx="1"/>
          </p:nvPr>
        </p:nvSpPr>
        <p:spPr>
          <a:xfrm>
            <a:off x="457200" y="1600200"/>
            <a:ext cx="8229600" cy="4525962"/>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1" name="Google Shape;10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Lst>
  <p:transition spd="slow">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3.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5.jpg"/><Relationship Id="rId4" Type="http://schemas.openxmlformats.org/officeDocument/2006/relationships/image" Target="../media/image14.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16.jpg"/></Relationships>
</file>

<file path=ppt/slides/_rels/slide3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7.jpg"/></Relationships>
</file>

<file path=ppt/slides/_rels/slide3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image" Target="../media/image18.jpg"/></Relationships>
</file>

<file path=ppt/slides/_rels/slide3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9.jpg"/></Relationships>
</file>

<file path=ppt/slides/_rels/slide3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20.jpg"/></Relationships>
</file>

<file path=ppt/slides/_rels/slide3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21.jpg"/></Relationships>
</file>

<file path=ppt/slides/_rels/slide3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60.xml"/><Relationship Id="rId1" Type="http://schemas.openxmlformats.org/officeDocument/2006/relationships/slideLayout" Target="../slideLayouts/slideLayout1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endParaRPr dirty="0"/>
          </a:p>
        </p:txBody>
      </p:sp>
      <p:sp>
        <p:nvSpPr>
          <p:cNvPr id="113" name="Google Shape;113;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Arial"/>
              <a:buNone/>
            </a:pPr>
            <a:r>
              <a:rPr lang="en-US" sz="3200" b="0" i="0" u="none" strike="noStrike" cap="none">
                <a:solidFill>
                  <a:schemeClr val="dk1"/>
                </a:solidFill>
                <a:latin typeface="Calibri"/>
                <a:ea typeface="Calibri"/>
                <a:cs typeface="Calibri"/>
                <a:sym typeface="Calibri"/>
              </a:rPr>
              <a:t>Multithreading</a:t>
            </a:r>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p:nvPr/>
        </p:nvSpPr>
        <p:spPr>
          <a:xfrm>
            <a:off x="914400" y="1143000"/>
            <a:ext cx="7772400" cy="525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200"/>
              <a:buFont typeface="Arial"/>
              <a:buChar char="•"/>
            </a:pPr>
            <a:r>
              <a:rPr lang="en-US" sz="3200" b="0" i="0" u="none" strike="noStrike" cap="none" dirty="0">
                <a:solidFill>
                  <a:schemeClr val="dk1"/>
                </a:solidFill>
                <a:latin typeface="Arial"/>
                <a:ea typeface="Arial"/>
                <a:cs typeface="Arial"/>
                <a:sym typeface="Arial"/>
              </a:rPr>
              <a:t>Java thread model</a:t>
            </a:r>
            <a:endParaRPr dirty="0"/>
          </a:p>
          <a:p>
            <a:pPr marL="0" marR="0" lvl="0" indent="0" algn="l" rtl="0">
              <a:lnSpc>
                <a:spcPct val="100000"/>
              </a:lnSpc>
              <a:spcBef>
                <a:spcPts val="0"/>
              </a:spcBef>
              <a:spcAft>
                <a:spcPts val="0"/>
              </a:spcAft>
              <a:buClr>
                <a:schemeClr val="dk1"/>
              </a:buClr>
              <a:buSzPts val="3200"/>
              <a:buFont typeface="Arial"/>
              <a:buChar char="•"/>
            </a:pPr>
            <a:r>
              <a:rPr lang="en-US" sz="3200" b="0" i="0" u="none" strike="noStrike" cap="none" dirty="0">
                <a:solidFill>
                  <a:schemeClr val="dk1"/>
                </a:solidFill>
                <a:latin typeface="Arial"/>
                <a:ea typeface="Arial"/>
                <a:cs typeface="Arial"/>
                <a:sym typeface="Arial"/>
              </a:rPr>
              <a:t>Life Cycle of Thread</a:t>
            </a:r>
            <a:endParaRPr dirty="0"/>
          </a:p>
          <a:p>
            <a:pPr marL="0" marR="0" lvl="0" indent="0" algn="l" rtl="0">
              <a:lnSpc>
                <a:spcPct val="100000"/>
              </a:lnSpc>
              <a:spcBef>
                <a:spcPts val="0"/>
              </a:spcBef>
              <a:spcAft>
                <a:spcPts val="0"/>
              </a:spcAft>
              <a:buClr>
                <a:schemeClr val="dk1"/>
              </a:buClr>
              <a:buSzPts val="3200"/>
              <a:buFont typeface="Arial"/>
              <a:buChar char="•"/>
            </a:pPr>
            <a:r>
              <a:rPr lang="en-US" sz="3200" b="0" i="0" u="none" strike="noStrike" cap="none" dirty="0">
                <a:solidFill>
                  <a:schemeClr val="dk1"/>
                </a:solidFill>
                <a:latin typeface="Arial"/>
                <a:ea typeface="Arial"/>
                <a:cs typeface="Arial"/>
                <a:sym typeface="Arial"/>
              </a:rPr>
              <a:t>Working with Thread class</a:t>
            </a:r>
            <a:endParaRPr dirty="0"/>
          </a:p>
          <a:p>
            <a:pPr marL="0" marR="0" lvl="0" indent="0" algn="l" rtl="0">
              <a:lnSpc>
                <a:spcPct val="100000"/>
              </a:lnSpc>
              <a:spcBef>
                <a:spcPts val="0"/>
              </a:spcBef>
              <a:spcAft>
                <a:spcPts val="0"/>
              </a:spcAft>
              <a:buClr>
                <a:schemeClr val="dk1"/>
              </a:buClr>
              <a:buSzPts val="3200"/>
              <a:buFont typeface="Arial"/>
              <a:buChar char="•"/>
            </a:pPr>
            <a:r>
              <a:rPr lang="en-US" sz="3200" b="0" i="0" u="none" strike="noStrike" cap="none" dirty="0">
                <a:solidFill>
                  <a:schemeClr val="dk1"/>
                </a:solidFill>
                <a:latin typeface="Arial"/>
                <a:ea typeface="Arial"/>
                <a:cs typeface="Arial"/>
                <a:sym typeface="Arial"/>
              </a:rPr>
              <a:t> Runnable interface</a:t>
            </a:r>
            <a:endParaRPr dirty="0"/>
          </a:p>
          <a:p>
            <a:pPr marL="0" marR="0" lvl="0" indent="0" algn="l" rtl="0">
              <a:lnSpc>
                <a:spcPct val="100000"/>
              </a:lnSpc>
              <a:spcBef>
                <a:spcPts val="0"/>
              </a:spcBef>
              <a:spcAft>
                <a:spcPts val="0"/>
              </a:spcAft>
              <a:buClr>
                <a:schemeClr val="dk1"/>
              </a:buClr>
              <a:buSzPts val="3200"/>
              <a:buFont typeface="Arial"/>
              <a:buChar char="•"/>
            </a:pPr>
            <a:r>
              <a:rPr lang="en-US" sz="3200" b="0" i="0" u="none" strike="noStrike" cap="none" dirty="0" smtClean="0">
                <a:solidFill>
                  <a:schemeClr val="dk1"/>
                </a:solidFill>
                <a:latin typeface="Arial"/>
                <a:ea typeface="Arial"/>
                <a:cs typeface="Arial"/>
                <a:sym typeface="Arial"/>
              </a:rPr>
              <a:t>Inter </a:t>
            </a:r>
            <a:r>
              <a:rPr lang="en-US" sz="3200" b="0" i="0" u="none" strike="noStrike" cap="none" dirty="0">
                <a:solidFill>
                  <a:schemeClr val="dk1"/>
                </a:solidFill>
                <a:latin typeface="Arial"/>
                <a:ea typeface="Arial"/>
                <a:cs typeface="Arial"/>
                <a:sym typeface="Arial"/>
              </a:rPr>
              <a:t>thread communication</a:t>
            </a:r>
            <a:endParaRPr dirty="0"/>
          </a:p>
          <a:p>
            <a:pPr marL="0" marR="0" lvl="0" indent="0" algn="l" rtl="0">
              <a:lnSpc>
                <a:spcPct val="100000"/>
              </a:lnSpc>
              <a:spcBef>
                <a:spcPts val="0"/>
              </a:spcBef>
              <a:spcAft>
                <a:spcPts val="0"/>
              </a:spcAft>
              <a:buClr>
                <a:schemeClr val="dk1"/>
              </a:buClr>
              <a:buSzPts val="3200"/>
              <a:buFont typeface="Arial"/>
              <a:buChar char="•"/>
            </a:pPr>
            <a:r>
              <a:rPr lang="en-US" sz="3200" b="0" i="0" u="none" strike="noStrike" cap="none" dirty="0">
                <a:solidFill>
                  <a:schemeClr val="dk1"/>
                </a:solidFill>
                <a:latin typeface="Arial"/>
                <a:ea typeface="Arial"/>
                <a:cs typeface="Arial"/>
                <a:sym typeface="Arial"/>
              </a:rPr>
              <a:t> Synchronization</a:t>
            </a:r>
            <a:endParaRPr sz="3200" b="0" i="0" u="none" strike="noStrike" cap="none" dirty="0">
              <a:solidFill>
                <a:schemeClr val="dk1"/>
              </a:solidFill>
              <a:latin typeface="Calibri"/>
              <a:ea typeface="Calibri"/>
              <a:cs typeface="Calibri"/>
              <a:sym typeface="Calibri"/>
            </a:endParaRPr>
          </a:p>
          <a:p>
            <a:pPr marL="1143000" marR="0" lvl="2" indent="91439" algn="l" rtl="0">
              <a:lnSpc>
                <a:spcPct val="100000"/>
              </a:lnSpc>
              <a:spcBef>
                <a:spcPts val="720"/>
              </a:spcBef>
              <a:spcAft>
                <a:spcPts val="0"/>
              </a:spcAft>
              <a:buClr>
                <a:schemeClr val="dk1"/>
              </a:buClr>
              <a:buSzPts val="5040"/>
              <a:buFont typeface="Arial"/>
              <a:buNone/>
            </a:pPr>
            <a:endParaRPr sz="3600" b="0" i="0" u="none" strike="noStrike" cap="none" dirty="0">
              <a:solidFill>
                <a:schemeClr val="dk1"/>
              </a:solidFill>
              <a:latin typeface="Calibri"/>
              <a:ea typeface="Calibri"/>
              <a:cs typeface="Calibri"/>
              <a:sym typeface="Calibri"/>
            </a:endParaRPr>
          </a:p>
          <a:p>
            <a:pPr marL="742950" marR="0" lvl="1" indent="0" algn="l" rtl="0">
              <a:lnSpc>
                <a:spcPct val="100000"/>
              </a:lnSpc>
              <a:spcBef>
                <a:spcPts val="720"/>
              </a:spcBef>
              <a:spcAft>
                <a:spcPts val="0"/>
              </a:spcAft>
              <a:buClr>
                <a:schemeClr val="accent1"/>
              </a:buClr>
              <a:buSzPts val="4500"/>
              <a:buFont typeface="Arial"/>
              <a:buNone/>
            </a:pPr>
            <a:endParaRPr sz="3600" b="0" i="0" u="none" strike="noStrike" cap="none" dirty="0">
              <a:solidFill>
                <a:schemeClr val="dk1"/>
              </a:solidFill>
              <a:latin typeface="Calibri"/>
              <a:ea typeface="Calibri"/>
              <a:cs typeface="Calibri"/>
              <a:sym typeface="Calibri"/>
            </a:endParaRPr>
          </a:p>
          <a:p>
            <a:pPr marL="742950" marR="0" lvl="1" indent="0" algn="l" rtl="0">
              <a:lnSpc>
                <a:spcPct val="100000"/>
              </a:lnSpc>
              <a:spcBef>
                <a:spcPts val="720"/>
              </a:spcBef>
              <a:spcAft>
                <a:spcPts val="0"/>
              </a:spcAft>
              <a:buClr>
                <a:schemeClr val="accent1"/>
              </a:buClr>
              <a:buSzPts val="4500"/>
              <a:buFont typeface="Arial"/>
              <a:buNone/>
            </a:pPr>
            <a:endParaRPr sz="3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3600" b="0" i="0" u="none" strike="noStrike" cap="none" dirty="0">
              <a:solidFill>
                <a:schemeClr val="dk1"/>
              </a:solidFill>
              <a:latin typeface="Calibri"/>
              <a:ea typeface="Calibri"/>
              <a:cs typeface="Calibri"/>
              <a:sym typeface="Calibri"/>
            </a:endParaRPr>
          </a:p>
        </p:txBody>
      </p:sp>
      <p:sp>
        <p:nvSpPr>
          <p:cNvPr id="121" name="Google Shape;121;p18"/>
          <p:cNvSpPr txBox="1">
            <a:spLocks noGrp="1"/>
          </p:cNvSpPr>
          <p:nvPr>
            <p:ph type="title"/>
          </p:nvPr>
        </p:nvSpPr>
        <p:spPr>
          <a:xfrm>
            <a:off x="0" y="0"/>
            <a:ext cx="9144000" cy="639762"/>
          </a:xfrm>
          <a:prstGeom prst="rect">
            <a:avLst/>
          </a:prstGeom>
          <a:gradFill>
            <a:gsLst>
              <a:gs pos="0">
                <a:srgbClr val="A3C4FF"/>
              </a:gs>
              <a:gs pos="35000">
                <a:srgbClr val="BFD5FF"/>
              </a:gs>
              <a:gs pos="100000">
                <a:srgbClr val="E5EEFF"/>
              </a:gs>
            </a:gsLst>
            <a:lin ang="16200000" scaled="0"/>
          </a:gradFill>
          <a:ln w="9525" cap="flat" cmpd="sng">
            <a:solidFill>
              <a:srgbClr val="4A7EBB"/>
            </a:solidFill>
            <a:prstDash val="solid"/>
            <a:miter lim="800000"/>
            <a:headEnd type="none" w="sm" len="sm"/>
            <a:tailEnd type="none" w="sm" len="sm"/>
          </a:ln>
          <a:effectLst>
            <a:outerShdw blurRad="63500" dist="20000" dir="540000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7375E"/>
              </a:buClr>
              <a:buFont typeface="Calibri"/>
              <a:buNone/>
            </a:pPr>
            <a:r>
              <a:rPr lang="en-US" sz="3600" b="1" i="0" u="none" strike="noStrike" cap="none">
                <a:solidFill>
                  <a:srgbClr val="17375E"/>
                </a:solidFill>
                <a:latin typeface="Calibri"/>
                <a:ea typeface="Calibri"/>
                <a:cs typeface="Calibri"/>
                <a:sym typeface="Calibri"/>
              </a:rPr>
              <a:t>Syllabus</a:t>
            </a:r>
            <a:endParaRPr/>
          </a:p>
        </p:txBody>
      </p:sp>
    </p:spTree>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body" idx="1"/>
          </p:nvPr>
        </p:nvSpPr>
        <p:spPr>
          <a:xfrm>
            <a:off x="457200" y="1219200"/>
            <a:ext cx="82296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Improved performance </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Minimized system resource usage </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Simultaneous access to multiple applications </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Program structure simplification </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Send &amp; receive data on network</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Read &amp; write files to disk</a:t>
            </a:r>
            <a:endParaRPr/>
          </a:p>
          <a:p>
            <a:pPr marL="342900" marR="0" lvl="0" indent="-342900" algn="l" rtl="0">
              <a:lnSpc>
                <a:spcPct val="9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Perform useful computation (editor, browser, game)</a:t>
            </a:r>
            <a:endParaRPr/>
          </a:p>
        </p:txBody>
      </p:sp>
      <p:sp>
        <p:nvSpPr>
          <p:cNvPr id="128" name="Google Shape;128;p19"/>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Why Threads?</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
                                            <p:txEl>
                                              <p:pRg st="0" end="0"/>
                                            </p:txEl>
                                          </p:spTgt>
                                        </p:tgtEl>
                                        <p:attrNameLst>
                                          <p:attrName>style.visibility</p:attrName>
                                        </p:attrNameLst>
                                      </p:cBhvr>
                                      <p:to>
                                        <p:strVal val="visible"/>
                                      </p:to>
                                    </p:set>
                                    <p:animEffect transition="in" filter="fade">
                                      <p:cBhvr>
                                        <p:cTn id="7" dur="500"/>
                                        <p:tgtEl>
                                          <p:spTgt spid="12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27">
                                            <p:txEl>
                                              <p:pRg st="1" end="1"/>
                                            </p:txEl>
                                          </p:spTgt>
                                        </p:tgtEl>
                                        <p:attrNameLst>
                                          <p:attrName>style.visibility</p:attrName>
                                        </p:attrNameLst>
                                      </p:cBhvr>
                                      <p:to>
                                        <p:strVal val="visible"/>
                                      </p:to>
                                    </p:set>
                                    <p:animEffect transition="in" filter="fade">
                                      <p:cBhvr>
                                        <p:cTn id="10" dur="500"/>
                                        <p:tgtEl>
                                          <p:spTgt spid="12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27">
                                            <p:txEl>
                                              <p:pRg st="2" end="2"/>
                                            </p:txEl>
                                          </p:spTgt>
                                        </p:tgtEl>
                                        <p:attrNameLst>
                                          <p:attrName>style.visibility</p:attrName>
                                        </p:attrNameLst>
                                      </p:cBhvr>
                                      <p:to>
                                        <p:strVal val="visible"/>
                                      </p:to>
                                    </p:set>
                                    <p:animEffect transition="in" filter="fade">
                                      <p:cBhvr>
                                        <p:cTn id="13" dur="500"/>
                                        <p:tgtEl>
                                          <p:spTgt spid="12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27">
                                            <p:txEl>
                                              <p:pRg st="3" end="3"/>
                                            </p:txEl>
                                          </p:spTgt>
                                        </p:tgtEl>
                                        <p:attrNameLst>
                                          <p:attrName>style.visibility</p:attrName>
                                        </p:attrNameLst>
                                      </p:cBhvr>
                                      <p:to>
                                        <p:strVal val="visible"/>
                                      </p:to>
                                    </p:set>
                                    <p:animEffect transition="in" filter="fade">
                                      <p:cBhvr>
                                        <p:cTn id="16" dur="500"/>
                                        <p:tgtEl>
                                          <p:spTgt spid="12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27">
                                            <p:txEl>
                                              <p:pRg st="4" end="4"/>
                                            </p:txEl>
                                          </p:spTgt>
                                        </p:tgtEl>
                                        <p:attrNameLst>
                                          <p:attrName>style.visibility</p:attrName>
                                        </p:attrNameLst>
                                      </p:cBhvr>
                                      <p:to>
                                        <p:strVal val="visible"/>
                                      </p:to>
                                    </p:set>
                                    <p:animEffect transition="in" filter="fade">
                                      <p:cBhvr>
                                        <p:cTn id="19" dur="500"/>
                                        <p:tgtEl>
                                          <p:spTgt spid="12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27">
                                            <p:txEl>
                                              <p:pRg st="5" end="5"/>
                                            </p:txEl>
                                          </p:spTgt>
                                        </p:tgtEl>
                                        <p:attrNameLst>
                                          <p:attrName>style.visibility</p:attrName>
                                        </p:attrNameLst>
                                      </p:cBhvr>
                                      <p:to>
                                        <p:strVal val="visible"/>
                                      </p:to>
                                    </p:set>
                                    <p:animEffect transition="in" filter="fade">
                                      <p:cBhvr>
                                        <p:cTn id="22" dur="500"/>
                                        <p:tgtEl>
                                          <p:spTgt spid="127">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27">
                                            <p:txEl>
                                              <p:pRg st="6" end="6"/>
                                            </p:txEl>
                                          </p:spTgt>
                                        </p:tgtEl>
                                        <p:attrNameLst>
                                          <p:attrName>style.visibility</p:attrName>
                                        </p:attrNameLst>
                                      </p:cBhvr>
                                      <p:to>
                                        <p:strVal val="visible"/>
                                      </p:to>
                                    </p:set>
                                    <p:animEffect transition="in" filter="fade">
                                      <p:cBhvr>
                                        <p:cTn id="25" dur="500"/>
                                        <p:tgtEl>
                                          <p:spTgt spid="1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0" descr="Oak"/>
          <p:cNvSpPr txBox="1"/>
          <p:nvPr/>
        </p:nvSpPr>
        <p:spPr>
          <a:xfrm>
            <a:off x="0" y="1371600"/>
            <a:ext cx="4495800" cy="685800"/>
          </a:xfrm>
          <a:prstGeom prst="rect">
            <a:avLst/>
          </a:prstGeom>
          <a:blipFill rotWithShape="1">
            <a:blip r:embed="rId3">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r"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r" rtl="0">
              <a:lnSpc>
                <a:spcPct val="100000"/>
              </a:lnSpc>
              <a:spcBef>
                <a:spcPts val="1120"/>
              </a:spcBef>
              <a:spcAft>
                <a:spcPts val="0"/>
              </a:spcAft>
              <a:buClr>
                <a:schemeClr val="dk1"/>
              </a:buClr>
              <a:buFont typeface="Calibri"/>
              <a:buNone/>
            </a:pPr>
            <a:r>
              <a:rPr lang="en-US" sz="2800" b="0" i="0" u="none" strike="noStrike" cap="none">
                <a:solidFill>
                  <a:schemeClr val="dk1"/>
                </a:solidFill>
                <a:latin typeface="Calibri"/>
                <a:ea typeface="Calibri"/>
                <a:cs typeface="Calibri"/>
                <a:sym typeface="Calibri"/>
              </a:rPr>
              <a:t>         </a:t>
            </a:r>
            <a:endParaRPr/>
          </a:p>
        </p:txBody>
      </p:sp>
      <p:sp>
        <p:nvSpPr>
          <p:cNvPr id="136" name="Google Shape;136;p20" descr="Pink tissue paper"/>
          <p:cNvSpPr txBox="1"/>
          <p:nvPr/>
        </p:nvSpPr>
        <p:spPr>
          <a:xfrm>
            <a:off x="4495800" y="1371600"/>
            <a:ext cx="4648200" cy="685800"/>
          </a:xfrm>
          <a:prstGeom prst="rect">
            <a:avLst/>
          </a:prstGeom>
          <a:blipFill rotWithShape="1">
            <a:blip r:embed="rId4">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l" rtl="0">
              <a:lnSpc>
                <a:spcPct val="100000"/>
              </a:lnSpc>
              <a:spcBef>
                <a:spcPts val="112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Font typeface="Calibri"/>
              <a:buNone/>
            </a:pPr>
            <a:r>
              <a:rPr lang="en-US" sz="2800" b="0" i="0" u="none">
                <a:solidFill>
                  <a:schemeClr val="dk1"/>
                </a:solidFill>
                <a:latin typeface="Calibri"/>
                <a:ea typeface="Calibri"/>
                <a:cs typeface="Calibri"/>
                <a:sym typeface="Calibri"/>
              </a:rPr>
              <a:t>         </a:t>
            </a:r>
            <a:endParaRPr/>
          </a:p>
        </p:txBody>
      </p:sp>
      <p:sp>
        <p:nvSpPr>
          <p:cNvPr id="137" name="Google Shape;137;p20" descr="Oak"/>
          <p:cNvSpPr txBox="1"/>
          <p:nvPr/>
        </p:nvSpPr>
        <p:spPr>
          <a:xfrm>
            <a:off x="0" y="2895600"/>
            <a:ext cx="4572000" cy="6858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114300" algn="l" rtl="0">
              <a:lnSpc>
                <a:spcPct val="100000"/>
              </a:lnSpc>
              <a:spcBef>
                <a:spcPts val="0"/>
              </a:spcBef>
              <a:spcAft>
                <a:spcPts val="0"/>
              </a:spcAft>
              <a:buClr>
                <a:schemeClr val="accent2"/>
              </a:buClr>
              <a:buSzPts val="1800"/>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72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1. Executable program loaded in memory.</a:t>
            </a:r>
            <a:endParaRPr/>
          </a:p>
          <a:p>
            <a:pPr marL="0" marR="0" lvl="0" indent="0" algn="l" rtl="0">
              <a:lnSpc>
                <a:spcPct val="100000"/>
              </a:lnSpc>
              <a:spcBef>
                <a:spcPts val="27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20"/>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Process Vs Thread</a:t>
            </a:r>
            <a:endParaRPr/>
          </a:p>
        </p:txBody>
      </p:sp>
      <p:sp>
        <p:nvSpPr>
          <p:cNvPr id="139" name="Google Shape;139;p20" descr="Stationery"/>
          <p:cNvSpPr txBox="1"/>
          <p:nvPr/>
        </p:nvSpPr>
        <p:spPr>
          <a:xfrm>
            <a:off x="3505200" y="2090737"/>
            <a:ext cx="1828800" cy="804862"/>
          </a:xfrm>
          <a:prstGeom prst="rect">
            <a:avLst/>
          </a:prstGeom>
          <a:blipFill rotWithShape="1">
            <a:blip r:embed="rId5">
              <a:alphaModFix/>
            </a:blip>
            <a:stretch>
              <a:fillRect/>
            </a:stretch>
          </a:blipFill>
          <a:ln>
            <a:noFill/>
          </a:ln>
          <a:effectLst>
            <a:outerShdw blurRad="63500" dist="17960" dir="2700000">
              <a:srgbClr val="99997A"/>
            </a:outerShdw>
          </a:effectLst>
        </p:spPr>
        <p:txBody>
          <a:bodyPr spcFirstLastPara="1" wrap="square" lIns="0" tIns="0" rIns="0" bIns="0" anchor="ctr" anchorCtr="0">
            <a:noAutofit/>
          </a:bodyPr>
          <a:lstStyle/>
          <a:p>
            <a:pPr marL="114300" marR="0" lvl="1" indent="114300" algn="l" rtl="0">
              <a:lnSpc>
                <a:spcPct val="100000"/>
              </a:lnSpc>
              <a:spcBef>
                <a:spcPts val="0"/>
              </a:spcBef>
              <a:spcAft>
                <a:spcPts val="0"/>
              </a:spcAft>
              <a:buClr>
                <a:schemeClr val="accent2"/>
              </a:buClr>
              <a:buSzPts val="1800"/>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770"/>
              </a:spcBef>
              <a:spcAft>
                <a:spcPts val="0"/>
              </a:spcAft>
              <a:buClr>
                <a:schemeClr val="dk1"/>
              </a:buClr>
              <a:buFont typeface="Calibri"/>
              <a:buNone/>
            </a:pPr>
            <a:r>
              <a:rPr lang="en-US" sz="2000" b="0" i="0" u="none" strike="noStrike" cap="none">
                <a:solidFill>
                  <a:schemeClr val="dk1"/>
                </a:solidFill>
                <a:latin typeface="Calibri"/>
                <a:ea typeface="Calibri"/>
                <a:cs typeface="Calibri"/>
                <a:sym typeface="Calibri"/>
              </a:rPr>
              <a:t>Definition   </a:t>
            </a:r>
            <a:endParaRPr/>
          </a:p>
          <a:p>
            <a:pPr marL="0" marR="0" lvl="0" indent="0" algn="l" rtl="0">
              <a:lnSpc>
                <a:spcPct val="100000"/>
              </a:lnSpc>
              <a:spcBef>
                <a:spcPts val="300"/>
              </a:spcBef>
              <a:spcAft>
                <a:spcPts val="0"/>
              </a:spcAft>
              <a:buNone/>
            </a:pPr>
            <a:endParaRPr sz="2000" b="0" i="0" u="none" strike="noStrike" cap="none">
              <a:solidFill>
                <a:schemeClr val="dk1"/>
              </a:solidFill>
              <a:latin typeface="Calibri"/>
              <a:ea typeface="Calibri"/>
              <a:cs typeface="Calibri"/>
              <a:sym typeface="Calibri"/>
            </a:endParaRPr>
          </a:p>
        </p:txBody>
      </p:sp>
      <p:sp>
        <p:nvSpPr>
          <p:cNvPr id="140" name="Google Shape;140;p20" descr="Pink tissue paper"/>
          <p:cNvSpPr txBox="1"/>
          <p:nvPr/>
        </p:nvSpPr>
        <p:spPr>
          <a:xfrm>
            <a:off x="4572000" y="2895600"/>
            <a:ext cx="4572000" cy="6858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1. Sequentially executed stream of</a:t>
            </a:r>
            <a:endParaRPr/>
          </a:p>
          <a:p>
            <a:pPr marL="114300" marR="0" lvl="1"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instructions.</a:t>
            </a:r>
            <a:endParaRPr/>
          </a:p>
          <a:p>
            <a:pPr marL="0" marR="0" lvl="0" indent="0" algn="l"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20" descr="Oak"/>
          <p:cNvSpPr txBox="1"/>
          <p:nvPr/>
        </p:nvSpPr>
        <p:spPr>
          <a:xfrm>
            <a:off x="1752600" y="1371600"/>
            <a:ext cx="1752600" cy="6858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l" rtl="0">
              <a:lnSpc>
                <a:spcPct val="100000"/>
              </a:lnSpc>
              <a:spcBef>
                <a:spcPts val="1120"/>
              </a:spcBef>
              <a:spcAft>
                <a:spcPts val="0"/>
              </a:spcAft>
              <a:buClr>
                <a:schemeClr val="dk1"/>
              </a:buClr>
              <a:buFont typeface="Calibri"/>
              <a:buNone/>
            </a:pPr>
            <a:r>
              <a:rPr lang="en-US" sz="2800" b="0" i="0" u="none" strike="noStrike" cap="none">
                <a:solidFill>
                  <a:schemeClr val="dk1"/>
                </a:solidFill>
                <a:latin typeface="Calibri"/>
                <a:ea typeface="Calibri"/>
                <a:cs typeface="Calibri"/>
                <a:sym typeface="Calibri"/>
              </a:rPr>
              <a:t>Process </a:t>
            </a:r>
            <a:endParaRPr/>
          </a:p>
          <a:p>
            <a:pPr marL="0" marR="0" lvl="0" indent="0" algn="l" rtl="0">
              <a:lnSpc>
                <a:spcPct val="100000"/>
              </a:lnSpc>
              <a:spcBef>
                <a:spcPts val="420"/>
              </a:spcBef>
              <a:spcAft>
                <a:spcPts val="0"/>
              </a:spcAft>
              <a:buNone/>
            </a:pPr>
            <a:endParaRPr sz="2800" b="0" i="0" u="none" strike="noStrike" cap="none">
              <a:solidFill>
                <a:schemeClr val="dk1"/>
              </a:solidFill>
              <a:latin typeface="Calibri"/>
              <a:ea typeface="Calibri"/>
              <a:cs typeface="Calibri"/>
              <a:sym typeface="Calibri"/>
            </a:endParaRPr>
          </a:p>
        </p:txBody>
      </p:sp>
      <p:sp>
        <p:nvSpPr>
          <p:cNvPr id="142" name="Google Shape;142;p20" descr="Pink tissue paper"/>
          <p:cNvSpPr txBox="1"/>
          <p:nvPr/>
        </p:nvSpPr>
        <p:spPr>
          <a:xfrm>
            <a:off x="5334000" y="1371600"/>
            <a:ext cx="1752600" cy="6858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l" rtl="0">
              <a:lnSpc>
                <a:spcPct val="100000"/>
              </a:lnSpc>
              <a:spcBef>
                <a:spcPts val="1120"/>
              </a:spcBef>
              <a:spcAft>
                <a:spcPts val="0"/>
              </a:spcAft>
              <a:buClr>
                <a:schemeClr val="dk1"/>
              </a:buClr>
              <a:buFont typeface="Calibri"/>
              <a:buNone/>
            </a:pPr>
            <a:r>
              <a:rPr lang="en-US" sz="2800" b="0" i="0" u="none" strike="noStrike" cap="none">
                <a:solidFill>
                  <a:schemeClr val="dk1"/>
                </a:solidFill>
                <a:latin typeface="Calibri"/>
                <a:ea typeface="Calibri"/>
                <a:cs typeface="Calibri"/>
                <a:sym typeface="Calibri"/>
              </a:rPr>
              <a:t>  Thread</a:t>
            </a:r>
            <a:endParaRPr/>
          </a:p>
          <a:p>
            <a:pPr marL="0" marR="0" lvl="0" indent="0" algn="l" rtl="0">
              <a:lnSpc>
                <a:spcPct val="100000"/>
              </a:lnSpc>
              <a:spcBef>
                <a:spcPts val="420"/>
              </a:spcBef>
              <a:spcAft>
                <a:spcPts val="0"/>
              </a:spcAft>
              <a:buClr>
                <a:schemeClr val="dk1"/>
              </a:buClr>
              <a:buFont typeface="Calibri"/>
              <a:buNone/>
            </a:pPr>
            <a:r>
              <a:rPr lang="en-US" sz="2800" b="0" i="0" u="none">
                <a:solidFill>
                  <a:schemeClr val="dk1"/>
                </a:solidFill>
                <a:latin typeface="Calibri"/>
                <a:ea typeface="Calibri"/>
                <a:cs typeface="Calibri"/>
                <a:sym typeface="Calibri"/>
              </a:rPr>
              <a:t>         </a:t>
            </a:r>
            <a:endParaRPr/>
          </a:p>
        </p:txBody>
      </p:sp>
      <p:sp>
        <p:nvSpPr>
          <p:cNvPr id="143" name="Google Shape;143;p20"/>
          <p:cNvSpPr txBox="1"/>
          <p:nvPr/>
        </p:nvSpPr>
        <p:spPr>
          <a:xfrm>
            <a:off x="3998912" y="1473200"/>
            <a:ext cx="4206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800" b="0" i="0" u="none">
                <a:solidFill>
                  <a:schemeClr val="dk1"/>
                </a:solidFill>
                <a:latin typeface="Calibri"/>
                <a:ea typeface="Calibri"/>
                <a:cs typeface="Calibri"/>
                <a:sym typeface="Calibri"/>
              </a:rPr>
              <a:t>V</a:t>
            </a:r>
            <a:endParaRPr/>
          </a:p>
        </p:txBody>
      </p:sp>
      <p:sp>
        <p:nvSpPr>
          <p:cNvPr id="144" name="Google Shape;144;p20"/>
          <p:cNvSpPr txBox="1"/>
          <p:nvPr/>
        </p:nvSpPr>
        <p:spPr>
          <a:xfrm>
            <a:off x="4572000" y="1476375"/>
            <a:ext cx="4206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800" b="0" i="0" u="none">
                <a:solidFill>
                  <a:schemeClr val="dk1"/>
                </a:solidFill>
                <a:latin typeface="Calibri"/>
                <a:ea typeface="Calibri"/>
                <a:cs typeface="Calibri"/>
                <a:sym typeface="Calibri"/>
              </a:rPr>
              <a:t>S</a:t>
            </a:r>
            <a:endParaRPr/>
          </a:p>
        </p:txBody>
      </p:sp>
      <p:sp>
        <p:nvSpPr>
          <p:cNvPr id="145" name="Google Shape;145;p20" descr="Stationery"/>
          <p:cNvSpPr txBox="1"/>
          <p:nvPr/>
        </p:nvSpPr>
        <p:spPr>
          <a:xfrm>
            <a:off x="3505200" y="4038600"/>
            <a:ext cx="1905000" cy="838200"/>
          </a:xfrm>
          <a:prstGeom prst="rect">
            <a:avLst/>
          </a:prstGeom>
          <a:blipFill rotWithShape="1">
            <a:blip r:embed="rId5">
              <a:alphaModFix/>
            </a:blip>
            <a:stretch>
              <a:fillRect/>
            </a:stretch>
          </a:blipFill>
          <a:ln>
            <a:noFill/>
          </a:ln>
          <a:effectLst>
            <a:outerShdw blurRad="63500" dist="17960" dir="2700000">
              <a:srgbClr val="99997A"/>
            </a:outerShdw>
          </a:effectLst>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2000" b="0" i="0" u="none" strike="noStrike" cap="none">
              <a:solidFill>
                <a:schemeClr val="dk1"/>
              </a:solidFill>
              <a:latin typeface="Calibri"/>
              <a:ea typeface="Calibri"/>
              <a:cs typeface="Calibri"/>
              <a:sym typeface="Calibri"/>
            </a:endParaRPr>
          </a:p>
          <a:p>
            <a:pPr marL="114300" marR="0" lvl="1" indent="0" algn="l" rtl="0">
              <a:lnSpc>
                <a:spcPct val="100000"/>
              </a:lnSpc>
              <a:spcBef>
                <a:spcPts val="800"/>
              </a:spcBef>
              <a:spcAft>
                <a:spcPts val="0"/>
              </a:spcAft>
              <a:buClr>
                <a:schemeClr val="dk1"/>
              </a:buClr>
              <a:buFont typeface="Calibri"/>
              <a:buNone/>
            </a:pPr>
            <a:r>
              <a:rPr lang="en-US" sz="2000" b="0" i="0" u="none" strike="noStrike" cap="none">
                <a:solidFill>
                  <a:schemeClr val="dk1"/>
                </a:solidFill>
                <a:latin typeface="Calibri"/>
                <a:ea typeface="Calibri"/>
                <a:cs typeface="Calibri"/>
                <a:sym typeface="Calibri"/>
              </a:rPr>
              <a:t>Address Space</a:t>
            </a:r>
            <a:endParaRPr/>
          </a:p>
          <a:p>
            <a:pPr marL="0" marR="0" lvl="0" indent="0" algn="l" rtl="0">
              <a:lnSpc>
                <a:spcPct val="100000"/>
              </a:lnSpc>
              <a:spcBef>
                <a:spcPts val="300"/>
              </a:spcBef>
              <a:spcAft>
                <a:spcPts val="0"/>
              </a:spcAft>
              <a:buNone/>
            </a:pPr>
            <a:endParaRPr sz="2000" b="0" i="0" u="none" strike="noStrike" cap="none">
              <a:solidFill>
                <a:schemeClr val="dk1"/>
              </a:solidFill>
              <a:latin typeface="Calibri"/>
              <a:ea typeface="Calibri"/>
              <a:cs typeface="Calibri"/>
              <a:sym typeface="Calibri"/>
            </a:endParaRPr>
          </a:p>
        </p:txBody>
      </p:sp>
      <p:sp>
        <p:nvSpPr>
          <p:cNvPr id="146" name="Google Shape;146;p20" descr="Oak"/>
          <p:cNvSpPr txBox="1"/>
          <p:nvPr/>
        </p:nvSpPr>
        <p:spPr>
          <a:xfrm>
            <a:off x="0" y="4876800"/>
            <a:ext cx="4572000" cy="6858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114300" algn="l" rtl="0">
              <a:lnSpc>
                <a:spcPct val="100000"/>
              </a:lnSpc>
              <a:spcBef>
                <a:spcPts val="0"/>
              </a:spcBef>
              <a:spcAft>
                <a:spcPts val="0"/>
              </a:spcAft>
              <a:buClr>
                <a:schemeClr val="accent2"/>
              </a:buClr>
              <a:buSzPts val="1800"/>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2.  Has own address space – variables &amp;</a:t>
            </a:r>
            <a:endParaRPr/>
          </a:p>
          <a:p>
            <a:pPr marL="114300" marR="0" lvl="1"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data structures (in memory) </a:t>
            </a:r>
            <a:endParaRPr/>
          </a:p>
          <a:p>
            <a:pPr marL="0" marR="0" lvl="0" indent="0" algn="l"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20" descr="Pink tissue paper"/>
          <p:cNvSpPr txBox="1"/>
          <p:nvPr/>
        </p:nvSpPr>
        <p:spPr>
          <a:xfrm>
            <a:off x="4572000" y="4876800"/>
            <a:ext cx="4572000" cy="6858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2. Shares address space with other</a:t>
            </a:r>
            <a:endParaRPr/>
          </a:p>
          <a:p>
            <a:pPr marL="114300" marR="0" lvl="1"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threads.</a:t>
            </a:r>
            <a:endParaRPr/>
          </a:p>
          <a:p>
            <a:pPr marL="0" marR="0" lvl="0" indent="0" algn="l"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1000"/>
                                        <p:tgtEl>
                                          <p:spTgt spid="135"/>
                                        </p:tgtEl>
                                      </p:cBhvr>
                                    </p:animEffect>
                                  </p:childTnLst>
                                </p:cTn>
                              </p:par>
                              <p:par>
                                <p:cTn id="8" presetID="10" presetClass="entr" presetSubtype="0" fill="hold" nodeType="withEffect">
                                  <p:stCondLst>
                                    <p:cond delay="0"/>
                                  </p:stCondLst>
                                  <p:childTnLst>
                                    <p:set>
                                      <p:cBhvr>
                                        <p:cTn id="9" dur="1" fill="hold">
                                          <p:stCondLst>
                                            <p:cond delay="0"/>
                                          </p:stCondLst>
                                        </p:cTn>
                                        <p:tgtEl>
                                          <p:spTgt spid="141"/>
                                        </p:tgtEl>
                                        <p:attrNameLst>
                                          <p:attrName>style.visibility</p:attrName>
                                        </p:attrNameLst>
                                      </p:cBhvr>
                                      <p:to>
                                        <p:strVal val="visible"/>
                                      </p:to>
                                    </p:set>
                                    <p:animEffect transition="in" filter="fade">
                                      <p:cBhvr>
                                        <p:cTn id="10" dur="1000"/>
                                        <p:tgtEl>
                                          <p:spTgt spid="141"/>
                                        </p:tgtEl>
                                      </p:cBhvr>
                                    </p:animEffect>
                                  </p:childTnLst>
                                </p:cTn>
                              </p:par>
                              <p:par>
                                <p:cTn id="11" presetID="10" presetClass="entr" presetSubtype="0" fill="hold" nodeType="withEffect">
                                  <p:stCondLst>
                                    <p:cond delay="0"/>
                                  </p:stCondLst>
                                  <p:childTnLst>
                                    <p:set>
                                      <p:cBhvr>
                                        <p:cTn id="12" dur="1" fill="hold">
                                          <p:stCondLst>
                                            <p:cond delay="0"/>
                                          </p:stCondLst>
                                        </p:cTn>
                                        <p:tgtEl>
                                          <p:spTgt spid="136"/>
                                        </p:tgtEl>
                                        <p:attrNameLst>
                                          <p:attrName>style.visibility</p:attrName>
                                        </p:attrNameLst>
                                      </p:cBhvr>
                                      <p:to>
                                        <p:strVal val="visible"/>
                                      </p:to>
                                    </p:set>
                                    <p:animEffect transition="in" filter="fade">
                                      <p:cBhvr>
                                        <p:cTn id="13" dur="1000"/>
                                        <p:tgtEl>
                                          <p:spTgt spid="136"/>
                                        </p:tgtEl>
                                      </p:cBhvr>
                                    </p:animEffect>
                                  </p:childTnLst>
                                </p:cTn>
                              </p:par>
                              <p:par>
                                <p:cTn id="14" presetID="10" presetClass="entr" presetSubtype="0" fill="hold" nodeType="withEffect">
                                  <p:stCondLst>
                                    <p:cond delay="0"/>
                                  </p:stCondLst>
                                  <p:childTnLst>
                                    <p:set>
                                      <p:cBhvr>
                                        <p:cTn id="15" dur="1" fill="hold">
                                          <p:stCondLst>
                                            <p:cond delay="0"/>
                                          </p:stCondLst>
                                        </p:cTn>
                                        <p:tgtEl>
                                          <p:spTgt spid="142"/>
                                        </p:tgtEl>
                                        <p:attrNameLst>
                                          <p:attrName>style.visibility</p:attrName>
                                        </p:attrNameLst>
                                      </p:cBhvr>
                                      <p:to>
                                        <p:strVal val="visible"/>
                                      </p:to>
                                    </p:set>
                                    <p:animEffect transition="in" filter="fade">
                                      <p:cBhvr>
                                        <p:cTn id="16" dur="1000"/>
                                        <p:tgtEl>
                                          <p:spTgt spid="142"/>
                                        </p:tgtEl>
                                      </p:cBhvr>
                                    </p:animEffect>
                                  </p:childTnLst>
                                </p:cTn>
                              </p:par>
                              <p:par>
                                <p:cTn id="17" presetID="10" presetClass="entr" presetSubtype="0" fill="hold" nodeType="withEffect">
                                  <p:stCondLst>
                                    <p:cond delay="0"/>
                                  </p:stCondLst>
                                  <p:childTnLst>
                                    <p:set>
                                      <p:cBhvr>
                                        <p:cTn id="18" dur="1" fill="hold">
                                          <p:stCondLst>
                                            <p:cond delay="0"/>
                                          </p:stCondLst>
                                        </p:cTn>
                                        <p:tgtEl>
                                          <p:spTgt spid="144"/>
                                        </p:tgtEl>
                                        <p:attrNameLst>
                                          <p:attrName>style.visibility</p:attrName>
                                        </p:attrNameLst>
                                      </p:cBhvr>
                                      <p:to>
                                        <p:strVal val="visible"/>
                                      </p:to>
                                    </p:set>
                                    <p:animEffect transition="in" filter="fade">
                                      <p:cBhvr>
                                        <p:cTn id="19" dur="2000"/>
                                        <p:tgtEl>
                                          <p:spTgt spid="144"/>
                                        </p:tgtEl>
                                      </p:cBhvr>
                                    </p:animEffect>
                                  </p:childTnLst>
                                </p:cTn>
                              </p:par>
                              <p:par>
                                <p:cTn id="20" presetID="10" presetClass="entr" presetSubtype="0" fill="hold" nodeType="withEffect">
                                  <p:stCondLst>
                                    <p:cond delay="0"/>
                                  </p:stCondLst>
                                  <p:childTnLst>
                                    <p:set>
                                      <p:cBhvr>
                                        <p:cTn id="21" dur="1" fill="hold">
                                          <p:stCondLst>
                                            <p:cond delay="0"/>
                                          </p:stCondLst>
                                        </p:cTn>
                                        <p:tgtEl>
                                          <p:spTgt spid="143"/>
                                        </p:tgtEl>
                                        <p:attrNameLst>
                                          <p:attrName>style.visibility</p:attrName>
                                        </p:attrNameLst>
                                      </p:cBhvr>
                                      <p:to>
                                        <p:strVal val="visible"/>
                                      </p:to>
                                    </p:set>
                                    <p:animEffect transition="in" filter="fade">
                                      <p:cBhvr>
                                        <p:cTn id="22" dur="2000"/>
                                        <p:tgtEl>
                                          <p:spTgt spid="1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9"/>
                                        </p:tgtEl>
                                        <p:attrNameLst>
                                          <p:attrName>style.visibility</p:attrName>
                                        </p:attrNameLst>
                                      </p:cBhvr>
                                      <p:to>
                                        <p:strVal val="visible"/>
                                      </p:to>
                                    </p:set>
                                    <p:animEffect transition="in" filter="fade">
                                      <p:cBhvr>
                                        <p:cTn id="27" dur="500"/>
                                        <p:tgtEl>
                                          <p:spTgt spid="13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7"/>
                                        </p:tgtEl>
                                        <p:attrNameLst>
                                          <p:attrName>style.visibility</p:attrName>
                                        </p:attrNameLst>
                                      </p:cBhvr>
                                      <p:to>
                                        <p:strVal val="visible"/>
                                      </p:to>
                                    </p:set>
                                    <p:animEffect transition="in" filter="fade">
                                      <p:cBhvr>
                                        <p:cTn id="32" dur="1000"/>
                                        <p:tgtEl>
                                          <p:spTgt spid="137"/>
                                        </p:tgtEl>
                                      </p:cBhvr>
                                    </p:animEffect>
                                  </p:childTnLst>
                                </p:cTn>
                              </p:par>
                              <p:par>
                                <p:cTn id="33" presetID="10" presetClass="entr" presetSubtype="0" fill="hold" nodeType="withEffect">
                                  <p:stCondLst>
                                    <p:cond delay="0"/>
                                  </p:stCondLst>
                                  <p:childTnLst>
                                    <p:set>
                                      <p:cBhvr>
                                        <p:cTn id="34" dur="1" fill="hold">
                                          <p:stCondLst>
                                            <p:cond delay="0"/>
                                          </p:stCondLst>
                                        </p:cTn>
                                        <p:tgtEl>
                                          <p:spTgt spid="140"/>
                                        </p:tgtEl>
                                        <p:attrNameLst>
                                          <p:attrName>style.visibility</p:attrName>
                                        </p:attrNameLst>
                                      </p:cBhvr>
                                      <p:to>
                                        <p:strVal val="visible"/>
                                      </p:to>
                                    </p:set>
                                    <p:animEffect transition="in" filter="fade">
                                      <p:cBhvr>
                                        <p:cTn id="35" dur="1000"/>
                                        <p:tgtEl>
                                          <p:spTgt spid="14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5"/>
                                        </p:tgtEl>
                                        <p:attrNameLst>
                                          <p:attrName>style.visibility</p:attrName>
                                        </p:attrNameLst>
                                      </p:cBhvr>
                                      <p:to>
                                        <p:strVal val="visible"/>
                                      </p:to>
                                    </p:set>
                                    <p:animEffect transition="in" filter="fade">
                                      <p:cBhvr>
                                        <p:cTn id="40" dur="500"/>
                                        <p:tgtEl>
                                          <p:spTgt spid="14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46"/>
                                        </p:tgtEl>
                                        <p:attrNameLst>
                                          <p:attrName>style.visibility</p:attrName>
                                        </p:attrNameLst>
                                      </p:cBhvr>
                                      <p:to>
                                        <p:strVal val="visible"/>
                                      </p:to>
                                    </p:set>
                                    <p:animEffect transition="in" filter="fade">
                                      <p:cBhvr>
                                        <p:cTn id="45" dur="1000"/>
                                        <p:tgtEl>
                                          <p:spTgt spid="146"/>
                                        </p:tgtEl>
                                      </p:cBhvr>
                                    </p:animEffect>
                                  </p:childTnLst>
                                </p:cTn>
                              </p:par>
                              <p:par>
                                <p:cTn id="46" presetID="10" presetClass="entr" presetSubtype="0" fill="hold" nodeType="withEffect">
                                  <p:stCondLst>
                                    <p:cond delay="0"/>
                                  </p:stCondLst>
                                  <p:childTnLst>
                                    <p:set>
                                      <p:cBhvr>
                                        <p:cTn id="47" dur="1" fill="hold">
                                          <p:stCondLst>
                                            <p:cond delay="0"/>
                                          </p:stCondLst>
                                        </p:cTn>
                                        <p:tgtEl>
                                          <p:spTgt spid="147"/>
                                        </p:tgtEl>
                                        <p:attrNameLst>
                                          <p:attrName>style.visibility</p:attrName>
                                        </p:attrNameLst>
                                      </p:cBhvr>
                                      <p:to>
                                        <p:strVal val="visible"/>
                                      </p:to>
                                    </p:set>
                                    <p:animEffect transition="in" filter="fade">
                                      <p:cBhvr>
                                        <p:cTn id="48" dur="10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descr="Oak"/>
          <p:cNvSpPr txBox="1"/>
          <p:nvPr/>
        </p:nvSpPr>
        <p:spPr>
          <a:xfrm>
            <a:off x="0" y="1371600"/>
            <a:ext cx="4495800" cy="685800"/>
          </a:xfrm>
          <a:prstGeom prst="rect">
            <a:avLst/>
          </a:prstGeom>
          <a:blipFill rotWithShape="1">
            <a:blip r:embed="rId3">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r"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r" rtl="0">
              <a:lnSpc>
                <a:spcPct val="100000"/>
              </a:lnSpc>
              <a:spcBef>
                <a:spcPts val="1120"/>
              </a:spcBef>
              <a:spcAft>
                <a:spcPts val="0"/>
              </a:spcAft>
              <a:buClr>
                <a:schemeClr val="dk1"/>
              </a:buClr>
              <a:buFont typeface="Calibri"/>
              <a:buNone/>
            </a:pPr>
            <a:r>
              <a:rPr lang="en-US" sz="2800" b="0" i="0" u="none" strike="noStrike" cap="none">
                <a:solidFill>
                  <a:schemeClr val="dk1"/>
                </a:solidFill>
                <a:latin typeface="Calibri"/>
                <a:ea typeface="Calibri"/>
                <a:cs typeface="Calibri"/>
                <a:sym typeface="Calibri"/>
              </a:rPr>
              <a:t>         </a:t>
            </a:r>
            <a:endParaRPr/>
          </a:p>
        </p:txBody>
      </p:sp>
      <p:sp>
        <p:nvSpPr>
          <p:cNvPr id="155" name="Google Shape;155;p21" descr="Pink tissue paper"/>
          <p:cNvSpPr txBox="1"/>
          <p:nvPr/>
        </p:nvSpPr>
        <p:spPr>
          <a:xfrm>
            <a:off x="4495800" y="1371600"/>
            <a:ext cx="4648200" cy="685800"/>
          </a:xfrm>
          <a:prstGeom prst="rect">
            <a:avLst/>
          </a:prstGeom>
          <a:blipFill rotWithShape="1">
            <a:blip r:embed="rId4">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l" rtl="0">
              <a:lnSpc>
                <a:spcPct val="100000"/>
              </a:lnSpc>
              <a:spcBef>
                <a:spcPts val="112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0" marR="0" lvl="0" indent="0" algn="l" rtl="0">
              <a:lnSpc>
                <a:spcPct val="100000"/>
              </a:lnSpc>
              <a:spcBef>
                <a:spcPts val="420"/>
              </a:spcBef>
              <a:spcAft>
                <a:spcPts val="0"/>
              </a:spcAft>
              <a:buClr>
                <a:schemeClr val="dk1"/>
              </a:buClr>
              <a:buFont typeface="Calibri"/>
              <a:buNone/>
            </a:pPr>
            <a:r>
              <a:rPr lang="en-US" sz="2800" b="0" i="0" u="none">
                <a:solidFill>
                  <a:schemeClr val="dk1"/>
                </a:solidFill>
                <a:latin typeface="Calibri"/>
                <a:ea typeface="Calibri"/>
                <a:cs typeface="Calibri"/>
                <a:sym typeface="Calibri"/>
              </a:rPr>
              <a:t>         </a:t>
            </a:r>
            <a:endParaRPr/>
          </a:p>
        </p:txBody>
      </p:sp>
      <p:sp>
        <p:nvSpPr>
          <p:cNvPr id="156" name="Google Shape;156;p21" descr="Oak"/>
          <p:cNvSpPr txBox="1"/>
          <p:nvPr/>
        </p:nvSpPr>
        <p:spPr>
          <a:xfrm>
            <a:off x="0" y="2057400"/>
            <a:ext cx="4495800" cy="6858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114300" algn="l" rtl="0">
              <a:lnSpc>
                <a:spcPct val="100000"/>
              </a:lnSpc>
              <a:spcBef>
                <a:spcPts val="0"/>
              </a:spcBef>
              <a:spcAft>
                <a:spcPts val="0"/>
              </a:spcAft>
              <a:buClr>
                <a:schemeClr val="accent2"/>
              </a:buClr>
              <a:buSzPts val="1800"/>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4. Communicate via operating system, files, network.</a:t>
            </a:r>
            <a:endParaRPr/>
          </a:p>
          <a:p>
            <a:pPr marL="0" marR="0" lvl="0" indent="0" algn="l" rtl="0">
              <a:lnSpc>
                <a:spcPct val="1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7" name="Google Shape;157;p2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Process Vs Thread</a:t>
            </a:r>
            <a:endParaRPr/>
          </a:p>
        </p:txBody>
      </p:sp>
      <p:sp>
        <p:nvSpPr>
          <p:cNvPr id="158" name="Google Shape;158;p21" descr="Pink tissue paper"/>
          <p:cNvSpPr txBox="1"/>
          <p:nvPr/>
        </p:nvSpPr>
        <p:spPr>
          <a:xfrm>
            <a:off x="4495800" y="2057400"/>
            <a:ext cx="4648200" cy="6858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72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4. Has own execution context.</a:t>
            </a:r>
            <a:endParaRPr/>
          </a:p>
          <a:p>
            <a:pPr marL="0" marR="0" lvl="0" indent="0" algn="l" rtl="0">
              <a:lnSpc>
                <a:spcPct val="100000"/>
              </a:lnSpc>
              <a:spcBef>
                <a:spcPts val="27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21" descr="Oak"/>
          <p:cNvSpPr txBox="1"/>
          <p:nvPr/>
        </p:nvSpPr>
        <p:spPr>
          <a:xfrm>
            <a:off x="1752600" y="1371600"/>
            <a:ext cx="1752600" cy="6858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l" rtl="0">
              <a:lnSpc>
                <a:spcPct val="100000"/>
              </a:lnSpc>
              <a:spcBef>
                <a:spcPts val="1120"/>
              </a:spcBef>
              <a:spcAft>
                <a:spcPts val="0"/>
              </a:spcAft>
              <a:buClr>
                <a:schemeClr val="dk1"/>
              </a:buClr>
              <a:buFont typeface="Calibri"/>
              <a:buNone/>
            </a:pPr>
            <a:r>
              <a:rPr lang="en-US" sz="2800" b="0" i="0" u="none" strike="noStrike" cap="none">
                <a:solidFill>
                  <a:schemeClr val="dk1"/>
                </a:solidFill>
                <a:latin typeface="Calibri"/>
                <a:ea typeface="Calibri"/>
                <a:cs typeface="Calibri"/>
                <a:sym typeface="Calibri"/>
              </a:rPr>
              <a:t>Process </a:t>
            </a:r>
            <a:endParaRPr/>
          </a:p>
          <a:p>
            <a:pPr marL="0" marR="0" lvl="0" indent="0" algn="l" rtl="0">
              <a:lnSpc>
                <a:spcPct val="100000"/>
              </a:lnSpc>
              <a:spcBef>
                <a:spcPts val="420"/>
              </a:spcBef>
              <a:spcAft>
                <a:spcPts val="0"/>
              </a:spcAft>
              <a:buNone/>
            </a:pPr>
            <a:endParaRPr sz="2800" b="0" i="0" u="none" strike="noStrike" cap="none">
              <a:solidFill>
                <a:schemeClr val="dk1"/>
              </a:solidFill>
              <a:latin typeface="Calibri"/>
              <a:ea typeface="Calibri"/>
              <a:cs typeface="Calibri"/>
              <a:sym typeface="Calibri"/>
            </a:endParaRPr>
          </a:p>
        </p:txBody>
      </p:sp>
      <p:sp>
        <p:nvSpPr>
          <p:cNvPr id="160" name="Google Shape;160;p21" descr="Pink tissue paper"/>
          <p:cNvSpPr txBox="1"/>
          <p:nvPr/>
        </p:nvSpPr>
        <p:spPr>
          <a:xfrm>
            <a:off x="5334000" y="1371600"/>
            <a:ext cx="1752600" cy="6858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2800" b="0" i="0" u="none" strike="noStrike" cap="none">
              <a:solidFill>
                <a:schemeClr val="dk1"/>
              </a:solidFill>
              <a:latin typeface="Calibri"/>
              <a:ea typeface="Calibri"/>
              <a:cs typeface="Calibri"/>
              <a:sym typeface="Calibri"/>
            </a:endParaRPr>
          </a:p>
          <a:p>
            <a:pPr marL="114300" marR="0" lvl="1" indent="0" algn="l" rtl="0">
              <a:lnSpc>
                <a:spcPct val="100000"/>
              </a:lnSpc>
              <a:spcBef>
                <a:spcPts val="1120"/>
              </a:spcBef>
              <a:spcAft>
                <a:spcPts val="0"/>
              </a:spcAft>
              <a:buClr>
                <a:schemeClr val="dk1"/>
              </a:buClr>
              <a:buFont typeface="Calibri"/>
              <a:buNone/>
            </a:pPr>
            <a:r>
              <a:rPr lang="en-US" sz="2800" b="0" i="0" u="none" strike="noStrike" cap="none">
                <a:solidFill>
                  <a:schemeClr val="dk1"/>
                </a:solidFill>
                <a:latin typeface="Calibri"/>
                <a:ea typeface="Calibri"/>
                <a:cs typeface="Calibri"/>
                <a:sym typeface="Calibri"/>
              </a:rPr>
              <a:t>  Thread</a:t>
            </a:r>
            <a:endParaRPr/>
          </a:p>
          <a:p>
            <a:pPr marL="0" marR="0" lvl="0" indent="0" algn="l" rtl="0">
              <a:lnSpc>
                <a:spcPct val="100000"/>
              </a:lnSpc>
              <a:spcBef>
                <a:spcPts val="420"/>
              </a:spcBef>
              <a:spcAft>
                <a:spcPts val="0"/>
              </a:spcAft>
              <a:buClr>
                <a:schemeClr val="dk1"/>
              </a:buClr>
              <a:buFont typeface="Calibri"/>
              <a:buNone/>
            </a:pPr>
            <a:r>
              <a:rPr lang="en-US" sz="2800" b="0" i="0" u="none">
                <a:solidFill>
                  <a:schemeClr val="dk1"/>
                </a:solidFill>
                <a:latin typeface="Calibri"/>
                <a:ea typeface="Calibri"/>
                <a:cs typeface="Calibri"/>
                <a:sym typeface="Calibri"/>
              </a:rPr>
              <a:t>         </a:t>
            </a:r>
            <a:endParaRPr/>
          </a:p>
        </p:txBody>
      </p:sp>
      <p:sp>
        <p:nvSpPr>
          <p:cNvPr id="161" name="Google Shape;161;p21"/>
          <p:cNvSpPr txBox="1"/>
          <p:nvPr/>
        </p:nvSpPr>
        <p:spPr>
          <a:xfrm>
            <a:off x="3998912" y="1473200"/>
            <a:ext cx="4206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800" b="0" i="0" u="none">
                <a:solidFill>
                  <a:schemeClr val="dk1"/>
                </a:solidFill>
                <a:latin typeface="Calibri"/>
                <a:ea typeface="Calibri"/>
                <a:cs typeface="Calibri"/>
                <a:sym typeface="Calibri"/>
              </a:rPr>
              <a:t>V</a:t>
            </a:r>
            <a:endParaRPr/>
          </a:p>
        </p:txBody>
      </p:sp>
      <p:sp>
        <p:nvSpPr>
          <p:cNvPr id="162" name="Google Shape;162;p21"/>
          <p:cNvSpPr txBox="1"/>
          <p:nvPr/>
        </p:nvSpPr>
        <p:spPr>
          <a:xfrm>
            <a:off x="4572000" y="1476375"/>
            <a:ext cx="420687" cy="5191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800" b="0" i="0" u="none">
                <a:solidFill>
                  <a:schemeClr val="dk1"/>
                </a:solidFill>
                <a:latin typeface="Calibri"/>
                <a:ea typeface="Calibri"/>
                <a:cs typeface="Calibri"/>
                <a:sym typeface="Calibri"/>
              </a:rPr>
              <a:t>S</a:t>
            </a:r>
            <a:endParaRPr/>
          </a:p>
        </p:txBody>
      </p:sp>
      <p:sp>
        <p:nvSpPr>
          <p:cNvPr id="163" name="Google Shape;163;p21" descr="Oak"/>
          <p:cNvSpPr txBox="1"/>
          <p:nvPr/>
        </p:nvSpPr>
        <p:spPr>
          <a:xfrm>
            <a:off x="0" y="2743200"/>
            <a:ext cx="4495800" cy="6858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114300" algn="l" rtl="0">
              <a:lnSpc>
                <a:spcPct val="100000"/>
              </a:lnSpc>
              <a:spcBef>
                <a:spcPts val="0"/>
              </a:spcBef>
              <a:spcAft>
                <a:spcPts val="0"/>
              </a:spcAft>
              <a:buClr>
                <a:schemeClr val="accent2"/>
              </a:buClr>
              <a:buSzPts val="1800"/>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72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5. May contain multiple threads.</a:t>
            </a:r>
            <a:endParaRPr/>
          </a:p>
          <a:p>
            <a:pPr marL="0" marR="0" lvl="0" indent="0" algn="l" rtl="0">
              <a:lnSpc>
                <a:spcPct val="100000"/>
              </a:lnSpc>
              <a:spcBef>
                <a:spcPts val="27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4" name="Google Shape;164;p21" descr="Pink tissue paper"/>
          <p:cNvSpPr txBox="1"/>
          <p:nvPr/>
        </p:nvSpPr>
        <p:spPr>
          <a:xfrm>
            <a:off x="4495800" y="2743200"/>
            <a:ext cx="4648200" cy="6858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114300" marR="0" lvl="1" indent="0" algn="l" rtl="0">
              <a:lnSpc>
                <a:spcPct val="100000"/>
              </a:lnSpc>
              <a:spcBef>
                <a:spcPts val="0"/>
              </a:spcBef>
              <a:spcAft>
                <a:spcPts val="0"/>
              </a:spcAft>
              <a:buClr>
                <a:schemeClr val="dk1"/>
              </a:buClr>
              <a:buFont typeface="Arial"/>
              <a:buNone/>
            </a:pPr>
            <a:endParaRPr sz="1800" b="0" i="0" u="none" strike="noStrike" cap="none">
              <a:solidFill>
                <a:schemeClr val="dk1"/>
              </a:solidFill>
              <a:latin typeface="Calibri"/>
              <a:ea typeface="Calibri"/>
              <a:cs typeface="Calibri"/>
              <a:sym typeface="Calibri"/>
            </a:endParaRPr>
          </a:p>
          <a:p>
            <a:pPr marL="114300" marR="0" lvl="1" indent="0" algn="l" rtl="0">
              <a:lnSpc>
                <a:spcPct val="100000"/>
              </a:lnSpc>
              <a:spcBef>
                <a:spcPts val="72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5. Multiple thread in process execute same program.</a:t>
            </a:r>
            <a:endParaRPr/>
          </a:p>
          <a:p>
            <a:pPr marL="0" marR="0" lvl="0" indent="0" algn="l" rtl="0">
              <a:lnSpc>
                <a:spcPct val="100000"/>
              </a:lnSpc>
              <a:spcBef>
                <a:spcPts val="27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1000"/>
                                        <p:tgtEl>
                                          <p:spTgt spid="156"/>
                                        </p:tgtEl>
                                      </p:cBhvr>
                                    </p:animEffect>
                                  </p:childTnLst>
                                </p:cTn>
                              </p:par>
                              <p:par>
                                <p:cTn id="8" presetID="10" presetClass="entr" presetSubtype="0" fill="hold" nodeType="withEffect">
                                  <p:stCondLst>
                                    <p:cond delay="0"/>
                                  </p:stCondLst>
                                  <p:childTnLst>
                                    <p:set>
                                      <p:cBhvr>
                                        <p:cTn id="9" dur="1" fill="hold">
                                          <p:stCondLst>
                                            <p:cond delay="0"/>
                                          </p:stCondLst>
                                        </p:cTn>
                                        <p:tgtEl>
                                          <p:spTgt spid="158"/>
                                        </p:tgtEl>
                                        <p:attrNameLst>
                                          <p:attrName>style.visibility</p:attrName>
                                        </p:attrNameLst>
                                      </p:cBhvr>
                                      <p:to>
                                        <p:strVal val="visible"/>
                                      </p:to>
                                    </p:set>
                                    <p:animEffect transition="in" filter="fade">
                                      <p:cBhvr>
                                        <p:cTn id="10" dur="1000"/>
                                        <p:tgtEl>
                                          <p:spTgt spid="15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3"/>
                                        </p:tgtEl>
                                        <p:attrNameLst>
                                          <p:attrName>style.visibility</p:attrName>
                                        </p:attrNameLst>
                                      </p:cBhvr>
                                      <p:to>
                                        <p:strVal val="visible"/>
                                      </p:to>
                                    </p:set>
                                    <p:animEffect transition="in" filter="fade">
                                      <p:cBhvr>
                                        <p:cTn id="15" dur="1000"/>
                                        <p:tgtEl>
                                          <p:spTgt spid="163"/>
                                        </p:tgtEl>
                                      </p:cBhvr>
                                    </p:animEffect>
                                  </p:childTnLst>
                                </p:cTn>
                              </p:par>
                              <p:par>
                                <p:cTn id="16" presetID="10" presetClass="entr" presetSubtype="0" fill="hold" nodeType="with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1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descr="Pink tissue paper"/>
          <p:cNvSpPr txBox="1">
            <a:spLocks noGrp="1"/>
          </p:cNvSpPr>
          <p:nvPr>
            <p:ph type="body" idx="1"/>
          </p:nvPr>
        </p:nvSpPr>
        <p:spPr>
          <a:xfrm>
            <a:off x="0" y="1447800"/>
            <a:ext cx="9144000" cy="585787"/>
          </a:xfrm>
          <a:prstGeom prst="rect">
            <a:avLst/>
          </a:prstGeom>
          <a:blipFill rotWithShape="1">
            <a:blip r:embed="rId3">
              <a:alphaModFix amt="50000"/>
            </a:blip>
            <a:stretch>
              <a:fillRect/>
            </a:stretch>
          </a:blip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Font typeface="Arial"/>
              <a:buNone/>
            </a:pPr>
            <a:r>
              <a:rPr lang="en-US" sz="2400" b="0" i="0" u="none" strike="noStrike" cap="none">
                <a:solidFill>
                  <a:schemeClr val="dk1"/>
                </a:solidFill>
                <a:latin typeface="Calibri"/>
                <a:ea typeface="Calibri"/>
                <a:cs typeface="Calibri"/>
                <a:sym typeface="Calibri"/>
              </a:rPr>
              <a:t>Types of Thread</a:t>
            </a:r>
            <a:endParaRPr/>
          </a:p>
        </p:txBody>
      </p:sp>
      <p:sp>
        <p:nvSpPr>
          <p:cNvPr id="171" name="Google Shape;171;p22" descr="Stationery"/>
          <p:cNvSpPr txBox="1"/>
          <p:nvPr/>
        </p:nvSpPr>
        <p:spPr>
          <a:xfrm>
            <a:off x="609600" y="2090737"/>
            <a:ext cx="8080375" cy="3276600"/>
          </a:xfrm>
          <a:prstGeom prst="rect">
            <a:avLst/>
          </a:prstGeom>
          <a:blipFill rotWithShape="1">
            <a:blip r:embed="rId4">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172" name="Google Shape;172;p22"/>
          <p:cNvGrpSpPr/>
          <p:nvPr/>
        </p:nvGrpSpPr>
        <p:grpSpPr>
          <a:xfrm>
            <a:off x="609600" y="2743200"/>
            <a:ext cx="4724400" cy="457200"/>
            <a:chOff x="1066800" y="2819400"/>
            <a:chExt cx="4724400" cy="457200"/>
          </a:xfrm>
        </p:grpSpPr>
        <p:sp>
          <p:nvSpPr>
            <p:cNvPr id="173" name="Google Shape;173;p22" descr="Stationery"/>
            <p:cNvSpPr txBox="1"/>
            <p:nvPr/>
          </p:nvSpPr>
          <p:spPr>
            <a:xfrm>
              <a:off x="1066800" y="2819400"/>
              <a:ext cx="4724400" cy="4572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1.</a:t>
              </a:r>
              <a:endParaRPr/>
            </a:p>
          </p:txBody>
        </p:sp>
        <p:sp>
          <p:nvSpPr>
            <p:cNvPr id="174" name="Google Shape;174;p22" descr="Stationery"/>
            <p:cNvSpPr txBox="1"/>
            <p:nvPr/>
          </p:nvSpPr>
          <p:spPr>
            <a:xfrm>
              <a:off x="1676400" y="2819400"/>
              <a:ext cx="4114800" cy="4572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Single Threaded Process</a:t>
              </a:r>
              <a:endParaRPr/>
            </a:p>
          </p:txBody>
        </p:sp>
      </p:grpSp>
      <p:grpSp>
        <p:nvGrpSpPr>
          <p:cNvPr id="175" name="Google Shape;175;p22"/>
          <p:cNvGrpSpPr/>
          <p:nvPr/>
        </p:nvGrpSpPr>
        <p:grpSpPr>
          <a:xfrm>
            <a:off x="609600" y="3657600"/>
            <a:ext cx="4724400" cy="457200"/>
            <a:chOff x="1066800" y="3352800"/>
            <a:chExt cx="4724400" cy="457200"/>
          </a:xfrm>
        </p:grpSpPr>
        <p:sp>
          <p:nvSpPr>
            <p:cNvPr id="176" name="Google Shape;176;p22" descr="Stationery"/>
            <p:cNvSpPr txBox="1"/>
            <p:nvPr/>
          </p:nvSpPr>
          <p:spPr>
            <a:xfrm>
              <a:off x="1066800" y="3352800"/>
              <a:ext cx="4724400" cy="4572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2.</a:t>
              </a:r>
              <a:endParaRPr/>
            </a:p>
          </p:txBody>
        </p:sp>
        <p:sp>
          <p:nvSpPr>
            <p:cNvPr id="177" name="Google Shape;177;p22" descr="Stationery"/>
            <p:cNvSpPr txBox="1"/>
            <p:nvPr/>
          </p:nvSpPr>
          <p:spPr>
            <a:xfrm>
              <a:off x="1676400" y="3352800"/>
              <a:ext cx="4114800" cy="457200"/>
            </a:xfrm>
            <a:prstGeom prst="rect">
              <a:avLst/>
            </a:prstGeom>
            <a:blipFill rotWithShape="1">
              <a:blip r:embed="rId4">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Multi Threaded Process</a:t>
              </a:r>
              <a:endParaRPr/>
            </a:p>
          </p:txBody>
        </p:sp>
      </p:grpSp>
      <p:sp>
        <p:nvSpPr>
          <p:cNvPr id="178" name="Google Shape;178;p22"/>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Types of Thread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3" descr="Stationery"/>
          <p:cNvSpPr txBox="1"/>
          <p:nvPr/>
        </p:nvSpPr>
        <p:spPr>
          <a:xfrm>
            <a:off x="762000" y="1905000"/>
            <a:ext cx="8382000" cy="1752600"/>
          </a:xfrm>
          <a:prstGeom prst="rect">
            <a:avLst/>
          </a:prstGeom>
          <a:blipFill rotWithShape="1">
            <a:blip r:embed="rId3">
              <a:alphaModFix/>
            </a:blip>
            <a:stretch>
              <a:fillRect/>
            </a:stretch>
          </a:blipFill>
          <a:ln>
            <a:noFill/>
          </a:ln>
          <a:effectLst>
            <a:outerShdw blurRad="63500" dist="17960" dir="2700000">
              <a:srgbClr val="99997A"/>
            </a:outerShdw>
          </a:effectLst>
        </p:spPr>
        <p:txBody>
          <a:bodyPr spcFirstLastPara="1" wrap="square" lIns="91425" tIns="45700" rIns="91425" bIns="45700" anchor="t" anchorCtr="0">
            <a:noAutofit/>
          </a:bodyPr>
          <a:lstStyle/>
          <a:p>
            <a:pPr marL="742950" marR="0" lvl="1" indent="-127000" algn="l" rtl="0">
              <a:lnSpc>
                <a:spcPct val="100000"/>
              </a:lnSpc>
              <a:spcBef>
                <a:spcPts val="0"/>
              </a:spcBef>
              <a:spcAft>
                <a:spcPts val="0"/>
              </a:spcAft>
              <a:buClr>
                <a:schemeClr val="accent1"/>
              </a:buClr>
              <a:buSzPts val="2500"/>
              <a:buFont typeface="Arial"/>
              <a:buNone/>
            </a:pPr>
            <a:endParaRPr sz="2000" b="0" i="0" u="none" strike="noStrike" cap="none">
              <a:solidFill>
                <a:schemeClr val="dk1"/>
              </a:solidFill>
              <a:latin typeface="Calibri"/>
              <a:ea typeface="Calibri"/>
              <a:cs typeface="Calibri"/>
              <a:sym typeface="Calibri"/>
            </a:endParaRPr>
          </a:p>
          <a:p>
            <a:pPr marL="742950" marR="0" lvl="1" indent="-285750" algn="l" rtl="0">
              <a:lnSpc>
                <a:spcPct val="100000"/>
              </a:lnSpc>
              <a:spcBef>
                <a:spcPts val="40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A thread is defined as the execution of a program.</a:t>
            </a:r>
            <a:endParaRPr/>
          </a:p>
          <a:p>
            <a:pPr marL="742950" marR="0" lvl="1" indent="-285750" algn="l" rtl="0">
              <a:lnSpc>
                <a:spcPct val="100000"/>
              </a:lnSpc>
              <a:spcBef>
                <a:spcPts val="40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A process that is made of one thread is known as single-threaded process.</a:t>
            </a:r>
            <a:endParaRPr/>
          </a:p>
          <a:p>
            <a:pPr marL="742950" marR="0" lvl="1" indent="-107950" algn="l" rtl="0">
              <a:lnSpc>
                <a:spcPct val="100000"/>
              </a:lnSpc>
              <a:spcBef>
                <a:spcPts val="400"/>
              </a:spcBef>
              <a:spcAft>
                <a:spcPts val="0"/>
              </a:spcAft>
              <a:buClr>
                <a:schemeClr val="dk1"/>
              </a:buClr>
              <a:buSzPts val="28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186" name="Google Shape;186;p23" descr="Stationery"/>
          <p:cNvSpPr txBox="1"/>
          <p:nvPr/>
        </p:nvSpPr>
        <p:spPr>
          <a:xfrm>
            <a:off x="838200" y="4876800"/>
            <a:ext cx="7467600" cy="10668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Single Thread</a:t>
            </a:r>
            <a:endParaRPr/>
          </a:p>
        </p:txBody>
      </p:sp>
      <p:sp>
        <p:nvSpPr>
          <p:cNvPr id="187" name="Google Shape;187;p23"/>
          <p:cNvSpPr txBox="1"/>
          <p:nvPr/>
        </p:nvSpPr>
        <p:spPr>
          <a:xfrm>
            <a:off x="2819400" y="5029200"/>
            <a:ext cx="5257800" cy="685800"/>
          </a:xfrm>
          <a:prstGeom prst="rect">
            <a:avLst/>
          </a:prstGeom>
          <a:solidFill>
            <a:schemeClr val="folHlink">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8" name="Google Shape;188;p23"/>
          <p:cNvSpPr txBox="1"/>
          <p:nvPr/>
        </p:nvSpPr>
        <p:spPr>
          <a:xfrm>
            <a:off x="3048000" y="51816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89" name="Google Shape;189;p23"/>
          <p:cNvSpPr txBox="1"/>
          <p:nvPr/>
        </p:nvSpPr>
        <p:spPr>
          <a:xfrm>
            <a:off x="3886200" y="51816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0" name="Google Shape;190;p23"/>
          <p:cNvSpPr txBox="1"/>
          <p:nvPr/>
        </p:nvSpPr>
        <p:spPr>
          <a:xfrm>
            <a:off x="4724400" y="51816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1" name="Google Shape;191;p23"/>
          <p:cNvSpPr txBox="1"/>
          <p:nvPr/>
        </p:nvSpPr>
        <p:spPr>
          <a:xfrm>
            <a:off x="5562600" y="51816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2" name="Google Shape;192;p23"/>
          <p:cNvSpPr txBox="1"/>
          <p:nvPr/>
        </p:nvSpPr>
        <p:spPr>
          <a:xfrm>
            <a:off x="6400800" y="51816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93" name="Google Shape;193;p23"/>
          <p:cNvSpPr txBox="1"/>
          <p:nvPr/>
        </p:nvSpPr>
        <p:spPr>
          <a:xfrm>
            <a:off x="7239000" y="51816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194" name="Google Shape;194;p23"/>
          <p:cNvCxnSpPr/>
          <p:nvPr/>
        </p:nvCxnSpPr>
        <p:spPr>
          <a:xfrm>
            <a:off x="3505200" y="54102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195" name="Google Shape;195;p23"/>
          <p:cNvCxnSpPr/>
          <p:nvPr/>
        </p:nvCxnSpPr>
        <p:spPr>
          <a:xfrm>
            <a:off x="4343400" y="54102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196" name="Google Shape;196;p23"/>
          <p:cNvCxnSpPr/>
          <p:nvPr/>
        </p:nvCxnSpPr>
        <p:spPr>
          <a:xfrm>
            <a:off x="5181600" y="54102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197" name="Google Shape;197;p23"/>
          <p:cNvCxnSpPr/>
          <p:nvPr/>
        </p:nvCxnSpPr>
        <p:spPr>
          <a:xfrm>
            <a:off x="6019800" y="54102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198" name="Google Shape;198;p23"/>
          <p:cNvCxnSpPr/>
          <p:nvPr/>
        </p:nvCxnSpPr>
        <p:spPr>
          <a:xfrm>
            <a:off x="6858000" y="5410200"/>
            <a:ext cx="381000" cy="0"/>
          </a:xfrm>
          <a:prstGeom prst="straightConnector1">
            <a:avLst/>
          </a:prstGeom>
          <a:noFill/>
          <a:ln w="38100" cap="flat" cmpd="sng">
            <a:solidFill>
              <a:srgbClr val="003300"/>
            </a:solidFill>
            <a:prstDash val="solid"/>
            <a:miter lim="800000"/>
            <a:headEnd type="none" w="sm" len="sm"/>
            <a:tailEnd type="triangle" w="med" len="med"/>
          </a:ln>
        </p:spPr>
      </p:cxnSp>
      <p:grpSp>
        <p:nvGrpSpPr>
          <p:cNvPr id="199" name="Google Shape;199;p23"/>
          <p:cNvGrpSpPr/>
          <p:nvPr/>
        </p:nvGrpSpPr>
        <p:grpSpPr>
          <a:xfrm>
            <a:off x="0" y="1143000"/>
            <a:ext cx="9144000" cy="762000"/>
            <a:chOff x="0" y="914400"/>
            <a:chExt cx="9144000" cy="457200"/>
          </a:xfrm>
        </p:grpSpPr>
        <p:sp>
          <p:nvSpPr>
            <p:cNvPr id="200" name="Google Shape;200;p23" descr="Stationery"/>
            <p:cNvSpPr txBox="1"/>
            <p:nvPr/>
          </p:nvSpPr>
          <p:spPr>
            <a:xfrm>
              <a:off x="0" y="914400"/>
              <a:ext cx="91440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201" name="Google Shape;201;p23" descr="Stationery"/>
            <p:cNvSpPr txBox="1"/>
            <p:nvPr/>
          </p:nvSpPr>
          <p:spPr>
            <a:xfrm>
              <a:off x="685800" y="914400"/>
              <a:ext cx="84582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Single Threaded Process</a:t>
              </a:r>
              <a:endParaRPr/>
            </a:p>
          </p:txBody>
        </p:sp>
      </p:grpSp>
      <p:sp>
        <p:nvSpPr>
          <p:cNvPr id="202" name="Google Shape;202;p23"/>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Types of Thread (Contd.)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500"/>
                                        <p:tgtEl>
                                          <p:spTgt spid="1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gtEl>
                                        <p:attrNameLst>
                                          <p:attrName>style.visibility</p:attrName>
                                        </p:attrNameLst>
                                      </p:cBhvr>
                                      <p:to>
                                        <p:strVal val="visible"/>
                                      </p:to>
                                    </p:set>
                                    <p:animEffect transition="in" filter="fade">
                                      <p:cBhvr>
                                        <p:cTn id="12" dur="500"/>
                                        <p:tgtEl>
                                          <p:spTgt spid="186"/>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87"/>
                                        </p:tgtEl>
                                        <p:attrNameLst>
                                          <p:attrName>style.visibility</p:attrName>
                                        </p:attrNameLst>
                                      </p:cBhvr>
                                      <p:to>
                                        <p:strVal val="visible"/>
                                      </p:to>
                                    </p:set>
                                    <p:animEffect transition="in" filter="fade">
                                      <p:cBhvr>
                                        <p:cTn id="16" dur="500"/>
                                        <p:tgtEl>
                                          <p:spTgt spid="187"/>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8"/>
                                        </p:tgtEl>
                                        <p:attrNameLst>
                                          <p:attrName>style.visibility</p:attrName>
                                        </p:attrNameLst>
                                      </p:cBhvr>
                                      <p:to>
                                        <p:strVal val="visible"/>
                                      </p:to>
                                    </p:set>
                                    <p:animEffect transition="in" filter="fade">
                                      <p:cBhvr>
                                        <p:cTn id="20" dur="500"/>
                                        <p:tgtEl>
                                          <p:spTgt spid="188"/>
                                        </p:tgtEl>
                                      </p:cBhvr>
                                    </p:animEffect>
                                  </p:childTnLst>
                                </p:cTn>
                              </p:par>
                            </p:childTnLst>
                          </p:cTn>
                        </p:par>
                        <p:par>
                          <p:cTn id="21" fill="hold">
                            <p:stCondLst>
                              <p:cond delay="1500"/>
                            </p:stCondLst>
                            <p:childTnLst>
                              <p:par>
                                <p:cTn id="22" presetID="10" presetClass="entr" presetSubtype="0" fill="hold" nodeType="afterEffect">
                                  <p:stCondLst>
                                    <p:cond delay="0"/>
                                  </p:stCondLst>
                                  <p:childTnLst>
                                    <p:set>
                                      <p:cBhvr>
                                        <p:cTn id="23" dur="1" fill="hold">
                                          <p:stCondLst>
                                            <p:cond delay="0"/>
                                          </p:stCondLst>
                                        </p:cTn>
                                        <p:tgtEl>
                                          <p:spTgt spid="194"/>
                                        </p:tgtEl>
                                        <p:attrNameLst>
                                          <p:attrName>style.visibility</p:attrName>
                                        </p:attrNameLst>
                                      </p:cBhvr>
                                      <p:to>
                                        <p:strVal val="visible"/>
                                      </p:to>
                                    </p:set>
                                    <p:animEffect transition="in" filter="fade">
                                      <p:cBhvr>
                                        <p:cTn id="24" dur="500"/>
                                        <p:tgtEl>
                                          <p:spTgt spid="194"/>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189"/>
                                        </p:tgtEl>
                                        <p:attrNameLst>
                                          <p:attrName>style.visibility</p:attrName>
                                        </p:attrNameLst>
                                      </p:cBhvr>
                                      <p:to>
                                        <p:strVal val="visible"/>
                                      </p:to>
                                    </p:set>
                                    <p:animEffect transition="in" filter="fade">
                                      <p:cBhvr>
                                        <p:cTn id="28" dur="500"/>
                                        <p:tgtEl>
                                          <p:spTgt spid="189"/>
                                        </p:tgtEl>
                                      </p:cBhvr>
                                    </p:animEffect>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195"/>
                                        </p:tgtEl>
                                        <p:attrNameLst>
                                          <p:attrName>style.visibility</p:attrName>
                                        </p:attrNameLst>
                                      </p:cBhvr>
                                      <p:to>
                                        <p:strVal val="visible"/>
                                      </p:to>
                                    </p:set>
                                    <p:animEffect transition="in" filter="fade">
                                      <p:cBhvr>
                                        <p:cTn id="32" dur="500"/>
                                        <p:tgtEl>
                                          <p:spTgt spid="195"/>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190"/>
                                        </p:tgtEl>
                                        <p:attrNameLst>
                                          <p:attrName>style.visibility</p:attrName>
                                        </p:attrNameLst>
                                      </p:cBhvr>
                                      <p:to>
                                        <p:strVal val="visible"/>
                                      </p:to>
                                    </p:set>
                                    <p:animEffect transition="in" filter="fade">
                                      <p:cBhvr>
                                        <p:cTn id="36" dur="500"/>
                                        <p:tgtEl>
                                          <p:spTgt spid="190"/>
                                        </p:tgtEl>
                                      </p:cBhvr>
                                    </p:animEffect>
                                  </p:childTnLst>
                                </p:cTn>
                              </p:par>
                            </p:childTnLst>
                          </p:cTn>
                        </p:par>
                        <p:par>
                          <p:cTn id="37" fill="hold">
                            <p:stCondLst>
                              <p:cond delay="3500"/>
                            </p:stCondLst>
                            <p:childTnLst>
                              <p:par>
                                <p:cTn id="38" presetID="10" presetClass="entr" presetSubtype="0" fill="hold" nodeType="afterEffect">
                                  <p:stCondLst>
                                    <p:cond delay="0"/>
                                  </p:stCondLst>
                                  <p:childTnLst>
                                    <p:set>
                                      <p:cBhvr>
                                        <p:cTn id="39" dur="1" fill="hold">
                                          <p:stCondLst>
                                            <p:cond delay="0"/>
                                          </p:stCondLst>
                                        </p:cTn>
                                        <p:tgtEl>
                                          <p:spTgt spid="196"/>
                                        </p:tgtEl>
                                        <p:attrNameLst>
                                          <p:attrName>style.visibility</p:attrName>
                                        </p:attrNameLst>
                                      </p:cBhvr>
                                      <p:to>
                                        <p:strVal val="visible"/>
                                      </p:to>
                                    </p:set>
                                    <p:animEffect transition="in" filter="fade">
                                      <p:cBhvr>
                                        <p:cTn id="40" dur="500"/>
                                        <p:tgtEl>
                                          <p:spTgt spid="196"/>
                                        </p:tgtEl>
                                      </p:cBhvr>
                                    </p:animEffect>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91"/>
                                        </p:tgtEl>
                                        <p:attrNameLst>
                                          <p:attrName>style.visibility</p:attrName>
                                        </p:attrNameLst>
                                      </p:cBhvr>
                                      <p:to>
                                        <p:strVal val="visible"/>
                                      </p:to>
                                    </p:set>
                                    <p:animEffect transition="in" filter="fade">
                                      <p:cBhvr>
                                        <p:cTn id="44" dur="500"/>
                                        <p:tgtEl>
                                          <p:spTgt spid="191"/>
                                        </p:tgtEl>
                                      </p:cBhvr>
                                    </p:animEffect>
                                  </p:childTnLst>
                                </p:cTn>
                              </p:par>
                            </p:childTnLst>
                          </p:cTn>
                        </p:par>
                        <p:par>
                          <p:cTn id="45" fill="hold">
                            <p:stCondLst>
                              <p:cond delay="4500"/>
                            </p:stCondLst>
                            <p:childTnLst>
                              <p:par>
                                <p:cTn id="46" presetID="10" presetClass="entr" presetSubtype="0" fill="hold" nodeType="afterEffect">
                                  <p:stCondLst>
                                    <p:cond delay="0"/>
                                  </p:stCondLst>
                                  <p:childTnLst>
                                    <p:set>
                                      <p:cBhvr>
                                        <p:cTn id="47" dur="1" fill="hold">
                                          <p:stCondLst>
                                            <p:cond delay="0"/>
                                          </p:stCondLst>
                                        </p:cTn>
                                        <p:tgtEl>
                                          <p:spTgt spid="197"/>
                                        </p:tgtEl>
                                        <p:attrNameLst>
                                          <p:attrName>style.visibility</p:attrName>
                                        </p:attrNameLst>
                                      </p:cBhvr>
                                      <p:to>
                                        <p:strVal val="visible"/>
                                      </p:to>
                                    </p:set>
                                    <p:animEffect transition="in" filter="fade">
                                      <p:cBhvr>
                                        <p:cTn id="48" dur="500"/>
                                        <p:tgtEl>
                                          <p:spTgt spid="197"/>
                                        </p:tgtEl>
                                      </p:cBhvr>
                                    </p:animEffect>
                                  </p:childTnLst>
                                </p:cTn>
                              </p:par>
                            </p:childTnLst>
                          </p:cTn>
                        </p:par>
                        <p:par>
                          <p:cTn id="49" fill="hold">
                            <p:stCondLst>
                              <p:cond delay="5000"/>
                            </p:stCondLst>
                            <p:childTnLst>
                              <p:par>
                                <p:cTn id="50" presetID="10" presetClass="entr" presetSubtype="0" fill="hold" nodeType="afterEffect">
                                  <p:stCondLst>
                                    <p:cond delay="0"/>
                                  </p:stCondLst>
                                  <p:childTnLst>
                                    <p:set>
                                      <p:cBhvr>
                                        <p:cTn id="51" dur="1" fill="hold">
                                          <p:stCondLst>
                                            <p:cond delay="0"/>
                                          </p:stCondLst>
                                        </p:cTn>
                                        <p:tgtEl>
                                          <p:spTgt spid="192"/>
                                        </p:tgtEl>
                                        <p:attrNameLst>
                                          <p:attrName>style.visibility</p:attrName>
                                        </p:attrNameLst>
                                      </p:cBhvr>
                                      <p:to>
                                        <p:strVal val="visible"/>
                                      </p:to>
                                    </p:set>
                                    <p:animEffect transition="in" filter="fade">
                                      <p:cBhvr>
                                        <p:cTn id="52" dur="500"/>
                                        <p:tgtEl>
                                          <p:spTgt spid="192"/>
                                        </p:tgtEl>
                                      </p:cBhvr>
                                    </p:animEffect>
                                  </p:childTnLst>
                                </p:cTn>
                              </p:par>
                            </p:childTnLst>
                          </p:cTn>
                        </p:par>
                        <p:par>
                          <p:cTn id="53" fill="hold">
                            <p:stCondLst>
                              <p:cond delay="5500"/>
                            </p:stCondLst>
                            <p:childTnLst>
                              <p:par>
                                <p:cTn id="54" presetID="10" presetClass="entr" presetSubtype="0" fill="hold" nodeType="afterEffect">
                                  <p:stCondLst>
                                    <p:cond delay="0"/>
                                  </p:stCondLst>
                                  <p:childTnLst>
                                    <p:set>
                                      <p:cBhvr>
                                        <p:cTn id="55" dur="1" fill="hold">
                                          <p:stCondLst>
                                            <p:cond delay="0"/>
                                          </p:stCondLst>
                                        </p:cTn>
                                        <p:tgtEl>
                                          <p:spTgt spid="198"/>
                                        </p:tgtEl>
                                        <p:attrNameLst>
                                          <p:attrName>style.visibility</p:attrName>
                                        </p:attrNameLst>
                                      </p:cBhvr>
                                      <p:to>
                                        <p:strVal val="visible"/>
                                      </p:to>
                                    </p:set>
                                    <p:animEffect transition="in" filter="fade">
                                      <p:cBhvr>
                                        <p:cTn id="56" dur="500"/>
                                        <p:tgtEl>
                                          <p:spTgt spid="198"/>
                                        </p:tgtEl>
                                      </p:cBhvr>
                                    </p:animEffect>
                                  </p:childTnLst>
                                </p:cTn>
                              </p:par>
                            </p:childTnLst>
                          </p:cTn>
                        </p:par>
                        <p:par>
                          <p:cTn id="57" fill="hold">
                            <p:stCondLst>
                              <p:cond delay="6000"/>
                            </p:stCondLst>
                            <p:childTnLst>
                              <p:par>
                                <p:cTn id="58" presetID="10" presetClass="entr" presetSubtype="0" fill="hold" nodeType="afterEffect">
                                  <p:stCondLst>
                                    <p:cond delay="0"/>
                                  </p:stCondLst>
                                  <p:childTnLst>
                                    <p:set>
                                      <p:cBhvr>
                                        <p:cTn id="59" dur="1" fill="hold">
                                          <p:stCondLst>
                                            <p:cond delay="0"/>
                                          </p:stCondLst>
                                        </p:cTn>
                                        <p:tgtEl>
                                          <p:spTgt spid="193"/>
                                        </p:tgtEl>
                                        <p:attrNameLst>
                                          <p:attrName>style.visibility</p:attrName>
                                        </p:attrNameLst>
                                      </p:cBhvr>
                                      <p:to>
                                        <p:strVal val="visible"/>
                                      </p:to>
                                    </p:set>
                                    <p:animEffect transition="in" filter="fade">
                                      <p:cBhvr>
                                        <p:cTn id="60" dur="5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4" descr="Stationery"/>
          <p:cNvSpPr txBox="1"/>
          <p:nvPr/>
        </p:nvSpPr>
        <p:spPr>
          <a:xfrm>
            <a:off x="762000" y="1952625"/>
            <a:ext cx="8382000" cy="1295400"/>
          </a:xfrm>
          <a:prstGeom prst="rect">
            <a:avLst/>
          </a:prstGeom>
          <a:blipFill rotWithShape="1">
            <a:blip r:embed="rId3">
              <a:alphaModFix/>
            </a:blip>
            <a:stretch>
              <a:fillRect/>
            </a:stretch>
          </a:blipFill>
          <a:ln>
            <a:noFill/>
          </a:ln>
          <a:effectLst>
            <a:outerShdw blurRad="63500" dist="17960" dir="2700000">
              <a:srgbClr val="99997A"/>
            </a:outerShdw>
          </a:effectLst>
        </p:spPr>
        <p:txBody>
          <a:bodyPr spcFirstLastPara="1" wrap="square" lIns="91425" tIns="45700" rIns="91425" bIns="45700" anchor="t" anchorCtr="0">
            <a:noAutofit/>
          </a:bodyPr>
          <a:lstStyle/>
          <a:p>
            <a:pPr marL="742950" marR="0" lvl="1" indent="-127000" algn="l" rtl="0">
              <a:lnSpc>
                <a:spcPct val="100000"/>
              </a:lnSpc>
              <a:spcBef>
                <a:spcPts val="0"/>
              </a:spcBef>
              <a:spcAft>
                <a:spcPts val="0"/>
              </a:spcAft>
              <a:buClr>
                <a:schemeClr val="accent1"/>
              </a:buClr>
              <a:buSzPts val="2500"/>
              <a:buFont typeface="Arial"/>
              <a:buNone/>
            </a:pPr>
            <a:endParaRPr sz="2000" b="0" i="0" u="none" strike="noStrike" cap="none">
              <a:solidFill>
                <a:schemeClr val="dk1"/>
              </a:solidFill>
              <a:latin typeface="Calibri"/>
              <a:ea typeface="Calibri"/>
              <a:cs typeface="Calibri"/>
              <a:sym typeface="Calibri"/>
            </a:endParaRPr>
          </a:p>
          <a:p>
            <a:pPr marL="742950" marR="0" lvl="1" indent="-285750" algn="l" rtl="0">
              <a:lnSpc>
                <a:spcPct val="100000"/>
              </a:lnSpc>
              <a:spcBef>
                <a:spcPts val="40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A process that creates two or more threads is called a</a:t>
            </a:r>
            <a:endParaRPr/>
          </a:p>
          <a:p>
            <a:pPr marL="742950" marR="0" lvl="1" indent="-285750" algn="l" rtl="0">
              <a:lnSpc>
                <a:spcPct val="100000"/>
              </a:lnSpc>
              <a:spcBef>
                <a:spcPts val="400"/>
              </a:spcBef>
              <a:spcAft>
                <a:spcPts val="0"/>
              </a:spcAft>
              <a:buClr>
                <a:schemeClr val="dk1"/>
              </a:buClr>
              <a:buFont typeface="Calibri"/>
              <a:buNone/>
            </a:pPr>
            <a:r>
              <a:rPr lang="en-US" sz="2000" b="0" i="0" u="none" strike="noStrike" cap="none">
                <a:solidFill>
                  <a:schemeClr val="dk1"/>
                </a:solidFill>
                <a:latin typeface="Calibri"/>
                <a:ea typeface="Calibri"/>
                <a:cs typeface="Calibri"/>
                <a:sym typeface="Calibri"/>
              </a:rPr>
              <a:t>		  multithreaded process.  </a:t>
            </a:r>
            <a:endParaRPr/>
          </a:p>
          <a:p>
            <a:pPr marL="742950" marR="0" lvl="1" indent="-127000" algn="l" rtl="0">
              <a:lnSpc>
                <a:spcPct val="100000"/>
              </a:lnSpc>
              <a:spcBef>
                <a:spcPts val="400"/>
              </a:spcBef>
              <a:spcAft>
                <a:spcPts val="0"/>
              </a:spcAft>
              <a:buClr>
                <a:schemeClr val="accent1"/>
              </a:buClr>
              <a:buSzPts val="2500"/>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grpSp>
        <p:nvGrpSpPr>
          <p:cNvPr id="210" name="Google Shape;210;p24"/>
          <p:cNvGrpSpPr/>
          <p:nvPr/>
        </p:nvGrpSpPr>
        <p:grpSpPr>
          <a:xfrm>
            <a:off x="0" y="1143000"/>
            <a:ext cx="9144000" cy="762000"/>
            <a:chOff x="0" y="914400"/>
            <a:chExt cx="9144000" cy="457200"/>
          </a:xfrm>
        </p:grpSpPr>
        <p:sp>
          <p:nvSpPr>
            <p:cNvPr id="211" name="Google Shape;211;p24" descr="Stationery"/>
            <p:cNvSpPr txBox="1"/>
            <p:nvPr/>
          </p:nvSpPr>
          <p:spPr>
            <a:xfrm>
              <a:off x="0" y="914400"/>
              <a:ext cx="91440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212" name="Google Shape;212;p24" descr="Stationery"/>
            <p:cNvSpPr txBox="1"/>
            <p:nvPr/>
          </p:nvSpPr>
          <p:spPr>
            <a:xfrm>
              <a:off x="685800" y="914400"/>
              <a:ext cx="84582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Multi Threaded Process</a:t>
              </a:r>
              <a:endParaRPr/>
            </a:p>
          </p:txBody>
        </p:sp>
      </p:grpSp>
      <p:sp>
        <p:nvSpPr>
          <p:cNvPr id="213" name="Google Shape;213;p24" descr="Stationery"/>
          <p:cNvSpPr txBox="1"/>
          <p:nvPr/>
        </p:nvSpPr>
        <p:spPr>
          <a:xfrm>
            <a:off x="838200" y="3810000"/>
            <a:ext cx="7924800" cy="21336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Two Threads</a:t>
            </a:r>
            <a:endParaRPr/>
          </a:p>
        </p:txBody>
      </p:sp>
      <p:sp>
        <p:nvSpPr>
          <p:cNvPr id="214" name="Google Shape;214;p24"/>
          <p:cNvSpPr txBox="1"/>
          <p:nvPr/>
        </p:nvSpPr>
        <p:spPr>
          <a:xfrm>
            <a:off x="3276600" y="5105400"/>
            <a:ext cx="5410200" cy="685800"/>
          </a:xfrm>
          <a:prstGeom prst="rect">
            <a:avLst/>
          </a:prstGeom>
          <a:solidFill>
            <a:schemeClr val="folHlink">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15" name="Google Shape;215;p24"/>
          <p:cNvSpPr txBox="1"/>
          <p:nvPr/>
        </p:nvSpPr>
        <p:spPr>
          <a:xfrm>
            <a:off x="3352800" y="52578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16" name="Google Shape;216;p24"/>
          <p:cNvSpPr txBox="1"/>
          <p:nvPr/>
        </p:nvSpPr>
        <p:spPr>
          <a:xfrm>
            <a:off x="4191000" y="52578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17" name="Google Shape;217;p24"/>
          <p:cNvSpPr txBox="1"/>
          <p:nvPr/>
        </p:nvSpPr>
        <p:spPr>
          <a:xfrm>
            <a:off x="5029200" y="52578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18" name="Google Shape;218;p24"/>
          <p:cNvSpPr txBox="1"/>
          <p:nvPr/>
        </p:nvSpPr>
        <p:spPr>
          <a:xfrm>
            <a:off x="5867400" y="52578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19" name="Google Shape;219;p24"/>
          <p:cNvSpPr txBox="1"/>
          <p:nvPr/>
        </p:nvSpPr>
        <p:spPr>
          <a:xfrm>
            <a:off x="6705600" y="52578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20" name="Google Shape;220;p24"/>
          <p:cNvSpPr txBox="1"/>
          <p:nvPr/>
        </p:nvSpPr>
        <p:spPr>
          <a:xfrm>
            <a:off x="7543800" y="52578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21" name="Google Shape;221;p24"/>
          <p:cNvCxnSpPr/>
          <p:nvPr/>
        </p:nvCxnSpPr>
        <p:spPr>
          <a:xfrm>
            <a:off x="3810000" y="54864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22" name="Google Shape;222;p24"/>
          <p:cNvCxnSpPr/>
          <p:nvPr/>
        </p:nvCxnSpPr>
        <p:spPr>
          <a:xfrm>
            <a:off x="4648200" y="54864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23" name="Google Shape;223;p24"/>
          <p:cNvCxnSpPr/>
          <p:nvPr/>
        </p:nvCxnSpPr>
        <p:spPr>
          <a:xfrm>
            <a:off x="5486400" y="54864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24" name="Google Shape;224;p24"/>
          <p:cNvCxnSpPr/>
          <p:nvPr/>
        </p:nvCxnSpPr>
        <p:spPr>
          <a:xfrm>
            <a:off x="6324600" y="54864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25" name="Google Shape;225;p24"/>
          <p:cNvCxnSpPr/>
          <p:nvPr/>
        </p:nvCxnSpPr>
        <p:spPr>
          <a:xfrm>
            <a:off x="7162800" y="5486400"/>
            <a:ext cx="381000" cy="0"/>
          </a:xfrm>
          <a:prstGeom prst="straightConnector1">
            <a:avLst/>
          </a:prstGeom>
          <a:noFill/>
          <a:ln w="38100" cap="flat" cmpd="sng">
            <a:solidFill>
              <a:srgbClr val="003300"/>
            </a:solidFill>
            <a:prstDash val="solid"/>
            <a:miter lim="800000"/>
            <a:headEnd type="none" w="sm" len="sm"/>
            <a:tailEnd type="triangle" w="med" len="med"/>
          </a:ln>
        </p:spPr>
      </p:cxnSp>
      <p:sp>
        <p:nvSpPr>
          <p:cNvPr id="226" name="Google Shape;226;p24"/>
          <p:cNvSpPr txBox="1"/>
          <p:nvPr/>
        </p:nvSpPr>
        <p:spPr>
          <a:xfrm>
            <a:off x="3276600" y="4038600"/>
            <a:ext cx="5410200" cy="685800"/>
          </a:xfrm>
          <a:prstGeom prst="rect">
            <a:avLst/>
          </a:prstGeom>
          <a:solidFill>
            <a:schemeClr val="folHlink">
              <a:alpha val="49803"/>
            </a:scheme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27" name="Google Shape;227;p24"/>
          <p:cNvSpPr txBox="1"/>
          <p:nvPr/>
        </p:nvSpPr>
        <p:spPr>
          <a:xfrm>
            <a:off x="3800475" y="41910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28" name="Google Shape;228;p24"/>
          <p:cNvSpPr txBox="1"/>
          <p:nvPr/>
        </p:nvSpPr>
        <p:spPr>
          <a:xfrm>
            <a:off x="4638675" y="41910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29" name="Google Shape;229;p24"/>
          <p:cNvSpPr txBox="1"/>
          <p:nvPr/>
        </p:nvSpPr>
        <p:spPr>
          <a:xfrm>
            <a:off x="5476875" y="41910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30" name="Google Shape;230;p24"/>
          <p:cNvSpPr txBox="1"/>
          <p:nvPr/>
        </p:nvSpPr>
        <p:spPr>
          <a:xfrm>
            <a:off x="6315075" y="41910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31" name="Google Shape;231;p24"/>
          <p:cNvSpPr txBox="1"/>
          <p:nvPr/>
        </p:nvSpPr>
        <p:spPr>
          <a:xfrm>
            <a:off x="7153275" y="41910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32" name="Google Shape;232;p24"/>
          <p:cNvSpPr txBox="1"/>
          <p:nvPr/>
        </p:nvSpPr>
        <p:spPr>
          <a:xfrm>
            <a:off x="7991475" y="4191000"/>
            <a:ext cx="457200" cy="381000"/>
          </a:xfrm>
          <a:prstGeom prst="rect">
            <a:avLst/>
          </a:prstGeom>
          <a:solidFill>
            <a:srgbClr val="993300">
              <a:alpha val="49803"/>
            </a:srgbClr>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33" name="Google Shape;233;p24"/>
          <p:cNvCxnSpPr/>
          <p:nvPr/>
        </p:nvCxnSpPr>
        <p:spPr>
          <a:xfrm>
            <a:off x="4257675" y="44196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34" name="Google Shape;234;p24"/>
          <p:cNvCxnSpPr/>
          <p:nvPr/>
        </p:nvCxnSpPr>
        <p:spPr>
          <a:xfrm>
            <a:off x="5095875" y="44196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35" name="Google Shape;235;p24"/>
          <p:cNvCxnSpPr/>
          <p:nvPr/>
        </p:nvCxnSpPr>
        <p:spPr>
          <a:xfrm>
            <a:off x="5934075" y="44196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36" name="Google Shape;236;p24"/>
          <p:cNvCxnSpPr/>
          <p:nvPr/>
        </p:nvCxnSpPr>
        <p:spPr>
          <a:xfrm>
            <a:off x="6772275" y="44196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37" name="Google Shape;237;p24"/>
          <p:cNvCxnSpPr/>
          <p:nvPr/>
        </p:nvCxnSpPr>
        <p:spPr>
          <a:xfrm>
            <a:off x="7610475" y="4419600"/>
            <a:ext cx="381000" cy="0"/>
          </a:xfrm>
          <a:prstGeom prst="straightConnector1">
            <a:avLst/>
          </a:prstGeom>
          <a:noFill/>
          <a:ln w="38100" cap="flat" cmpd="sng">
            <a:solidFill>
              <a:srgbClr val="003300"/>
            </a:solidFill>
            <a:prstDash val="solid"/>
            <a:miter lim="800000"/>
            <a:headEnd type="none" w="sm" len="sm"/>
            <a:tailEnd type="triangle" w="med" len="med"/>
          </a:ln>
        </p:spPr>
      </p:cxnSp>
      <p:cxnSp>
        <p:nvCxnSpPr>
          <p:cNvPr id="238" name="Google Shape;238;p24"/>
          <p:cNvCxnSpPr/>
          <p:nvPr/>
        </p:nvCxnSpPr>
        <p:spPr>
          <a:xfrm rot="10800000" flipH="1">
            <a:off x="2667000" y="4495800"/>
            <a:ext cx="609600" cy="381000"/>
          </a:xfrm>
          <a:prstGeom prst="straightConnector1">
            <a:avLst/>
          </a:prstGeom>
          <a:noFill/>
          <a:ln w="38100" cap="flat" cmpd="sng">
            <a:solidFill>
              <a:srgbClr val="003300"/>
            </a:solidFill>
            <a:prstDash val="solid"/>
            <a:miter lim="800000"/>
            <a:headEnd type="none" w="sm" len="sm"/>
            <a:tailEnd type="triangle" w="med" len="med"/>
          </a:ln>
        </p:spPr>
      </p:cxnSp>
      <p:cxnSp>
        <p:nvCxnSpPr>
          <p:cNvPr id="239" name="Google Shape;239;p24"/>
          <p:cNvCxnSpPr/>
          <p:nvPr/>
        </p:nvCxnSpPr>
        <p:spPr>
          <a:xfrm>
            <a:off x="2667000" y="4876800"/>
            <a:ext cx="533400" cy="304800"/>
          </a:xfrm>
          <a:prstGeom prst="straightConnector1">
            <a:avLst/>
          </a:prstGeom>
          <a:noFill/>
          <a:ln w="38100" cap="flat" cmpd="sng">
            <a:solidFill>
              <a:srgbClr val="003300"/>
            </a:solidFill>
            <a:prstDash val="solid"/>
            <a:miter lim="800000"/>
            <a:headEnd type="none" w="sm" len="sm"/>
            <a:tailEnd type="triangle" w="med" len="med"/>
          </a:ln>
        </p:spPr>
      </p:cxnSp>
      <p:sp>
        <p:nvSpPr>
          <p:cNvPr id="240" name="Google Shape;240;p24"/>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Types of Thread (Contd.)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fade">
                                      <p:cBhvr>
                                        <p:cTn id="7" dur="500"/>
                                        <p:tgtEl>
                                          <p:spTgt spid="20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3"/>
                                        </p:tgtEl>
                                        <p:attrNameLst>
                                          <p:attrName>style.visibility</p:attrName>
                                        </p:attrNameLst>
                                      </p:cBhvr>
                                      <p:to>
                                        <p:strVal val="visible"/>
                                      </p:to>
                                    </p:set>
                                    <p:animEffect transition="in" filter="fade">
                                      <p:cBhvr>
                                        <p:cTn id="12" dur="500"/>
                                        <p:tgtEl>
                                          <p:spTgt spid="213"/>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238"/>
                                        </p:tgtEl>
                                        <p:attrNameLst>
                                          <p:attrName>style.visibility</p:attrName>
                                        </p:attrNameLst>
                                      </p:cBhvr>
                                      <p:to>
                                        <p:strVal val="visible"/>
                                      </p:to>
                                    </p:set>
                                    <p:animEffect transition="in" filter="fade">
                                      <p:cBhvr>
                                        <p:cTn id="16" dur="500"/>
                                        <p:tgtEl>
                                          <p:spTgt spid="238"/>
                                        </p:tgtEl>
                                      </p:cBhvr>
                                    </p:animEffect>
                                  </p:childTnLst>
                                </p:cTn>
                              </p:par>
                              <p:par>
                                <p:cTn id="17" presetID="10" presetClass="entr" presetSubtype="0" fill="hold" nodeType="withEffect">
                                  <p:stCondLst>
                                    <p:cond delay="0"/>
                                  </p:stCondLst>
                                  <p:childTnLst>
                                    <p:set>
                                      <p:cBhvr>
                                        <p:cTn id="18" dur="1" fill="hold">
                                          <p:stCondLst>
                                            <p:cond delay="0"/>
                                          </p:stCondLst>
                                        </p:cTn>
                                        <p:tgtEl>
                                          <p:spTgt spid="239"/>
                                        </p:tgtEl>
                                        <p:attrNameLst>
                                          <p:attrName>style.visibility</p:attrName>
                                        </p:attrNameLst>
                                      </p:cBhvr>
                                      <p:to>
                                        <p:strVal val="visible"/>
                                      </p:to>
                                    </p:set>
                                    <p:animEffect transition="in" filter="fade">
                                      <p:cBhvr>
                                        <p:cTn id="19" dur="500"/>
                                        <p:tgtEl>
                                          <p:spTgt spid="239"/>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226"/>
                                        </p:tgtEl>
                                        <p:attrNameLst>
                                          <p:attrName>style.visibility</p:attrName>
                                        </p:attrNameLst>
                                      </p:cBhvr>
                                      <p:to>
                                        <p:strVal val="visible"/>
                                      </p:to>
                                    </p:set>
                                    <p:animEffect transition="in" filter="fade">
                                      <p:cBhvr>
                                        <p:cTn id="23" dur="500"/>
                                        <p:tgtEl>
                                          <p:spTgt spid="226"/>
                                        </p:tgtEl>
                                      </p:cBhvr>
                                    </p:animEffect>
                                  </p:childTnLst>
                                </p:cTn>
                              </p:par>
                              <p:par>
                                <p:cTn id="24" presetID="10" presetClass="entr" presetSubtype="0" fill="hold" nodeType="withEffect">
                                  <p:stCondLst>
                                    <p:cond delay="0"/>
                                  </p:stCondLst>
                                  <p:childTnLst>
                                    <p:set>
                                      <p:cBhvr>
                                        <p:cTn id="25" dur="1" fill="hold">
                                          <p:stCondLst>
                                            <p:cond delay="0"/>
                                          </p:stCondLst>
                                        </p:cTn>
                                        <p:tgtEl>
                                          <p:spTgt spid="214"/>
                                        </p:tgtEl>
                                        <p:attrNameLst>
                                          <p:attrName>style.visibility</p:attrName>
                                        </p:attrNameLst>
                                      </p:cBhvr>
                                      <p:to>
                                        <p:strVal val="visible"/>
                                      </p:to>
                                    </p:set>
                                    <p:animEffect transition="in" filter="fade">
                                      <p:cBhvr>
                                        <p:cTn id="26" dur="500"/>
                                        <p:tgtEl>
                                          <p:spTgt spid="214"/>
                                        </p:tgtEl>
                                      </p:cBhvr>
                                    </p:animEffect>
                                  </p:childTnLst>
                                </p:cTn>
                              </p:par>
                            </p:childTnLst>
                          </p:cTn>
                        </p:par>
                        <p:par>
                          <p:cTn id="27" fill="hold">
                            <p:stCondLst>
                              <p:cond delay="1500"/>
                            </p:stCondLst>
                            <p:childTnLst>
                              <p:par>
                                <p:cTn id="28" presetID="10" presetClass="entr" presetSubtype="0" fill="hold" nodeType="afterEffect">
                                  <p:stCondLst>
                                    <p:cond delay="0"/>
                                  </p:stCondLst>
                                  <p:childTnLst>
                                    <p:set>
                                      <p:cBhvr>
                                        <p:cTn id="29" dur="1" fill="hold">
                                          <p:stCondLst>
                                            <p:cond delay="0"/>
                                          </p:stCondLst>
                                        </p:cTn>
                                        <p:tgtEl>
                                          <p:spTgt spid="227"/>
                                        </p:tgtEl>
                                        <p:attrNameLst>
                                          <p:attrName>style.visibility</p:attrName>
                                        </p:attrNameLst>
                                      </p:cBhvr>
                                      <p:to>
                                        <p:strVal val="visible"/>
                                      </p:to>
                                    </p:set>
                                    <p:animEffect transition="in" filter="fade">
                                      <p:cBhvr>
                                        <p:cTn id="30" dur="500"/>
                                        <p:tgtEl>
                                          <p:spTgt spid="227"/>
                                        </p:tgtEl>
                                      </p:cBhvr>
                                    </p:animEffect>
                                  </p:childTnLst>
                                </p:cTn>
                              </p:par>
                              <p:par>
                                <p:cTn id="31" presetID="10" presetClass="entr" presetSubtype="0" fill="hold" nodeType="with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fade">
                                      <p:cBhvr>
                                        <p:cTn id="33" dur="500"/>
                                        <p:tgtEl>
                                          <p:spTgt spid="215"/>
                                        </p:tgtEl>
                                      </p:cBhvr>
                                    </p:animEffect>
                                  </p:childTnLst>
                                </p:cTn>
                              </p:par>
                            </p:childTnLst>
                          </p:cTn>
                        </p:par>
                        <p:par>
                          <p:cTn id="34" fill="hold">
                            <p:stCondLst>
                              <p:cond delay="2000"/>
                            </p:stCondLst>
                            <p:childTnLst>
                              <p:par>
                                <p:cTn id="35" presetID="10" presetClass="entr" presetSubtype="0" fill="hold" nodeType="afterEffect">
                                  <p:stCondLst>
                                    <p:cond delay="0"/>
                                  </p:stCondLst>
                                  <p:childTnLst>
                                    <p:set>
                                      <p:cBhvr>
                                        <p:cTn id="36" dur="1" fill="hold">
                                          <p:stCondLst>
                                            <p:cond delay="0"/>
                                          </p:stCondLst>
                                        </p:cTn>
                                        <p:tgtEl>
                                          <p:spTgt spid="233"/>
                                        </p:tgtEl>
                                        <p:attrNameLst>
                                          <p:attrName>style.visibility</p:attrName>
                                        </p:attrNameLst>
                                      </p:cBhvr>
                                      <p:to>
                                        <p:strVal val="visible"/>
                                      </p:to>
                                    </p:set>
                                    <p:animEffect transition="in" filter="fade">
                                      <p:cBhvr>
                                        <p:cTn id="37" dur="500"/>
                                        <p:tgtEl>
                                          <p:spTgt spid="233"/>
                                        </p:tgtEl>
                                      </p:cBhvr>
                                    </p:animEffect>
                                  </p:childTnLst>
                                </p:cTn>
                              </p:par>
                              <p:par>
                                <p:cTn id="38" presetID="10" presetClass="entr" presetSubtype="0" fill="hold" nodeType="withEffect">
                                  <p:stCondLst>
                                    <p:cond delay="0"/>
                                  </p:stCondLst>
                                  <p:childTnLst>
                                    <p:set>
                                      <p:cBhvr>
                                        <p:cTn id="39" dur="1" fill="hold">
                                          <p:stCondLst>
                                            <p:cond delay="0"/>
                                          </p:stCondLst>
                                        </p:cTn>
                                        <p:tgtEl>
                                          <p:spTgt spid="221"/>
                                        </p:tgtEl>
                                        <p:attrNameLst>
                                          <p:attrName>style.visibility</p:attrName>
                                        </p:attrNameLst>
                                      </p:cBhvr>
                                      <p:to>
                                        <p:strVal val="visible"/>
                                      </p:to>
                                    </p:set>
                                    <p:animEffect transition="in" filter="fade">
                                      <p:cBhvr>
                                        <p:cTn id="40" dur="500"/>
                                        <p:tgtEl>
                                          <p:spTgt spid="221"/>
                                        </p:tgtEl>
                                      </p:cBhvr>
                                    </p:animEffect>
                                  </p:childTnLst>
                                </p:cTn>
                              </p:par>
                            </p:childTnLst>
                          </p:cTn>
                        </p:par>
                        <p:par>
                          <p:cTn id="41" fill="hold">
                            <p:stCondLst>
                              <p:cond delay="2500"/>
                            </p:stCondLst>
                            <p:childTnLst>
                              <p:par>
                                <p:cTn id="42" presetID="10" presetClass="entr" presetSubtype="0" fill="hold" nodeType="afterEffect">
                                  <p:stCondLst>
                                    <p:cond delay="0"/>
                                  </p:stCondLst>
                                  <p:childTnLst>
                                    <p:set>
                                      <p:cBhvr>
                                        <p:cTn id="43" dur="1" fill="hold">
                                          <p:stCondLst>
                                            <p:cond delay="0"/>
                                          </p:stCondLst>
                                        </p:cTn>
                                        <p:tgtEl>
                                          <p:spTgt spid="228"/>
                                        </p:tgtEl>
                                        <p:attrNameLst>
                                          <p:attrName>style.visibility</p:attrName>
                                        </p:attrNameLst>
                                      </p:cBhvr>
                                      <p:to>
                                        <p:strVal val="visible"/>
                                      </p:to>
                                    </p:set>
                                    <p:animEffect transition="in" filter="fade">
                                      <p:cBhvr>
                                        <p:cTn id="44" dur="500"/>
                                        <p:tgtEl>
                                          <p:spTgt spid="228"/>
                                        </p:tgtEl>
                                      </p:cBhvr>
                                    </p:animEffect>
                                  </p:childTnLst>
                                </p:cTn>
                              </p:par>
                              <p:par>
                                <p:cTn id="45" presetID="10" presetClass="entr" presetSubtype="0" fill="hold" nodeType="withEffect">
                                  <p:stCondLst>
                                    <p:cond delay="0"/>
                                  </p:stCondLst>
                                  <p:childTnLst>
                                    <p:set>
                                      <p:cBhvr>
                                        <p:cTn id="46" dur="1" fill="hold">
                                          <p:stCondLst>
                                            <p:cond delay="0"/>
                                          </p:stCondLst>
                                        </p:cTn>
                                        <p:tgtEl>
                                          <p:spTgt spid="216"/>
                                        </p:tgtEl>
                                        <p:attrNameLst>
                                          <p:attrName>style.visibility</p:attrName>
                                        </p:attrNameLst>
                                      </p:cBhvr>
                                      <p:to>
                                        <p:strVal val="visible"/>
                                      </p:to>
                                    </p:set>
                                    <p:animEffect transition="in" filter="fade">
                                      <p:cBhvr>
                                        <p:cTn id="47" dur="500"/>
                                        <p:tgtEl>
                                          <p:spTgt spid="216"/>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234"/>
                                        </p:tgtEl>
                                        <p:attrNameLst>
                                          <p:attrName>style.visibility</p:attrName>
                                        </p:attrNameLst>
                                      </p:cBhvr>
                                      <p:to>
                                        <p:strVal val="visible"/>
                                      </p:to>
                                    </p:set>
                                    <p:animEffect transition="in" filter="fade">
                                      <p:cBhvr>
                                        <p:cTn id="51" dur="500"/>
                                        <p:tgtEl>
                                          <p:spTgt spid="234"/>
                                        </p:tgtEl>
                                      </p:cBhvr>
                                    </p:animEffect>
                                  </p:childTnLst>
                                </p:cTn>
                              </p:par>
                              <p:par>
                                <p:cTn id="52" presetID="10" presetClass="entr" presetSubtype="0" fill="hold" nodeType="withEffect">
                                  <p:stCondLst>
                                    <p:cond delay="0"/>
                                  </p:stCondLst>
                                  <p:childTnLst>
                                    <p:set>
                                      <p:cBhvr>
                                        <p:cTn id="53" dur="1" fill="hold">
                                          <p:stCondLst>
                                            <p:cond delay="0"/>
                                          </p:stCondLst>
                                        </p:cTn>
                                        <p:tgtEl>
                                          <p:spTgt spid="222"/>
                                        </p:tgtEl>
                                        <p:attrNameLst>
                                          <p:attrName>style.visibility</p:attrName>
                                        </p:attrNameLst>
                                      </p:cBhvr>
                                      <p:to>
                                        <p:strVal val="visible"/>
                                      </p:to>
                                    </p:set>
                                    <p:animEffect transition="in" filter="fade">
                                      <p:cBhvr>
                                        <p:cTn id="54" dur="500"/>
                                        <p:tgtEl>
                                          <p:spTgt spid="222"/>
                                        </p:tgtEl>
                                      </p:cBhvr>
                                    </p:animEffect>
                                  </p:childTnLst>
                                </p:cTn>
                              </p:par>
                            </p:childTnLst>
                          </p:cTn>
                        </p:par>
                        <p:par>
                          <p:cTn id="55" fill="hold">
                            <p:stCondLst>
                              <p:cond delay="3500"/>
                            </p:stCondLst>
                            <p:childTnLst>
                              <p:par>
                                <p:cTn id="56" presetID="10" presetClass="entr" presetSubtype="0" fill="hold"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fade">
                                      <p:cBhvr>
                                        <p:cTn id="58" dur="500"/>
                                        <p:tgtEl>
                                          <p:spTgt spid="229"/>
                                        </p:tgtEl>
                                      </p:cBhvr>
                                    </p:animEffect>
                                  </p:childTnLst>
                                </p:cTn>
                              </p:par>
                              <p:par>
                                <p:cTn id="59" presetID="10" presetClass="entr" presetSubtype="0" fill="hold" nodeType="withEffect">
                                  <p:stCondLst>
                                    <p:cond delay="0"/>
                                  </p:stCondLst>
                                  <p:childTnLst>
                                    <p:set>
                                      <p:cBhvr>
                                        <p:cTn id="60" dur="1" fill="hold">
                                          <p:stCondLst>
                                            <p:cond delay="0"/>
                                          </p:stCondLst>
                                        </p:cTn>
                                        <p:tgtEl>
                                          <p:spTgt spid="217"/>
                                        </p:tgtEl>
                                        <p:attrNameLst>
                                          <p:attrName>style.visibility</p:attrName>
                                        </p:attrNameLst>
                                      </p:cBhvr>
                                      <p:to>
                                        <p:strVal val="visible"/>
                                      </p:to>
                                    </p:set>
                                    <p:animEffect transition="in" filter="fade">
                                      <p:cBhvr>
                                        <p:cTn id="61" dur="500"/>
                                        <p:tgtEl>
                                          <p:spTgt spid="217"/>
                                        </p:tgtEl>
                                      </p:cBhvr>
                                    </p:animEffect>
                                  </p:childTnLst>
                                </p:cTn>
                              </p:par>
                            </p:childTnLst>
                          </p:cTn>
                        </p:par>
                        <p:par>
                          <p:cTn id="62" fill="hold">
                            <p:stCondLst>
                              <p:cond delay="4000"/>
                            </p:stCondLst>
                            <p:childTnLst>
                              <p:par>
                                <p:cTn id="63" presetID="10" presetClass="entr" presetSubtype="0" fill="hold" nodeType="afterEffect">
                                  <p:stCondLst>
                                    <p:cond delay="0"/>
                                  </p:stCondLst>
                                  <p:childTnLst>
                                    <p:set>
                                      <p:cBhvr>
                                        <p:cTn id="64" dur="1" fill="hold">
                                          <p:stCondLst>
                                            <p:cond delay="0"/>
                                          </p:stCondLst>
                                        </p:cTn>
                                        <p:tgtEl>
                                          <p:spTgt spid="235"/>
                                        </p:tgtEl>
                                        <p:attrNameLst>
                                          <p:attrName>style.visibility</p:attrName>
                                        </p:attrNameLst>
                                      </p:cBhvr>
                                      <p:to>
                                        <p:strVal val="visible"/>
                                      </p:to>
                                    </p:set>
                                    <p:animEffect transition="in" filter="fade">
                                      <p:cBhvr>
                                        <p:cTn id="65" dur="500"/>
                                        <p:tgtEl>
                                          <p:spTgt spid="235"/>
                                        </p:tgtEl>
                                      </p:cBhvr>
                                    </p:animEffect>
                                  </p:childTnLst>
                                </p:cTn>
                              </p:par>
                              <p:par>
                                <p:cTn id="66" presetID="10" presetClass="entr" presetSubtype="0" fill="hold" nodeType="withEffect">
                                  <p:stCondLst>
                                    <p:cond delay="0"/>
                                  </p:stCondLst>
                                  <p:childTnLst>
                                    <p:set>
                                      <p:cBhvr>
                                        <p:cTn id="67" dur="1" fill="hold">
                                          <p:stCondLst>
                                            <p:cond delay="0"/>
                                          </p:stCondLst>
                                        </p:cTn>
                                        <p:tgtEl>
                                          <p:spTgt spid="223"/>
                                        </p:tgtEl>
                                        <p:attrNameLst>
                                          <p:attrName>style.visibility</p:attrName>
                                        </p:attrNameLst>
                                      </p:cBhvr>
                                      <p:to>
                                        <p:strVal val="visible"/>
                                      </p:to>
                                    </p:set>
                                    <p:animEffect transition="in" filter="fade">
                                      <p:cBhvr>
                                        <p:cTn id="68" dur="500"/>
                                        <p:tgtEl>
                                          <p:spTgt spid="223"/>
                                        </p:tgtEl>
                                      </p:cBhvr>
                                    </p:animEffect>
                                  </p:childTnLst>
                                </p:cTn>
                              </p:par>
                            </p:childTnLst>
                          </p:cTn>
                        </p:par>
                        <p:par>
                          <p:cTn id="69" fill="hold">
                            <p:stCondLst>
                              <p:cond delay="4500"/>
                            </p:stCondLst>
                            <p:childTnLst>
                              <p:par>
                                <p:cTn id="70" presetID="10" presetClass="entr" presetSubtype="0" fill="hold" nodeType="afterEffect">
                                  <p:stCondLst>
                                    <p:cond delay="0"/>
                                  </p:stCondLst>
                                  <p:childTnLst>
                                    <p:set>
                                      <p:cBhvr>
                                        <p:cTn id="71" dur="1" fill="hold">
                                          <p:stCondLst>
                                            <p:cond delay="0"/>
                                          </p:stCondLst>
                                        </p:cTn>
                                        <p:tgtEl>
                                          <p:spTgt spid="230"/>
                                        </p:tgtEl>
                                        <p:attrNameLst>
                                          <p:attrName>style.visibility</p:attrName>
                                        </p:attrNameLst>
                                      </p:cBhvr>
                                      <p:to>
                                        <p:strVal val="visible"/>
                                      </p:to>
                                    </p:set>
                                    <p:animEffect transition="in" filter="fade">
                                      <p:cBhvr>
                                        <p:cTn id="72" dur="500"/>
                                        <p:tgtEl>
                                          <p:spTgt spid="230"/>
                                        </p:tgtEl>
                                      </p:cBhvr>
                                    </p:animEffect>
                                  </p:childTnLst>
                                </p:cTn>
                              </p:par>
                              <p:par>
                                <p:cTn id="73" presetID="10" presetClass="entr" presetSubtype="0" fill="hold" nodeType="withEffect">
                                  <p:stCondLst>
                                    <p:cond delay="0"/>
                                  </p:stCondLst>
                                  <p:childTnLst>
                                    <p:set>
                                      <p:cBhvr>
                                        <p:cTn id="74" dur="1" fill="hold">
                                          <p:stCondLst>
                                            <p:cond delay="0"/>
                                          </p:stCondLst>
                                        </p:cTn>
                                        <p:tgtEl>
                                          <p:spTgt spid="218"/>
                                        </p:tgtEl>
                                        <p:attrNameLst>
                                          <p:attrName>style.visibility</p:attrName>
                                        </p:attrNameLst>
                                      </p:cBhvr>
                                      <p:to>
                                        <p:strVal val="visible"/>
                                      </p:to>
                                    </p:set>
                                    <p:animEffect transition="in" filter="fade">
                                      <p:cBhvr>
                                        <p:cTn id="75" dur="500"/>
                                        <p:tgtEl>
                                          <p:spTgt spid="218"/>
                                        </p:tgtEl>
                                      </p:cBhvr>
                                    </p:animEffect>
                                  </p:childTnLst>
                                </p:cTn>
                              </p:par>
                            </p:childTnLst>
                          </p:cTn>
                        </p:par>
                        <p:par>
                          <p:cTn id="76" fill="hold">
                            <p:stCondLst>
                              <p:cond delay="5000"/>
                            </p:stCondLst>
                            <p:childTnLst>
                              <p:par>
                                <p:cTn id="77" presetID="10" presetClass="entr" presetSubtype="0" fill="hold" nodeType="afterEffect">
                                  <p:stCondLst>
                                    <p:cond delay="0"/>
                                  </p:stCondLst>
                                  <p:childTnLst>
                                    <p:set>
                                      <p:cBhvr>
                                        <p:cTn id="78" dur="1" fill="hold">
                                          <p:stCondLst>
                                            <p:cond delay="0"/>
                                          </p:stCondLst>
                                        </p:cTn>
                                        <p:tgtEl>
                                          <p:spTgt spid="236"/>
                                        </p:tgtEl>
                                        <p:attrNameLst>
                                          <p:attrName>style.visibility</p:attrName>
                                        </p:attrNameLst>
                                      </p:cBhvr>
                                      <p:to>
                                        <p:strVal val="visible"/>
                                      </p:to>
                                    </p:set>
                                    <p:animEffect transition="in" filter="fade">
                                      <p:cBhvr>
                                        <p:cTn id="79" dur="500"/>
                                        <p:tgtEl>
                                          <p:spTgt spid="236"/>
                                        </p:tgtEl>
                                      </p:cBhvr>
                                    </p:animEffect>
                                  </p:childTnLst>
                                </p:cTn>
                              </p:par>
                              <p:par>
                                <p:cTn id="80" presetID="10" presetClass="entr" presetSubtype="0" fill="hold" nodeType="withEffect">
                                  <p:stCondLst>
                                    <p:cond delay="0"/>
                                  </p:stCondLst>
                                  <p:childTnLst>
                                    <p:set>
                                      <p:cBhvr>
                                        <p:cTn id="81" dur="1" fill="hold">
                                          <p:stCondLst>
                                            <p:cond delay="0"/>
                                          </p:stCondLst>
                                        </p:cTn>
                                        <p:tgtEl>
                                          <p:spTgt spid="224"/>
                                        </p:tgtEl>
                                        <p:attrNameLst>
                                          <p:attrName>style.visibility</p:attrName>
                                        </p:attrNameLst>
                                      </p:cBhvr>
                                      <p:to>
                                        <p:strVal val="visible"/>
                                      </p:to>
                                    </p:set>
                                    <p:animEffect transition="in" filter="fade">
                                      <p:cBhvr>
                                        <p:cTn id="82" dur="500"/>
                                        <p:tgtEl>
                                          <p:spTgt spid="224"/>
                                        </p:tgtEl>
                                      </p:cBhvr>
                                    </p:animEffect>
                                  </p:childTnLst>
                                </p:cTn>
                              </p:par>
                            </p:childTnLst>
                          </p:cTn>
                        </p:par>
                        <p:par>
                          <p:cTn id="83" fill="hold">
                            <p:stCondLst>
                              <p:cond delay="5500"/>
                            </p:stCondLst>
                            <p:childTnLst>
                              <p:par>
                                <p:cTn id="84" presetID="10" presetClass="entr" presetSubtype="0" fill="hold" nodeType="afterEffect">
                                  <p:stCondLst>
                                    <p:cond delay="0"/>
                                  </p:stCondLst>
                                  <p:childTnLst>
                                    <p:set>
                                      <p:cBhvr>
                                        <p:cTn id="85" dur="1" fill="hold">
                                          <p:stCondLst>
                                            <p:cond delay="0"/>
                                          </p:stCondLst>
                                        </p:cTn>
                                        <p:tgtEl>
                                          <p:spTgt spid="231"/>
                                        </p:tgtEl>
                                        <p:attrNameLst>
                                          <p:attrName>style.visibility</p:attrName>
                                        </p:attrNameLst>
                                      </p:cBhvr>
                                      <p:to>
                                        <p:strVal val="visible"/>
                                      </p:to>
                                    </p:set>
                                    <p:animEffect transition="in" filter="fade">
                                      <p:cBhvr>
                                        <p:cTn id="86" dur="500"/>
                                        <p:tgtEl>
                                          <p:spTgt spid="231"/>
                                        </p:tgtEl>
                                      </p:cBhvr>
                                    </p:animEffect>
                                  </p:childTnLst>
                                </p:cTn>
                              </p:par>
                              <p:par>
                                <p:cTn id="87" presetID="10" presetClass="entr" presetSubtype="0" fill="hold" nodeType="withEffect">
                                  <p:stCondLst>
                                    <p:cond delay="0"/>
                                  </p:stCondLst>
                                  <p:childTnLst>
                                    <p:set>
                                      <p:cBhvr>
                                        <p:cTn id="88" dur="1" fill="hold">
                                          <p:stCondLst>
                                            <p:cond delay="0"/>
                                          </p:stCondLst>
                                        </p:cTn>
                                        <p:tgtEl>
                                          <p:spTgt spid="219"/>
                                        </p:tgtEl>
                                        <p:attrNameLst>
                                          <p:attrName>style.visibility</p:attrName>
                                        </p:attrNameLst>
                                      </p:cBhvr>
                                      <p:to>
                                        <p:strVal val="visible"/>
                                      </p:to>
                                    </p:set>
                                    <p:animEffect transition="in" filter="fade">
                                      <p:cBhvr>
                                        <p:cTn id="89" dur="500"/>
                                        <p:tgtEl>
                                          <p:spTgt spid="219"/>
                                        </p:tgtEl>
                                      </p:cBhvr>
                                    </p:animEffect>
                                  </p:childTnLst>
                                </p:cTn>
                              </p:par>
                            </p:childTnLst>
                          </p:cTn>
                        </p:par>
                        <p:par>
                          <p:cTn id="90" fill="hold">
                            <p:stCondLst>
                              <p:cond delay="6000"/>
                            </p:stCondLst>
                            <p:childTnLst>
                              <p:par>
                                <p:cTn id="91" presetID="10" presetClass="entr" presetSubtype="0" fill="hold" nodeType="afterEffect">
                                  <p:stCondLst>
                                    <p:cond delay="0"/>
                                  </p:stCondLst>
                                  <p:childTnLst>
                                    <p:set>
                                      <p:cBhvr>
                                        <p:cTn id="92" dur="1" fill="hold">
                                          <p:stCondLst>
                                            <p:cond delay="0"/>
                                          </p:stCondLst>
                                        </p:cTn>
                                        <p:tgtEl>
                                          <p:spTgt spid="237"/>
                                        </p:tgtEl>
                                        <p:attrNameLst>
                                          <p:attrName>style.visibility</p:attrName>
                                        </p:attrNameLst>
                                      </p:cBhvr>
                                      <p:to>
                                        <p:strVal val="visible"/>
                                      </p:to>
                                    </p:set>
                                    <p:animEffect transition="in" filter="fade">
                                      <p:cBhvr>
                                        <p:cTn id="93" dur="500"/>
                                        <p:tgtEl>
                                          <p:spTgt spid="237"/>
                                        </p:tgtEl>
                                      </p:cBhvr>
                                    </p:animEffect>
                                  </p:childTnLst>
                                </p:cTn>
                              </p:par>
                              <p:par>
                                <p:cTn id="94" presetID="10" presetClass="entr" presetSubtype="0" fill="hold" nodeType="withEffect">
                                  <p:stCondLst>
                                    <p:cond delay="0"/>
                                  </p:stCondLst>
                                  <p:childTnLst>
                                    <p:set>
                                      <p:cBhvr>
                                        <p:cTn id="95" dur="1" fill="hold">
                                          <p:stCondLst>
                                            <p:cond delay="0"/>
                                          </p:stCondLst>
                                        </p:cTn>
                                        <p:tgtEl>
                                          <p:spTgt spid="225"/>
                                        </p:tgtEl>
                                        <p:attrNameLst>
                                          <p:attrName>style.visibility</p:attrName>
                                        </p:attrNameLst>
                                      </p:cBhvr>
                                      <p:to>
                                        <p:strVal val="visible"/>
                                      </p:to>
                                    </p:set>
                                    <p:animEffect transition="in" filter="fade">
                                      <p:cBhvr>
                                        <p:cTn id="96" dur="500"/>
                                        <p:tgtEl>
                                          <p:spTgt spid="225"/>
                                        </p:tgtEl>
                                      </p:cBhvr>
                                    </p:animEffect>
                                  </p:childTnLst>
                                </p:cTn>
                              </p:par>
                            </p:childTnLst>
                          </p:cTn>
                        </p:par>
                        <p:par>
                          <p:cTn id="97" fill="hold">
                            <p:stCondLst>
                              <p:cond delay="6500"/>
                            </p:stCondLst>
                            <p:childTnLst>
                              <p:par>
                                <p:cTn id="98" presetID="10" presetClass="entr" presetSubtype="0" fill="hold" nodeType="afterEffect">
                                  <p:stCondLst>
                                    <p:cond delay="0"/>
                                  </p:stCondLst>
                                  <p:childTnLst>
                                    <p:set>
                                      <p:cBhvr>
                                        <p:cTn id="99" dur="1" fill="hold">
                                          <p:stCondLst>
                                            <p:cond delay="0"/>
                                          </p:stCondLst>
                                        </p:cTn>
                                        <p:tgtEl>
                                          <p:spTgt spid="232"/>
                                        </p:tgtEl>
                                        <p:attrNameLst>
                                          <p:attrName>style.visibility</p:attrName>
                                        </p:attrNameLst>
                                      </p:cBhvr>
                                      <p:to>
                                        <p:strVal val="visible"/>
                                      </p:to>
                                    </p:set>
                                    <p:animEffect transition="in" filter="fade">
                                      <p:cBhvr>
                                        <p:cTn id="100" dur="500"/>
                                        <p:tgtEl>
                                          <p:spTgt spid="232"/>
                                        </p:tgtEl>
                                      </p:cBhvr>
                                    </p:animEffect>
                                  </p:childTnLst>
                                </p:cTn>
                              </p:par>
                              <p:par>
                                <p:cTn id="101" presetID="10" presetClass="entr" presetSubtype="0" fill="hold" nodeType="withEffect">
                                  <p:stCondLst>
                                    <p:cond delay="0"/>
                                  </p:stCondLst>
                                  <p:childTnLst>
                                    <p:set>
                                      <p:cBhvr>
                                        <p:cTn id="102" dur="1" fill="hold">
                                          <p:stCondLst>
                                            <p:cond delay="0"/>
                                          </p:stCondLst>
                                        </p:cTn>
                                        <p:tgtEl>
                                          <p:spTgt spid="220"/>
                                        </p:tgtEl>
                                        <p:attrNameLst>
                                          <p:attrName>style.visibility</p:attrName>
                                        </p:attrNameLst>
                                      </p:cBhvr>
                                      <p:to>
                                        <p:strVal val="visible"/>
                                      </p:to>
                                    </p:set>
                                    <p:animEffect transition="in" filter="fade">
                                      <p:cBhvr>
                                        <p:cTn id="103"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grpSp>
        <p:nvGrpSpPr>
          <p:cNvPr id="247" name="Google Shape;247;p25"/>
          <p:cNvGrpSpPr/>
          <p:nvPr/>
        </p:nvGrpSpPr>
        <p:grpSpPr>
          <a:xfrm>
            <a:off x="4876800" y="838200"/>
            <a:ext cx="4267200" cy="3352799"/>
            <a:chOff x="4038600" y="2133600"/>
            <a:chExt cx="4343400" cy="3657599"/>
          </a:xfrm>
        </p:grpSpPr>
        <p:pic>
          <p:nvPicPr>
            <p:cNvPr id="248" name="Google Shape;248;p25" descr="install bluetooth"/>
            <p:cNvPicPr preferRelativeResize="0"/>
            <p:nvPr/>
          </p:nvPicPr>
          <p:blipFill rotWithShape="1">
            <a:blip r:embed="rId3">
              <a:alphaModFix/>
            </a:blip>
            <a:srcRect/>
            <a:stretch/>
          </p:blipFill>
          <p:spPr>
            <a:xfrm>
              <a:off x="4240212" y="2230437"/>
              <a:ext cx="3871961" cy="3441303"/>
            </a:xfrm>
            <a:prstGeom prst="rect">
              <a:avLst/>
            </a:prstGeom>
            <a:noFill/>
            <a:ln>
              <a:noFill/>
            </a:ln>
          </p:spPr>
        </p:pic>
        <p:sp>
          <p:nvSpPr>
            <p:cNvPr id="249" name="Google Shape;249;p25"/>
            <p:cNvSpPr txBox="1"/>
            <p:nvPr/>
          </p:nvSpPr>
          <p:spPr>
            <a:xfrm>
              <a:off x="4321175" y="2133600"/>
              <a:ext cx="3854450" cy="539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0" name="Google Shape;250;p25"/>
            <p:cNvSpPr txBox="1"/>
            <p:nvPr/>
          </p:nvSpPr>
          <p:spPr>
            <a:xfrm>
              <a:off x="4321175" y="5049837"/>
              <a:ext cx="3854450" cy="741362"/>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1" name="Google Shape;251;p25"/>
            <p:cNvSpPr txBox="1"/>
            <p:nvPr/>
          </p:nvSpPr>
          <p:spPr>
            <a:xfrm rot="5400000">
              <a:off x="2595562" y="3652837"/>
              <a:ext cx="3505200" cy="619125"/>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2" name="Google Shape;252;p25"/>
            <p:cNvSpPr txBox="1"/>
            <p:nvPr/>
          </p:nvSpPr>
          <p:spPr>
            <a:xfrm rot="5400000">
              <a:off x="6319837" y="3652837"/>
              <a:ext cx="3505200" cy="619125"/>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253" name="Google Shape;253;p25"/>
          <p:cNvSpPr txBox="1">
            <a:spLocks noGrp="1"/>
          </p:cNvSpPr>
          <p:nvPr>
            <p:ph type="title"/>
          </p:nvPr>
        </p:nvSpPr>
        <p:spPr>
          <a:xfrm>
            <a:off x="153987" y="871537"/>
            <a:ext cx="8245475" cy="4984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000" b="0" i="0" u="none" strike="noStrike" cap="none">
                <a:solidFill>
                  <a:schemeClr val="dk1"/>
                </a:solidFill>
                <a:latin typeface="Calibri"/>
                <a:ea typeface="Calibri"/>
                <a:cs typeface="Calibri"/>
                <a:sym typeface="Calibri"/>
              </a:rPr>
              <a:t>Example on Thread</a:t>
            </a:r>
            <a:endParaRPr/>
          </a:p>
        </p:txBody>
      </p:sp>
      <p:pic>
        <p:nvPicPr>
          <p:cNvPr id="254" name="Google Shape;254;p25"/>
          <p:cNvPicPr preferRelativeResize="0">
            <a:picLocks noGrp="1"/>
          </p:cNvPicPr>
          <p:nvPr>
            <p:ph type="body" idx="1"/>
          </p:nvPr>
        </p:nvPicPr>
        <p:blipFill rotWithShape="1">
          <a:blip r:embed="rId4">
            <a:alphaModFix/>
          </a:blip>
          <a:srcRect/>
          <a:stretch/>
        </p:blipFill>
        <p:spPr>
          <a:xfrm>
            <a:off x="609600" y="1600200"/>
            <a:ext cx="1304925" cy="1676400"/>
          </a:xfrm>
          <a:prstGeom prst="rect">
            <a:avLst/>
          </a:prstGeom>
          <a:noFill/>
          <a:ln>
            <a:noFill/>
          </a:ln>
        </p:spPr>
      </p:pic>
      <p:pic>
        <p:nvPicPr>
          <p:cNvPr id="255" name="Google Shape;255;p25" descr="HPPrinter"/>
          <p:cNvPicPr preferRelativeResize="0">
            <a:picLocks noGrp="1"/>
          </p:cNvPicPr>
          <p:nvPr>
            <p:ph type="body" idx="2"/>
          </p:nvPr>
        </p:nvPicPr>
        <p:blipFill rotWithShape="1">
          <a:blip r:embed="rId5">
            <a:alphaModFix/>
          </a:blip>
          <a:srcRect/>
          <a:stretch/>
        </p:blipFill>
        <p:spPr>
          <a:xfrm>
            <a:off x="457200" y="5000625"/>
            <a:ext cx="1095375" cy="1095375"/>
          </a:xfrm>
          <a:prstGeom prst="rect">
            <a:avLst/>
          </a:prstGeom>
          <a:noFill/>
          <a:ln>
            <a:noFill/>
          </a:ln>
        </p:spPr>
      </p:pic>
      <p:pic>
        <p:nvPicPr>
          <p:cNvPr id="256" name="Google Shape;256;p25" descr="file_download"/>
          <p:cNvPicPr preferRelativeResize="0">
            <a:picLocks noGrp="1"/>
          </p:cNvPicPr>
          <p:nvPr>
            <p:ph type="body" idx="3"/>
          </p:nvPr>
        </p:nvPicPr>
        <p:blipFill rotWithShape="1">
          <a:blip r:embed="rId6">
            <a:alphaModFix/>
          </a:blip>
          <a:srcRect/>
          <a:stretch/>
        </p:blipFill>
        <p:spPr>
          <a:xfrm>
            <a:off x="5486400" y="3962400"/>
            <a:ext cx="3276600" cy="2362200"/>
          </a:xfrm>
          <a:prstGeom prst="rect">
            <a:avLst/>
          </a:prstGeom>
          <a:noFill/>
          <a:ln>
            <a:noFill/>
          </a:ln>
        </p:spPr>
      </p:pic>
      <p:sp>
        <p:nvSpPr>
          <p:cNvPr id="257" name="Google Shape;257;p25"/>
          <p:cNvSpPr txBox="1"/>
          <p:nvPr/>
        </p:nvSpPr>
        <p:spPr>
          <a:xfrm>
            <a:off x="609600" y="1600200"/>
            <a:ext cx="8077200" cy="1295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258" name="Google Shape;258;p25"/>
          <p:cNvCxnSpPr/>
          <p:nvPr/>
        </p:nvCxnSpPr>
        <p:spPr>
          <a:xfrm>
            <a:off x="1752600" y="2286000"/>
            <a:ext cx="3429000" cy="0"/>
          </a:xfrm>
          <a:prstGeom prst="straightConnector1">
            <a:avLst/>
          </a:prstGeom>
          <a:noFill/>
          <a:ln w="38100" cap="flat" cmpd="sng">
            <a:solidFill>
              <a:srgbClr val="000099"/>
            </a:solidFill>
            <a:prstDash val="solid"/>
            <a:miter lim="800000"/>
            <a:headEnd type="none" w="sm" len="sm"/>
            <a:tailEnd type="triangle" w="med" len="med"/>
          </a:ln>
        </p:spPr>
      </p:cxnSp>
      <p:cxnSp>
        <p:nvCxnSpPr>
          <p:cNvPr id="259" name="Google Shape;259;p25"/>
          <p:cNvCxnSpPr/>
          <p:nvPr/>
        </p:nvCxnSpPr>
        <p:spPr>
          <a:xfrm flipH="1">
            <a:off x="1219200" y="3124200"/>
            <a:ext cx="228600" cy="1828800"/>
          </a:xfrm>
          <a:prstGeom prst="straightConnector1">
            <a:avLst/>
          </a:prstGeom>
          <a:noFill/>
          <a:ln w="38100" cap="flat" cmpd="sng">
            <a:solidFill>
              <a:srgbClr val="000099"/>
            </a:solidFill>
            <a:prstDash val="solid"/>
            <a:miter lim="800000"/>
            <a:headEnd type="none" w="sm" len="sm"/>
            <a:tailEnd type="triangle" w="med" len="med"/>
          </a:ln>
        </p:spPr>
      </p:cxnSp>
      <p:cxnSp>
        <p:nvCxnSpPr>
          <p:cNvPr id="260" name="Google Shape;260;p25"/>
          <p:cNvCxnSpPr/>
          <p:nvPr/>
        </p:nvCxnSpPr>
        <p:spPr>
          <a:xfrm>
            <a:off x="1676400" y="2286000"/>
            <a:ext cx="3200400" cy="2209800"/>
          </a:xfrm>
          <a:prstGeom prst="straightConnector1">
            <a:avLst/>
          </a:prstGeom>
          <a:noFill/>
          <a:ln w="38100" cap="flat" cmpd="sng">
            <a:solidFill>
              <a:srgbClr val="000099"/>
            </a:solidFill>
            <a:prstDash val="solid"/>
            <a:miter lim="800000"/>
            <a:headEnd type="none" w="sm" len="sm"/>
            <a:tailEnd type="triangle" w="med" len="med"/>
          </a:ln>
        </p:spPr>
      </p:cxn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500"/>
                                        <p:tgtEl>
                                          <p:spTgt spid="258"/>
                                        </p:tgtEl>
                                      </p:cBhvr>
                                    </p:animEffect>
                                  </p:childTnLst>
                                </p:cTn>
                              </p:par>
                              <p:par>
                                <p:cTn id="8" presetID="10" presetClass="entr" presetSubtype="0" fill="hold" nodeType="withEffect">
                                  <p:stCondLst>
                                    <p:cond delay="0"/>
                                  </p:stCondLst>
                                  <p:childTnLst>
                                    <p:set>
                                      <p:cBhvr>
                                        <p:cTn id="9" dur="1" fill="hold">
                                          <p:stCondLst>
                                            <p:cond delay="0"/>
                                          </p:stCondLst>
                                        </p:cTn>
                                        <p:tgtEl>
                                          <p:spTgt spid="260"/>
                                        </p:tgtEl>
                                        <p:attrNameLst>
                                          <p:attrName>style.visibility</p:attrName>
                                        </p:attrNameLst>
                                      </p:cBhvr>
                                      <p:to>
                                        <p:strVal val="visible"/>
                                      </p:to>
                                    </p:set>
                                    <p:animEffect transition="in" filter="fade">
                                      <p:cBhvr>
                                        <p:cTn id="10" dur="500"/>
                                        <p:tgtEl>
                                          <p:spTgt spid="260"/>
                                        </p:tgtEl>
                                      </p:cBhvr>
                                    </p:animEffect>
                                  </p:childTnLst>
                                </p:cTn>
                              </p:par>
                              <p:par>
                                <p:cTn id="11" presetID="10" presetClass="entr" presetSubtype="0" fill="hold" nodeType="withEffect">
                                  <p:stCondLst>
                                    <p:cond delay="0"/>
                                  </p:stCondLst>
                                  <p:childTnLst>
                                    <p:set>
                                      <p:cBhvr>
                                        <p:cTn id="12" dur="1" fill="hold">
                                          <p:stCondLst>
                                            <p:cond delay="0"/>
                                          </p:stCondLst>
                                        </p:cTn>
                                        <p:tgtEl>
                                          <p:spTgt spid="259"/>
                                        </p:tgtEl>
                                        <p:attrNameLst>
                                          <p:attrName>style.visibility</p:attrName>
                                        </p:attrNameLst>
                                      </p:cBhvr>
                                      <p:to>
                                        <p:strVal val="visible"/>
                                      </p:to>
                                    </p:set>
                                    <p:animEffect transition="in" filter="fade">
                                      <p:cBhvr>
                                        <p:cTn id="13" dur="500"/>
                                        <p:tgtEl>
                                          <p:spTgt spid="259"/>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256"/>
                                        </p:tgtEl>
                                        <p:attrNameLst>
                                          <p:attrName>style.visibility</p:attrName>
                                        </p:attrNameLst>
                                      </p:cBhvr>
                                      <p:to>
                                        <p:strVal val="visible"/>
                                      </p:to>
                                    </p:set>
                                    <p:animEffect transition="in" filter="fade">
                                      <p:cBhvr>
                                        <p:cTn id="17" dur="500"/>
                                        <p:tgtEl>
                                          <p:spTgt spid="256"/>
                                        </p:tgtEl>
                                      </p:cBhvr>
                                    </p:animEffect>
                                  </p:childTnLst>
                                </p:cTn>
                              </p:par>
                              <p:par>
                                <p:cTn id="18" presetID="10" presetClass="entr" presetSubtype="0" fill="hold" nodeType="withEffect">
                                  <p:stCondLst>
                                    <p:cond delay="0"/>
                                  </p:stCondLst>
                                  <p:childTnLst>
                                    <p:set>
                                      <p:cBhvr>
                                        <p:cTn id="19" dur="1" fill="hold">
                                          <p:stCondLst>
                                            <p:cond delay="0"/>
                                          </p:stCondLst>
                                        </p:cTn>
                                        <p:tgtEl>
                                          <p:spTgt spid="255"/>
                                        </p:tgtEl>
                                        <p:attrNameLst>
                                          <p:attrName>style.visibility</p:attrName>
                                        </p:attrNameLst>
                                      </p:cBhvr>
                                      <p:to>
                                        <p:strVal val="visible"/>
                                      </p:to>
                                    </p:set>
                                    <p:animEffect transition="in" filter="fade">
                                      <p:cBhvr>
                                        <p:cTn id="20" dur="500"/>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Example on Thread</a:t>
            </a:r>
            <a:endParaRPr/>
          </a:p>
        </p:txBody>
      </p:sp>
      <p:sp>
        <p:nvSpPr>
          <p:cNvPr id="267" name="Google Shape;267;p26"/>
          <p:cNvSpPr txBox="1"/>
          <p:nvPr/>
        </p:nvSpPr>
        <p:spPr>
          <a:xfrm>
            <a:off x="152400" y="4475162"/>
            <a:ext cx="2057400"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Font typeface="Calibri"/>
              <a:buNone/>
            </a:pPr>
            <a:r>
              <a:rPr lang="en-US" sz="2000" b="0" i="0" u="none">
                <a:solidFill>
                  <a:schemeClr val="dk2"/>
                </a:solidFill>
                <a:latin typeface="Calibri"/>
                <a:ea typeface="Calibri"/>
                <a:cs typeface="Calibri"/>
                <a:sym typeface="Calibri"/>
              </a:rPr>
              <a:t>Web Server</a:t>
            </a:r>
            <a:endParaRPr/>
          </a:p>
        </p:txBody>
      </p:sp>
      <p:sp>
        <p:nvSpPr>
          <p:cNvPr id="268" name="Google Shape;268;p26"/>
          <p:cNvSpPr txBox="1"/>
          <p:nvPr/>
        </p:nvSpPr>
        <p:spPr>
          <a:xfrm>
            <a:off x="5267325" y="4551362"/>
            <a:ext cx="3133725" cy="7016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Font typeface="Calibri"/>
              <a:buNone/>
            </a:pPr>
            <a:r>
              <a:rPr lang="en-US" sz="2000" b="0" i="0" u="none">
                <a:solidFill>
                  <a:schemeClr val="dk2"/>
                </a:solidFill>
                <a:latin typeface="Calibri"/>
                <a:ea typeface="Calibri"/>
                <a:cs typeface="Calibri"/>
                <a:sym typeface="Calibri"/>
              </a:rPr>
              <a:t>Multiple simultaneous web browser requests</a:t>
            </a:r>
            <a:endParaRPr/>
          </a:p>
        </p:txBody>
      </p:sp>
      <p:pic>
        <p:nvPicPr>
          <p:cNvPr id="269" name="Google Shape;269;p26"/>
          <p:cNvPicPr preferRelativeResize="0"/>
          <p:nvPr/>
        </p:nvPicPr>
        <p:blipFill rotWithShape="1">
          <a:blip r:embed="rId3">
            <a:alphaModFix/>
          </a:blip>
          <a:srcRect/>
          <a:stretch/>
        </p:blipFill>
        <p:spPr>
          <a:xfrm>
            <a:off x="957262" y="2890837"/>
            <a:ext cx="1303566" cy="1674388"/>
          </a:xfrm>
          <a:prstGeom prst="rect">
            <a:avLst/>
          </a:prstGeom>
          <a:noFill/>
          <a:ln>
            <a:noFill/>
          </a:ln>
        </p:spPr>
      </p:pic>
      <p:sp>
        <p:nvSpPr>
          <p:cNvPr id="270" name="Google Shape;270;p26" descr="The image “http://keene.lib.ne.us/internet-explorer-small.jpg” cannot be displayed, because it contains errors."/>
          <p:cNvSpPr txBox="1"/>
          <p:nvPr/>
        </p:nvSpPr>
        <p:spPr>
          <a:xfrm>
            <a:off x="3910012" y="1981200"/>
            <a:ext cx="296862" cy="2968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271" name="Google Shape;271;p26"/>
          <p:cNvPicPr preferRelativeResize="0"/>
          <p:nvPr/>
        </p:nvPicPr>
        <p:blipFill rotWithShape="1">
          <a:blip r:embed="rId4">
            <a:alphaModFix/>
          </a:blip>
          <a:srcRect/>
          <a:stretch/>
        </p:blipFill>
        <p:spPr>
          <a:xfrm>
            <a:off x="6248400" y="2230437"/>
            <a:ext cx="1566013" cy="1170403"/>
          </a:xfrm>
          <a:prstGeom prst="rect">
            <a:avLst/>
          </a:prstGeom>
          <a:noFill/>
          <a:ln>
            <a:noFill/>
          </a:ln>
        </p:spPr>
      </p:pic>
      <p:pic>
        <p:nvPicPr>
          <p:cNvPr id="272" name="Google Shape;272;p26"/>
          <p:cNvPicPr preferRelativeResize="0"/>
          <p:nvPr/>
        </p:nvPicPr>
        <p:blipFill rotWithShape="1">
          <a:blip r:embed="rId5">
            <a:alphaModFix/>
          </a:blip>
          <a:srcRect/>
          <a:stretch/>
        </p:blipFill>
        <p:spPr>
          <a:xfrm>
            <a:off x="6196012" y="3598862"/>
            <a:ext cx="1618602" cy="952500"/>
          </a:xfrm>
          <a:prstGeom prst="rect">
            <a:avLst/>
          </a:prstGeom>
          <a:noFill/>
          <a:ln>
            <a:noFill/>
          </a:ln>
        </p:spPr>
      </p:pic>
      <p:cxnSp>
        <p:nvCxnSpPr>
          <p:cNvPr id="273" name="Google Shape;273;p26"/>
          <p:cNvCxnSpPr/>
          <p:nvPr/>
        </p:nvCxnSpPr>
        <p:spPr>
          <a:xfrm rot="10800000">
            <a:off x="2471737" y="3416300"/>
            <a:ext cx="2095500" cy="0"/>
          </a:xfrm>
          <a:prstGeom prst="straightConnector1">
            <a:avLst/>
          </a:prstGeom>
          <a:noFill/>
          <a:ln w="57150" cap="flat" cmpd="sng">
            <a:solidFill>
              <a:srgbClr val="0000FF"/>
            </a:solidFill>
            <a:prstDash val="solid"/>
            <a:miter lim="800000"/>
            <a:headEnd type="none" w="sm" len="sm"/>
            <a:tailEnd type="stealth" w="sm" len="sm"/>
          </a:ln>
        </p:spPr>
      </p:cxnSp>
      <p:cxnSp>
        <p:nvCxnSpPr>
          <p:cNvPr id="274" name="Google Shape;274;p26"/>
          <p:cNvCxnSpPr/>
          <p:nvPr/>
        </p:nvCxnSpPr>
        <p:spPr>
          <a:xfrm rot="10800000">
            <a:off x="2471737" y="2728912"/>
            <a:ext cx="3724275" cy="0"/>
          </a:xfrm>
          <a:prstGeom prst="straightConnector1">
            <a:avLst/>
          </a:prstGeom>
          <a:noFill/>
          <a:ln w="57150" cap="flat" cmpd="sng">
            <a:solidFill>
              <a:srgbClr val="0000FF"/>
            </a:solidFill>
            <a:prstDash val="solid"/>
            <a:miter lim="800000"/>
            <a:headEnd type="none" w="sm" len="sm"/>
            <a:tailEnd type="stealth" w="sm" len="sm"/>
          </a:ln>
        </p:spPr>
      </p:cxnSp>
      <p:cxnSp>
        <p:nvCxnSpPr>
          <p:cNvPr id="275" name="Google Shape;275;p26"/>
          <p:cNvCxnSpPr/>
          <p:nvPr/>
        </p:nvCxnSpPr>
        <p:spPr>
          <a:xfrm rot="10800000">
            <a:off x="2471737" y="4110037"/>
            <a:ext cx="3724275" cy="0"/>
          </a:xfrm>
          <a:prstGeom prst="straightConnector1">
            <a:avLst/>
          </a:prstGeom>
          <a:noFill/>
          <a:ln w="57150" cap="flat" cmpd="sng">
            <a:solidFill>
              <a:srgbClr val="0000FF"/>
            </a:solidFill>
            <a:prstDash val="solid"/>
            <a:miter lim="800000"/>
            <a:headEnd type="none" w="sm" len="sm"/>
            <a:tailEnd type="stealth" w="sm" len="sm"/>
          </a:ln>
        </p:spPr>
      </p:cxnSp>
      <p:pic>
        <p:nvPicPr>
          <p:cNvPr id="276" name="Google Shape;276;p26"/>
          <p:cNvPicPr preferRelativeResize="0"/>
          <p:nvPr/>
        </p:nvPicPr>
        <p:blipFill rotWithShape="1">
          <a:blip r:embed="rId6">
            <a:alphaModFix/>
          </a:blip>
          <a:srcRect/>
          <a:stretch/>
        </p:blipFill>
        <p:spPr>
          <a:xfrm>
            <a:off x="4781550" y="2776537"/>
            <a:ext cx="1209675" cy="1209675"/>
          </a:xfrm>
          <a:prstGeom prst="rect">
            <a:avLst/>
          </a:prstGeom>
          <a:noFill/>
          <a:ln>
            <a:noFill/>
          </a:ln>
        </p:spPr>
      </p:pic>
      <p:sp>
        <p:nvSpPr>
          <p:cNvPr id="277" name="Google Shape;277;p26"/>
          <p:cNvSpPr txBox="1"/>
          <p:nvPr/>
        </p:nvSpPr>
        <p:spPr>
          <a:xfrm>
            <a:off x="381000" y="4784725"/>
            <a:ext cx="3048000"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2"/>
              </a:buClr>
              <a:buFont typeface="Calibri"/>
              <a:buNone/>
            </a:pPr>
            <a:r>
              <a:rPr lang="en-US" sz="2000" b="0" i="0" u="none">
                <a:solidFill>
                  <a:schemeClr val="dk2"/>
                </a:solidFill>
                <a:latin typeface="Calibri"/>
                <a:ea typeface="Calibri"/>
                <a:cs typeface="Calibri"/>
                <a:sym typeface="Calibri"/>
              </a:rPr>
              <a:t>uses threads to handle</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4"/>
                                        </p:tgtEl>
                                        <p:attrNameLst>
                                          <p:attrName>style.visibility</p:attrName>
                                        </p:attrNameLst>
                                      </p:cBhvr>
                                      <p:to>
                                        <p:strVal val="visible"/>
                                      </p:to>
                                    </p:set>
                                    <p:animEffect transition="in" filter="fade">
                                      <p:cBhvr>
                                        <p:cTn id="7" dur="500"/>
                                        <p:tgtEl>
                                          <p:spTgt spid="274"/>
                                        </p:tgtEl>
                                      </p:cBhvr>
                                    </p:animEffect>
                                  </p:childTnLst>
                                </p:cTn>
                              </p:par>
                              <p:par>
                                <p:cTn id="8" presetID="10" presetClass="entr" presetSubtype="0" fill="hold" nodeType="withEffect">
                                  <p:stCondLst>
                                    <p:cond delay="0"/>
                                  </p:stCondLst>
                                  <p:childTnLst>
                                    <p:set>
                                      <p:cBhvr>
                                        <p:cTn id="9" dur="1" fill="hold">
                                          <p:stCondLst>
                                            <p:cond delay="0"/>
                                          </p:stCondLst>
                                        </p:cTn>
                                        <p:tgtEl>
                                          <p:spTgt spid="273"/>
                                        </p:tgtEl>
                                        <p:attrNameLst>
                                          <p:attrName>style.visibility</p:attrName>
                                        </p:attrNameLst>
                                      </p:cBhvr>
                                      <p:to>
                                        <p:strVal val="visible"/>
                                      </p:to>
                                    </p:set>
                                    <p:animEffect transition="in" filter="fade">
                                      <p:cBhvr>
                                        <p:cTn id="10" dur="500"/>
                                        <p:tgtEl>
                                          <p:spTgt spid="273"/>
                                        </p:tgtEl>
                                      </p:cBhvr>
                                    </p:animEffect>
                                  </p:childTnLst>
                                </p:cTn>
                              </p:par>
                              <p:par>
                                <p:cTn id="11" presetID="10" presetClass="entr" presetSubtype="0" fill="hold" nodeType="withEffect">
                                  <p:stCondLst>
                                    <p:cond delay="0"/>
                                  </p:stCondLst>
                                  <p:childTnLst>
                                    <p:set>
                                      <p:cBhvr>
                                        <p:cTn id="12" dur="1" fill="hold">
                                          <p:stCondLst>
                                            <p:cond delay="0"/>
                                          </p:stCondLst>
                                        </p:cTn>
                                        <p:tgtEl>
                                          <p:spTgt spid="275"/>
                                        </p:tgtEl>
                                        <p:attrNameLst>
                                          <p:attrName>style.visibility</p:attrName>
                                        </p:attrNameLst>
                                      </p:cBhvr>
                                      <p:to>
                                        <p:strVal val="visible"/>
                                      </p:to>
                                    </p:set>
                                    <p:animEffect transition="in" filter="fade">
                                      <p:cBhvr>
                                        <p:cTn id="13" dur="500"/>
                                        <p:tgtEl>
                                          <p:spTgt spid="275"/>
                                        </p:tgtEl>
                                      </p:cBhvr>
                                    </p:animEffect>
                                  </p:childTnLst>
                                </p:cTn>
                              </p:par>
                            </p:childTnLst>
                          </p:cTn>
                        </p:par>
                        <p:par>
                          <p:cTn id="14" fill="hold">
                            <p:stCondLst>
                              <p:cond delay="500"/>
                            </p:stCondLst>
                            <p:childTnLst>
                              <p:par>
                                <p:cTn id="15" presetID="10" presetClass="entr" presetSubtype="0" fill="hold" nodeType="afterEffect">
                                  <p:stCondLst>
                                    <p:cond delay="0"/>
                                  </p:stCondLst>
                                  <p:childTnLst>
                                    <p:set>
                                      <p:cBhvr>
                                        <p:cTn id="16" dur="1" fill="hold">
                                          <p:stCondLst>
                                            <p:cond delay="0"/>
                                          </p:stCondLst>
                                        </p:cTn>
                                        <p:tgtEl>
                                          <p:spTgt spid="268"/>
                                        </p:tgtEl>
                                        <p:attrNameLst>
                                          <p:attrName>style.visibility</p:attrName>
                                        </p:attrNameLst>
                                      </p:cBhvr>
                                      <p:to>
                                        <p:strVal val="visible"/>
                                      </p:to>
                                    </p:set>
                                    <p:animEffect transition="in" filter="fade">
                                      <p:cBhvr>
                                        <p:cTn id="17" dur="500"/>
                                        <p:tgtEl>
                                          <p:spTgt spid="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7" descr="Stationery"/>
          <p:cNvSpPr txBox="1"/>
          <p:nvPr/>
        </p:nvSpPr>
        <p:spPr>
          <a:xfrm>
            <a:off x="609600" y="2057400"/>
            <a:ext cx="8077200" cy="36576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Multitasking is the ability to execute more than one task at the</a:t>
            </a:r>
            <a:endParaRPr/>
          </a:p>
          <a:p>
            <a:pPr marL="457200" marR="0" lvl="1" indent="0" algn="l" rtl="0">
              <a:lnSpc>
                <a:spcPct val="100000"/>
              </a:lnSpc>
              <a:spcBef>
                <a:spcPts val="0"/>
              </a:spcBef>
              <a:spcAft>
                <a:spcPts val="0"/>
              </a:spcAft>
              <a:buClr>
                <a:schemeClr val="dk1"/>
              </a:buClr>
              <a:buFont typeface="Calibri"/>
              <a:buNone/>
            </a:pPr>
            <a:r>
              <a:rPr lang="en-US" sz="2000" b="0" i="0" u="none" strike="noStrike" cap="none">
                <a:solidFill>
                  <a:schemeClr val="dk1"/>
                </a:solidFill>
                <a:latin typeface="Calibri"/>
                <a:ea typeface="Calibri"/>
                <a:cs typeface="Calibri"/>
                <a:sym typeface="Calibri"/>
              </a:rPr>
              <a:t>   same time. </a:t>
            </a:r>
            <a:endParaRPr/>
          </a:p>
          <a:p>
            <a:pPr marL="457200" marR="0" lvl="1" indent="0" algn="l" rtl="0">
              <a:lnSpc>
                <a:spcPct val="100000"/>
              </a:lnSpc>
              <a:spcBef>
                <a:spcPts val="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Multitasking can be divided into two categories:</a:t>
            </a:r>
            <a:endParaRPr/>
          </a:p>
        </p:txBody>
      </p:sp>
      <p:sp>
        <p:nvSpPr>
          <p:cNvPr id="285" name="Google Shape;285;p27" descr="Pink tissue paper"/>
          <p:cNvSpPr txBox="1"/>
          <p:nvPr/>
        </p:nvSpPr>
        <p:spPr>
          <a:xfrm>
            <a:off x="0" y="1447800"/>
            <a:ext cx="9144000" cy="585787"/>
          </a:xfrm>
          <a:prstGeom prst="rect">
            <a:avLst/>
          </a:prstGeom>
          <a:blipFill rotWithShape="1">
            <a:blip r:embed="rId4">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1" i="0" u="none">
                <a:solidFill>
                  <a:schemeClr val="dk1"/>
                </a:solidFill>
                <a:latin typeface="Calibri"/>
                <a:ea typeface="Calibri"/>
                <a:cs typeface="Calibri"/>
                <a:sym typeface="Calibri"/>
              </a:rPr>
              <a:t>Basic Concepts of MultiTasking</a:t>
            </a:r>
            <a:endParaRPr/>
          </a:p>
        </p:txBody>
      </p:sp>
      <p:grpSp>
        <p:nvGrpSpPr>
          <p:cNvPr id="286" name="Google Shape;286;p27"/>
          <p:cNvGrpSpPr/>
          <p:nvPr/>
        </p:nvGrpSpPr>
        <p:grpSpPr>
          <a:xfrm>
            <a:off x="1752600" y="3657600"/>
            <a:ext cx="4038600" cy="685800"/>
            <a:chOff x="1752600" y="3657600"/>
            <a:chExt cx="4038600" cy="685800"/>
          </a:xfrm>
        </p:grpSpPr>
        <p:sp>
          <p:nvSpPr>
            <p:cNvPr id="287" name="Google Shape;287;p27" descr="White marble"/>
            <p:cNvSpPr txBox="1"/>
            <p:nvPr/>
          </p:nvSpPr>
          <p:spPr>
            <a:xfrm>
              <a:off x="1752600" y="3657600"/>
              <a:ext cx="3505200" cy="685800"/>
            </a:xfrm>
            <a:prstGeom prst="rect">
              <a:avLst/>
            </a:prstGeom>
            <a:blipFill rotWithShape="1">
              <a:blip r:embed="rId5">
                <a:alphaModFix/>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1.</a:t>
              </a:r>
              <a:endParaRPr/>
            </a:p>
          </p:txBody>
        </p:sp>
        <p:sp>
          <p:nvSpPr>
            <p:cNvPr id="288" name="Google Shape;288;p27" descr="White marble"/>
            <p:cNvSpPr txBox="1"/>
            <p:nvPr/>
          </p:nvSpPr>
          <p:spPr>
            <a:xfrm>
              <a:off x="2286000" y="3657600"/>
              <a:ext cx="3505200" cy="685800"/>
            </a:xfrm>
            <a:prstGeom prst="rect">
              <a:avLst/>
            </a:prstGeom>
            <a:blipFill rotWithShape="1">
              <a:blip r:embed="rId5">
                <a:alphaModFix amt="39999"/>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Process-based multitasking</a:t>
              </a:r>
              <a:endParaRPr/>
            </a:p>
          </p:txBody>
        </p:sp>
      </p:grpSp>
      <p:grpSp>
        <p:nvGrpSpPr>
          <p:cNvPr id="289" name="Google Shape;289;p27"/>
          <p:cNvGrpSpPr/>
          <p:nvPr/>
        </p:nvGrpSpPr>
        <p:grpSpPr>
          <a:xfrm>
            <a:off x="1752600" y="4495800"/>
            <a:ext cx="4038600" cy="685800"/>
            <a:chOff x="1752600" y="4495800"/>
            <a:chExt cx="4038600" cy="685800"/>
          </a:xfrm>
        </p:grpSpPr>
        <p:sp>
          <p:nvSpPr>
            <p:cNvPr id="290" name="Google Shape;290;p27" descr="White marble"/>
            <p:cNvSpPr txBox="1"/>
            <p:nvPr/>
          </p:nvSpPr>
          <p:spPr>
            <a:xfrm>
              <a:off x="1752600" y="4495800"/>
              <a:ext cx="3505200" cy="685800"/>
            </a:xfrm>
            <a:prstGeom prst="rect">
              <a:avLst/>
            </a:prstGeom>
            <a:blipFill rotWithShape="1">
              <a:blip r:embed="rId5">
                <a:alphaModFix/>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2.</a:t>
              </a:r>
              <a:endParaRPr/>
            </a:p>
          </p:txBody>
        </p:sp>
        <p:sp>
          <p:nvSpPr>
            <p:cNvPr id="291" name="Google Shape;291;p27" descr="White marble"/>
            <p:cNvSpPr txBox="1"/>
            <p:nvPr/>
          </p:nvSpPr>
          <p:spPr>
            <a:xfrm>
              <a:off x="2286000" y="4495800"/>
              <a:ext cx="3505200" cy="685800"/>
            </a:xfrm>
            <a:prstGeom prst="rect">
              <a:avLst/>
            </a:prstGeom>
            <a:blipFill rotWithShape="1">
              <a:blip r:embed="rId5">
                <a:alphaModFix amt="39999"/>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Thread-based multitasking</a:t>
              </a:r>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4"/>
                                        </p:tgtEl>
                                        <p:attrNameLst>
                                          <p:attrName>style.visibility</p:attrName>
                                        </p:attrNameLst>
                                      </p:cBhvr>
                                      <p:to>
                                        <p:strVal val="visible"/>
                                      </p:to>
                                    </p:set>
                                    <p:animEffect transition="in" filter="fade">
                                      <p:cBhvr>
                                        <p:cTn id="7" dur="500"/>
                                        <p:tgtEl>
                                          <p:spTgt spid="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8" descr="Stationery"/>
          <p:cNvSpPr txBox="1"/>
          <p:nvPr/>
        </p:nvSpPr>
        <p:spPr>
          <a:xfrm>
            <a:off x="685800" y="1905000"/>
            <a:ext cx="8077200" cy="17526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Refers to working with two programs concurrently.</a:t>
            </a:r>
            <a:endParaRPr/>
          </a:p>
          <a:p>
            <a:pPr marL="457200" marR="0" lvl="1" indent="0" algn="l" rtl="0">
              <a:lnSpc>
                <a:spcPct val="100000"/>
              </a:lnSpc>
              <a:spcBef>
                <a:spcPts val="0"/>
              </a:spcBef>
              <a:spcAft>
                <a:spcPts val="0"/>
              </a:spcAft>
              <a:buClr>
                <a:schemeClr val="dk1"/>
              </a:buClr>
              <a:buFont typeface="Arial"/>
              <a:buNone/>
            </a:pPr>
            <a:endParaRPr sz="20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For example, working with MS-Word, Listening to mp3 song</a:t>
            </a:r>
            <a:endParaRPr/>
          </a:p>
          <a:p>
            <a:pPr marL="457200" marR="0" lvl="1" indent="0" algn="l" rtl="0">
              <a:lnSpc>
                <a:spcPct val="100000"/>
              </a:lnSpc>
              <a:spcBef>
                <a:spcPts val="0"/>
              </a:spcBef>
              <a:spcAft>
                <a:spcPts val="0"/>
              </a:spcAft>
              <a:buClr>
                <a:schemeClr val="dk1"/>
              </a:buClr>
              <a:buFont typeface="Calibri"/>
              <a:buNone/>
            </a:pPr>
            <a:r>
              <a:rPr lang="en-US" sz="2000" b="0" i="0" u="none" strike="noStrike" cap="none">
                <a:solidFill>
                  <a:schemeClr val="dk1"/>
                </a:solidFill>
                <a:latin typeface="Calibri"/>
                <a:ea typeface="Calibri"/>
                <a:cs typeface="Calibri"/>
                <a:sym typeface="Calibri"/>
              </a:rPr>
              <a:t>    using Windows Media Player.</a:t>
            </a:r>
            <a:endParaRPr/>
          </a:p>
          <a:p>
            <a:pPr marL="0" marR="0" lvl="0" indent="0" algn="l"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grpSp>
        <p:nvGrpSpPr>
          <p:cNvPr id="299" name="Google Shape;299;p28"/>
          <p:cNvGrpSpPr/>
          <p:nvPr/>
        </p:nvGrpSpPr>
        <p:grpSpPr>
          <a:xfrm>
            <a:off x="0" y="1219200"/>
            <a:ext cx="9144000" cy="685800"/>
            <a:chOff x="0" y="1219200"/>
            <a:chExt cx="9144000" cy="685800"/>
          </a:xfrm>
        </p:grpSpPr>
        <p:sp>
          <p:nvSpPr>
            <p:cNvPr id="300" name="Google Shape;300;p28" descr="White marble"/>
            <p:cNvSpPr txBox="1"/>
            <p:nvPr/>
          </p:nvSpPr>
          <p:spPr>
            <a:xfrm>
              <a:off x="0" y="1219200"/>
              <a:ext cx="7935912" cy="685800"/>
            </a:xfrm>
            <a:prstGeom prst="rect">
              <a:avLst/>
            </a:prstGeom>
            <a:blipFill rotWithShape="1">
              <a:blip r:embed="rId4">
                <a:alphaModFix/>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1.</a:t>
              </a:r>
              <a:endParaRPr/>
            </a:p>
          </p:txBody>
        </p:sp>
        <p:sp>
          <p:nvSpPr>
            <p:cNvPr id="301" name="Google Shape;301;p28" descr="White marble"/>
            <p:cNvSpPr txBox="1"/>
            <p:nvPr/>
          </p:nvSpPr>
          <p:spPr>
            <a:xfrm>
              <a:off x="685800" y="1219200"/>
              <a:ext cx="8458200" cy="685800"/>
            </a:xfrm>
            <a:prstGeom prst="rect">
              <a:avLst/>
            </a:prstGeom>
            <a:blipFill rotWithShape="1">
              <a:blip r:embed="rId4">
                <a:alphaModFix amt="39999"/>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Process-based multitasking</a:t>
              </a:r>
              <a:endParaRPr/>
            </a:p>
          </p:txBody>
        </p:sp>
      </p:grpSp>
      <p:sp>
        <p:nvSpPr>
          <p:cNvPr id="302" name="Google Shape;302;p28"/>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Multitasking (Contd.)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500"/>
                                        <p:tgtEl>
                                          <p:spTgt spid="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descr="Stationery"/>
          <p:cNvSpPr txBox="1"/>
          <p:nvPr/>
        </p:nvSpPr>
        <p:spPr>
          <a:xfrm>
            <a:off x="685800" y="1905000"/>
            <a:ext cx="8077200" cy="17526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Refers to working with parts of one program.</a:t>
            </a:r>
            <a:endParaRPr/>
          </a:p>
          <a:p>
            <a:pPr marL="457200" marR="0" lvl="1" indent="0" algn="l" rtl="0">
              <a:lnSpc>
                <a:spcPct val="100000"/>
              </a:lnSpc>
              <a:spcBef>
                <a:spcPts val="0"/>
              </a:spcBef>
              <a:spcAft>
                <a:spcPts val="0"/>
              </a:spcAft>
              <a:buClr>
                <a:schemeClr val="dk1"/>
              </a:buClr>
              <a:buFont typeface="Arial"/>
              <a:buNone/>
            </a:pPr>
            <a:endParaRPr sz="2000" b="0" i="0" u="none" strike="noStrike" cap="none">
              <a:solidFill>
                <a:schemeClr val="dk1"/>
              </a:solidFill>
              <a:latin typeface="Calibri"/>
              <a:ea typeface="Calibri"/>
              <a:cs typeface="Calibri"/>
              <a:sym typeface="Calibri"/>
            </a:endParaRPr>
          </a:p>
          <a:p>
            <a:pPr marL="457200" marR="0" lvl="1" indent="0" algn="l" rtl="0">
              <a:lnSpc>
                <a:spcPct val="100000"/>
              </a:lnSpc>
              <a:spcBef>
                <a:spcPts val="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For example, MS-Word program can check spelling, count line</a:t>
            </a:r>
            <a:endParaRPr/>
          </a:p>
          <a:p>
            <a:pPr marL="457200" marR="0" lvl="1" indent="0" algn="l" rtl="0">
              <a:lnSpc>
                <a:spcPct val="100000"/>
              </a:lnSpc>
              <a:spcBef>
                <a:spcPts val="0"/>
              </a:spcBef>
              <a:spcAft>
                <a:spcPts val="0"/>
              </a:spcAft>
              <a:buClr>
                <a:schemeClr val="dk1"/>
              </a:buClr>
              <a:buFont typeface="Calibri"/>
              <a:buNone/>
            </a:pPr>
            <a:r>
              <a:rPr lang="en-US" sz="2000" b="0" i="0" u="none" strike="noStrike" cap="none">
                <a:solidFill>
                  <a:schemeClr val="dk1"/>
                </a:solidFill>
                <a:latin typeface="Calibri"/>
                <a:ea typeface="Calibri"/>
                <a:cs typeface="Calibri"/>
                <a:sym typeface="Calibri"/>
              </a:rPr>
              <a:t>    numbers, column number while writing in a document.</a:t>
            </a:r>
            <a:endParaRPr/>
          </a:p>
        </p:txBody>
      </p:sp>
      <p:grpSp>
        <p:nvGrpSpPr>
          <p:cNvPr id="310" name="Google Shape;310;p29"/>
          <p:cNvGrpSpPr/>
          <p:nvPr/>
        </p:nvGrpSpPr>
        <p:grpSpPr>
          <a:xfrm>
            <a:off x="0" y="1219200"/>
            <a:ext cx="9144000" cy="685800"/>
            <a:chOff x="0" y="1219200"/>
            <a:chExt cx="9144000" cy="685800"/>
          </a:xfrm>
        </p:grpSpPr>
        <p:sp>
          <p:nvSpPr>
            <p:cNvPr id="311" name="Google Shape;311;p29" descr="White marble"/>
            <p:cNvSpPr txBox="1"/>
            <p:nvPr/>
          </p:nvSpPr>
          <p:spPr>
            <a:xfrm>
              <a:off x="0" y="1219200"/>
              <a:ext cx="7935912" cy="685800"/>
            </a:xfrm>
            <a:prstGeom prst="rect">
              <a:avLst/>
            </a:prstGeom>
            <a:blipFill rotWithShape="1">
              <a:blip r:embed="rId4">
                <a:alphaModFix/>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2.</a:t>
              </a:r>
              <a:endParaRPr/>
            </a:p>
          </p:txBody>
        </p:sp>
        <p:sp>
          <p:nvSpPr>
            <p:cNvPr id="312" name="Google Shape;312;p29" descr="White marble"/>
            <p:cNvSpPr txBox="1"/>
            <p:nvPr/>
          </p:nvSpPr>
          <p:spPr>
            <a:xfrm>
              <a:off x="685800" y="1219200"/>
              <a:ext cx="8458200" cy="685800"/>
            </a:xfrm>
            <a:prstGeom prst="rect">
              <a:avLst/>
            </a:prstGeom>
            <a:blipFill rotWithShape="1">
              <a:blip r:embed="rId4">
                <a:alphaModFix amt="39999"/>
              </a:blip>
              <a:stretch>
                <a:fillRect/>
              </a:stretch>
            </a:blipFill>
            <a:ln>
              <a:noFill/>
            </a:ln>
            <a:effectLst>
              <a:outerShdw blurRad="63500" dist="17960" dir="2700000">
                <a:srgbClr val="999999"/>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Thread-based multitasking</a:t>
              </a:r>
              <a:endParaRPr/>
            </a:p>
          </p:txBody>
        </p:sp>
      </p:grpSp>
      <p:sp>
        <p:nvSpPr>
          <p:cNvPr id="313" name="Google Shape;313;p29"/>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Multitasking (Contd.)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9"/>
                                        </p:tgtEl>
                                        <p:attrNameLst>
                                          <p:attrName>style.visibility</p:attrName>
                                        </p:attrNameLst>
                                      </p:cBhvr>
                                      <p:to>
                                        <p:strVal val="visible"/>
                                      </p:to>
                                    </p:set>
                                    <p:animEffect transition="in" filter="fade">
                                      <p:cBhvr>
                                        <p:cTn id="7" dur="5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0"/>
          <p:cNvSpPr txBox="1"/>
          <p:nvPr/>
        </p:nvSpPr>
        <p:spPr>
          <a:xfrm>
            <a:off x="609600" y="2133600"/>
            <a:ext cx="8077200" cy="3505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endParaRPr sz="1400" b="0" i="0" u="none">
              <a:solidFill>
                <a:srgbClr val="006666"/>
              </a:solidFill>
              <a:latin typeface="Verdana"/>
              <a:ea typeface="Verdana"/>
              <a:cs typeface="Verdana"/>
              <a:sym typeface="Verdana"/>
            </a:endParaRPr>
          </a:p>
          <a:p>
            <a:pPr marL="742950" marR="0" lvl="1" indent="-285750" algn="l" rtl="0">
              <a:lnSpc>
                <a:spcPct val="100000"/>
              </a:lnSpc>
              <a:spcBef>
                <a:spcPts val="40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Race condition</a:t>
            </a:r>
            <a:endParaRPr/>
          </a:p>
          <a:p>
            <a:pPr marL="742950" marR="0" lvl="1" indent="-285750" algn="l" rtl="0">
              <a:lnSpc>
                <a:spcPct val="100000"/>
              </a:lnSpc>
              <a:spcBef>
                <a:spcPts val="40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Deadlock condition</a:t>
            </a:r>
            <a:endParaRPr/>
          </a:p>
          <a:p>
            <a:pPr marL="742950" marR="0" lvl="1" indent="-285750" algn="l" rtl="0">
              <a:lnSpc>
                <a:spcPct val="100000"/>
              </a:lnSpc>
              <a:spcBef>
                <a:spcPts val="40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Lock starvation</a:t>
            </a:r>
            <a:endParaRPr/>
          </a:p>
        </p:txBody>
      </p:sp>
      <p:sp>
        <p:nvSpPr>
          <p:cNvPr id="321" name="Google Shape;321;p30" descr="Pink tissue paper"/>
          <p:cNvSpPr txBox="1"/>
          <p:nvPr/>
        </p:nvSpPr>
        <p:spPr>
          <a:xfrm>
            <a:off x="0" y="1447800"/>
            <a:ext cx="9144000" cy="585787"/>
          </a:xfrm>
          <a:prstGeom prst="rect">
            <a:avLst/>
          </a:prstGeom>
          <a:blipFill rotWithShape="1">
            <a:blip r:embed="rId3">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1" i="0" u="none">
                <a:solidFill>
                  <a:schemeClr val="dk1"/>
                </a:solidFill>
                <a:latin typeface="Calibri"/>
                <a:ea typeface="Calibri"/>
                <a:cs typeface="Calibri"/>
                <a:sym typeface="Calibri"/>
              </a:rPr>
              <a:t>Disadvantage of Multi Threading</a:t>
            </a:r>
            <a:endParaRPr/>
          </a:p>
        </p:txBody>
      </p:sp>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Using Threads in Java</a:t>
            </a:r>
            <a:endParaRPr/>
          </a:p>
        </p:txBody>
      </p:sp>
      <p:sp>
        <p:nvSpPr>
          <p:cNvPr id="329" name="Google Shape;329;p31"/>
          <p:cNvSpPr/>
          <p:nvPr/>
        </p:nvSpPr>
        <p:spPr>
          <a:xfrm>
            <a:off x="609600" y="990600"/>
            <a:ext cx="2743200" cy="2362200"/>
          </a:xfrm>
          <a:prstGeom prst="cloudCallout">
            <a:avLst>
              <a:gd name="adj1" fmla="val 27075"/>
              <a:gd name="adj2" fmla="val 18798"/>
            </a:avLst>
          </a:prstGeom>
          <a:solidFill>
            <a:srgbClr val="333300"/>
          </a:solidFill>
          <a:ln w="76200" cap="flat" cmpd="sng">
            <a:solidFill>
              <a:schemeClr val="folHlink"/>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How To Use Threads in Java</a:t>
            </a:r>
            <a:endParaRPr/>
          </a:p>
        </p:txBody>
      </p:sp>
      <p:sp>
        <p:nvSpPr>
          <p:cNvPr id="330" name="Google Shape;330;p31"/>
          <p:cNvSpPr/>
          <p:nvPr/>
        </p:nvSpPr>
        <p:spPr>
          <a:xfrm>
            <a:off x="685800" y="5029200"/>
            <a:ext cx="8001000" cy="1143000"/>
          </a:xfrm>
          <a:prstGeom prst="flowChartPunchedTape">
            <a:avLst/>
          </a:prstGeom>
          <a:solidFill>
            <a:srgbClr val="00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java.lang.Thread class is used to construct and access individuals thread in a multi threaded application. </a:t>
            </a:r>
            <a:endParaRPr/>
          </a:p>
        </p:txBody>
      </p:sp>
      <p:sp>
        <p:nvSpPr>
          <p:cNvPr id="331" name="Google Shape;331;p31"/>
          <p:cNvSpPr/>
          <p:nvPr/>
        </p:nvSpPr>
        <p:spPr>
          <a:xfrm>
            <a:off x="4191000" y="2133600"/>
            <a:ext cx="3124200" cy="2438400"/>
          </a:xfrm>
          <a:custGeom>
            <a:avLst/>
            <a:gdLst/>
            <a:ahLst/>
            <a:cxnLst/>
            <a:rect l="l" t="t" r="r" b="b"/>
            <a:pathLst>
              <a:path w="120000" h="120000" extrusionOk="0">
                <a:moveTo>
                  <a:pt x="0" y="45835"/>
                </a:moveTo>
                <a:lnTo>
                  <a:pt x="45836" y="45836"/>
                </a:lnTo>
                <a:lnTo>
                  <a:pt x="60000" y="0"/>
                </a:lnTo>
                <a:lnTo>
                  <a:pt x="74163" y="45836"/>
                </a:lnTo>
                <a:lnTo>
                  <a:pt x="119999" y="45835"/>
                </a:lnTo>
                <a:lnTo>
                  <a:pt x="82917" y="74163"/>
                </a:lnTo>
                <a:lnTo>
                  <a:pt x="97082" y="119999"/>
                </a:lnTo>
                <a:lnTo>
                  <a:pt x="60000" y="91671"/>
                </a:lnTo>
                <a:lnTo>
                  <a:pt x="22917" y="119999"/>
                </a:lnTo>
                <a:lnTo>
                  <a:pt x="37082" y="74163"/>
                </a:lnTo>
                <a:close/>
              </a:path>
            </a:pathLst>
          </a:custGeom>
          <a:solidFill>
            <a:srgbClr val="00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Using Thread </a:t>
            </a:r>
            <a:endParaRPr/>
          </a:p>
          <a:p>
            <a:pPr marL="0" marR="0" lvl="0" indent="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class</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9"/>
                                        </p:tgtEl>
                                        <p:attrNameLst>
                                          <p:attrName>style.visibility</p:attrName>
                                        </p:attrNameLst>
                                      </p:cBhvr>
                                      <p:to>
                                        <p:strVal val="visible"/>
                                      </p:to>
                                    </p:set>
                                    <p:anim calcmode="lin" valueType="num">
                                      <p:cBhvr additive="base">
                                        <p:cTn id="7" dur="1000"/>
                                        <p:tgtEl>
                                          <p:spTgt spid="329"/>
                                        </p:tgtEl>
                                        <p:attrNameLst>
                                          <p:attrName>ppt_w</p:attrName>
                                        </p:attrNameLst>
                                      </p:cBhvr>
                                      <p:tavLst>
                                        <p:tav tm="0">
                                          <p:val>
                                            <p:strVal val="0"/>
                                          </p:val>
                                        </p:tav>
                                        <p:tav tm="100000">
                                          <p:val>
                                            <p:strVal val="#ppt_w"/>
                                          </p:val>
                                        </p:tav>
                                      </p:tavLst>
                                    </p:anim>
                                    <p:anim calcmode="lin" valueType="num">
                                      <p:cBhvr additive="base">
                                        <p:cTn id="8" dur="1000"/>
                                        <p:tgtEl>
                                          <p:spTgt spid="32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31"/>
                                        </p:tgtEl>
                                        <p:attrNameLst>
                                          <p:attrName>style.visibility</p:attrName>
                                        </p:attrNameLst>
                                      </p:cBhvr>
                                      <p:to>
                                        <p:strVal val="visible"/>
                                      </p:to>
                                    </p:set>
                                    <p:anim calcmode="lin" valueType="num">
                                      <p:cBhvr additive="base">
                                        <p:cTn id="13" dur="500"/>
                                        <p:tgtEl>
                                          <p:spTgt spid="331"/>
                                        </p:tgtEl>
                                        <p:attrNameLst>
                                          <p:attrName>ppt_w</p:attrName>
                                        </p:attrNameLst>
                                      </p:cBhvr>
                                      <p:tavLst>
                                        <p:tav tm="0">
                                          <p:val>
                                            <p:strVal val="0"/>
                                          </p:val>
                                        </p:tav>
                                        <p:tav tm="100000">
                                          <p:val>
                                            <p:strVal val="#ppt_w"/>
                                          </p:val>
                                        </p:tav>
                                      </p:tavLst>
                                    </p:anim>
                                    <p:anim calcmode="lin" valueType="num">
                                      <p:cBhvr additive="base">
                                        <p:cTn id="14" dur="500"/>
                                        <p:tgtEl>
                                          <p:spTgt spid="331"/>
                                        </p:tgtEl>
                                        <p:attrNameLst>
                                          <p:attrName>ppt_h</p:attrName>
                                        </p:attrNameLst>
                                      </p:cBhvr>
                                      <p:tavLst>
                                        <p:tav tm="0">
                                          <p:val>
                                            <p:strVal val="0"/>
                                          </p:val>
                                        </p:tav>
                                        <p:tav tm="100000">
                                          <p:val>
                                            <p:strVal val="#ppt_h"/>
                                          </p:val>
                                        </p:tav>
                                      </p:tavLst>
                                    </p:anim>
                                  </p:childTnLst>
                                </p:cTn>
                              </p:par>
                            </p:childTnLst>
                          </p:cTn>
                        </p:par>
                        <p:par>
                          <p:cTn id="15" fill="hold">
                            <p:stCondLst>
                              <p:cond delay="500"/>
                            </p:stCondLst>
                            <p:childTnLst>
                              <p:par>
                                <p:cTn id="16" presetID="10" presetClass="entr" presetSubtype="0" fill="hold" nodeType="afterEffect">
                                  <p:stCondLst>
                                    <p:cond delay="0"/>
                                  </p:stCondLst>
                                  <p:childTnLst>
                                    <p:set>
                                      <p:cBhvr>
                                        <p:cTn id="17" dur="1" fill="hold">
                                          <p:stCondLst>
                                            <p:cond delay="0"/>
                                          </p:stCondLst>
                                        </p:cTn>
                                        <p:tgtEl>
                                          <p:spTgt spid="331"/>
                                        </p:tgtEl>
                                        <p:attrNameLst>
                                          <p:attrName>style.visibility</p:attrName>
                                        </p:attrNameLst>
                                      </p:cBhvr>
                                      <p:to>
                                        <p:strVal val="visible"/>
                                      </p:to>
                                    </p:set>
                                    <p:animEffect transition="in" filter="fade">
                                      <p:cBhvr>
                                        <p:cTn id="18" dur="80"/>
                                        <p:tgtEl>
                                          <p:spTgt spid="331"/>
                                        </p:tgtEl>
                                      </p:cBhvr>
                                    </p:animEffect>
                                  </p:childTnLst>
                                </p:cTn>
                              </p:par>
                            </p:childTnLst>
                          </p:cTn>
                        </p:par>
                        <p:par>
                          <p:cTn id="19" fill="hold">
                            <p:stCondLst>
                              <p:cond delay="580"/>
                            </p:stCondLst>
                            <p:childTnLst>
                              <p:par>
                                <p:cTn id="20" presetID="10" presetClass="entr" presetSubtype="0" fill="hold" nodeType="afterEffect">
                                  <p:stCondLst>
                                    <p:cond delay="0"/>
                                  </p:stCondLst>
                                  <p:childTnLst>
                                    <p:set>
                                      <p:cBhvr>
                                        <p:cTn id="21" dur="1" fill="hold">
                                          <p:stCondLst>
                                            <p:cond delay="0"/>
                                          </p:stCondLst>
                                        </p:cTn>
                                        <p:tgtEl>
                                          <p:spTgt spid="330"/>
                                        </p:tgtEl>
                                        <p:attrNameLst>
                                          <p:attrName>style.visibility</p:attrName>
                                        </p:attrNameLst>
                                      </p:cBhvr>
                                      <p:to>
                                        <p:strVal val="visible"/>
                                      </p:to>
                                    </p:set>
                                    <p:animEffect transition="in" filter="fade">
                                      <p:cBhvr>
                                        <p:cTn id="22" dur="500"/>
                                        <p:tgtEl>
                                          <p:spTgt spid="330"/>
                                        </p:tgtEl>
                                      </p:cBhvr>
                                    </p:animEffect>
                                  </p:childTnLst>
                                </p:cTn>
                              </p:par>
                            </p:childTnLst>
                          </p:cTn>
                        </p:par>
                        <p:par>
                          <p:cTn id="23" fill="hold">
                            <p:stCondLst>
                              <p:cond delay="1080"/>
                            </p:stCondLst>
                            <p:childTnLst>
                              <p:par>
                                <p:cTn id="24" presetID="10" presetClass="entr" presetSubtype="0" fill="hold" nodeType="afterEffect">
                                  <p:stCondLst>
                                    <p:cond delay="0"/>
                                  </p:stCondLst>
                                  <p:childTnLst>
                                    <p:set>
                                      <p:cBhvr>
                                        <p:cTn id="25" dur="1" fill="hold">
                                          <p:stCondLst>
                                            <p:cond delay="0"/>
                                          </p:stCondLst>
                                        </p:cTn>
                                        <p:tgtEl>
                                          <p:spTgt spid="330">
                                            <p:txEl>
                                              <p:pRg st="0" end="0"/>
                                            </p:txEl>
                                          </p:spTgt>
                                        </p:tgtEl>
                                        <p:attrNameLst>
                                          <p:attrName>style.visibility</p:attrName>
                                        </p:attrNameLst>
                                      </p:cBhvr>
                                      <p:to>
                                        <p:strVal val="visible"/>
                                      </p:to>
                                    </p:set>
                                    <p:animEffect transition="in" filter="fade">
                                      <p:cBhvr>
                                        <p:cTn id="26" dur="500"/>
                                        <p:tgtEl>
                                          <p:spTgt spid="3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2"/>
          <p:cNvSpPr/>
          <p:nvPr/>
        </p:nvSpPr>
        <p:spPr>
          <a:xfrm>
            <a:off x="2209800" y="1143000"/>
            <a:ext cx="4648200" cy="685800"/>
          </a:xfrm>
          <a:prstGeom prst="flowChartTerminator">
            <a:avLst/>
          </a:prstGeom>
          <a:solidFill>
            <a:srgbClr val="00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Font typeface="Calibri"/>
              <a:buNone/>
            </a:pPr>
            <a:r>
              <a:rPr lang="en-US" sz="2400" b="1" i="0" u="none">
                <a:solidFill>
                  <a:schemeClr val="lt1"/>
                </a:solidFill>
                <a:latin typeface="Calibri"/>
                <a:ea typeface="Calibri"/>
                <a:cs typeface="Calibri"/>
                <a:sym typeface="Calibri"/>
              </a:rPr>
              <a:t>Thread Class Declaration</a:t>
            </a:r>
            <a:endParaRPr/>
          </a:p>
        </p:txBody>
      </p:sp>
      <p:sp>
        <p:nvSpPr>
          <p:cNvPr id="338" name="Google Shape;338;p32"/>
          <p:cNvSpPr>
            <a:spLocks noGrp="1"/>
          </p:cNvSpPr>
          <p:nvPr>
            <p:ph type="body" idx="1"/>
          </p:nvPr>
        </p:nvSpPr>
        <p:spPr>
          <a:xfrm>
            <a:off x="533400" y="2133600"/>
            <a:ext cx="7775575" cy="4038600"/>
          </a:xfrm>
          <a:prstGeom prst="verticalScroll">
            <a:avLst>
              <a:gd name="adj" fmla="val 2700"/>
            </a:avLst>
          </a:prstGeom>
          <a:noFill/>
          <a:ln w="38100" cap="flat" cmpd="sng">
            <a:solidFill>
              <a:schemeClr val="hlink"/>
            </a:solidFill>
            <a:prstDash val="solid"/>
            <a:round/>
            <a:headEnd type="none" w="sm" len="sm"/>
            <a:tailEnd type="none" w="sm" len="sm"/>
          </a:ln>
        </p:spPr>
        <p:txBody>
          <a:bodyPr spcFirstLastPara="1" wrap="square" lIns="91425" tIns="45700" rIns="91425" bIns="45700" anchor="t" anchorCtr="0">
            <a:noAutofit/>
          </a:bodyPr>
          <a:lstStyle/>
          <a:p>
            <a:pPr marL="742950" marR="0" lvl="1" indent="-285750" algn="l" rtl="0">
              <a:lnSpc>
                <a:spcPct val="100000"/>
              </a:lnSpc>
              <a:spcBef>
                <a:spcPts val="0"/>
              </a:spcBef>
              <a:spcAft>
                <a:spcPts val="0"/>
              </a:spcAft>
              <a:buClr>
                <a:srgbClr val="000066"/>
              </a:buClr>
              <a:buFont typeface="Arial"/>
              <a:buNone/>
            </a:pPr>
            <a:r>
              <a:rPr lang="en-US" sz="1800" b="1" i="0" u="none" strike="noStrike" cap="none">
                <a:solidFill>
                  <a:srgbClr val="000066"/>
                </a:solidFill>
                <a:latin typeface="Calibri"/>
                <a:ea typeface="Calibri"/>
                <a:cs typeface="Calibri"/>
                <a:sym typeface="Calibri"/>
              </a:rPr>
              <a:t>public class Thread extends Object </a:t>
            </a:r>
            <a:endParaRPr/>
          </a:p>
          <a:p>
            <a:pPr marL="742950" marR="0" lvl="1" indent="-285750" algn="l" rtl="0">
              <a:lnSpc>
                <a:spcPct val="100000"/>
              </a:lnSpc>
              <a:spcBef>
                <a:spcPts val="0"/>
              </a:spcBef>
              <a:spcAft>
                <a:spcPts val="0"/>
              </a:spcAft>
              <a:buClr>
                <a:srgbClr val="000066"/>
              </a:buClr>
              <a:buFont typeface="Arial"/>
              <a:buNone/>
            </a:pPr>
            <a:r>
              <a:rPr lang="en-US" sz="1800" b="1" i="0" u="none" strike="noStrike" cap="none">
                <a:solidFill>
                  <a:srgbClr val="000066"/>
                </a:solidFill>
                <a:latin typeface="Calibri"/>
                <a:ea typeface="Calibri"/>
                <a:cs typeface="Calibri"/>
                <a:sym typeface="Calibri"/>
              </a:rPr>
              <a:t>				        implements Runnable </a:t>
            </a:r>
            <a:r>
              <a:rPr lang="en-US" sz="1800" b="0" i="0" u="none" strike="noStrike" cap="none">
                <a:solidFill>
                  <a:srgbClr val="000066"/>
                </a:solidFill>
                <a:latin typeface="Calibri"/>
                <a:ea typeface="Calibri"/>
                <a:cs typeface="Calibri"/>
                <a:sym typeface="Calibri"/>
              </a:rPr>
              <a:t>{</a:t>
            </a:r>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    public Thread();</a:t>
            </a:r>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    public Thread(String name);   // Thread name</a:t>
            </a:r>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    public Thread(Runnable r);    // Thread ⇒ r.run() </a:t>
            </a:r>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    public Thread(Runnable r, String name);</a:t>
            </a:r>
            <a:endParaRPr/>
          </a:p>
          <a:p>
            <a:pPr marL="742950" marR="0" lvl="1" indent="-285750" algn="l" rtl="0">
              <a:lnSpc>
                <a:spcPct val="100000"/>
              </a:lnSpc>
              <a:spcBef>
                <a:spcPts val="0"/>
              </a:spcBef>
              <a:spcAft>
                <a:spcPts val="0"/>
              </a:spcAft>
              <a:buClr>
                <a:schemeClr val="dk1"/>
              </a:buClr>
              <a:buFont typeface="Arial"/>
              <a:buNone/>
            </a:pPr>
            <a:endParaRPr sz="1800" b="0" i="0" u="none" strike="noStrike" cap="none">
              <a:solidFill>
                <a:srgbClr val="000066"/>
              </a:solidFill>
              <a:latin typeface="Calibri"/>
              <a:ea typeface="Calibri"/>
              <a:cs typeface="Calibri"/>
              <a:sym typeface="Calibri"/>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    public void run();	</a:t>
            </a:r>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    public void start();	// begin thread execution</a:t>
            </a:r>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    ...</a:t>
            </a:r>
            <a:endParaRPr/>
          </a:p>
          <a:p>
            <a:pPr marL="742950" marR="0" lvl="1" indent="-285750" algn="l" rtl="0">
              <a:lnSpc>
                <a:spcPct val="100000"/>
              </a:lnSpc>
              <a:spcBef>
                <a:spcPts val="0"/>
              </a:spcBef>
              <a:spcAft>
                <a:spcPts val="0"/>
              </a:spcAft>
              <a:buClr>
                <a:srgbClr val="000066"/>
              </a:buClr>
              <a:buFont typeface="Arial"/>
              <a:buNone/>
            </a:pPr>
            <a:r>
              <a:rPr lang="en-US" sz="1800" b="0" i="0" u="none" strike="noStrike" cap="none">
                <a:solidFill>
                  <a:srgbClr val="000066"/>
                </a:solidFill>
                <a:latin typeface="Calibri"/>
                <a:ea typeface="Calibri"/>
                <a:cs typeface="Calibri"/>
                <a:sym typeface="Calibri"/>
              </a:rPr>
              <a:t>}</a:t>
            </a:r>
            <a:endParaRPr/>
          </a:p>
        </p:txBody>
      </p:sp>
      <p:sp>
        <p:nvSpPr>
          <p:cNvPr id="339" name="Google Shape;339;p32"/>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Using Threads in Java (Contd.)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37"/>
                                        </p:tgtEl>
                                        <p:attrNameLst>
                                          <p:attrName>style.visibility</p:attrName>
                                        </p:attrNameLst>
                                      </p:cBhvr>
                                      <p:to>
                                        <p:strVal val="visible"/>
                                      </p:to>
                                    </p:set>
                                    <p:anim calcmode="lin" valueType="num">
                                      <p:cBhvr additive="base">
                                        <p:cTn id="7" dur="500"/>
                                        <p:tgtEl>
                                          <p:spTgt spid="337"/>
                                        </p:tgtEl>
                                        <p:attrNameLst>
                                          <p:attrName>ppt_w</p:attrName>
                                        </p:attrNameLst>
                                      </p:cBhvr>
                                      <p:tavLst>
                                        <p:tav tm="0">
                                          <p:val>
                                            <p:strVal val="0"/>
                                          </p:val>
                                        </p:tav>
                                        <p:tav tm="100000">
                                          <p:val>
                                            <p:strVal val="#ppt_w"/>
                                          </p:val>
                                        </p:tav>
                                      </p:tavLst>
                                    </p:anim>
                                    <p:anim calcmode="lin" valueType="num">
                                      <p:cBhvr additive="base">
                                        <p:cTn id="8" dur="500"/>
                                        <p:tgtEl>
                                          <p:spTgt spid="337"/>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337"/>
                                        </p:tgtEl>
                                        <p:attrNameLst>
                                          <p:attrName>style.visibility</p:attrName>
                                        </p:attrNameLst>
                                      </p:cBhvr>
                                      <p:to>
                                        <p:strVal val="visible"/>
                                      </p:to>
                                    </p:set>
                                    <p:animEffect transition="in" filter="fade">
                                      <p:cBhvr>
                                        <p:cTn id="12" dur="80"/>
                                        <p:tgtEl>
                                          <p:spTgt spid="3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8"/>
                                        </p:tgtEl>
                                        <p:attrNameLst>
                                          <p:attrName>style.visibility</p:attrName>
                                        </p:attrNameLst>
                                      </p:cBhvr>
                                      <p:to>
                                        <p:strVal val="visible"/>
                                      </p:to>
                                    </p:set>
                                    <p:animEffect transition="in" filter="fade">
                                      <p:cBhvr>
                                        <p:cTn id="17" dur="80"/>
                                        <p:tgtEl>
                                          <p:spTgt spid="338"/>
                                        </p:tgtEl>
                                      </p:cBhvr>
                                    </p:animEffect>
                                  </p:childTnLst>
                                </p:cTn>
                              </p:par>
                            </p:childTnLst>
                          </p:cTn>
                        </p:par>
                        <p:par>
                          <p:cTn id="18" fill="hold">
                            <p:stCondLst>
                              <p:cond delay="80"/>
                            </p:stCondLst>
                            <p:childTnLst>
                              <p:par>
                                <p:cTn id="19" presetID="10" presetClass="entr" presetSubtype="0" fill="hold" nodeType="afterEffect">
                                  <p:stCondLst>
                                    <p:cond delay="0"/>
                                  </p:stCondLst>
                                  <p:childTnLst>
                                    <p:set>
                                      <p:cBhvr>
                                        <p:cTn id="20" dur="1" fill="hold">
                                          <p:stCondLst>
                                            <p:cond delay="0"/>
                                          </p:stCondLst>
                                        </p:cTn>
                                        <p:tgtEl>
                                          <p:spTgt spid="338">
                                            <p:txEl>
                                              <p:pRg st="0" end="0"/>
                                            </p:txEl>
                                          </p:spTgt>
                                        </p:tgtEl>
                                        <p:attrNameLst>
                                          <p:attrName>style.visibility</p:attrName>
                                        </p:attrNameLst>
                                      </p:cBhvr>
                                      <p:to>
                                        <p:strVal val="visible"/>
                                      </p:to>
                                    </p:set>
                                    <p:animEffect transition="in" filter="fade">
                                      <p:cBhvr>
                                        <p:cTn id="21" dur="80"/>
                                        <p:tgtEl>
                                          <p:spTgt spid="338">
                                            <p:txEl>
                                              <p:pRg st="0" end="0"/>
                                            </p:txEl>
                                          </p:spTgt>
                                        </p:tgtEl>
                                      </p:cBhvr>
                                    </p:animEffect>
                                  </p:childTnLst>
                                </p:cTn>
                              </p:par>
                            </p:childTnLst>
                          </p:cTn>
                        </p:par>
                        <p:par>
                          <p:cTn id="22" fill="hold">
                            <p:stCondLst>
                              <p:cond delay="160"/>
                            </p:stCondLst>
                            <p:childTnLst>
                              <p:par>
                                <p:cTn id="23" presetID="10" presetClass="entr" presetSubtype="0" fill="hold" nodeType="afterEffect">
                                  <p:stCondLst>
                                    <p:cond delay="0"/>
                                  </p:stCondLst>
                                  <p:childTnLst>
                                    <p:set>
                                      <p:cBhvr>
                                        <p:cTn id="24" dur="1" fill="hold">
                                          <p:stCondLst>
                                            <p:cond delay="0"/>
                                          </p:stCondLst>
                                        </p:cTn>
                                        <p:tgtEl>
                                          <p:spTgt spid="338">
                                            <p:txEl>
                                              <p:pRg st="1" end="1"/>
                                            </p:txEl>
                                          </p:spTgt>
                                        </p:tgtEl>
                                        <p:attrNameLst>
                                          <p:attrName>style.visibility</p:attrName>
                                        </p:attrNameLst>
                                      </p:cBhvr>
                                      <p:to>
                                        <p:strVal val="visible"/>
                                      </p:to>
                                    </p:set>
                                    <p:animEffect transition="in" filter="fade">
                                      <p:cBhvr>
                                        <p:cTn id="25" dur="80"/>
                                        <p:tgtEl>
                                          <p:spTgt spid="338">
                                            <p:txEl>
                                              <p:pRg st="1" end="1"/>
                                            </p:txEl>
                                          </p:spTgt>
                                        </p:tgtEl>
                                      </p:cBhvr>
                                    </p:animEffect>
                                  </p:childTnLst>
                                </p:cTn>
                              </p:par>
                            </p:childTnLst>
                          </p:cTn>
                        </p:par>
                        <p:par>
                          <p:cTn id="26" fill="hold">
                            <p:stCondLst>
                              <p:cond delay="240"/>
                            </p:stCondLst>
                            <p:childTnLst>
                              <p:par>
                                <p:cTn id="27" presetID="10" presetClass="entr" presetSubtype="0" fill="hold" nodeType="afterEffect">
                                  <p:stCondLst>
                                    <p:cond delay="0"/>
                                  </p:stCondLst>
                                  <p:childTnLst>
                                    <p:set>
                                      <p:cBhvr>
                                        <p:cTn id="28" dur="1" fill="hold">
                                          <p:stCondLst>
                                            <p:cond delay="0"/>
                                          </p:stCondLst>
                                        </p:cTn>
                                        <p:tgtEl>
                                          <p:spTgt spid="338">
                                            <p:txEl>
                                              <p:pRg st="2" end="2"/>
                                            </p:txEl>
                                          </p:spTgt>
                                        </p:tgtEl>
                                        <p:attrNameLst>
                                          <p:attrName>style.visibility</p:attrName>
                                        </p:attrNameLst>
                                      </p:cBhvr>
                                      <p:to>
                                        <p:strVal val="visible"/>
                                      </p:to>
                                    </p:set>
                                    <p:animEffect transition="in" filter="fade">
                                      <p:cBhvr>
                                        <p:cTn id="29" dur="80"/>
                                        <p:tgtEl>
                                          <p:spTgt spid="338">
                                            <p:txEl>
                                              <p:pRg st="2" end="2"/>
                                            </p:txEl>
                                          </p:spTgt>
                                        </p:tgtEl>
                                      </p:cBhvr>
                                    </p:animEffect>
                                  </p:childTnLst>
                                </p:cTn>
                              </p:par>
                            </p:childTnLst>
                          </p:cTn>
                        </p:par>
                        <p:par>
                          <p:cTn id="30" fill="hold">
                            <p:stCondLst>
                              <p:cond delay="320"/>
                            </p:stCondLst>
                            <p:childTnLst>
                              <p:par>
                                <p:cTn id="31" presetID="10" presetClass="entr" presetSubtype="0" fill="hold" nodeType="afterEffect">
                                  <p:stCondLst>
                                    <p:cond delay="0"/>
                                  </p:stCondLst>
                                  <p:childTnLst>
                                    <p:set>
                                      <p:cBhvr>
                                        <p:cTn id="32" dur="1" fill="hold">
                                          <p:stCondLst>
                                            <p:cond delay="0"/>
                                          </p:stCondLst>
                                        </p:cTn>
                                        <p:tgtEl>
                                          <p:spTgt spid="338">
                                            <p:txEl>
                                              <p:pRg st="3" end="3"/>
                                            </p:txEl>
                                          </p:spTgt>
                                        </p:tgtEl>
                                        <p:attrNameLst>
                                          <p:attrName>style.visibility</p:attrName>
                                        </p:attrNameLst>
                                      </p:cBhvr>
                                      <p:to>
                                        <p:strVal val="visible"/>
                                      </p:to>
                                    </p:set>
                                    <p:animEffect transition="in" filter="fade">
                                      <p:cBhvr>
                                        <p:cTn id="33" dur="80"/>
                                        <p:tgtEl>
                                          <p:spTgt spid="338">
                                            <p:txEl>
                                              <p:pRg st="3" end="3"/>
                                            </p:txEl>
                                          </p:spTgt>
                                        </p:tgtEl>
                                      </p:cBhvr>
                                    </p:animEffect>
                                  </p:childTnLst>
                                </p:cTn>
                              </p:par>
                            </p:childTnLst>
                          </p:cTn>
                        </p:par>
                        <p:par>
                          <p:cTn id="34" fill="hold">
                            <p:stCondLst>
                              <p:cond delay="400"/>
                            </p:stCondLst>
                            <p:childTnLst>
                              <p:par>
                                <p:cTn id="35" presetID="10" presetClass="entr" presetSubtype="0" fill="hold" nodeType="afterEffect">
                                  <p:stCondLst>
                                    <p:cond delay="0"/>
                                  </p:stCondLst>
                                  <p:childTnLst>
                                    <p:set>
                                      <p:cBhvr>
                                        <p:cTn id="36" dur="1" fill="hold">
                                          <p:stCondLst>
                                            <p:cond delay="0"/>
                                          </p:stCondLst>
                                        </p:cTn>
                                        <p:tgtEl>
                                          <p:spTgt spid="338">
                                            <p:txEl>
                                              <p:pRg st="4" end="4"/>
                                            </p:txEl>
                                          </p:spTgt>
                                        </p:tgtEl>
                                        <p:attrNameLst>
                                          <p:attrName>style.visibility</p:attrName>
                                        </p:attrNameLst>
                                      </p:cBhvr>
                                      <p:to>
                                        <p:strVal val="visible"/>
                                      </p:to>
                                    </p:set>
                                    <p:animEffect transition="in" filter="fade">
                                      <p:cBhvr>
                                        <p:cTn id="37" dur="80"/>
                                        <p:tgtEl>
                                          <p:spTgt spid="338">
                                            <p:txEl>
                                              <p:pRg st="4" end="4"/>
                                            </p:txEl>
                                          </p:spTgt>
                                        </p:tgtEl>
                                      </p:cBhvr>
                                    </p:animEffect>
                                  </p:childTnLst>
                                </p:cTn>
                              </p:par>
                            </p:childTnLst>
                          </p:cTn>
                        </p:par>
                        <p:par>
                          <p:cTn id="38" fill="hold">
                            <p:stCondLst>
                              <p:cond delay="480"/>
                            </p:stCondLst>
                            <p:childTnLst>
                              <p:par>
                                <p:cTn id="39" presetID="10" presetClass="entr" presetSubtype="0" fill="hold" nodeType="afterEffect">
                                  <p:stCondLst>
                                    <p:cond delay="0"/>
                                  </p:stCondLst>
                                  <p:childTnLst>
                                    <p:set>
                                      <p:cBhvr>
                                        <p:cTn id="40" dur="1" fill="hold">
                                          <p:stCondLst>
                                            <p:cond delay="0"/>
                                          </p:stCondLst>
                                        </p:cTn>
                                        <p:tgtEl>
                                          <p:spTgt spid="338">
                                            <p:txEl>
                                              <p:pRg st="5" end="5"/>
                                            </p:txEl>
                                          </p:spTgt>
                                        </p:tgtEl>
                                        <p:attrNameLst>
                                          <p:attrName>style.visibility</p:attrName>
                                        </p:attrNameLst>
                                      </p:cBhvr>
                                      <p:to>
                                        <p:strVal val="visible"/>
                                      </p:to>
                                    </p:set>
                                    <p:animEffect transition="in" filter="fade">
                                      <p:cBhvr>
                                        <p:cTn id="41" dur="80"/>
                                        <p:tgtEl>
                                          <p:spTgt spid="338">
                                            <p:txEl>
                                              <p:pRg st="5" end="5"/>
                                            </p:txEl>
                                          </p:spTgt>
                                        </p:tgtEl>
                                      </p:cBhvr>
                                    </p:animEffect>
                                  </p:childTnLst>
                                </p:cTn>
                              </p:par>
                            </p:childTnLst>
                          </p:cTn>
                        </p:par>
                        <p:par>
                          <p:cTn id="42" fill="hold">
                            <p:stCondLst>
                              <p:cond delay="560"/>
                            </p:stCondLst>
                            <p:childTnLst>
                              <p:par>
                                <p:cTn id="43" presetID="10" presetClass="entr" presetSubtype="0" fill="hold" nodeType="afterEffect">
                                  <p:stCondLst>
                                    <p:cond delay="0"/>
                                  </p:stCondLst>
                                  <p:childTnLst>
                                    <p:set>
                                      <p:cBhvr>
                                        <p:cTn id="44" dur="1" fill="hold">
                                          <p:stCondLst>
                                            <p:cond delay="0"/>
                                          </p:stCondLst>
                                        </p:cTn>
                                        <p:tgtEl>
                                          <p:spTgt spid="338">
                                            <p:txEl>
                                              <p:pRg st="6" end="6"/>
                                            </p:txEl>
                                          </p:spTgt>
                                        </p:tgtEl>
                                        <p:attrNameLst>
                                          <p:attrName>style.visibility</p:attrName>
                                        </p:attrNameLst>
                                      </p:cBhvr>
                                      <p:to>
                                        <p:strVal val="visible"/>
                                      </p:to>
                                    </p:set>
                                    <p:animEffect transition="in" filter="fade">
                                      <p:cBhvr>
                                        <p:cTn id="45" dur="80"/>
                                        <p:tgtEl>
                                          <p:spTgt spid="338">
                                            <p:txEl>
                                              <p:pRg st="6" end="6"/>
                                            </p:txEl>
                                          </p:spTgt>
                                        </p:tgtEl>
                                      </p:cBhvr>
                                    </p:animEffect>
                                  </p:childTnLst>
                                </p:cTn>
                              </p:par>
                            </p:childTnLst>
                          </p:cTn>
                        </p:par>
                        <p:par>
                          <p:cTn id="46" fill="hold">
                            <p:stCondLst>
                              <p:cond delay="640"/>
                            </p:stCondLst>
                            <p:childTnLst>
                              <p:par>
                                <p:cTn id="47" presetID="10" presetClass="entr" presetSubtype="0" fill="hold" nodeType="afterEffect">
                                  <p:stCondLst>
                                    <p:cond delay="0"/>
                                  </p:stCondLst>
                                  <p:childTnLst>
                                    <p:set>
                                      <p:cBhvr>
                                        <p:cTn id="48" dur="1" fill="hold">
                                          <p:stCondLst>
                                            <p:cond delay="0"/>
                                          </p:stCondLst>
                                        </p:cTn>
                                        <p:tgtEl>
                                          <p:spTgt spid="338">
                                            <p:txEl>
                                              <p:pRg st="7" end="7"/>
                                            </p:txEl>
                                          </p:spTgt>
                                        </p:tgtEl>
                                        <p:attrNameLst>
                                          <p:attrName>style.visibility</p:attrName>
                                        </p:attrNameLst>
                                      </p:cBhvr>
                                      <p:to>
                                        <p:strVal val="visible"/>
                                      </p:to>
                                    </p:set>
                                    <p:animEffect transition="in" filter="fade">
                                      <p:cBhvr>
                                        <p:cTn id="49" dur="80"/>
                                        <p:tgtEl>
                                          <p:spTgt spid="338">
                                            <p:txEl>
                                              <p:pRg st="7" end="7"/>
                                            </p:txEl>
                                          </p:spTgt>
                                        </p:tgtEl>
                                      </p:cBhvr>
                                    </p:animEffect>
                                  </p:childTnLst>
                                </p:cTn>
                              </p:par>
                            </p:childTnLst>
                          </p:cTn>
                        </p:par>
                        <p:par>
                          <p:cTn id="50" fill="hold">
                            <p:stCondLst>
                              <p:cond delay="720"/>
                            </p:stCondLst>
                            <p:childTnLst>
                              <p:par>
                                <p:cTn id="51" presetID="10" presetClass="entr" presetSubtype="0" fill="hold" nodeType="afterEffect">
                                  <p:stCondLst>
                                    <p:cond delay="0"/>
                                  </p:stCondLst>
                                  <p:childTnLst>
                                    <p:set>
                                      <p:cBhvr>
                                        <p:cTn id="52" dur="1" fill="hold">
                                          <p:stCondLst>
                                            <p:cond delay="0"/>
                                          </p:stCondLst>
                                        </p:cTn>
                                        <p:tgtEl>
                                          <p:spTgt spid="338">
                                            <p:txEl>
                                              <p:pRg st="8" end="8"/>
                                            </p:txEl>
                                          </p:spTgt>
                                        </p:tgtEl>
                                        <p:attrNameLst>
                                          <p:attrName>style.visibility</p:attrName>
                                        </p:attrNameLst>
                                      </p:cBhvr>
                                      <p:to>
                                        <p:strVal val="visible"/>
                                      </p:to>
                                    </p:set>
                                    <p:animEffect transition="in" filter="fade">
                                      <p:cBhvr>
                                        <p:cTn id="53" dur="80"/>
                                        <p:tgtEl>
                                          <p:spTgt spid="338">
                                            <p:txEl>
                                              <p:pRg st="8" end="8"/>
                                            </p:txEl>
                                          </p:spTgt>
                                        </p:tgtEl>
                                      </p:cBhvr>
                                    </p:animEffect>
                                  </p:childTnLst>
                                </p:cTn>
                              </p:par>
                            </p:childTnLst>
                          </p:cTn>
                        </p:par>
                        <p:par>
                          <p:cTn id="54" fill="hold">
                            <p:stCondLst>
                              <p:cond delay="800"/>
                            </p:stCondLst>
                            <p:childTnLst>
                              <p:par>
                                <p:cTn id="55" presetID="10" presetClass="entr" presetSubtype="0" fill="hold" nodeType="afterEffect">
                                  <p:stCondLst>
                                    <p:cond delay="0"/>
                                  </p:stCondLst>
                                  <p:childTnLst>
                                    <p:set>
                                      <p:cBhvr>
                                        <p:cTn id="56" dur="1" fill="hold">
                                          <p:stCondLst>
                                            <p:cond delay="0"/>
                                          </p:stCondLst>
                                        </p:cTn>
                                        <p:tgtEl>
                                          <p:spTgt spid="338">
                                            <p:txEl>
                                              <p:pRg st="9" end="9"/>
                                            </p:txEl>
                                          </p:spTgt>
                                        </p:tgtEl>
                                        <p:attrNameLst>
                                          <p:attrName>style.visibility</p:attrName>
                                        </p:attrNameLst>
                                      </p:cBhvr>
                                      <p:to>
                                        <p:strVal val="visible"/>
                                      </p:to>
                                    </p:set>
                                    <p:animEffect transition="in" filter="fade">
                                      <p:cBhvr>
                                        <p:cTn id="57" dur="80"/>
                                        <p:tgtEl>
                                          <p:spTgt spid="338">
                                            <p:txEl>
                                              <p:pRg st="9" end="9"/>
                                            </p:txEl>
                                          </p:spTgt>
                                        </p:tgtEl>
                                      </p:cBhvr>
                                    </p:animEffect>
                                  </p:childTnLst>
                                </p:cTn>
                              </p:par>
                            </p:childTnLst>
                          </p:cTn>
                        </p:par>
                        <p:par>
                          <p:cTn id="58" fill="hold">
                            <p:stCondLst>
                              <p:cond delay="880"/>
                            </p:stCondLst>
                            <p:childTnLst>
                              <p:par>
                                <p:cTn id="59" presetID="10" presetClass="entr" presetSubtype="0" fill="hold" nodeType="afterEffect">
                                  <p:stCondLst>
                                    <p:cond delay="0"/>
                                  </p:stCondLst>
                                  <p:childTnLst>
                                    <p:set>
                                      <p:cBhvr>
                                        <p:cTn id="60" dur="1" fill="hold">
                                          <p:stCondLst>
                                            <p:cond delay="0"/>
                                          </p:stCondLst>
                                        </p:cTn>
                                        <p:tgtEl>
                                          <p:spTgt spid="338">
                                            <p:txEl>
                                              <p:pRg st="10" end="10"/>
                                            </p:txEl>
                                          </p:spTgt>
                                        </p:tgtEl>
                                        <p:attrNameLst>
                                          <p:attrName>style.visibility</p:attrName>
                                        </p:attrNameLst>
                                      </p:cBhvr>
                                      <p:to>
                                        <p:strVal val="visible"/>
                                      </p:to>
                                    </p:set>
                                    <p:animEffect transition="in" filter="fade">
                                      <p:cBhvr>
                                        <p:cTn id="61" dur="80"/>
                                        <p:tgtEl>
                                          <p:spTgt spid="33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3"/>
          <p:cNvSpPr txBox="1"/>
          <p:nvPr/>
        </p:nvSpPr>
        <p:spPr>
          <a:xfrm>
            <a:off x="2062162" y="2676525"/>
            <a:ext cx="914400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47" name="Google Shape;347;p33"/>
          <p:cNvSpPr txBox="1"/>
          <p:nvPr/>
        </p:nvSpPr>
        <p:spPr>
          <a:xfrm>
            <a:off x="0" y="609600"/>
            <a:ext cx="9144000" cy="585787"/>
          </a:xfrm>
          <a:prstGeom prst="rect">
            <a:avLst/>
          </a:prstGeom>
          <a:solidFill>
            <a:srgbClr val="009999"/>
          </a:solidFill>
          <a:ln w="9525" cap="flat" cmpd="sng">
            <a:solidFill>
              <a:srgbClr val="000000"/>
            </a:solidFill>
            <a:prstDash val="solid"/>
            <a:miter lim="800000"/>
            <a:headEnd type="none" w="sm" len="sm"/>
            <a:tailEnd type="none" w="sm" len="sm"/>
          </a:ln>
        </p:spPr>
        <p:txBody>
          <a:bodyPr spcFirstLastPara="1" wrap="square" lIns="92075" tIns="46025" rIns="92075" bIns="46025" anchor="t" anchorCtr="0">
            <a:noAutofit/>
          </a:bodyPr>
          <a:lstStyle/>
          <a:p>
            <a:pPr marL="571500" marR="0" lvl="0" indent="-57150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Life Cycle of a Thread</a:t>
            </a:r>
            <a:endParaRPr/>
          </a:p>
        </p:txBody>
      </p:sp>
      <p:sp>
        <p:nvSpPr>
          <p:cNvPr id="348" name="Google Shape;348;p33"/>
          <p:cNvSpPr txBox="1"/>
          <p:nvPr/>
        </p:nvSpPr>
        <p:spPr>
          <a:xfrm>
            <a:off x="0" y="2057400"/>
            <a:ext cx="2590800" cy="381000"/>
          </a:xfrm>
          <a:prstGeom prst="rect">
            <a:avLst/>
          </a:prstGeom>
          <a:gradFill>
            <a:gsLst>
              <a:gs pos="0">
                <a:srgbClr val="D80057"/>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New</a:t>
            </a:r>
            <a:endParaRPr/>
          </a:p>
        </p:txBody>
      </p:sp>
      <p:sp>
        <p:nvSpPr>
          <p:cNvPr id="349" name="Google Shape;349;p33"/>
          <p:cNvSpPr txBox="1"/>
          <p:nvPr/>
        </p:nvSpPr>
        <p:spPr>
          <a:xfrm>
            <a:off x="0" y="3048000"/>
            <a:ext cx="2590800" cy="381000"/>
          </a:xfrm>
          <a:prstGeom prst="rect">
            <a:avLst/>
          </a:prstGeom>
          <a:gradFill>
            <a:gsLst>
              <a:gs pos="0">
                <a:srgbClr val="D80057"/>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Runnable</a:t>
            </a:r>
            <a:endParaRPr/>
          </a:p>
        </p:txBody>
      </p:sp>
      <p:sp>
        <p:nvSpPr>
          <p:cNvPr id="350" name="Google Shape;350;p33"/>
          <p:cNvSpPr txBox="1"/>
          <p:nvPr/>
        </p:nvSpPr>
        <p:spPr>
          <a:xfrm>
            <a:off x="0" y="4038600"/>
            <a:ext cx="2590800" cy="381000"/>
          </a:xfrm>
          <a:prstGeom prst="rect">
            <a:avLst/>
          </a:prstGeom>
          <a:gradFill>
            <a:gsLst>
              <a:gs pos="0">
                <a:srgbClr val="D80057"/>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Not Runnable</a:t>
            </a:r>
            <a:endParaRPr/>
          </a:p>
        </p:txBody>
      </p:sp>
      <p:sp>
        <p:nvSpPr>
          <p:cNvPr id="351" name="Google Shape;351;p33"/>
          <p:cNvSpPr txBox="1"/>
          <p:nvPr/>
        </p:nvSpPr>
        <p:spPr>
          <a:xfrm>
            <a:off x="0" y="5257800"/>
            <a:ext cx="2590800" cy="381000"/>
          </a:xfrm>
          <a:prstGeom prst="rect">
            <a:avLst/>
          </a:prstGeom>
          <a:gradFill>
            <a:gsLst>
              <a:gs pos="0">
                <a:srgbClr val="D80057"/>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Dead or Terminate</a:t>
            </a:r>
            <a:endParaRPr/>
          </a:p>
        </p:txBody>
      </p:sp>
      <p:sp>
        <p:nvSpPr>
          <p:cNvPr id="352" name="Google Shape;352;p33"/>
          <p:cNvSpPr txBox="1"/>
          <p:nvPr/>
        </p:nvSpPr>
        <p:spPr>
          <a:xfrm>
            <a:off x="2590800" y="3048000"/>
            <a:ext cx="6553200" cy="381000"/>
          </a:xfrm>
          <a:prstGeom prst="rect">
            <a:avLst/>
          </a:prstGeom>
          <a:gradFill>
            <a:gsLst>
              <a:gs pos="0">
                <a:srgbClr val="D80057">
                  <a:alpha val="74901"/>
                </a:srgbClr>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By calling the start() method that in turn call run() method.</a:t>
            </a:r>
            <a:endParaRPr/>
          </a:p>
        </p:txBody>
      </p:sp>
      <p:sp>
        <p:nvSpPr>
          <p:cNvPr id="353" name="Google Shape;353;p33"/>
          <p:cNvSpPr txBox="1"/>
          <p:nvPr/>
        </p:nvSpPr>
        <p:spPr>
          <a:xfrm>
            <a:off x="2590800" y="4038600"/>
            <a:ext cx="6553200" cy="381000"/>
          </a:xfrm>
          <a:prstGeom prst="rect">
            <a:avLst/>
          </a:prstGeom>
          <a:gradFill>
            <a:gsLst>
              <a:gs pos="0">
                <a:srgbClr val="D80057">
                  <a:alpha val="74901"/>
                </a:srgbClr>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Calling wait() or sleep() method or caused due to IO interrupts.</a:t>
            </a:r>
            <a:endParaRPr/>
          </a:p>
        </p:txBody>
      </p:sp>
      <p:sp>
        <p:nvSpPr>
          <p:cNvPr id="354" name="Google Shape;354;p33"/>
          <p:cNvSpPr txBox="1"/>
          <p:nvPr/>
        </p:nvSpPr>
        <p:spPr>
          <a:xfrm>
            <a:off x="2590800" y="5257800"/>
            <a:ext cx="6553200" cy="381000"/>
          </a:xfrm>
          <a:prstGeom prst="rect">
            <a:avLst/>
          </a:prstGeom>
          <a:gradFill>
            <a:gsLst>
              <a:gs pos="0">
                <a:srgbClr val="D80057">
                  <a:alpha val="74901"/>
                </a:srgbClr>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After the run() method completes execution.</a:t>
            </a:r>
            <a:endParaRPr/>
          </a:p>
        </p:txBody>
      </p:sp>
      <p:sp>
        <p:nvSpPr>
          <p:cNvPr id="355" name="Google Shape;355;p33"/>
          <p:cNvSpPr/>
          <p:nvPr/>
        </p:nvSpPr>
        <p:spPr>
          <a:xfrm>
            <a:off x="0" y="2514600"/>
            <a:ext cx="9144000" cy="381000"/>
          </a:xfrm>
          <a:prstGeom prst="flowChartDecision">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66"/>
              </a:buClr>
              <a:buFont typeface="Calibri"/>
              <a:buNone/>
            </a:pPr>
            <a:r>
              <a:rPr lang="en-US" sz="1800" b="0" i="0" u="none">
                <a:solidFill>
                  <a:srgbClr val="000066"/>
                </a:solidFill>
                <a:latin typeface="Calibri"/>
                <a:ea typeface="Calibri"/>
                <a:cs typeface="Calibri"/>
                <a:sym typeface="Calibri"/>
              </a:rPr>
              <a:t>Thread th=new Thread (this);</a:t>
            </a:r>
            <a:endParaRPr/>
          </a:p>
        </p:txBody>
      </p:sp>
      <p:sp>
        <p:nvSpPr>
          <p:cNvPr id="356" name="Google Shape;356;p33"/>
          <p:cNvSpPr/>
          <p:nvPr/>
        </p:nvSpPr>
        <p:spPr>
          <a:xfrm>
            <a:off x="0" y="3505200"/>
            <a:ext cx="9144000" cy="381000"/>
          </a:xfrm>
          <a:prstGeom prst="flowChartDecision">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66"/>
              </a:buClr>
              <a:buFont typeface="Calibri"/>
              <a:buNone/>
            </a:pPr>
            <a:r>
              <a:rPr lang="en-US" sz="1800" b="0" i="0" u="none">
                <a:solidFill>
                  <a:srgbClr val="000066"/>
                </a:solidFill>
                <a:latin typeface="Calibri"/>
                <a:ea typeface="Calibri"/>
                <a:cs typeface="Calibri"/>
                <a:sym typeface="Calibri"/>
              </a:rPr>
              <a:t>th.start();</a:t>
            </a:r>
            <a:endParaRPr/>
          </a:p>
        </p:txBody>
      </p:sp>
      <p:sp>
        <p:nvSpPr>
          <p:cNvPr id="357" name="Google Shape;357;p33"/>
          <p:cNvSpPr/>
          <p:nvPr/>
        </p:nvSpPr>
        <p:spPr>
          <a:xfrm>
            <a:off x="0" y="4495800"/>
            <a:ext cx="9144000" cy="609600"/>
          </a:xfrm>
          <a:prstGeom prst="flowChartDecision">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66"/>
              </a:buClr>
              <a:buFont typeface="Calibri"/>
              <a:buNone/>
            </a:pPr>
            <a:r>
              <a:rPr lang="en-US" sz="1800" b="0" i="0" u="none">
                <a:solidFill>
                  <a:srgbClr val="000066"/>
                </a:solidFill>
                <a:latin typeface="Calibri"/>
                <a:ea typeface="Calibri"/>
                <a:cs typeface="Calibri"/>
                <a:sym typeface="Calibri"/>
              </a:rPr>
              <a:t>th.wait();</a:t>
            </a:r>
            <a:endParaRPr/>
          </a:p>
          <a:p>
            <a:pPr marL="0" marR="0" lvl="0" indent="0" algn="l" rtl="0">
              <a:lnSpc>
                <a:spcPct val="100000"/>
              </a:lnSpc>
              <a:spcBef>
                <a:spcPts val="0"/>
              </a:spcBef>
              <a:spcAft>
                <a:spcPts val="0"/>
              </a:spcAft>
              <a:buClr>
                <a:srgbClr val="000066"/>
              </a:buClr>
              <a:buFont typeface="Calibri"/>
              <a:buNone/>
            </a:pPr>
            <a:r>
              <a:rPr lang="en-US" sz="1800" b="0" i="0" u="none">
                <a:solidFill>
                  <a:srgbClr val="000066"/>
                </a:solidFill>
                <a:latin typeface="Calibri"/>
                <a:ea typeface="Calibri"/>
                <a:cs typeface="Calibri"/>
                <a:sym typeface="Calibri"/>
              </a:rPr>
              <a:t>th.sleep(1000);</a:t>
            </a:r>
            <a:endParaRPr/>
          </a:p>
        </p:txBody>
      </p:sp>
      <p:sp>
        <p:nvSpPr>
          <p:cNvPr id="358" name="Google Shape;358;p33"/>
          <p:cNvSpPr/>
          <p:nvPr/>
        </p:nvSpPr>
        <p:spPr>
          <a:xfrm>
            <a:off x="0" y="5715000"/>
            <a:ext cx="9144000" cy="381000"/>
          </a:xfrm>
          <a:prstGeom prst="flowChartDecision">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66"/>
              </a:buClr>
              <a:buFont typeface="Calibri"/>
              <a:buNone/>
            </a:pPr>
            <a:r>
              <a:rPr lang="en-US" sz="1800" b="0" i="0" u="none">
                <a:solidFill>
                  <a:srgbClr val="000066"/>
                </a:solidFill>
                <a:latin typeface="Calibri"/>
                <a:ea typeface="Calibri"/>
                <a:cs typeface="Calibri"/>
                <a:sym typeface="Calibri"/>
              </a:rPr>
              <a:t>public void run { …… }</a:t>
            </a:r>
            <a:endParaRPr/>
          </a:p>
        </p:txBody>
      </p:sp>
      <p:sp>
        <p:nvSpPr>
          <p:cNvPr id="359" name="Google Shape;359;p33"/>
          <p:cNvSpPr txBox="1"/>
          <p:nvPr/>
        </p:nvSpPr>
        <p:spPr>
          <a:xfrm>
            <a:off x="5715000" y="1295400"/>
            <a:ext cx="3143250" cy="3667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Refers to current class object</a:t>
            </a:r>
            <a:endParaRPr/>
          </a:p>
        </p:txBody>
      </p:sp>
      <p:sp>
        <p:nvSpPr>
          <p:cNvPr id="360" name="Google Shape;360;p33"/>
          <p:cNvSpPr/>
          <p:nvPr/>
        </p:nvSpPr>
        <p:spPr>
          <a:xfrm>
            <a:off x="5562600" y="2667000"/>
            <a:ext cx="1214437" cy="733425"/>
          </a:xfrm>
          <a:prstGeom prst="curvedUpArrow">
            <a:avLst>
              <a:gd name="adj1" fmla="val 25000"/>
              <a:gd name="adj2" fmla="val 50000"/>
              <a:gd name="adj3" fmla="val 25000"/>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61" name="Google Shape;361;p33"/>
          <p:cNvGrpSpPr/>
          <p:nvPr/>
        </p:nvGrpSpPr>
        <p:grpSpPr>
          <a:xfrm>
            <a:off x="5114925" y="1530350"/>
            <a:ext cx="688361" cy="1095865"/>
            <a:chOff x="5114925" y="1530350"/>
            <a:chExt cx="688361" cy="1095865"/>
          </a:xfrm>
        </p:grpSpPr>
        <p:pic>
          <p:nvPicPr>
            <p:cNvPr id="362" name="Google Shape;362;p33"/>
            <p:cNvPicPr preferRelativeResize="0"/>
            <p:nvPr/>
          </p:nvPicPr>
          <p:blipFill rotWithShape="1">
            <a:blip r:embed="rId3">
              <a:alphaModFix/>
            </a:blip>
            <a:srcRect/>
            <a:stretch/>
          </p:blipFill>
          <p:spPr>
            <a:xfrm>
              <a:off x="5114925" y="1530350"/>
              <a:ext cx="688361" cy="1095865"/>
            </a:xfrm>
            <a:prstGeom prst="rect">
              <a:avLst/>
            </a:prstGeom>
            <a:noFill/>
            <a:ln>
              <a:noFill/>
            </a:ln>
          </p:spPr>
        </p:pic>
        <p:sp>
          <p:nvSpPr>
            <p:cNvPr id="363" name="Google Shape;363;p33"/>
            <p:cNvSpPr txBox="1"/>
            <p:nvPr/>
          </p:nvSpPr>
          <p:spPr>
            <a:xfrm rot="1620000">
              <a:off x="5345112" y="1604962"/>
              <a:ext cx="203200" cy="10302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64" name="Google Shape;364;p33"/>
          <p:cNvSpPr txBox="1"/>
          <p:nvPr/>
        </p:nvSpPr>
        <p:spPr>
          <a:xfrm>
            <a:off x="2590800" y="2057400"/>
            <a:ext cx="6553200" cy="381000"/>
          </a:xfrm>
          <a:prstGeom prst="rect">
            <a:avLst/>
          </a:prstGeom>
          <a:gradFill>
            <a:gsLst>
              <a:gs pos="0">
                <a:srgbClr val="D80057">
                  <a:alpha val="74901"/>
                </a:srgbClr>
              </a:gs>
              <a:gs pos="100000">
                <a:schemeClr val="dk1"/>
              </a:gs>
            </a:gsLst>
            <a:lin ang="5400000" scaled="0"/>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Created by instantiating the Thread class.</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8"/>
                                        </p:tgtEl>
                                        <p:attrNameLst>
                                          <p:attrName>style.visibility</p:attrName>
                                        </p:attrNameLst>
                                      </p:cBhvr>
                                      <p:to>
                                        <p:strVal val="visible"/>
                                      </p:to>
                                    </p:set>
                                    <p:animEffect transition="in" filter="fade">
                                      <p:cBhvr>
                                        <p:cTn id="7" dur="1000"/>
                                        <p:tgtEl>
                                          <p:spTgt spid="3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4"/>
                                        </p:tgtEl>
                                        <p:attrNameLst>
                                          <p:attrName>style.visibility</p:attrName>
                                        </p:attrNameLst>
                                      </p:cBhvr>
                                      <p:to>
                                        <p:strVal val="visible"/>
                                      </p:to>
                                    </p:set>
                                    <p:animEffect transition="in" filter="fade">
                                      <p:cBhvr>
                                        <p:cTn id="12" dur="500"/>
                                        <p:tgtEl>
                                          <p:spTgt spid="3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5"/>
                                        </p:tgtEl>
                                        <p:attrNameLst>
                                          <p:attrName>style.visibility</p:attrName>
                                        </p:attrNameLst>
                                      </p:cBhvr>
                                      <p:to>
                                        <p:strVal val="visible"/>
                                      </p:to>
                                    </p:set>
                                    <p:animEffect transition="in" filter="fade">
                                      <p:cBhvr>
                                        <p:cTn id="17" dur="500"/>
                                        <p:tgtEl>
                                          <p:spTgt spid="355"/>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59"/>
                                        </p:tgtEl>
                                        <p:attrNameLst>
                                          <p:attrName>style.visibility</p:attrName>
                                        </p:attrNameLst>
                                      </p:cBhvr>
                                      <p:to>
                                        <p:strVal val="visible"/>
                                      </p:to>
                                    </p:set>
                                    <p:animEffect transition="in" filter="fade">
                                      <p:cBhvr>
                                        <p:cTn id="21" dur="1000"/>
                                        <p:tgtEl>
                                          <p:spTgt spid="35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49"/>
                                        </p:tgtEl>
                                        <p:attrNameLst>
                                          <p:attrName>style.visibility</p:attrName>
                                        </p:attrNameLst>
                                      </p:cBhvr>
                                      <p:to>
                                        <p:strVal val="visible"/>
                                      </p:to>
                                    </p:set>
                                    <p:animEffect transition="in" filter="fade">
                                      <p:cBhvr>
                                        <p:cTn id="26" dur="1000"/>
                                        <p:tgtEl>
                                          <p:spTgt spid="34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52"/>
                                        </p:tgtEl>
                                        <p:attrNameLst>
                                          <p:attrName>style.visibility</p:attrName>
                                        </p:attrNameLst>
                                      </p:cBhvr>
                                      <p:to>
                                        <p:strVal val="visible"/>
                                      </p:to>
                                    </p:set>
                                    <p:animEffect transition="in" filter="fade">
                                      <p:cBhvr>
                                        <p:cTn id="31" dur="1000"/>
                                        <p:tgtEl>
                                          <p:spTgt spid="35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56"/>
                                        </p:tgtEl>
                                        <p:attrNameLst>
                                          <p:attrName>style.visibility</p:attrName>
                                        </p:attrNameLst>
                                      </p:cBhvr>
                                      <p:to>
                                        <p:strVal val="visible"/>
                                      </p:to>
                                    </p:set>
                                    <p:animEffect transition="in" filter="fade">
                                      <p:cBhvr>
                                        <p:cTn id="36" dur="500"/>
                                        <p:tgtEl>
                                          <p:spTgt spid="35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50"/>
                                        </p:tgtEl>
                                        <p:attrNameLst>
                                          <p:attrName>style.visibility</p:attrName>
                                        </p:attrNameLst>
                                      </p:cBhvr>
                                      <p:to>
                                        <p:strVal val="visible"/>
                                      </p:to>
                                    </p:set>
                                    <p:animEffect transition="in" filter="fade">
                                      <p:cBhvr>
                                        <p:cTn id="41" dur="1000"/>
                                        <p:tgtEl>
                                          <p:spTgt spid="35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53"/>
                                        </p:tgtEl>
                                        <p:attrNameLst>
                                          <p:attrName>style.visibility</p:attrName>
                                        </p:attrNameLst>
                                      </p:cBhvr>
                                      <p:to>
                                        <p:strVal val="visible"/>
                                      </p:to>
                                    </p:set>
                                    <p:animEffect transition="in" filter="fade">
                                      <p:cBhvr>
                                        <p:cTn id="46" dur="1000"/>
                                        <p:tgtEl>
                                          <p:spTgt spid="35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57"/>
                                        </p:tgtEl>
                                        <p:attrNameLst>
                                          <p:attrName>style.visibility</p:attrName>
                                        </p:attrNameLst>
                                      </p:cBhvr>
                                      <p:to>
                                        <p:strVal val="visible"/>
                                      </p:to>
                                    </p:set>
                                    <p:animEffect transition="in" filter="fade">
                                      <p:cBhvr>
                                        <p:cTn id="51" dur="500"/>
                                        <p:tgtEl>
                                          <p:spTgt spid="35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51"/>
                                        </p:tgtEl>
                                        <p:attrNameLst>
                                          <p:attrName>style.visibility</p:attrName>
                                        </p:attrNameLst>
                                      </p:cBhvr>
                                      <p:to>
                                        <p:strVal val="visible"/>
                                      </p:to>
                                    </p:set>
                                    <p:animEffect transition="in" filter="fade">
                                      <p:cBhvr>
                                        <p:cTn id="56" dur="1000"/>
                                        <p:tgtEl>
                                          <p:spTgt spid="351"/>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54"/>
                                        </p:tgtEl>
                                        <p:attrNameLst>
                                          <p:attrName>style.visibility</p:attrName>
                                        </p:attrNameLst>
                                      </p:cBhvr>
                                      <p:to>
                                        <p:strVal val="visible"/>
                                      </p:to>
                                    </p:set>
                                    <p:animEffect transition="in" filter="fade">
                                      <p:cBhvr>
                                        <p:cTn id="61" dur="1000"/>
                                        <p:tgtEl>
                                          <p:spTgt spid="35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58"/>
                                        </p:tgtEl>
                                        <p:attrNameLst>
                                          <p:attrName>style.visibility</p:attrName>
                                        </p:attrNameLst>
                                      </p:cBhvr>
                                      <p:to>
                                        <p:strVal val="visible"/>
                                      </p:to>
                                    </p:set>
                                    <p:animEffect transition="in" filter="fade">
                                      <p:cBhvr>
                                        <p:cTn id="66" dur="500"/>
                                        <p:tgtEl>
                                          <p:spTgt spid="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4"/>
          <p:cNvSpPr txBox="1">
            <a:spLocks noGrp="1"/>
          </p:cNvSpPr>
          <p:nvPr>
            <p:ph type="title"/>
          </p:nvPr>
        </p:nvSpPr>
        <p:spPr>
          <a:xfrm>
            <a:off x="0" y="0"/>
            <a:ext cx="9144000" cy="563562"/>
          </a:xfrm>
          <a:prstGeom prst="rect">
            <a:avLst/>
          </a:prstGeom>
          <a:gradFill>
            <a:gsLst>
              <a:gs pos="0">
                <a:srgbClr val="A3C4FF"/>
              </a:gs>
              <a:gs pos="35000">
                <a:srgbClr val="BFD5FF"/>
              </a:gs>
              <a:gs pos="100000">
                <a:srgbClr val="E5EEFF"/>
              </a:gs>
            </a:gsLst>
            <a:lin ang="16200000" scaled="0"/>
          </a:gradFill>
          <a:ln w="9525" cap="flat" cmpd="sng">
            <a:solidFill>
              <a:srgbClr val="4A7EBB"/>
            </a:solidFill>
            <a:prstDash val="solid"/>
            <a:miter lim="800000"/>
            <a:headEnd type="none" w="sm" len="sm"/>
            <a:tailEnd type="none" w="sm" len="sm"/>
          </a:ln>
          <a:effectLst>
            <a:outerShdw blurRad="63500" dist="20000" dir="540000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17375E"/>
              </a:buClr>
              <a:buFont typeface="Calibri"/>
              <a:buNone/>
            </a:pPr>
            <a:r>
              <a:rPr lang="en-US" sz="3600" b="1" i="0" u="none" strike="noStrike" cap="none">
                <a:solidFill>
                  <a:srgbClr val="17375E"/>
                </a:solidFill>
                <a:latin typeface="Calibri"/>
                <a:ea typeface="Calibri"/>
                <a:cs typeface="Calibri"/>
                <a:sym typeface="Calibri"/>
              </a:rPr>
              <a:t>States of thread</a:t>
            </a:r>
            <a:endParaRPr/>
          </a:p>
        </p:txBody>
      </p:sp>
      <p:sp>
        <p:nvSpPr>
          <p:cNvPr id="370" name="Google Shape;370;p34"/>
          <p:cNvSpPr txBox="1">
            <a:spLocks noGrp="1"/>
          </p:cNvSpPr>
          <p:nvPr>
            <p:ph type="body" idx="1"/>
          </p:nvPr>
        </p:nvSpPr>
        <p:spPr>
          <a:xfrm>
            <a:off x="0" y="533400"/>
            <a:ext cx="2209800" cy="68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r>
              <a:rPr lang="en-US" sz="3200" b="0" i="0" u="none" strike="noStrike" cap="none">
                <a:solidFill>
                  <a:schemeClr val="dk1"/>
                </a:solidFill>
                <a:latin typeface="Calibri"/>
                <a:ea typeface="Calibri"/>
                <a:cs typeface="Calibri"/>
                <a:sym typeface="Calibri"/>
              </a:rPr>
              <a:t>New Born</a:t>
            </a:r>
            <a:endParaRPr/>
          </a:p>
        </p:txBody>
      </p:sp>
      <p:pic>
        <p:nvPicPr>
          <p:cNvPr id="371" name="Google Shape;371;p34" descr="C:\Users\shree\Desktop\FDP JAVA\standing before go.jpg"/>
          <p:cNvPicPr preferRelativeResize="0"/>
          <p:nvPr/>
        </p:nvPicPr>
        <p:blipFill rotWithShape="1">
          <a:blip r:embed="rId3">
            <a:alphaModFix/>
          </a:blip>
          <a:srcRect/>
          <a:stretch/>
        </p:blipFill>
        <p:spPr>
          <a:xfrm>
            <a:off x="457200" y="1219200"/>
            <a:ext cx="1446931" cy="2473611"/>
          </a:xfrm>
          <a:prstGeom prst="rect">
            <a:avLst/>
          </a:prstGeom>
          <a:noFill/>
          <a:ln>
            <a:noFill/>
          </a:ln>
        </p:spPr>
      </p:pic>
      <p:pic>
        <p:nvPicPr>
          <p:cNvPr id="372" name="Google Shape;372;p34" descr="C:\Users\shree\Desktop\FDP JAVA\ready before run.jpg"/>
          <p:cNvPicPr preferRelativeResize="0"/>
          <p:nvPr/>
        </p:nvPicPr>
        <p:blipFill rotWithShape="1">
          <a:blip r:embed="rId4">
            <a:alphaModFix/>
          </a:blip>
          <a:srcRect/>
          <a:stretch/>
        </p:blipFill>
        <p:spPr>
          <a:xfrm>
            <a:off x="2362200" y="1524000"/>
            <a:ext cx="2617192" cy="1741114"/>
          </a:xfrm>
          <a:prstGeom prst="rect">
            <a:avLst/>
          </a:prstGeom>
          <a:noFill/>
          <a:ln>
            <a:noFill/>
          </a:ln>
        </p:spPr>
      </p:pic>
      <p:pic>
        <p:nvPicPr>
          <p:cNvPr id="373" name="Google Shape;373;p34" descr="C:\Users\shree\Desktop\FDP JAVA\running for a job.jpg"/>
          <p:cNvPicPr preferRelativeResize="0"/>
          <p:nvPr/>
        </p:nvPicPr>
        <p:blipFill rotWithShape="1">
          <a:blip r:embed="rId5">
            <a:alphaModFix/>
          </a:blip>
          <a:srcRect/>
          <a:stretch/>
        </p:blipFill>
        <p:spPr>
          <a:xfrm>
            <a:off x="5562600" y="1447800"/>
            <a:ext cx="2291259" cy="1998750"/>
          </a:xfrm>
          <a:prstGeom prst="rect">
            <a:avLst/>
          </a:prstGeom>
          <a:noFill/>
          <a:ln>
            <a:noFill/>
          </a:ln>
        </p:spPr>
      </p:pic>
      <p:sp>
        <p:nvSpPr>
          <p:cNvPr id="374" name="Google Shape;374;p34"/>
          <p:cNvSpPr txBox="1"/>
          <p:nvPr/>
        </p:nvSpPr>
        <p:spPr>
          <a:xfrm>
            <a:off x="2590800" y="609600"/>
            <a:ext cx="2209800" cy="68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3200" b="0" i="0" u="none">
                <a:solidFill>
                  <a:schemeClr val="dk1"/>
                </a:solidFill>
                <a:latin typeface="Calibri"/>
                <a:ea typeface="Calibri"/>
                <a:cs typeface="Calibri"/>
                <a:sym typeface="Calibri"/>
              </a:rPr>
              <a:t>Runnable</a:t>
            </a:r>
            <a:endParaRPr/>
          </a:p>
        </p:txBody>
      </p:sp>
      <p:sp>
        <p:nvSpPr>
          <p:cNvPr id="375" name="Google Shape;375;p34"/>
          <p:cNvSpPr txBox="1"/>
          <p:nvPr/>
        </p:nvSpPr>
        <p:spPr>
          <a:xfrm>
            <a:off x="5181600" y="533400"/>
            <a:ext cx="2209800" cy="68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3200" b="0" i="0" u="none">
                <a:solidFill>
                  <a:schemeClr val="dk1"/>
                </a:solidFill>
                <a:latin typeface="Calibri"/>
                <a:ea typeface="Calibri"/>
                <a:cs typeface="Calibri"/>
                <a:sym typeface="Calibri"/>
              </a:rPr>
              <a:t>Running</a:t>
            </a:r>
            <a:endParaRPr/>
          </a:p>
        </p:txBody>
      </p:sp>
      <p:sp>
        <p:nvSpPr>
          <p:cNvPr id="376" name="Google Shape;376;p34"/>
          <p:cNvSpPr txBox="1"/>
          <p:nvPr/>
        </p:nvSpPr>
        <p:spPr>
          <a:xfrm>
            <a:off x="304800" y="4648200"/>
            <a:ext cx="2209800" cy="2057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77" name="Google Shape;377;p34"/>
          <p:cNvSpPr txBox="1"/>
          <p:nvPr/>
        </p:nvSpPr>
        <p:spPr>
          <a:xfrm>
            <a:off x="0" y="3657600"/>
            <a:ext cx="2209800" cy="1981200"/>
          </a:xfrm>
          <a:prstGeom prst="rect">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66"/>
              </a:buClr>
              <a:buFont typeface="Calibri"/>
              <a:buNone/>
            </a:pPr>
            <a:r>
              <a:rPr lang="en-US" sz="2200" b="0" i="0" u="none">
                <a:solidFill>
                  <a:srgbClr val="000066"/>
                </a:solidFill>
                <a:latin typeface="Calibri"/>
                <a:ea typeface="Calibri"/>
                <a:cs typeface="Calibri"/>
                <a:sym typeface="Calibri"/>
              </a:rPr>
              <a:t>Thread th=new Thread (this);</a:t>
            </a:r>
            <a:endParaRPr/>
          </a:p>
          <a:p>
            <a:pPr marL="342900" marR="0" lvl="0" indent="-342900" algn="l" rtl="0">
              <a:lnSpc>
                <a:spcPct val="100000"/>
              </a:lnSpc>
              <a:spcBef>
                <a:spcPts val="440"/>
              </a:spcBef>
              <a:spcAft>
                <a:spcPts val="0"/>
              </a:spcAft>
              <a:buClr>
                <a:schemeClr val="dk1"/>
              </a:buClr>
              <a:buFont typeface="Arial"/>
              <a:buNone/>
            </a:pPr>
            <a:endParaRPr sz="2200" b="0" i="0" u="none">
              <a:solidFill>
                <a:srgbClr val="000066"/>
              </a:solidFill>
              <a:latin typeface="Calibri"/>
              <a:ea typeface="Calibri"/>
              <a:cs typeface="Calibri"/>
              <a:sym typeface="Calibri"/>
            </a:endParaRPr>
          </a:p>
          <a:p>
            <a:pPr marL="342900" marR="0" lvl="0" indent="-342900" algn="l" rtl="0">
              <a:lnSpc>
                <a:spcPct val="100000"/>
              </a:lnSpc>
              <a:spcBef>
                <a:spcPts val="440"/>
              </a:spcBef>
              <a:spcAft>
                <a:spcPts val="0"/>
              </a:spcAft>
              <a:buClr>
                <a:srgbClr val="000066"/>
              </a:buClr>
              <a:buFont typeface="Calibri"/>
              <a:buNone/>
            </a:pPr>
            <a:r>
              <a:rPr lang="en-US" sz="2200" b="0" i="0" u="none">
                <a:solidFill>
                  <a:srgbClr val="000066"/>
                </a:solidFill>
                <a:latin typeface="Calibri"/>
                <a:ea typeface="Calibri"/>
                <a:cs typeface="Calibri"/>
                <a:sym typeface="Calibri"/>
              </a:rPr>
              <a:t>// this happened only once</a:t>
            </a:r>
            <a:endParaRPr/>
          </a:p>
          <a:p>
            <a:pPr marL="342900" marR="0" lvl="0" indent="-342900" algn="l" rtl="0">
              <a:lnSpc>
                <a:spcPct val="100000"/>
              </a:lnSpc>
              <a:spcBef>
                <a:spcPts val="440"/>
              </a:spcBef>
              <a:spcAft>
                <a:spcPts val="0"/>
              </a:spcAft>
              <a:buClr>
                <a:schemeClr val="dk1"/>
              </a:buClr>
              <a:buFont typeface="Arial"/>
              <a:buNone/>
            </a:pPr>
            <a:endParaRPr sz="2200" b="0" i="0" u="none">
              <a:solidFill>
                <a:srgbClr val="000066"/>
              </a:solidFill>
              <a:latin typeface="Calibri"/>
              <a:ea typeface="Calibri"/>
              <a:cs typeface="Calibri"/>
              <a:sym typeface="Calibri"/>
            </a:endParaRPr>
          </a:p>
          <a:p>
            <a:pPr marL="342900" marR="0" lvl="0" indent="-342900" algn="l" rtl="0">
              <a:lnSpc>
                <a:spcPct val="100000"/>
              </a:lnSpc>
              <a:spcBef>
                <a:spcPts val="440"/>
              </a:spcBef>
              <a:spcAft>
                <a:spcPts val="0"/>
              </a:spcAft>
              <a:buClr>
                <a:schemeClr val="dk1"/>
              </a:buClr>
              <a:buFont typeface="Arial"/>
              <a:buNone/>
            </a:pPr>
            <a:endParaRPr sz="2200" b="0" i="0" u="none">
              <a:solidFill>
                <a:srgbClr val="000066"/>
              </a:solidFill>
              <a:latin typeface="Calibri"/>
              <a:ea typeface="Calibri"/>
              <a:cs typeface="Calibri"/>
              <a:sym typeface="Calibri"/>
            </a:endParaRPr>
          </a:p>
          <a:p>
            <a:pPr marL="0" marR="0" lvl="0" indent="0" algn="l" rtl="0">
              <a:lnSpc>
                <a:spcPct val="100000"/>
              </a:lnSpc>
              <a:spcBef>
                <a:spcPts val="0"/>
              </a:spcBef>
              <a:spcAft>
                <a:spcPts val="0"/>
              </a:spcAft>
              <a:buNone/>
            </a:pPr>
            <a:endParaRPr sz="2200" b="0" i="0" u="none">
              <a:solidFill>
                <a:srgbClr val="000066"/>
              </a:solidFill>
              <a:latin typeface="Calibri"/>
              <a:ea typeface="Calibri"/>
              <a:cs typeface="Calibri"/>
              <a:sym typeface="Calibri"/>
            </a:endParaRPr>
          </a:p>
        </p:txBody>
      </p:sp>
      <p:sp>
        <p:nvSpPr>
          <p:cNvPr id="378" name="Google Shape;378;p34"/>
          <p:cNvSpPr txBox="1"/>
          <p:nvPr/>
        </p:nvSpPr>
        <p:spPr>
          <a:xfrm>
            <a:off x="2286000" y="4876800"/>
            <a:ext cx="2209800" cy="1295400"/>
          </a:xfrm>
          <a:prstGeom prst="rect">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66"/>
              </a:buClr>
              <a:buFont typeface="Calibri"/>
              <a:buNone/>
            </a:pPr>
            <a:r>
              <a:rPr lang="en-US" sz="2400" b="0" i="0" u="none">
                <a:solidFill>
                  <a:srgbClr val="000066"/>
                </a:solidFill>
                <a:latin typeface="Calibri"/>
                <a:ea typeface="Calibri"/>
                <a:cs typeface="Calibri"/>
                <a:sym typeface="Calibri"/>
              </a:rPr>
              <a:t>Th.start()</a:t>
            </a:r>
            <a:endParaRPr/>
          </a:p>
          <a:p>
            <a:pPr marL="0" marR="0" lvl="0" indent="0" algn="l" rtl="0">
              <a:lnSpc>
                <a:spcPct val="100000"/>
              </a:lnSpc>
              <a:spcBef>
                <a:spcPts val="0"/>
              </a:spcBef>
              <a:spcAft>
                <a:spcPts val="0"/>
              </a:spcAft>
              <a:buNone/>
            </a:pPr>
            <a:endParaRPr sz="2400" b="0" i="0" u="none">
              <a:solidFill>
                <a:srgbClr val="000066"/>
              </a:solidFill>
              <a:latin typeface="Calibri"/>
              <a:ea typeface="Calibri"/>
              <a:cs typeface="Calibri"/>
              <a:sym typeface="Calibri"/>
            </a:endParaRPr>
          </a:p>
        </p:txBody>
      </p:sp>
      <p:sp>
        <p:nvSpPr>
          <p:cNvPr id="379" name="Google Shape;379;p34"/>
          <p:cNvSpPr txBox="1"/>
          <p:nvPr/>
        </p:nvSpPr>
        <p:spPr>
          <a:xfrm>
            <a:off x="4876800" y="4953000"/>
            <a:ext cx="2209800" cy="1219200"/>
          </a:xfrm>
          <a:prstGeom prst="rect">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66"/>
              </a:buClr>
              <a:buFont typeface="Calibri"/>
              <a:buNone/>
            </a:pPr>
            <a:r>
              <a:rPr lang="en-US" sz="2400" b="0" i="0" u="none">
                <a:solidFill>
                  <a:srgbClr val="000066"/>
                </a:solidFill>
                <a:latin typeface="Calibri"/>
                <a:ea typeface="Calibri"/>
                <a:cs typeface="Calibri"/>
                <a:sym typeface="Calibri"/>
              </a:rPr>
              <a:t>Execute run();</a:t>
            </a:r>
            <a:endParaRPr/>
          </a:p>
          <a:p>
            <a:pPr marL="0" marR="0" lvl="0" indent="0" algn="l" rtl="0">
              <a:lnSpc>
                <a:spcPct val="100000"/>
              </a:lnSpc>
              <a:spcBef>
                <a:spcPts val="0"/>
              </a:spcBef>
              <a:spcAft>
                <a:spcPts val="0"/>
              </a:spcAft>
              <a:buNone/>
            </a:pPr>
            <a:endParaRPr sz="2400" b="0" i="0" u="none">
              <a:solidFill>
                <a:srgbClr val="000066"/>
              </a:solidFill>
              <a:latin typeface="Calibri"/>
              <a:ea typeface="Calibri"/>
              <a:cs typeface="Calibri"/>
              <a:sym typeface="Calibri"/>
            </a:endParaRPr>
          </a:p>
        </p:txBody>
      </p:sp>
      <p:sp>
        <p:nvSpPr>
          <p:cNvPr id="380" name="Google Shape;380;p34"/>
          <p:cNvSpPr txBox="1"/>
          <p:nvPr/>
        </p:nvSpPr>
        <p:spPr>
          <a:xfrm>
            <a:off x="2362200" y="5842000"/>
            <a:ext cx="5029200" cy="10160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Font typeface="Calibri"/>
              <a:buNone/>
            </a:pPr>
            <a:r>
              <a:rPr lang="en-US" sz="2000" b="1" i="0" u="none">
                <a:solidFill>
                  <a:schemeClr val="lt1"/>
                </a:solidFill>
                <a:latin typeface="Calibri"/>
                <a:ea typeface="Calibri"/>
                <a:cs typeface="Calibri"/>
                <a:sym typeface="Calibri"/>
              </a:rPr>
              <a:t>Thread is moving from Runnable to Running and Running to Runnable state until run method execute completely</a:t>
            </a:r>
            <a:endParaRPr/>
          </a:p>
        </p:txBody>
      </p:sp>
      <p:sp>
        <p:nvSpPr>
          <p:cNvPr id="381" name="Google Shape;381;p34"/>
          <p:cNvSpPr/>
          <p:nvPr/>
        </p:nvSpPr>
        <p:spPr>
          <a:xfrm>
            <a:off x="5029200" y="1600200"/>
            <a:ext cx="1371600" cy="427037"/>
          </a:xfrm>
          <a:prstGeom prst="rightArrow">
            <a:avLst>
              <a:gd name="adj1" fmla="val 18237"/>
              <a:gd name="adj2" fmla="val 50000"/>
            </a:avLst>
          </a:prstGeom>
          <a:solidFill>
            <a:schemeClr val="accent1"/>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82" name="Google Shape;382;p34"/>
          <p:cNvSpPr/>
          <p:nvPr/>
        </p:nvSpPr>
        <p:spPr>
          <a:xfrm rot="10800000">
            <a:off x="5029200" y="2895600"/>
            <a:ext cx="1219200" cy="457200"/>
          </a:xfrm>
          <a:prstGeom prst="rightArrow">
            <a:avLst>
              <a:gd name="adj1" fmla="val 17550"/>
              <a:gd name="adj2" fmla="val 50000"/>
            </a:avLst>
          </a:prstGeom>
          <a:solidFill>
            <a:schemeClr val="accent1"/>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383" name="Google Shape;383;p34" descr="C:\Users\shree\Desktop\FDP JAVA\standing before go.jpg"/>
          <p:cNvPicPr preferRelativeResize="0"/>
          <p:nvPr/>
        </p:nvPicPr>
        <p:blipFill rotWithShape="1">
          <a:blip r:embed="rId3">
            <a:alphaModFix/>
          </a:blip>
          <a:srcRect/>
          <a:stretch/>
        </p:blipFill>
        <p:spPr>
          <a:xfrm>
            <a:off x="7696200" y="1295400"/>
            <a:ext cx="1446931" cy="2473611"/>
          </a:xfrm>
          <a:prstGeom prst="rect">
            <a:avLst/>
          </a:prstGeom>
          <a:noFill/>
          <a:ln>
            <a:noFill/>
          </a:ln>
        </p:spPr>
      </p:pic>
      <p:sp>
        <p:nvSpPr>
          <p:cNvPr id="384" name="Google Shape;384;p34"/>
          <p:cNvSpPr/>
          <p:nvPr/>
        </p:nvSpPr>
        <p:spPr>
          <a:xfrm>
            <a:off x="7772400" y="838200"/>
            <a:ext cx="1371600" cy="2971800"/>
          </a:xfrm>
          <a:prstGeom prst="ellipse">
            <a:avLst/>
          </a:prstGeom>
          <a:solidFill>
            <a:schemeClr val="accent1">
              <a:alpha val="11764"/>
            </a:schemeClr>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85" name="Google Shape;385;p34"/>
          <p:cNvSpPr txBox="1"/>
          <p:nvPr/>
        </p:nvSpPr>
        <p:spPr>
          <a:xfrm>
            <a:off x="6934200" y="457200"/>
            <a:ext cx="2209800" cy="685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3200" b="0" i="0" u="none">
                <a:solidFill>
                  <a:schemeClr val="dk1"/>
                </a:solidFill>
                <a:latin typeface="Calibri"/>
                <a:ea typeface="Calibri"/>
                <a:cs typeface="Calibri"/>
                <a:sym typeface="Calibri"/>
              </a:rPr>
              <a:t>Blocked</a:t>
            </a:r>
            <a:endParaRPr/>
          </a:p>
        </p:txBody>
      </p:sp>
      <p:sp>
        <p:nvSpPr>
          <p:cNvPr id="386" name="Google Shape;386;p34"/>
          <p:cNvSpPr txBox="1"/>
          <p:nvPr/>
        </p:nvSpPr>
        <p:spPr>
          <a:xfrm>
            <a:off x="7543800" y="4572000"/>
            <a:ext cx="1600200" cy="1600200"/>
          </a:xfrm>
          <a:prstGeom prst="rect">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66"/>
              </a:buClr>
              <a:buFont typeface="Calibri"/>
              <a:buNone/>
            </a:pPr>
            <a:r>
              <a:rPr lang="en-US" sz="2400" b="0" i="0" u="none">
                <a:solidFill>
                  <a:srgbClr val="000066"/>
                </a:solidFill>
                <a:latin typeface="Calibri"/>
                <a:ea typeface="Calibri"/>
                <a:cs typeface="Calibri"/>
                <a:sym typeface="Calibri"/>
              </a:rPr>
              <a:t>Calling wait(), Sleep(),</a:t>
            </a:r>
            <a:endParaRPr/>
          </a:p>
          <a:p>
            <a:pPr marL="0" marR="0" lvl="0" indent="0" algn="l" rtl="0">
              <a:lnSpc>
                <a:spcPct val="100000"/>
              </a:lnSpc>
              <a:spcBef>
                <a:spcPts val="0"/>
              </a:spcBef>
              <a:spcAft>
                <a:spcPts val="0"/>
              </a:spcAft>
              <a:buNone/>
            </a:pPr>
            <a:endParaRPr sz="2400" b="0" i="0" u="none">
              <a:solidFill>
                <a:srgbClr val="000066"/>
              </a:solidFill>
              <a:latin typeface="Calibri"/>
              <a:ea typeface="Calibri"/>
              <a:cs typeface="Calibri"/>
              <a:sym typeface="Calibri"/>
            </a:endParaRPr>
          </a:p>
        </p:txBody>
      </p:sp>
      <p:sp>
        <p:nvSpPr>
          <p:cNvPr id="387" name="Google Shape;387;p34"/>
          <p:cNvSpPr/>
          <p:nvPr/>
        </p:nvSpPr>
        <p:spPr>
          <a:xfrm flipH="1">
            <a:off x="3962400" y="3200400"/>
            <a:ext cx="4267200" cy="609600"/>
          </a:xfrm>
          <a:custGeom>
            <a:avLst/>
            <a:gdLst/>
            <a:ahLst/>
            <a:cxnLst/>
            <a:rect l="l" t="t" r="r" b="b"/>
            <a:pathLst>
              <a:path w="120000" h="120000" extrusionOk="0">
                <a:moveTo>
                  <a:pt x="0" y="90000"/>
                </a:moveTo>
                <a:lnTo>
                  <a:pt x="113571" y="90000"/>
                </a:lnTo>
                <a:lnTo>
                  <a:pt x="113571" y="30000"/>
                </a:lnTo>
                <a:lnTo>
                  <a:pt x="111428" y="30000"/>
                </a:lnTo>
                <a:lnTo>
                  <a:pt x="115714" y="0"/>
                </a:lnTo>
                <a:lnTo>
                  <a:pt x="120000" y="30000"/>
                </a:lnTo>
                <a:lnTo>
                  <a:pt x="117857" y="30000"/>
                </a:lnTo>
                <a:lnTo>
                  <a:pt x="117857" y="120000"/>
                </a:lnTo>
                <a:lnTo>
                  <a:pt x="0" y="120000"/>
                </a:lnTo>
                <a:close/>
              </a:path>
            </a:pathLst>
          </a:custGeom>
          <a:solidFill>
            <a:schemeClr val="accent1"/>
          </a:solidFill>
          <a:ln w="25400" cap="flat" cmpd="sng">
            <a:solidFill>
              <a:srgbClr val="385D8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88" name="Google Shape;388;p34"/>
          <p:cNvSpPr txBox="1"/>
          <p:nvPr/>
        </p:nvSpPr>
        <p:spPr>
          <a:xfrm>
            <a:off x="4724400" y="3733800"/>
            <a:ext cx="2895600" cy="646112"/>
          </a:xfrm>
          <a:prstGeom prst="rect">
            <a:avLst/>
          </a:prstGeom>
          <a:noFill/>
          <a:ln w="9525" cap="flat" cmpd="sng">
            <a:solidFill>
              <a:srgbClr val="385D8A"/>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Notify(), notifyall(), join(), wake up from sleep();</a:t>
            </a:r>
            <a:endParaRPr/>
          </a:p>
        </p:txBody>
      </p:sp>
      <p:sp>
        <p:nvSpPr>
          <p:cNvPr id="390" name="Google Shape;390;p34"/>
          <p:cNvSpPr/>
          <p:nvPr/>
        </p:nvSpPr>
        <p:spPr>
          <a:xfrm>
            <a:off x="-69850" y="44450"/>
            <a:ext cx="4471987" cy="3340100"/>
          </a:xfrm>
          <a:custGeom>
            <a:avLst/>
            <a:gdLst/>
            <a:ahLst/>
            <a:cxnLst/>
            <a:rect l="l" t="t" r="r" b="b"/>
            <a:pathLst>
              <a:path w="120000" h="120000" extrusionOk="0">
                <a:moveTo>
                  <a:pt x="5986" y="34649"/>
                </a:moveTo>
                <a:cubicBezTo>
                  <a:pt x="7656" y="35529"/>
                  <a:pt x="9317" y="36602"/>
                  <a:pt x="11017" y="37533"/>
                </a:cubicBezTo>
                <a:cubicBezTo>
                  <a:pt x="12465" y="38322"/>
                  <a:pt x="14019" y="38801"/>
                  <a:pt x="15564" y="39137"/>
                </a:cubicBezTo>
                <a:cubicBezTo>
                  <a:pt x="16791" y="39409"/>
                  <a:pt x="17930" y="39797"/>
                  <a:pt x="19156" y="40107"/>
                </a:cubicBezTo>
                <a:cubicBezTo>
                  <a:pt x="20006" y="40314"/>
                  <a:pt x="20923" y="40340"/>
                  <a:pt x="21792" y="40418"/>
                </a:cubicBezTo>
                <a:cubicBezTo>
                  <a:pt x="24602" y="40663"/>
                  <a:pt x="27219" y="40094"/>
                  <a:pt x="29932" y="39461"/>
                </a:cubicBezTo>
                <a:cubicBezTo>
                  <a:pt x="30724" y="39280"/>
                  <a:pt x="31255" y="39034"/>
                  <a:pt x="32085" y="38814"/>
                </a:cubicBezTo>
                <a:cubicBezTo>
                  <a:pt x="33978" y="38309"/>
                  <a:pt x="35687" y="37960"/>
                  <a:pt x="37598" y="37533"/>
                </a:cubicBezTo>
                <a:cubicBezTo>
                  <a:pt x="40138" y="36964"/>
                  <a:pt x="41992" y="36059"/>
                  <a:pt x="44299" y="34649"/>
                </a:cubicBezTo>
                <a:cubicBezTo>
                  <a:pt x="46897" y="33058"/>
                  <a:pt x="49649" y="32011"/>
                  <a:pt x="52207" y="30472"/>
                </a:cubicBezTo>
                <a:cubicBezTo>
                  <a:pt x="52816" y="30109"/>
                  <a:pt x="53424" y="29243"/>
                  <a:pt x="53887" y="28868"/>
                </a:cubicBezTo>
                <a:cubicBezTo>
                  <a:pt x="54216" y="28596"/>
                  <a:pt x="54805" y="28299"/>
                  <a:pt x="55085" y="27911"/>
                </a:cubicBezTo>
                <a:cubicBezTo>
                  <a:pt x="55529" y="27277"/>
                  <a:pt x="55819" y="26734"/>
                  <a:pt x="56041" y="25984"/>
                </a:cubicBezTo>
                <a:cubicBezTo>
                  <a:pt x="56301" y="25091"/>
                  <a:pt x="56408" y="23785"/>
                  <a:pt x="56282" y="22776"/>
                </a:cubicBezTo>
                <a:cubicBezTo>
                  <a:pt x="56176" y="21948"/>
                  <a:pt x="55761" y="20823"/>
                  <a:pt x="55317" y="20215"/>
                </a:cubicBezTo>
                <a:cubicBezTo>
                  <a:pt x="53656" y="17952"/>
                  <a:pt x="51493" y="15986"/>
                  <a:pt x="49571" y="14110"/>
                </a:cubicBezTo>
                <a:cubicBezTo>
                  <a:pt x="46414" y="11032"/>
                  <a:pt x="42581" y="8303"/>
                  <a:pt x="39037" y="6091"/>
                </a:cubicBezTo>
                <a:cubicBezTo>
                  <a:pt x="36681" y="4617"/>
                  <a:pt x="34122" y="3194"/>
                  <a:pt x="31612" y="2250"/>
                </a:cubicBezTo>
                <a:cubicBezTo>
                  <a:pt x="30009" y="1655"/>
                  <a:pt x="28677" y="788"/>
                  <a:pt x="27055" y="323"/>
                </a:cubicBezTo>
                <a:cubicBezTo>
                  <a:pt x="26137" y="64"/>
                  <a:pt x="25133" y="77"/>
                  <a:pt x="24187" y="0"/>
                </a:cubicBezTo>
                <a:cubicBezTo>
                  <a:pt x="20952" y="-258"/>
                  <a:pt x="17215" y="-400"/>
                  <a:pt x="14126" y="646"/>
                </a:cubicBezTo>
                <a:cubicBezTo>
                  <a:pt x="13237" y="944"/>
                  <a:pt x="12590" y="1358"/>
                  <a:pt x="11731" y="1927"/>
                </a:cubicBezTo>
                <a:cubicBezTo>
                  <a:pt x="10370" y="2819"/>
                  <a:pt x="9269" y="3776"/>
                  <a:pt x="8139" y="5134"/>
                </a:cubicBezTo>
                <a:cubicBezTo>
                  <a:pt x="6961" y="6544"/>
                  <a:pt x="5880" y="8161"/>
                  <a:pt x="4789" y="9622"/>
                </a:cubicBezTo>
                <a:cubicBezTo>
                  <a:pt x="4142" y="10489"/>
                  <a:pt x="3842" y="11226"/>
                  <a:pt x="3350" y="12196"/>
                </a:cubicBezTo>
                <a:cubicBezTo>
                  <a:pt x="2877" y="13140"/>
                  <a:pt x="2075" y="14084"/>
                  <a:pt x="1670" y="15080"/>
                </a:cubicBezTo>
                <a:cubicBezTo>
                  <a:pt x="1515" y="15442"/>
                  <a:pt x="1332" y="16231"/>
                  <a:pt x="1197" y="16684"/>
                </a:cubicBezTo>
                <a:cubicBezTo>
                  <a:pt x="1042" y="17214"/>
                  <a:pt x="897" y="18120"/>
                  <a:pt x="714" y="18611"/>
                </a:cubicBezTo>
                <a:cubicBezTo>
                  <a:pt x="646" y="18792"/>
                  <a:pt x="57" y="19711"/>
                  <a:pt x="0" y="20215"/>
                </a:cubicBezTo>
                <a:cubicBezTo>
                  <a:pt x="-173" y="21832"/>
                  <a:pt x="-19" y="23914"/>
                  <a:pt x="231" y="25350"/>
                </a:cubicBezTo>
                <a:cubicBezTo>
                  <a:pt x="357" y="26048"/>
                  <a:pt x="405" y="26591"/>
                  <a:pt x="714" y="27264"/>
                </a:cubicBezTo>
                <a:cubicBezTo>
                  <a:pt x="1081" y="28079"/>
                  <a:pt x="1206" y="28027"/>
                  <a:pt x="1670" y="28557"/>
                </a:cubicBezTo>
                <a:cubicBezTo>
                  <a:pt x="2346" y="29333"/>
                  <a:pt x="3205" y="30097"/>
                  <a:pt x="3823" y="30472"/>
                </a:cubicBezTo>
                <a:cubicBezTo>
                  <a:pt x="4750" y="31041"/>
                  <a:pt x="5889" y="31467"/>
                  <a:pt x="6700" y="32075"/>
                </a:cubicBezTo>
                <a:cubicBezTo>
                  <a:pt x="7154" y="32412"/>
                  <a:pt x="7753" y="32722"/>
                  <a:pt x="8139" y="33045"/>
                </a:cubicBezTo>
                <a:cubicBezTo>
                  <a:pt x="8574" y="33395"/>
                  <a:pt x="8941" y="33770"/>
                  <a:pt x="9336" y="34003"/>
                </a:cubicBezTo>
                <a:cubicBezTo>
                  <a:pt x="9752" y="34248"/>
                  <a:pt x="10428" y="34326"/>
                  <a:pt x="10775" y="34649"/>
                </a:cubicBezTo>
                <a:cubicBezTo>
                  <a:pt x="10804" y="34675"/>
                  <a:pt x="11210" y="35580"/>
                  <a:pt x="11248" y="35606"/>
                </a:cubicBezTo>
                <a:cubicBezTo>
                  <a:pt x="11432" y="35723"/>
                  <a:pt x="11818" y="35774"/>
                  <a:pt x="11972" y="35930"/>
                </a:cubicBezTo>
              </a:path>
              <a:path w="120000" h="120000" extrusionOk="0">
                <a:moveTo>
                  <a:pt x="39752" y="42992"/>
                </a:moveTo>
                <a:cubicBezTo>
                  <a:pt x="37608" y="43496"/>
                  <a:pt x="36150" y="43949"/>
                  <a:pt x="34007" y="44919"/>
                </a:cubicBezTo>
                <a:cubicBezTo>
                  <a:pt x="31805" y="45915"/>
                  <a:pt x="29613" y="46716"/>
                  <a:pt x="27537" y="48126"/>
                </a:cubicBezTo>
                <a:cubicBezTo>
                  <a:pt x="25529" y="49497"/>
                  <a:pt x="23550" y="51036"/>
                  <a:pt x="21792" y="52938"/>
                </a:cubicBezTo>
                <a:cubicBezTo>
                  <a:pt x="19832" y="55059"/>
                  <a:pt x="18075" y="58008"/>
                  <a:pt x="16520" y="60633"/>
                </a:cubicBezTo>
                <a:cubicBezTo>
                  <a:pt x="14985" y="63246"/>
                  <a:pt x="13479" y="66259"/>
                  <a:pt x="12446" y="69299"/>
                </a:cubicBezTo>
                <a:cubicBezTo>
                  <a:pt x="11828" y="71123"/>
                  <a:pt x="11451" y="73179"/>
                  <a:pt x="11017" y="75067"/>
                </a:cubicBezTo>
                <a:cubicBezTo>
                  <a:pt x="10505" y="77292"/>
                  <a:pt x="10341" y="79180"/>
                  <a:pt x="10292" y="81483"/>
                </a:cubicBezTo>
                <a:cubicBezTo>
                  <a:pt x="10215" y="85195"/>
                  <a:pt x="10321" y="88557"/>
                  <a:pt x="11972" y="91752"/>
                </a:cubicBezTo>
                <a:cubicBezTo>
                  <a:pt x="13691" y="95076"/>
                  <a:pt x="15632" y="98478"/>
                  <a:pt x="17476" y="101698"/>
                </a:cubicBezTo>
                <a:cubicBezTo>
                  <a:pt x="18867" y="104130"/>
                  <a:pt x="20498" y="106484"/>
                  <a:pt x="22034" y="108760"/>
                </a:cubicBezTo>
                <a:cubicBezTo>
                  <a:pt x="23916" y="111554"/>
                  <a:pt x="26543" y="114011"/>
                  <a:pt x="28976" y="115822"/>
                </a:cubicBezTo>
                <a:cubicBezTo>
                  <a:pt x="30579" y="117012"/>
                  <a:pt x="32317" y="118344"/>
                  <a:pt x="34007" y="119340"/>
                </a:cubicBezTo>
                <a:cubicBezTo>
                  <a:pt x="34827" y="119818"/>
                  <a:pt x="34731" y="119780"/>
                  <a:pt x="35677" y="119987"/>
                </a:cubicBezTo>
                <a:cubicBezTo>
                  <a:pt x="39414" y="120827"/>
                  <a:pt x="44483" y="120439"/>
                  <a:pt x="47891" y="118706"/>
                </a:cubicBezTo>
                <a:cubicBezTo>
                  <a:pt x="49581" y="117840"/>
                  <a:pt x="51145" y="116753"/>
                  <a:pt x="52690" y="115499"/>
                </a:cubicBezTo>
                <a:cubicBezTo>
                  <a:pt x="55626" y="113119"/>
                  <a:pt x="57055" y="109717"/>
                  <a:pt x="57953" y="105552"/>
                </a:cubicBezTo>
                <a:cubicBezTo>
                  <a:pt x="58271" y="104091"/>
                  <a:pt x="58358" y="103211"/>
                  <a:pt x="58435" y="101698"/>
                </a:cubicBezTo>
                <a:cubicBezTo>
                  <a:pt x="58561" y="99176"/>
                  <a:pt x="58329" y="97068"/>
                  <a:pt x="57953" y="94636"/>
                </a:cubicBezTo>
                <a:cubicBezTo>
                  <a:pt x="57257" y="90174"/>
                  <a:pt x="55751" y="85932"/>
                  <a:pt x="54843" y="81483"/>
                </a:cubicBezTo>
                <a:cubicBezTo>
                  <a:pt x="53559" y="75158"/>
                  <a:pt x="52478" y="68807"/>
                  <a:pt x="51010" y="62560"/>
                </a:cubicBezTo>
                <a:cubicBezTo>
                  <a:pt x="49832" y="57542"/>
                  <a:pt x="48442" y="53235"/>
                  <a:pt x="46462" y="48760"/>
                </a:cubicBezTo>
                <a:cubicBezTo>
                  <a:pt x="45777" y="47221"/>
                  <a:pt x="45255" y="46147"/>
                  <a:pt x="44299" y="44919"/>
                </a:cubicBezTo>
                <a:cubicBezTo>
                  <a:pt x="43295" y="43625"/>
                  <a:pt x="42069" y="42810"/>
                  <a:pt x="40949" y="41711"/>
                </a:cubicBezTo>
                <a:cubicBezTo>
                  <a:pt x="39607" y="40392"/>
                  <a:pt x="38381" y="38801"/>
                  <a:pt x="37116" y="37533"/>
                </a:cubicBezTo>
                <a:cubicBezTo>
                  <a:pt x="36469" y="36887"/>
                  <a:pt x="35803" y="36356"/>
                  <a:pt x="35204" y="35606"/>
                </a:cubicBezTo>
                <a:cubicBezTo>
                  <a:pt x="34847" y="35167"/>
                  <a:pt x="34460" y="34585"/>
                  <a:pt x="34248" y="34326"/>
                </a:cubicBezTo>
              </a:path>
              <a:path w="120000" h="120000" extrusionOk="0">
                <a:moveTo>
                  <a:pt x="73044" y="39461"/>
                </a:moveTo>
                <a:cubicBezTo>
                  <a:pt x="74676" y="40081"/>
                  <a:pt x="76182" y="40948"/>
                  <a:pt x="77833" y="41711"/>
                </a:cubicBezTo>
                <a:cubicBezTo>
                  <a:pt x="79542" y="42500"/>
                  <a:pt x="81223" y="43483"/>
                  <a:pt x="82864" y="44272"/>
                </a:cubicBezTo>
                <a:cubicBezTo>
                  <a:pt x="83646" y="44647"/>
                  <a:pt x="84476" y="44996"/>
                  <a:pt x="85259" y="45229"/>
                </a:cubicBezTo>
                <a:cubicBezTo>
                  <a:pt x="86176" y="45501"/>
                  <a:pt x="87190" y="45527"/>
                  <a:pt x="88136" y="45552"/>
                </a:cubicBezTo>
                <a:cubicBezTo>
                  <a:pt x="92703" y="45669"/>
                  <a:pt x="97241" y="45229"/>
                  <a:pt x="101789" y="45229"/>
                </a:cubicBezTo>
                <a:cubicBezTo>
                  <a:pt x="102214" y="45229"/>
                  <a:pt x="102899" y="44932"/>
                  <a:pt x="102986" y="44919"/>
                </a:cubicBezTo>
                <a:cubicBezTo>
                  <a:pt x="104116" y="44725"/>
                  <a:pt x="105197" y="44544"/>
                  <a:pt x="106337" y="44272"/>
                </a:cubicBezTo>
                <a:cubicBezTo>
                  <a:pt x="108982" y="43625"/>
                  <a:pt x="111628" y="43095"/>
                  <a:pt x="114235" y="42345"/>
                </a:cubicBezTo>
                <a:cubicBezTo>
                  <a:pt x="115461" y="41983"/>
                  <a:pt x="116437" y="41633"/>
                  <a:pt x="117595" y="41064"/>
                </a:cubicBezTo>
                <a:cubicBezTo>
                  <a:pt x="118049" y="40845"/>
                  <a:pt x="118957" y="40495"/>
                  <a:pt x="119266" y="40107"/>
                </a:cubicBezTo>
                <a:cubicBezTo>
                  <a:pt x="119507" y="39810"/>
                  <a:pt x="119362" y="39616"/>
                  <a:pt x="119507" y="39137"/>
                </a:cubicBezTo>
                <a:cubicBezTo>
                  <a:pt x="119710" y="38491"/>
                  <a:pt x="119613" y="38284"/>
                  <a:pt x="119748" y="37533"/>
                </a:cubicBezTo>
                <a:cubicBezTo>
                  <a:pt x="119855" y="36926"/>
                  <a:pt x="119980" y="36382"/>
                  <a:pt x="119990" y="35606"/>
                </a:cubicBezTo>
                <a:cubicBezTo>
                  <a:pt x="120009" y="34222"/>
                  <a:pt x="120135" y="32632"/>
                  <a:pt x="119748" y="31442"/>
                </a:cubicBezTo>
                <a:cubicBezTo>
                  <a:pt x="119613" y="31028"/>
                  <a:pt x="119217" y="30239"/>
                  <a:pt x="119024" y="29838"/>
                </a:cubicBezTo>
                <a:cubicBezTo>
                  <a:pt x="118570" y="28881"/>
                  <a:pt x="117875" y="28363"/>
                  <a:pt x="117354" y="27587"/>
                </a:cubicBezTo>
                <a:cubicBezTo>
                  <a:pt x="116852" y="26850"/>
                  <a:pt x="116678" y="26695"/>
                  <a:pt x="115915" y="25984"/>
                </a:cubicBezTo>
                <a:cubicBezTo>
                  <a:pt x="115239" y="25363"/>
                  <a:pt x="114650" y="24832"/>
                  <a:pt x="114003" y="24380"/>
                </a:cubicBezTo>
                <a:cubicBezTo>
                  <a:pt x="112903" y="23604"/>
                  <a:pt x="111812" y="22828"/>
                  <a:pt x="110643" y="22453"/>
                </a:cubicBezTo>
                <a:cubicBezTo>
                  <a:pt x="109697" y="22142"/>
                  <a:pt x="108751" y="22052"/>
                  <a:pt x="107775" y="21819"/>
                </a:cubicBezTo>
                <a:cubicBezTo>
                  <a:pt x="106733" y="21573"/>
                  <a:pt x="105671" y="21107"/>
                  <a:pt x="104657" y="20849"/>
                </a:cubicBezTo>
                <a:cubicBezTo>
                  <a:pt x="103527" y="20551"/>
                  <a:pt x="102475" y="20538"/>
                  <a:pt x="101306" y="20538"/>
                </a:cubicBezTo>
                <a:cubicBezTo>
                  <a:pt x="98699" y="20538"/>
                  <a:pt x="95841" y="20280"/>
                  <a:pt x="93398" y="20849"/>
                </a:cubicBezTo>
                <a:cubicBezTo>
                  <a:pt x="92674" y="21017"/>
                  <a:pt x="91738" y="20952"/>
                  <a:pt x="91004" y="21172"/>
                </a:cubicBezTo>
                <a:cubicBezTo>
                  <a:pt x="89633" y="21586"/>
                  <a:pt x="87991" y="22155"/>
                  <a:pt x="86697" y="22776"/>
                </a:cubicBezTo>
                <a:cubicBezTo>
                  <a:pt x="85693" y="23255"/>
                  <a:pt x="84824" y="23643"/>
                  <a:pt x="83820" y="24056"/>
                </a:cubicBezTo>
                <a:cubicBezTo>
                  <a:pt x="83154" y="24328"/>
                  <a:pt x="82565" y="24509"/>
                  <a:pt x="81908" y="24703"/>
                </a:cubicBezTo>
                <a:cubicBezTo>
                  <a:pt x="81348" y="24871"/>
                  <a:pt x="80952" y="25104"/>
                  <a:pt x="80469" y="25350"/>
                </a:cubicBezTo>
                <a:cubicBezTo>
                  <a:pt x="79774" y="25699"/>
                  <a:pt x="79262" y="25725"/>
                  <a:pt x="78558" y="26307"/>
                </a:cubicBezTo>
                <a:cubicBezTo>
                  <a:pt x="77949" y="26811"/>
                  <a:pt x="77186" y="27070"/>
                  <a:pt x="76636" y="27587"/>
                </a:cubicBezTo>
                <a:cubicBezTo>
                  <a:pt x="76250" y="27949"/>
                  <a:pt x="76028" y="28286"/>
                  <a:pt x="75680" y="28557"/>
                </a:cubicBezTo>
                <a:cubicBezTo>
                  <a:pt x="75284" y="28868"/>
                  <a:pt x="74811" y="29114"/>
                  <a:pt x="74242" y="29514"/>
                </a:cubicBezTo>
                <a:cubicBezTo>
                  <a:pt x="73662" y="29928"/>
                  <a:pt x="72938" y="30407"/>
                  <a:pt x="72561" y="30795"/>
                </a:cubicBezTo>
                <a:cubicBezTo>
                  <a:pt x="72281" y="31079"/>
                  <a:pt x="71905" y="31907"/>
                  <a:pt x="71606" y="32399"/>
                </a:cubicBezTo>
                <a:cubicBezTo>
                  <a:pt x="71451" y="32657"/>
                  <a:pt x="71297" y="32877"/>
                  <a:pt x="71132" y="33369"/>
                </a:cubicBezTo>
                <a:cubicBezTo>
                  <a:pt x="70852" y="34171"/>
                  <a:pt x="70737" y="34261"/>
                  <a:pt x="70650" y="35296"/>
                </a:cubicBezTo>
                <a:cubicBezTo>
                  <a:pt x="70553" y="36473"/>
                  <a:pt x="70592" y="37844"/>
                  <a:pt x="70891" y="38814"/>
                </a:cubicBezTo>
                <a:cubicBezTo>
                  <a:pt x="71113" y="39538"/>
                  <a:pt x="71345" y="40469"/>
                  <a:pt x="71847" y="41064"/>
                </a:cubicBezTo>
                <a:cubicBezTo>
                  <a:pt x="72310" y="41621"/>
                  <a:pt x="72532" y="41582"/>
                  <a:pt x="73044" y="42021"/>
                </a:cubicBezTo>
                <a:cubicBezTo>
                  <a:pt x="73440" y="42358"/>
                  <a:pt x="73768" y="42720"/>
                  <a:pt x="74242" y="42992"/>
                </a:cubicBezTo>
                <a:cubicBezTo>
                  <a:pt x="74493" y="43134"/>
                  <a:pt x="74705" y="43160"/>
                  <a:pt x="74956" y="43315"/>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1" name="Google Shape;391;p34"/>
          <p:cNvSpPr/>
          <p:nvPr/>
        </p:nvSpPr>
        <p:spPr>
          <a:xfrm>
            <a:off x="7804150" y="5000625"/>
            <a:ext cx="1073150" cy="706437"/>
          </a:xfrm>
          <a:custGeom>
            <a:avLst/>
            <a:gdLst/>
            <a:ahLst/>
            <a:cxnLst/>
            <a:rect l="l" t="t" r="r" b="b"/>
            <a:pathLst>
              <a:path w="120000" h="120000" extrusionOk="0">
                <a:moveTo>
                  <a:pt x="0" y="7591"/>
                </a:moveTo>
                <a:cubicBezTo>
                  <a:pt x="604" y="11020"/>
                  <a:pt x="1450" y="14571"/>
                  <a:pt x="2014" y="18183"/>
                </a:cubicBezTo>
                <a:cubicBezTo>
                  <a:pt x="3183" y="25408"/>
                  <a:pt x="2901" y="32571"/>
                  <a:pt x="4029" y="39489"/>
                </a:cubicBezTo>
                <a:cubicBezTo>
                  <a:pt x="5117" y="46285"/>
                  <a:pt x="6689" y="50265"/>
                  <a:pt x="9026" y="56142"/>
                </a:cubicBezTo>
                <a:cubicBezTo>
                  <a:pt x="10678" y="60244"/>
                  <a:pt x="12128" y="64530"/>
                  <a:pt x="14022" y="68326"/>
                </a:cubicBezTo>
                <a:cubicBezTo>
                  <a:pt x="16803" y="73959"/>
                  <a:pt x="19905" y="78000"/>
                  <a:pt x="23008" y="81979"/>
                </a:cubicBezTo>
                <a:cubicBezTo>
                  <a:pt x="26474" y="86448"/>
                  <a:pt x="32196" y="94346"/>
                  <a:pt x="35983" y="97163"/>
                </a:cubicBezTo>
                <a:cubicBezTo>
                  <a:pt x="38159" y="98755"/>
                  <a:pt x="41544" y="100163"/>
                  <a:pt x="44002" y="101755"/>
                </a:cubicBezTo>
                <a:cubicBezTo>
                  <a:pt x="49120" y="105122"/>
                  <a:pt x="54036" y="108795"/>
                  <a:pt x="58992" y="112346"/>
                </a:cubicBezTo>
                <a:cubicBezTo>
                  <a:pt x="61732" y="114306"/>
                  <a:pt x="64150" y="115775"/>
                  <a:pt x="66971" y="116938"/>
                </a:cubicBezTo>
                <a:cubicBezTo>
                  <a:pt x="69187" y="117857"/>
                  <a:pt x="72733" y="119632"/>
                  <a:pt x="74989" y="119938"/>
                </a:cubicBezTo>
                <a:cubicBezTo>
                  <a:pt x="83210" y="121040"/>
                  <a:pt x="96588" y="122938"/>
                  <a:pt x="103962" y="118408"/>
                </a:cubicBezTo>
                <a:cubicBezTo>
                  <a:pt x="109160" y="115224"/>
                  <a:pt x="110369" y="108244"/>
                  <a:pt x="113955" y="101755"/>
                </a:cubicBezTo>
                <a:cubicBezTo>
                  <a:pt x="117219" y="95938"/>
                  <a:pt x="119194" y="92510"/>
                  <a:pt x="119959" y="85040"/>
                </a:cubicBezTo>
                <a:cubicBezTo>
                  <a:pt x="120483" y="79775"/>
                  <a:pt x="119838" y="74632"/>
                  <a:pt x="118952" y="69857"/>
                </a:cubicBezTo>
                <a:cubicBezTo>
                  <a:pt x="118065" y="65142"/>
                  <a:pt x="116534" y="62204"/>
                  <a:pt x="114963" y="57673"/>
                </a:cubicBezTo>
                <a:cubicBezTo>
                  <a:pt x="113149" y="52408"/>
                  <a:pt x="110973" y="48857"/>
                  <a:pt x="108959" y="44020"/>
                </a:cubicBezTo>
                <a:cubicBezTo>
                  <a:pt x="107226" y="39918"/>
                  <a:pt x="105815" y="38204"/>
                  <a:pt x="103962" y="34897"/>
                </a:cubicBezTo>
                <a:cubicBezTo>
                  <a:pt x="101020" y="29632"/>
                  <a:pt x="98240" y="25714"/>
                  <a:pt x="94976" y="21244"/>
                </a:cubicBezTo>
                <a:cubicBezTo>
                  <a:pt x="92679" y="18122"/>
                  <a:pt x="90785" y="15734"/>
                  <a:pt x="88972" y="13653"/>
                </a:cubicBezTo>
                <a:cubicBezTo>
                  <a:pt x="86232" y="10530"/>
                  <a:pt x="84137" y="9061"/>
                  <a:pt x="80953" y="7591"/>
                </a:cubicBezTo>
                <a:cubicBezTo>
                  <a:pt x="78294" y="6367"/>
                  <a:pt x="75594" y="5693"/>
                  <a:pt x="72975" y="4530"/>
                </a:cubicBezTo>
                <a:cubicBezTo>
                  <a:pt x="68703" y="2632"/>
                  <a:pt x="65157" y="2693"/>
                  <a:pt x="60967" y="1469"/>
                </a:cubicBezTo>
                <a:cubicBezTo>
                  <a:pt x="56856" y="244"/>
                  <a:pt x="53270" y="183"/>
                  <a:pt x="48999" y="0"/>
                </a:cubicBezTo>
                <a:cubicBezTo>
                  <a:pt x="43881" y="-183"/>
                  <a:pt x="38522" y="-306"/>
                  <a:pt x="34009" y="1469"/>
                </a:cubicBezTo>
                <a:cubicBezTo>
                  <a:pt x="32155" y="2204"/>
                  <a:pt x="30866" y="2326"/>
                  <a:pt x="29012" y="3000"/>
                </a:cubicBezTo>
                <a:cubicBezTo>
                  <a:pt x="28690" y="3000"/>
                  <a:pt x="28327" y="3000"/>
                  <a:pt x="28005" y="3000"/>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2" name="Google Shape;392;p34"/>
          <p:cNvSpPr/>
          <p:nvPr/>
        </p:nvSpPr>
        <p:spPr>
          <a:xfrm>
            <a:off x="7804150" y="1320800"/>
            <a:ext cx="955675" cy="1822450"/>
          </a:xfrm>
          <a:custGeom>
            <a:avLst/>
            <a:gdLst/>
            <a:ahLst/>
            <a:cxnLst/>
            <a:rect l="l" t="t" r="r" b="b"/>
            <a:pathLst>
              <a:path w="120000" h="120000" extrusionOk="0">
                <a:moveTo>
                  <a:pt x="99796" y="1185"/>
                </a:moveTo>
                <a:cubicBezTo>
                  <a:pt x="97943" y="948"/>
                  <a:pt x="95231" y="94"/>
                  <a:pt x="93062" y="0"/>
                </a:cubicBezTo>
                <a:cubicBezTo>
                  <a:pt x="84790" y="-379"/>
                  <a:pt x="76926" y="-189"/>
                  <a:pt x="69514" y="1778"/>
                </a:cubicBezTo>
                <a:cubicBezTo>
                  <a:pt x="60429" y="4196"/>
                  <a:pt x="52655" y="7231"/>
                  <a:pt x="44836" y="10598"/>
                </a:cubicBezTo>
                <a:cubicBezTo>
                  <a:pt x="35796" y="14487"/>
                  <a:pt x="26531" y="18873"/>
                  <a:pt x="19073" y="23521"/>
                </a:cubicBezTo>
                <a:cubicBezTo>
                  <a:pt x="16090" y="25370"/>
                  <a:pt x="12338" y="27433"/>
                  <a:pt x="10124" y="28832"/>
                </a:cubicBezTo>
                <a:cubicBezTo>
                  <a:pt x="7322" y="30586"/>
                  <a:pt x="6689" y="31416"/>
                  <a:pt x="5604" y="33526"/>
                </a:cubicBezTo>
                <a:cubicBezTo>
                  <a:pt x="3615" y="37415"/>
                  <a:pt x="2485" y="41351"/>
                  <a:pt x="1129" y="45287"/>
                </a:cubicBezTo>
                <a:cubicBezTo>
                  <a:pt x="-768" y="50717"/>
                  <a:pt x="0" y="56265"/>
                  <a:pt x="0" y="61766"/>
                </a:cubicBezTo>
                <a:cubicBezTo>
                  <a:pt x="0" y="66556"/>
                  <a:pt x="-180" y="71132"/>
                  <a:pt x="1129" y="75874"/>
                </a:cubicBezTo>
                <a:cubicBezTo>
                  <a:pt x="2531" y="81019"/>
                  <a:pt x="6734" y="85761"/>
                  <a:pt x="10124" y="90574"/>
                </a:cubicBezTo>
                <a:cubicBezTo>
                  <a:pt x="12474" y="93894"/>
                  <a:pt x="14644" y="96052"/>
                  <a:pt x="19073" y="98802"/>
                </a:cubicBezTo>
                <a:cubicBezTo>
                  <a:pt x="22372" y="100841"/>
                  <a:pt x="28067" y="103852"/>
                  <a:pt x="31412" y="105275"/>
                </a:cubicBezTo>
                <a:cubicBezTo>
                  <a:pt x="35661" y="107101"/>
                  <a:pt x="41446" y="108595"/>
                  <a:pt x="45966" y="110563"/>
                </a:cubicBezTo>
                <a:cubicBezTo>
                  <a:pt x="51796" y="113100"/>
                  <a:pt x="57175" y="116372"/>
                  <a:pt x="63909" y="118221"/>
                </a:cubicBezTo>
                <a:cubicBezTo>
                  <a:pt x="65762" y="118719"/>
                  <a:pt x="67344" y="119051"/>
                  <a:pt x="69514" y="119383"/>
                </a:cubicBezTo>
                <a:cubicBezTo>
                  <a:pt x="72497" y="119810"/>
                  <a:pt x="75344" y="119834"/>
                  <a:pt x="78508" y="119976"/>
                </a:cubicBezTo>
                <a:cubicBezTo>
                  <a:pt x="82666" y="120165"/>
                  <a:pt x="88271" y="120355"/>
                  <a:pt x="91932" y="119383"/>
                </a:cubicBezTo>
                <a:cubicBezTo>
                  <a:pt x="97355" y="117937"/>
                  <a:pt x="101875" y="114831"/>
                  <a:pt x="105401" y="112341"/>
                </a:cubicBezTo>
                <a:cubicBezTo>
                  <a:pt x="109649" y="109353"/>
                  <a:pt x="113446" y="106318"/>
                  <a:pt x="116610" y="102928"/>
                </a:cubicBezTo>
                <a:cubicBezTo>
                  <a:pt x="119276" y="100082"/>
                  <a:pt x="119502" y="97190"/>
                  <a:pt x="119954" y="94107"/>
                </a:cubicBezTo>
                <a:cubicBezTo>
                  <a:pt x="121175" y="85690"/>
                  <a:pt x="120903" y="76561"/>
                  <a:pt x="118870" y="68215"/>
                </a:cubicBezTo>
                <a:cubicBezTo>
                  <a:pt x="117740" y="63497"/>
                  <a:pt x="115389" y="59253"/>
                  <a:pt x="113265" y="54700"/>
                </a:cubicBezTo>
                <a:cubicBezTo>
                  <a:pt x="111502" y="50930"/>
                  <a:pt x="108519" y="47326"/>
                  <a:pt x="106531" y="43532"/>
                </a:cubicBezTo>
                <a:cubicBezTo>
                  <a:pt x="104542" y="39810"/>
                  <a:pt x="103322" y="36917"/>
                  <a:pt x="99796" y="33526"/>
                </a:cubicBezTo>
                <a:cubicBezTo>
                  <a:pt x="97988" y="31772"/>
                  <a:pt x="94644" y="29994"/>
                  <a:pt x="93062" y="28239"/>
                </a:cubicBezTo>
                <a:cubicBezTo>
                  <a:pt x="91796" y="26816"/>
                  <a:pt x="90983" y="25465"/>
                  <a:pt x="89717" y="24113"/>
                </a:cubicBezTo>
                <a:cubicBezTo>
                  <a:pt x="88949" y="23260"/>
                  <a:pt x="88542" y="22596"/>
                  <a:pt x="87457" y="21766"/>
                </a:cubicBezTo>
                <a:cubicBezTo>
                  <a:pt x="86553" y="21078"/>
                  <a:pt x="84474" y="20296"/>
                  <a:pt x="84112" y="19988"/>
                </a:cubicBezTo>
                <a:cubicBezTo>
                  <a:pt x="83299" y="19324"/>
                  <a:pt x="83028" y="19158"/>
                  <a:pt x="81853" y="18233"/>
                </a:cubicBezTo>
                <a:cubicBezTo>
                  <a:pt x="80949" y="17545"/>
                  <a:pt x="79050" y="16289"/>
                  <a:pt x="78508" y="15886"/>
                </a:cubicBezTo>
                <a:cubicBezTo>
                  <a:pt x="77785" y="15340"/>
                  <a:pt x="78101" y="15245"/>
                  <a:pt x="77378" y="14700"/>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3" name="Google Shape;393;p34"/>
          <p:cNvSpPr/>
          <p:nvPr/>
        </p:nvSpPr>
        <p:spPr>
          <a:xfrm>
            <a:off x="4348162" y="3276600"/>
            <a:ext cx="2859087" cy="1135062"/>
          </a:xfrm>
          <a:custGeom>
            <a:avLst/>
            <a:gdLst/>
            <a:ahLst/>
            <a:cxnLst/>
            <a:rect l="l" t="t" r="r" b="b"/>
            <a:pathLst>
              <a:path w="120000" h="120000" extrusionOk="0">
                <a:moveTo>
                  <a:pt x="20241" y="77436"/>
                </a:moveTo>
                <a:cubicBezTo>
                  <a:pt x="21405" y="77664"/>
                  <a:pt x="22479" y="78159"/>
                  <a:pt x="23628" y="78388"/>
                </a:cubicBezTo>
                <a:cubicBezTo>
                  <a:pt x="25578" y="78769"/>
                  <a:pt x="27346" y="79720"/>
                  <a:pt x="29251" y="80291"/>
                </a:cubicBezTo>
                <a:cubicBezTo>
                  <a:pt x="31292" y="80901"/>
                  <a:pt x="33272" y="79454"/>
                  <a:pt x="35253" y="81243"/>
                </a:cubicBezTo>
                <a:cubicBezTo>
                  <a:pt x="37294" y="83109"/>
                  <a:pt x="40967" y="83413"/>
                  <a:pt x="43114" y="84060"/>
                </a:cubicBezTo>
                <a:cubicBezTo>
                  <a:pt x="47498" y="85393"/>
                  <a:pt x="51851" y="87030"/>
                  <a:pt x="56250" y="87829"/>
                </a:cubicBezTo>
                <a:cubicBezTo>
                  <a:pt x="57535" y="88058"/>
                  <a:pt x="58745" y="88515"/>
                  <a:pt x="60000" y="88781"/>
                </a:cubicBezTo>
                <a:cubicBezTo>
                  <a:pt x="63446" y="89543"/>
                  <a:pt x="67029" y="88781"/>
                  <a:pt x="70491" y="88781"/>
                </a:cubicBezTo>
              </a:path>
              <a:path w="120000" h="120000" extrusionOk="0">
                <a:moveTo>
                  <a:pt x="76870" y="85964"/>
                </a:moveTo>
                <a:cubicBezTo>
                  <a:pt x="77838" y="85469"/>
                  <a:pt x="78926" y="84441"/>
                  <a:pt x="79863" y="84060"/>
                </a:cubicBezTo>
                <a:cubicBezTo>
                  <a:pt x="82615" y="82956"/>
                  <a:pt x="85275" y="82271"/>
                  <a:pt x="88117" y="82157"/>
                </a:cubicBezTo>
                <a:cubicBezTo>
                  <a:pt x="93786" y="81967"/>
                  <a:pt x="99758" y="80862"/>
                  <a:pt x="105366" y="83109"/>
                </a:cubicBezTo>
                <a:cubicBezTo>
                  <a:pt x="106696" y="83642"/>
                  <a:pt x="108329" y="85545"/>
                  <a:pt x="109493" y="85964"/>
                </a:cubicBezTo>
                <a:cubicBezTo>
                  <a:pt x="110188" y="86230"/>
                  <a:pt x="110355" y="85355"/>
                  <a:pt x="110612" y="86878"/>
                </a:cubicBezTo>
                <a:cubicBezTo>
                  <a:pt x="110914" y="88705"/>
                  <a:pt x="110430" y="91218"/>
                  <a:pt x="110234" y="92550"/>
                </a:cubicBezTo>
                <a:cubicBezTo>
                  <a:pt x="109916" y="94758"/>
                  <a:pt x="109327" y="96852"/>
                  <a:pt x="108737" y="98223"/>
                </a:cubicBezTo>
                <a:cubicBezTo>
                  <a:pt x="107150" y="101840"/>
                  <a:pt x="105321" y="105989"/>
                  <a:pt x="103492" y="108616"/>
                </a:cubicBezTo>
                <a:cubicBezTo>
                  <a:pt x="101269" y="111814"/>
                  <a:pt x="98594" y="113451"/>
                  <a:pt x="96371" y="116154"/>
                </a:cubicBezTo>
                <a:cubicBezTo>
                  <a:pt x="95177" y="117601"/>
                  <a:pt x="93544" y="117982"/>
                  <a:pt x="92244" y="119010"/>
                </a:cubicBezTo>
                <a:cubicBezTo>
                  <a:pt x="91171" y="119847"/>
                  <a:pt x="90037" y="119885"/>
                  <a:pt x="88873" y="119961"/>
                </a:cubicBezTo>
                <a:cubicBezTo>
                  <a:pt x="85865" y="120190"/>
                  <a:pt x="82358" y="121027"/>
                  <a:pt x="79486" y="119010"/>
                </a:cubicBezTo>
                <a:cubicBezTo>
                  <a:pt x="78548" y="118362"/>
                  <a:pt x="77868" y="117144"/>
                  <a:pt x="76870" y="116154"/>
                </a:cubicBezTo>
                <a:cubicBezTo>
                  <a:pt x="75903" y="115203"/>
                  <a:pt x="74361" y="113832"/>
                  <a:pt x="73499" y="112385"/>
                </a:cubicBezTo>
                <a:cubicBezTo>
                  <a:pt x="73454" y="112309"/>
                  <a:pt x="72320" y="109758"/>
                  <a:pt x="71987" y="108616"/>
                </a:cubicBezTo>
                <a:cubicBezTo>
                  <a:pt x="71685" y="107512"/>
                  <a:pt x="71746" y="107474"/>
                  <a:pt x="71625" y="105761"/>
                </a:cubicBezTo>
                <a:cubicBezTo>
                  <a:pt x="71473" y="103515"/>
                  <a:pt x="71700" y="101878"/>
                  <a:pt x="71987" y="100126"/>
                </a:cubicBezTo>
                <a:cubicBezTo>
                  <a:pt x="72184" y="98946"/>
                  <a:pt x="72169" y="97500"/>
                  <a:pt x="72365" y="96319"/>
                </a:cubicBezTo>
                <a:cubicBezTo>
                  <a:pt x="72592" y="95025"/>
                  <a:pt x="72517" y="95748"/>
                  <a:pt x="72743" y="94454"/>
                </a:cubicBezTo>
              </a:path>
              <a:path w="120000" h="120000" extrusionOk="0">
                <a:moveTo>
                  <a:pt x="97112" y="77436"/>
                </a:moveTo>
                <a:cubicBezTo>
                  <a:pt x="98382" y="77436"/>
                  <a:pt x="99304" y="78236"/>
                  <a:pt x="100498" y="78388"/>
                </a:cubicBezTo>
                <a:cubicBezTo>
                  <a:pt x="101481" y="78540"/>
                  <a:pt x="102207" y="78997"/>
                  <a:pt x="103114" y="79340"/>
                </a:cubicBezTo>
                <a:cubicBezTo>
                  <a:pt x="105638" y="80253"/>
                  <a:pt x="108556" y="79225"/>
                  <a:pt x="110990" y="78388"/>
                </a:cubicBezTo>
                <a:cubicBezTo>
                  <a:pt x="112441" y="77893"/>
                  <a:pt x="113393" y="76941"/>
                  <a:pt x="114739" y="75571"/>
                </a:cubicBezTo>
                <a:cubicBezTo>
                  <a:pt x="115857" y="74428"/>
                  <a:pt x="116734" y="73210"/>
                  <a:pt x="117747" y="71763"/>
                </a:cubicBezTo>
                <a:cubicBezTo>
                  <a:pt x="118291" y="71002"/>
                  <a:pt x="118715" y="70203"/>
                  <a:pt x="119244" y="68946"/>
                </a:cubicBezTo>
                <a:cubicBezTo>
                  <a:pt x="119606" y="68109"/>
                  <a:pt x="119863" y="68565"/>
                  <a:pt x="119984" y="67043"/>
                </a:cubicBezTo>
                <a:cubicBezTo>
                  <a:pt x="120362" y="62398"/>
                  <a:pt x="120347" y="53680"/>
                  <a:pt x="119244" y="50063"/>
                </a:cubicBezTo>
                <a:cubicBezTo>
                  <a:pt x="118866" y="48807"/>
                  <a:pt x="118306" y="46903"/>
                  <a:pt x="117747" y="45342"/>
                </a:cubicBezTo>
                <a:cubicBezTo>
                  <a:pt x="117339" y="44200"/>
                  <a:pt x="116870" y="43324"/>
                  <a:pt x="116235" y="42525"/>
                </a:cubicBezTo>
                <a:cubicBezTo>
                  <a:pt x="115419" y="41497"/>
                  <a:pt x="114210" y="39327"/>
                  <a:pt x="113620" y="38718"/>
                </a:cubicBezTo>
                <a:cubicBezTo>
                  <a:pt x="113136" y="38223"/>
                  <a:pt x="111821" y="37157"/>
                  <a:pt x="111368" y="36852"/>
                </a:cubicBezTo>
                <a:cubicBezTo>
                  <a:pt x="109554" y="35634"/>
                  <a:pt x="105517" y="35977"/>
                  <a:pt x="103869" y="37804"/>
                </a:cubicBezTo>
                <a:cubicBezTo>
                  <a:pt x="103310" y="38413"/>
                  <a:pt x="102887" y="38642"/>
                  <a:pt x="102373" y="39670"/>
                </a:cubicBezTo>
                <a:cubicBezTo>
                  <a:pt x="101662" y="41078"/>
                  <a:pt x="101254" y="42677"/>
                  <a:pt x="100861" y="44390"/>
                </a:cubicBezTo>
                <a:cubicBezTo>
                  <a:pt x="100498" y="45989"/>
                  <a:pt x="100347" y="47588"/>
                  <a:pt x="100120" y="49111"/>
                </a:cubicBezTo>
                <a:cubicBezTo>
                  <a:pt x="99879" y="50710"/>
                  <a:pt x="99198" y="52271"/>
                  <a:pt x="98987" y="53832"/>
                </a:cubicBezTo>
                <a:cubicBezTo>
                  <a:pt x="98745" y="55583"/>
                  <a:pt x="98488" y="56916"/>
                  <a:pt x="98246" y="58553"/>
                </a:cubicBezTo>
                <a:cubicBezTo>
                  <a:pt x="98019" y="60114"/>
                  <a:pt x="97626" y="61751"/>
                  <a:pt x="97490" y="63274"/>
                </a:cubicBezTo>
                <a:cubicBezTo>
                  <a:pt x="97157" y="66967"/>
                  <a:pt x="97490" y="71763"/>
                  <a:pt x="97490" y="75571"/>
                </a:cubicBezTo>
              </a:path>
              <a:path w="120000" h="120000" extrusionOk="0">
                <a:moveTo>
                  <a:pt x="0" y="83109"/>
                </a:moveTo>
                <a:cubicBezTo>
                  <a:pt x="1572" y="83109"/>
                  <a:pt x="3038" y="82918"/>
                  <a:pt x="4504" y="84060"/>
                </a:cubicBezTo>
                <a:cubicBezTo>
                  <a:pt x="6182" y="85355"/>
                  <a:pt x="6863" y="86573"/>
                  <a:pt x="8616" y="86878"/>
                </a:cubicBezTo>
                <a:cubicBezTo>
                  <a:pt x="10536" y="87220"/>
                  <a:pt x="12698" y="88781"/>
                  <a:pt x="14618" y="89733"/>
                </a:cubicBezTo>
                <a:cubicBezTo>
                  <a:pt x="18911" y="91827"/>
                  <a:pt x="23325" y="92360"/>
                  <a:pt x="27739" y="92550"/>
                </a:cubicBezTo>
                <a:cubicBezTo>
                  <a:pt x="31277" y="92703"/>
                  <a:pt x="34724" y="94187"/>
                  <a:pt x="38246" y="94454"/>
                </a:cubicBezTo>
                <a:cubicBezTo>
                  <a:pt x="41496" y="94682"/>
                  <a:pt x="44746" y="94454"/>
                  <a:pt x="47996" y="94454"/>
                </a:cubicBezTo>
              </a:path>
              <a:path w="120000" h="120000" extrusionOk="0">
                <a:moveTo>
                  <a:pt x="17248" y="48159"/>
                </a:moveTo>
                <a:cubicBezTo>
                  <a:pt x="16991" y="49720"/>
                  <a:pt x="17127" y="49796"/>
                  <a:pt x="16870" y="51015"/>
                </a:cubicBezTo>
                <a:cubicBezTo>
                  <a:pt x="16371" y="53375"/>
                  <a:pt x="16341" y="52081"/>
                  <a:pt x="16114" y="54784"/>
                </a:cubicBezTo>
                <a:cubicBezTo>
                  <a:pt x="15978" y="56421"/>
                  <a:pt x="15827" y="57449"/>
                  <a:pt x="15752" y="59505"/>
                </a:cubicBezTo>
                <a:cubicBezTo>
                  <a:pt x="15434" y="68299"/>
                  <a:pt x="15873" y="76142"/>
                  <a:pt x="18745" y="82157"/>
                </a:cubicBezTo>
                <a:cubicBezTo>
                  <a:pt x="19863" y="84517"/>
                  <a:pt x="21693" y="86497"/>
                  <a:pt x="22872" y="87829"/>
                </a:cubicBezTo>
                <a:cubicBezTo>
                  <a:pt x="23794" y="88895"/>
                  <a:pt x="24656" y="88934"/>
                  <a:pt x="25502" y="89733"/>
                </a:cubicBezTo>
                <a:cubicBezTo>
                  <a:pt x="26243" y="90418"/>
                  <a:pt x="26500" y="91142"/>
                  <a:pt x="27377" y="91598"/>
                </a:cubicBezTo>
                <a:cubicBezTo>
                  <a:pt x="29040" y="92474"/>
                  <a:pt x="30884" y="93197"/>
                  <a:pt x="32622" y="92550"/>
                </a:cubicBezTo>
                <a:cubicBezTo>
                  <a:pt x="33378" y="92284"/>
                  <a:pt x="36734" y="90380"/>
                  <a:pt x="37868" y="89733"/>
                </a:cubicBezTo>
                <a:cubicBezTo>
                  <a:pt x="43144" y="86763"/>
                  <a:pt x="48571" y="87829"/>
                  <a:pt x="53998" y="87829"/>
                </a:cubicBezTo>
                <a:cubicBezTo>
                  <a:pt x="62146" y="87829"/>
                  <a:pt x="71095" y="90418"/>
                  <a:pt x="79123" y="86878"/>
                </a:cubicBezTo>
                <a:cubicBezTo>
                  <a:pt x="81481" y="85850"/>
                  <a:pt x="83673" y="84631"/>
                  <a:pt x="85865" y="82157"/>
                </a:cubicBezTo>
                <a:cubicBezTo>
                  <a:pt x="87724" y="80063"/>
                  <a:pt x="89659" y="77893"/>
                  <a:pt x="91489" y="75571"/>
                </a:cubicBezTo>
                <a:cubicBezTo>
                  <a:pt x="94074" y="72296"/>
                  <a:pt x="96296" y="70621"/>
                  <a:pt x="98987" y="67994"/>
                </a:cubicBezTo>
                <a:cubicBezTo>
                  <a:pt x="100574" y="66434"/>
                  <a:pt x="102161" y="64644"/>
                  <a:pt x="103869" y="64225"/>
                </a:cubicBezTo>
                <a:cubicBezTo>
                  <a:pt x="105154" y="63883"/>
                  <a:pt x="106515" y="63730"/>
                  <a:pt x="107619" y="63274"/>
                </a:cubicBezTo>
                <a:cubicBezTo>
                  <a:pt x="108344" y="62969"/>
                  <a:pt x="108843" y="62626"/>
                  <a:pt x="109493" y="62322"/>
                </a:cubicBezTo>
                <a:cubicBezTo>
                  <a:pt x="110173" y="61979"/>
                  <a:pt x="110748" y="61675"/>
                  <a:pt x="111368" y="61408"/>
                </a:cubicBezTo>
                <a:cubicBezTo>
                  <a:pt x="112244" y="61027"/>
                  <a:pt x="113091" y="60837"/>
                  <a:pt x="113998" y="60456"/>
                </a:cubicBezTo>
                <a:cubicBezTo>
                  <a:pt x="114678" y="60152"/>
                  <a:pt x="115268" y="59619"/>
                  <a:pt x="115873" y="59505"/>
                </a:cubicBezTo>
                <a:cubicBezTo>
                  <a:pt x="116371" y="59390"/>
                  <a:pt x="116870" y="59657"/>
                  <a:pt x="117369" y="59505"/>
                </a:cubicBezTo>
                <a:cubicBezTo>
                  <a:pt x="117097" y="55659"/>
                  <a:pt x="117278" y="53565"/>
                  <a:pt x="116613" y="50063"/>
                </a:cubicBezTo>
                <a:cubicBezTo>
                  <a:pt x="115298" y="43096"/>
                  <a:pt x="113756" y="41345"/>
                  <a:pt x="111368" y="36852"/>
                </a:cubicBezTo>
                <a:cubicBezTo>
                  <a:pt x="104640" y="24175"/>
                  <a:pt x="97067" y="14581"/>
                  <a:pt x="88873" y="9441"/>
                </a:cubicBezTo>
                <a:cubicBezTo>
                  <a:pt x="82796" y="5634"/>
                  <a:pt x="75993" y="2931"/>
                  <a:pt x="69750" y="1903"/>
                </a:cubicBezTo>
                <a:cubicBezTo>
                  <a:pt x="64731" y="1065"/>
                  <a:pt x="59788" y="0"/>
                  <a:pt x="54739" y="0"/>
                </a:cubicBezTo>
                <a:cubicBezTo>
                  <a:pt x="51307" y="0"/>
                  <a:pt x="47573" y="-1027"/>
                  <a:pt x="44247" y="951"/>
                </a:cubicBezTo>
                <a:cubicBezTo>
                  <a:pt x="43250" y="1560"/>
                  <a:pt x="42252" y="3540"/>
                  <a:pt x="41239" y="4720"/>
                </a:cubicBezTo>
                <a:cubicBezTo>
                  <a:pt x="39017" y="7347"/>
                  <a:pt x="36719" y="9555"/>
                  <a:pt x="34497" y="12296"/>
                </a:cubicBezTo>
                <a:cubicBezTo>
                  <a:pt x="31005" y="16637"/>
                  <a:pt x="27694" y="21472"/>
                  <a:pt x="24368" y="26459"/>
                </a:cubicBezTo>
                <a:cubicBezTo>
                  <a:pt x="23129" y="28324"/>
                  <a:pt x="20922" y="30723"/>
                  <a:pt x="19879" y="33045"/>
                </a:cubicBezTo>
                <a:cubicBezTo>
                  <a:pt x="19652" y="33540"/>
                  <a:pt x="19289" y="35482"/>
                  <a:pt x="19123" y="35901"/>
                </a:cubicBezTo>
                <a:cubicBezTo>
                  <a:pt x="18775" y="36776"/>
                  <a:pt x="18654" y="36624"/>
                  <a:pt x="18367" y="37804"/>
                </a:cubicBezTo>
                <a:cubicBezTo>
                  <a:pt x="18080" y="38946"/>
                  <a:pt x="18155" y="40241"/>
                  <a:pt x="18004" y="41573"/>
                </a:cubicBezTo>
                <a:cubicBezTo>
                  <a:pt x="17823" y="43210"/>
                  <a:pt x="17732" y="44352"/>
                  <a:pt x="17626" y="46294"/>
                </a:cubicBezTo>
                <a:cubicBezTo>
                  <a:pt x="17581" y="47208"/>
                  <a:pt x="17656" y="48197"/>
                  <a:pt x="17626" y="49111"/>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4" name="Google Shape;394;p34"/>
          <p:cNvSpPr/>
          <p:nvPr/>
        </p:nvSpPr>
        <p:spPr>
          <a:xfrm>
            <a:off x="2276475" y="4697412"/>
            <a:ext cx="4573587" cy="866775"/>
          </a:xfrm>
          <a:custGeom>
            <a:avLst/>
            <a:gdLst/>
            <a:ahLst/>
            <a:cxnLst/>
            <a:rect l="l" t="t" r="r" b="b"/>
            <a:pathLst>
              <a:path w="120000" h="120000" extrusionOk="0">
                <a:moveTo>
                  <a:pt x="4450" y="90286"/>
                </a:moveTo>
                <a:cubicBezTo>
                  <a:pt x="6056" y="91084"/>
                  <a:pt x="7152" y="93477"/>
                  <a:pt x="8673" y="96468"/>
                </a:cubicBezTo>
                <a:cubicBezTo>
                  <a:pt x="11460" y="101902"/>
                  <a:pt x="14370" y="104395"/>
                  <a:pt x="17110" y="110078"/>
                </a:cubicBezTo>
                <a:cubicBezTo>
                  <a:pt x="19840" y="115712"/>
                  <a:pt x="22628" y="119002"/>
                  <a:pt x="25547" y="119950"/>
                </a:cubicBezTo>
                <a:cubicBezTo>
                  <a:pt x="27399" y="120548"/>
                  <a:pt x="29147" y="119950"/>
                  <a:pt x="30932" y="117507"/>
                </a:cubicBezTo>
                <a:cubicBezTo>
                  <a:pt x="33899" y="113419"/>
                  <a:pt x="37423" y="108334"/>
                  <a:pt x="39842" y="97714"/>
                </a:cubicBezTo>
                <a:cubicBezTo>
                  <a:pt x="40872" y="93178"/>
                  <a:pt x="41429" y="88242"/>
                  <a:pt x="42185" y="82858"/>
                </a:cubicBezTo>
                <a:cubicBezTo>
                  <a:pt x="42695" y="79268"/>
                  <a:pt x="43272" y="75579"/>
                  <a:pt x="43829" y="71740"/>
                </a:cubicBezTo>
                <a:cubicBezTo>
                  <a:pt x="44358" y="68051"/>
                  <a:pt x="44557" y="65010"/>
                  <a:pt x="44764" y="60623"/>
                </a:cubicBezTo>
                <a:cubicBezTo>
                  <a:pt x="44897" y="57831"/>
                  <a:pt x="44982" y="55338"/>
                  <a:pt x="45001" y="51948"/>
                </a:cubicBezTo>
                <a:cubicBezTo>
                  <a:pt x="45029" y="48159"/>
                  <a:pt x="44982" y="45168"/>
                  <a:pt x="44764" y="42077"/>
                </a:cubicBezTo>
                <a:cubicBezTo>
                  <a:pt x="44405" y="36992"/>
                  <a:pt x="43876" y="33402"/>
                  <a:pt x="43357" y="29713"/>
                </a:cubicBezTo>
                <a:cubicBezTo>
                  <a:pt x="42610" y="24378"/>
                  <a:pt x="41817" y="22235"/>
                  <a:pt x="40777" y="18545"/>
                </a:cubicBezTo>
                <a:cubicBezTo>
                  <a:pt x="39700" y="14756"/>
                  <a:pt x="38831" y="13261"/>
                  <a:pt x="37735" y="11167"/>
                </a:cubicBezTo>
                <a:cubicBezTo>
                  <a:pt x="36838" y="9472"/>
                  <a:pt x="36044" y="8375"/>
                  <a:pt x="35156" y="7428"/>
                </a:cubicBezTo>
                <a:cubicBezTo>
                  <a:pt x="34154" y="6381"/>
                  <a:pt x="33106" y="4686"/>
                  <a:pt x="32104" y="3739"/>
                </a:cubicBezTo>
                <a:cubicBezTo>
                  <a:pt x="30092" y="1794"/>
                  <a:pt x="28070" y="199"/>
                  <a:pt x="26019" y="0"/>
                </a:cubicBezTo>
                <a:cubicBezTo>
                  <a:pt x="23204" y="-299"/>
                  <a:pt x="20351" y="-498"/>
                  <a:pt x="17582" y="1246"/>
                </a:cubicBezTo>
                <a:cubicBezTo>
                  <a:pt x="15759" y="2393"/>
                  <a:pt x="14153" y="6431"/>
                  <a:pt x="12424" y="7428"/>
                </a:cubicBezTo>
                <a:cubicBezTo>
                  <a:pt x="11252" y="8126"/>
                  <a:pt x="10657" y="9422"/>
                  <a:pt x="9608" y="11167"/>
                </a:cubicBezTo>
                <a:cubicBezTo>
                  <a:pt x="8720" y="12663"/>
                  <a:pt x="7945" y="13959"/>
                  <a:pt x="7029" y="16103"/>
                </a:cubicBezTo>
                <a:cubicBezTo>
                  <a:pt x="6840" y="16551"/>
                  <a:pt x="6131" y="17698"/>
                  <a:pt x="5857" y="18545"/>
                </a:cubicBezTo>
                <a:cubicBezTo>
                  <a:pt x="5375" y="20091"/>
                  <a:pt x="4771" y="23980"/>
                  <a:pt x="4223" y="25974"/>
                </a:cubicBezTo>
                <a:cubicBezTo>
                  <a:pt x="3514" y="28566"/>
                  <a:pt x="2966" y="31458"/>
                  <a:pt x="2343" y="34648"/>
                </a:cubicBezTo>
                <a:cubicBezTo>
                  <a:pt x="1747" y="37690"/>
                  <a:pt x="1511" y="39534"/>
                  <a:pt x="1171" y="43273"/>
                </a:cubicBezTo>
                <a:cubicBezTo>
                  <a:pt x="878" y="46514"/>
                  <a:pt x="727" y="48658"/>
                  <a:pt x="472" y="51948"/>
                </a:cubicBezTo>
                <a:cubicBezTo>
                  <a:pt x="273" y="54441"/>
                  <a:pt x="85" y="56734"/>
                  <a:pt x="0" y="59376"/>
                </a:cubicBezTo>
                <a:cubicBezTo>
                  <a:pt x="-179" y="65159"/>
                  <a:pt x="37" y="71740"/>
                  <a:pt x="472" y="75429"/>
                </a:cubicBezTo>
                <a:cubicBezTo>
                  <a:pt x="1133" y="81013"/>
                  <a:pt x="2333" y="86447"/>
                  <a:pt x="3278" y="90286"/>
                </a:cubicBezTo>
                <a:cubicBezTo>
                  <a:pt x="4157" y="93876"/>
                  <a:pt x="5517" y="97017"/>
                  <a:pt x="6566" y="98961"/>
                </a:cubicBezTo>
                <a:cubicBezTo>
                  <a:pt x="7227" y="100207"/>
                  <a:pt x="8002" y="100556"/>
                  <a:pt x="8673" y="101404"/>
                </a:cubicBezTo>
                <a:cubicBezTo>
                  <a:pt x="9126" y="102002"/>
                  <a:pt x="9533" y="102600"/>
                  <a:pt x="10081" y="102650"/>
                </a:cubicBezTo>
                <a:cubicBezTo>
                  <a:pt x="11016" y="102750"/>
                  <a:pt x="11951" y="102650"/>
                  <a:pt x="12887" y="102650"/>
                </a:cubicBezTo>
              </a:path>
              <a:path w="120000" h="120000" extrusionOk="0">
                <a:moveTo>
                  <a:pt x="10081" y="51948"/>
                </a:moveTo>
                <a:cubicBezTo>
                  <a:pt x="9807" y="51100"/>
                  <a:pt x="9712" y="51599"/>
                  <a:pt x="9372" y="50702"/>
                </a:cubicBezTo>
                <a:cubicBezTo>
                  <a:pt x="9004" y="49705"/>
                  <a:pt x="8541" y="49356"/>
                  <a:pt x="8200" y="48259"/>
                </a:cubicBezTo>
                <a:cubicBezTo>
                  <a:pt x="7832" y="47062"/>
                  <a:pt x="7624" y="47860"/>
                  <a:pt x="7265" y="47012"/>
                </a:cubicBezTo>
                <a:cubicBezTo>
                  <a:pt x="6802" y="45866"/>
                  <a:pt x="6897" y="44719"/>
                  <a:pt x="6330" y="44520"/>
                </a:cubicBezTo>
                <a:cubicBezTo>
                  <a:pt x="5564" y="44270"/>
                  <a:pt x="4629" y="45317"/>
                  <a:pt x="4223" y="45766"/>
                </a:cubicBezTo>
                <a:cubicBezTo>
                  <a:pt x="3807" y="46215"/>
                  <a:pt x="3769" y="45916"/>
                  <a:pt x="3514" y="47012"/>
                </a:cubicBezTo>
                <a:cubicBezTo>
                  <a:pt x="3165" y="48458"/>
                  <a:pt x="3297" y="49854"/>
                  <a:pt x="3278" y="51948"/>
                </a:cubicBezTo>
                <a:cubicBezTo>
                  <a:pt x="3193" y="59775"/>
                  <a:pt x="3259" y="68400"/>
                  <a:pt x="3514" y="75429"/>
                </a:cubicBezTo>
                <a:cubicBezTo>
                  <a:pt x="3637" y="78919"/>
                  <a:pt x="3826" y="79468"/>
                  <a:pt x="4223" y="81611"/>
                </a:cubicBezTo>
                <a:cubicBezTo>
                  <a:pt x="4639" y="83805"/>
                  <a:pt x="5186" y="84004"/>
                  <a:pt x="5631" y="85351"/>
                </a:cubicBezTo>
                <a:cubicBezTo>
                  <a:pt x="6094" y="86746"/>
                  <a:pt x="6670" y="87395"/>
                  <a:pt x="7265" y="87793"/>
                </a:cubicBezTo>
                <a:cubicBezTo>
                  <a:pt x="8144" y="88342"/>
                  <a:pt x="10052" y="89389"/>
                  <a:pt x="10780" y="86597"/>
                </a:cubicBezTo>
                <a:cubicBezTo>
                  <a:pt x="11054" y="85550"/>
                  <a:pt x="11536" y="83456"/>
                  <a:pt x="11715" y="82858"/>
                </a:cubicBezTo>
                <a:cubicBezTo>
                  <a:pt x="12235" y="81213"/>
                  <a:pt x="12452" y="81462"/>
                  <a:pt x="12887" y="79169"/>
                </a:cubicBezTo>
                <a:cubicBezTo>
                  <a:pt x="13170" y="77673"/>
                  <a:pt x="13435" y="76227"/>
                  <a:pt x="13595" y="75429"/>
                </a:cubicBezTo>
                <a:cubicBezTo>
                  <a:pt x="13935" y="73685"/>
                  <a:pt x="14039" y="71391"/>
                  <a:pt x="14058" y="69248"/>
                </a:cubicBezTo>
                <a:cubicBezTo>
                  <a:pt x="14105" y="65060"/>
                  <a:pt x="14276" y="57681"/>
                  <a:pt x="13831" y="54441"/>
                </a:cubicBezTo>
                <a:cubicBezTo>
                  <a:pt x="13614" y="52845"/>
                  <a:pt x="13321" y="52447"/>
                  <a:pt x="12887" y="50702"/>
                </a:cubicBezTo>
                <a:cubicBezTo>
                  <a:pt x="12480" y="49056"/>
                  <a:pt x="12329" y="49256"/>
                  <a:pt x="11951" y="48259"/>
                </a:cubicBezTo>
                <a:cubicBezTo>
                  <a:pt x="11545" y="47212"/>
                  <a:pt x="11507" y="47162"/>
                  <a:pt x="11016" y="47012"/>
                </a:cubicBezTo>
                <a:cubicBezTo>
                  <a:pt x="9778" y="46663"/>
                  <a:pt x="8512" y="47012"/>
                  <a:pt x="7265" y="47012"/>
                </a:cubicBezTo>
              </a:path>
              <a:path w="120000" h="120000" extrusionOk="0">
                <a:moveTo>
                  <a:pt x="18981" y="81611"/>
                </a:moveTo>
                <a:cubicBezTo>
                  <a:pt x="22665" y="81611"/>
                  <a:pt x="26634" y="83855"/>
                  <a:pt x="30233" y="80415"/>
                </a:cubicBezTo>
                <a:cubicBezTo>
                  <a:pt x="30687" y="79966"/>
                  <a:pt x="31027" y="78471"/>
                  <a:pt x="31405" y="77922"/>
                </a:cubicBezTo>
                <a:cubicBezTo>
                  <a:pt x="31717" y="77474"/>
                  <a:pt x="32236" y="77922"/>
                  <a:pt x="32576" y="77922"/>
                </a:cubicBezTo>
              </a:path>
              <a:path w="120000" h="120000" extrusionOk="0">
                <a:moveTo>
                  <a:pt x="73827" y="90286"/>
                </a:moveTo>
                <a:cubicBezTo>
                  <a:pt x="75405" y="90535"/>
                  <a:pt x="76945" y="90835"/>
                  <a:pt x="78513" y="91533"/>
                </a:cubicBezTo>
                <a:cubicBezTo>
                  <a:pt x="79921" y="92131"/>
                  <a:pt x="81310" y="92629"/>
                  <a:pt x="82727" y="92779"/>
                </a:cubicBezTo>
                <a:cubicBezTo>
                  <a:pt x="84881" y="92978"/>
                  <a:pt x="86941" y="94474"/>
                  <a:pt x="89057" y="95222"/>
                </a:cubicBezTo>
                <a:cubicBezTo>
                  <a:pt x="90833" y="95870"/>
                  <a:pt x="92676" y="96368"/>
                  <a:pt x="94442" y="96468"/>
                </a:cubicBezTo>
                <a:cubicBezTo>
                  <a:pt x="98666" y="96767"/>
                  <a:pt x="102927" y="96119"/>
                  <a:pt x="107103" y="95222"/>
                </a:cubicBezTo>
                <a:cubicBezTo>
                  <a:pt x="108246" y="94972"/>
                  <a:pt x="109295" y="94972"/>
                  <a:pt x="110381" y="93975"/>
                </a:cubicBezTo>
                <a:cubicBezTo>
                  <a:pt x="111014" y="93377"/>
                  <a:pt x="111940" y="91832"/>
                  <a:pt x="112488" y="91533"/>
                </a:cubicBezTo>
                <a:cubicBezTo>
                  <a:pt x="113849" y="90835"/>
                  <a:pt x="115474" y="90735"/>
                  <a:pt x="116712" y="90286"/>
                </a:cubicBezTo>
                <a:cubicBezTo>
                  <a:pt x="117439" y="89987"/>
                  <a:pt x="118110" y="89389"/>
                  <a:pt x="118818" y="89040"/>
                </a:cubicBezTo>
                <a:cubicBezTo>
                  <a:pt x="119206" y="88840"/>
                  <a:pt x="119603" y="89140"/>
                  <a:pt x="119990" y="89040"/>
                </a:cubicBezTo>
                <a:cubicBezTo>
                  <a:pt x="119839" y="86447"/>
                  <a:pt x="120000" y="82758"/>
                  <a:pt x="119754" y="80415"/>
                </a:cubicBezTo>
                <a:cubicBezTo>
                  <a:pt x="119433" y="77424"/>
                  <a:pt x="118781" y="72638"/>
                  <a:pt x="118356" y="69248"/>
                </a:cubicBezTo>
                <a:cubicBezTo>
                  <a:pt x="117656" y="63664"/>
                  <a:pt x="116655" y="59077"/>
                  <a:pt x="116012" y="53194"/>
                </a:cubicBezTo>
                <a:cubicBezTo>
                  <a:pt x="115644" y="49804"/>
                  <a:pt x="115294" y="46614"/>
                  <a:pt x="114831" y="43273"/>
                </a:cubicBezTo>
                <a:cubicBezTo>
                  <a:pt x="114633" y="41828"/>
                  <a:pt x="114605" y="41329"/>
                  <a:pt x="114368" y="39584"/>
                </a:cubicBezTo>
                <a:cubicBezTo>
                  <a:pt x="114142" y="37889"/>
                  <a:pt x="114283" y="36443"/>
                  <a:pt x="113896" y="35895"/>
                </a:cubicBezTo>
                <a:cubicBezTo>
                  <a:pt x="110580" y="31009"/>
                  <a:pt x="106262" y="38138"/>
                  <a:pt x="103116" y="42077"/>
                </a:cubicBezTo>
                <a:cubicBezTo>
                  <a:pt x="100943" y="44819"/>
                  <a:pt x="98685" y="48059"/>
                  <a:pt x="96559" y="51948"/>
                </a:cubicBezTo>
                <a:cubicBezTo>
                  <a:pt x="93743" y="57133"/>
                  <a:pt x="91003" y="62567"/>
                  <a:pt x="88122" y="66805"/>
                </a:cubicBezTo>
                <a:cubicBezTo>
                  <a:pt x="86062" y="69846"/>
                  <a:pt x="84068" y="72089"/>
                  <a:pt x="82028" y="74233"/>
                </a:cubicBezTo>
                <a:cubicBezTo>
                  <a:pt x="81064" y="75230"/>
                  <a:pt x="80157" y="77025"/>
                  <a:pt x="79212" y="77922"/>
                </a:cubicBezTo>
                <a:cubicBezTo>
                  <a:pt x="78390" y="78670"/>
                  <a:pt x="77729" y="79069"/>
                  <a:pt x="76869" y="79169"/>
                </a:cubicBezTo>
                <a:cubicBezTo>
                  <a:pt x="74970" y="79368"/>
                  <a:pt x="72069" y="81761"/>
                  <a:pt x="70312" y="77922"/>
                </a:cubicBezTo>
                <a:cubicBezTo>
                  <a:pt x="69509" y="76177"/>
                  <a:pt x="68885" y="72488"/>
                  <a:pt x="68196" y="69248"/>
                </a:cubicBezTo>
                <a:cubicBezTo>
                  <a:pt x="67676" y="66805"/>
                  <a:pt x="67393" y="65957"/>
                  <a:pt x="67024" y="63066"/>
                </a:cubicBezTo>
                <a:cubicBezTo>
                  <a:pt x="66835" y="61570"/>
                  <a:pt x="66457" y="58928"/>
                  <a:pt x="66325" y="58130"/>
                </a:cubicBezTo>
                <a:cubicBezTo>
                  <a:pt x="66117" y="56834"/>
                  <a:pt x="65701" y="55039"/>
                  <a:pt x="65626" y="54441"/>
                </a:cubicBezTo>
                <a:cubicBezTo>
                  <a:pt x="65626" y="54042"/>
                  <a:pt x="65626" y="53593"/>
                  <a:pt x="65626" y="53194"/>
                </a:cubicBezTo>
                <a:cubicBezTo>
                  <a:pt x="66429" y="57432"/>
                  <a:pt x="66977" y="59825"/>
                  <a:pt x="67733" y="64312"/>
                </a:cubicBezTo>
                <a:cubicBezTo>
                  <a:pt x="69169" y="72837"/>
                  <a:pt x="70614" y="82509"/>
                  <a:pt x="72183" y="90286"/>
                </a:cubicBezTo>
                <a:cubicBezTo>
                  <a:pt x="72967" y="94175"/>
                  <a:pt x="73685" y="97914"/>
                  <a:pt x="74526" y="101404"/>
                </a:cubicBezTo>
                <a:cubicBezTo>
                  <a:pt x="74885" y="102899"/>
                  <a:pt x="75112" y="103946"/>
                  <a:pt x="75461" y="105143"/>
                </a:cubicBezTo>
                <a:cubicBezTo>
                  <a:pt x="75499" y="105292"/>
                  <a:pt x="75820" y="105891"/>
                  <a:pt x="75934" y="106339"/>
                </a:cubicBezTo>
              </a:path>
              <a:path w="120000" h="120000" extrusionOk="0">
                <a:moveTo>
                  <a:pt x="98666" y="85351"/>
                </a:moveTo>
                <a:cubicBezTo>
                  <a:pt x="101793" y="85351"/>
                  <a:pt x="104911" y="85351"/>
                  <a:pt x="108038" y="85351"/>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5" name="Google Shape;395;p34"/>
          <p:cNvSpPr/>
          <p:nvPr/>
        </p:nvSpPr>
        <p:spPr>
          <a:xfrm>
            <a:off x="4867275" y="312737"/>
            <a:ext cx="3527425" cy="1616075"/>
          </a:xfrm>
          <a:custGeom>
            <a:avLst/>
            <a:gdLst/>
            <a:ahLst/>
            <a:cxnLst/>
            <a:rect l="l" t="t" r="r" b="b"/>
            <a:pathLst>
              <a:path w="120000" h="120000" extrusionOk="0">
                <a:moveTo>
                  <a:pt x="70777" y="53680"/>
                </a:moveTo>
                <a:cubicBezTo>
                  <a:pt x="75884" y="53680"/>
                  <a:pt x="82682" y="55417"/>
                  <a:pt x="87189" y="53039"/>
                </a:cubicBezTo>
                <a:cubicBezTo>
                  <a:pt x="89454" y="51837"/>
                  <a:pt x="91843" y="50714"/>
                  <a:pt x="94170" y="49726"/>
                </a:cubicBezTo>
                <a:cubicBezTo>
                  <a:pt x="100391" y="47107"/>
                  <a:pt x="106748" y="44542"/>
                  <a:pt x="113006" y="42431"/>
                </a:cubicBezTo>
                <a:cubicBezTo>
                  <a:pt x="115027" y="41763"/>
                  <a:pt x="117048" y="41229"/>
                  <a:pt x="119081" y="41095"/>
                </a:cubicBezTo>
                <a:cubicBezTo>
                  <a:pt x="119387" y="41068"/>
                  <a:pt x="119681" y="41095"/>
                  <a:pt x="119987" y="41095"/>
                </a:cubicBezTo>
                <a:cubicBezTo>
                  <a:pt x="119987" y="38209"/>
                  <a:pt x="119779" y="36419"/>
                  <a:pt x="119387" y="33800"/>
                </a:cubicBezTo>
                <a:cubicBezTo>
                  <a:pt x="118456" y="27521"/>
                  <a:pt x="116815" y="21376"/>
                  <a:pt x="115137" y="15898"/>
                </a:cubicBezTo>
                <a:cubicBezTo>
                  <a:pt x="114439" y="13600"/>
                  <a:pt x="113533" y="11088"/>
                  <a:pt x="113006" y="8630"/>
                </a:cubicBezTo>
                <a:cubicBezTo>
                  <a:pt x="112835" y="7828"/>
                  <a:pt x="112639" y="7214"/>
                  <a:pt x="112394" y="6626"/>
                </a:cubicBezTo>
                <a:cubicBezTo>
                  <a:pt x="112137" y="6012"/>
                  <a:pt x="112002" y="5450"/>
                  <a:pt x="111794" y="4649"/>
                </a:cubicBezTo>
                <a:cubicBezTo>
                  <a:pt x="111549" y="3740"/>
                  <a:pt x="111426" y="2538"/>
                  <a:pt x="111181" y="2004"/>
                </a:cubicBezTo>
                <a:cubicBezTo>
                  <a:pt x="110606" y="748"/>
                  <a:pt x="110887" y="1389"/>
                  <a:pt x="110275" y="668"/>
                </a:cubicBezTo>
                <a:cubicBezTo>
                  <a:pt x="110006" y="347"/>
                  <a:pt x="109993" y="0"/>
                  <a:pt x="109357" y="0"/>
                </a:cubicBezTo>
                <a:cubicBezTo>
                  <a:pt x="107360" y="0"/>
                  <a:pt x="105437" y="2645"/>
                  <a:pt x="103588" y="3981"/>
                </a:cubicBezTo>
                <a:cubicBezTo>
                  <a:pt x="99105" y="7187"/>
                  <a:pt x="94574" y="8577"/>
                  <a:pt x="89920" y="9939"/>
                </a:cubicBezTo>
                <a:cubicBezTo>
                  <a:pt x="87593" y="10634"/>
                  <a:pt x="85254" y="11569"/>
                  <a:pt x="82927" y="11943"/>
                </a:cubicBezTo>
                <a:cubicBezTo>
                  <a:pt x="79326" y="12531"/>
                  <a:pt x="75603" y="11943"/>
                  <a:pt x="71990" y="11943"/>
                </a:cubicBezTo>
                <a:cubicBezTo>
                  <a:pt x="71990" y="21456"/>
                  <a:pt x="72418" y="30380"/>
                  <a:pt x="73202" y="39759"/>
                </a:cubicBezTo>
                <a:cubicBezTo>
                  <a:pt x="73472" y="42992"/>
                  <a:pt x="73704" y="46466"/>
                  <a:pt x="73815" y="49726"/>
                </a:cubicBezTo>
                <a:cubicBezTo>
                  <a:pt x="73851" y="50821"/>
                  <a:pt x="73790" y="51943"/>
                  <a:pt x="73815" y="53039"/>
                </a:cubicBezTo>
              </a:path>
              <a:path w="120000" h="120000" extrusionOk="0">
                <a:moveTo>
                  <a:pt x="107238" y="70915"/>
                </a:moveTo>
                <a:cubicBezTo>
                  <a:pt x="106405" y="70647"/>
                  <a:pt x="105633" y="70594"/>
                  <a:pt x="104800" y="70247"/>
                </a:cubicBezTo>
                <a:cubicBezTo>
                  <a:pt x="103490" y="69686"/>
                  <a:pt x="102180" y="69338"/>
                  <a:pt x="100857" y="68937"/>
                </a:cubicBezTo>
                <a:cubicBezTo>
                  <a:pt x="97036" y="67815"/>
                  <a:pt x="93484" y="67601"/>
                  <a:pt x="89614" y="67601"/>
                </a:cubicBezTo>
                <a:cubicBezTo>
                  <a:pt x="85339" y="67601"/>
                  <a:pt x="81102" y="67869"/>
                  <a:pt x="76852" y="66933"/>
                </a:cubicBezTo>
                <a:cubicBezTo>
                  <a:pt x="73410" y="66185"/>
                  <a:pt x="69969" y="66212"/>
                  <a:pt x="66527" y="65624"/>
                </a:cubicBezTo>
                <a:cubicBezTo>
                  <a:pt x="64090" y="65197"/>
                  <a:pt x="61653" y="64742"/>
                  <a:pt x="59228" y="64288"/>
                </a:cubicBezTo>
                <a:cubicBezTo>
                  <a:pt x="56472" y="63754"/>
                  <a:pt x="53778" y="62605"/>
                  <a:pt x="51034" y="62311"/>
                </a:cubicBezTo>
                <a:cubicBezTo>
                  <a:pt x="44972" y="61643"/>
                  <a:pt x="38481" y="61482"/>
                  <a:pt x="32504" y="62979"/>
                </a:cubicBezTo>
                <a:cubicBezTo>
                  <a:pt x="30949" y="63353"/>
                  <a:pt x="29479" y="64555"/>
                  <a:pt x="27948" y="65624"/>
                </a:cubicBezTo>
                <a:cubicBezTo>
                  <a:pt x="25082" y="67601"/>
                  <a:pt x="22204" y="70354"/>
                  <a:pt x="19436" y="72919"/>
                </a:cubicBezTo>
                <a:cubicBezTo>
                  <a:pt x="16570" y="75564"/>
                  <a:pt x="13704" y="79171"/>
                  <a:pt x="10936" y="82191"/>
                </a:cubicBezTo>
                <a:cubicBezTo>
                  <a:pt x="9442" y="83820"/>
                  <a:pt x="8034" y="85611"/>
                  <a:pt x="6674" y="86840"/>
                </a:cubicBezTo>
                <a:cubicBezTo>
                  <a:pt x="6099" y="87374"/>
                  <a:pt x="5670" y="87695"/>
                  <a:pt x="5156" y="88149"/>
                </a:cubicBezTo>
              </a:path>
              <a:path w="120000" h="120000" extrusionOk="0">
                <a:moveTo>
                  <a:pt x="0" y="119973"/>
                </a:moveTo>
                <a:cubicBezTo>
                  <a:pt x="3417" y="119465"/>
                  <a:pt x="6123" y="116740"/>
                  <a:pt x="9418" y="114655"/>
                </a:cubicBezTo>
                <a:cubicBezTo>
                  <a:pt x="13900" y="111823"/>
                  <a:pt x="18322" y="109044"/>
                  <a:pt x="22780" y="106052"/>
                </a:cubicBezTo>
                <a:cubicBezTo>
                  <a:pt x="24556" y="104849"/>
                  <a:pt x="26491" y="104635"/>
                  <a:pt x="28242" y="103406"/>
                </a:cubicBezTo>
                <a:cubicBezTo>
                  <a:pt x="28854" y="102979"/>
                  <a:pt x="29197" y="102444"/>
                  <a:pt x="29467" y="102070"/>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6" name="Google Shape;396;p34"/>
          <p:cNvSpPr/>
          <p:nvPr/>
        </p:nvSpPr>
        <p:spPr>
          <a:xfrm>
            <a:off x="17462" y="3660775"/>
            <a:ext cx="2125662" cy="903287"/>
          </a:xfrm>
          <a:custGeom>
            <a:avLst/>
            <a:gdLst/>
            <a:ahLst/>
            <a:cxnLst/>
            <a:rect l="l" t="t" r="r" b="b"/>
            <a:pathLst>
              <a:path w="120000" h="120000" extrusionOk="0">
                <a:moveTo>
                  <a:pt x="2012" y="9481"/>
                </a:moveTo>
                <a:cubicBezTo>
                  <a:pt x="2845" y="9289"/>
                  <a:pt x="3191" y="8475"/>
                  <a:pt x="4024" y="8332"/>
                </a:cubicBezTo>
                <a:cubicBezTo>
                  <a:pt x="8089" y="7661"/>
                  <a:pt x="12093" y="6608"/>
                  <a:pt x="16117" y="5937"/>
                </a:cubicBezTo>
                <a:cubicBezTo>
                  <a:pt x="19634" y="5363"/>
                  <a:pt x="23231" y="3974"/>
                  <a:pt x="26707" y="3543"/>
                </a:cubicBezTo>
                <a:cubicBezTo>
                  <a:pt x="43902" y="1388"/>
                  <a:pt x="68556" y="-4166"/>
                  <a:pt x="86199" y="4740"/>
                </a:cubicBezTo>
                <a:cubicBezTo>
                  <a:pt x="88109" y="5698"/>
                  <a:pt x="89878" y="7326"/>
                  <a:pt x="91747" y="8332"/>
                </a:cubicBezTo>
                <a:cubicBezTo>
                  <a:pt x="92581" y="8762"/>
                  <a:pt x="94044" y="10534"/>
                  <a:pt x="94268" y="10678"/>
                </a:cubicBezTo>
                <a:cubicBezTo>
                  <a:pt x="96747" y="12354"/>
                  <a:pt x="98821" y="13886"/>
                  <a:pt x="101321" y="16616"/>
                </a:cubicBezTo>
                <a:cubicBezTo>
                  <a:pt x="106483" y="22218"/>
                  <a:pt x="112459" y="28635"/>
                  <a:pt x="116951" y="36823"/>
                </a:cubicBezTo>
                <a:cubicBezTo>
                  <a:pt x="117174" y="37254"/>
                  <a:pt x="119857" y="43383"/>
                  <a:pt x="119979" y="43958"/>
                </a:cubicBezTo>
                <a:cubicBezTo>
                  <a:pt x="120467" y="46161"/>
                  <a:pt x="119552" y="50135"/>
                  <a:pt x="119471" y="52242"/>
                </a:cubicBezTo>
                <a:cubicBezTo>
                  <a:pt x="119166" y="60957"/>
                  <a:pt x="118536" y="69720"/>
                  <a:pt x="117967" y="78387"/>
                </a:cubicBezTo>
                <a:cubicBezTo>
                  <a:pt x="117540" y="84756"/>
                  <a:pt x="116930" y="91173"/>
                  <a:pt x="116443" y="97398"/>
                </a:cubicBezTo>
                <a:cubicBezTo>
                  <a:pt x="116219" y="100175"/>
                  <a:pt x="116138" y="102857"/>
                  <a:pt x="115955" y="105730"/>
                </a:cubicBezTo>
                <a:cubicBezTo>
                  <a:pt x="111341" y="106113"/>
                  <a:pt x="106951" y="107741"/>
                  <a:pt x="102337" y="109273"/>
                </a:cubicBezTo>
                <a:cubicBezTo>
                  <a:pt x="92520" y="112529"/>
                  <a:pt x="82926" y="115977"/>
                  <a:pt x="73089" y="117605"/>
                </a:cubicBezTo>
                <a:cubicBezTo>
                  <a:pt x="67825" y="118467"/>
                  <a:pt x="62743" y="119808"/>
                  <a:pt x="57459" y="119952"/>
                </a:cubicBezTo>
                <a:cubicBezTo>
                  <a:pt x="51768" y="120143"/>
                  <a:pt x="45934" y="120814"/>
                  <a:pt x="40325" y="118754"/>
                </a:cubicBezTo>
                <a:cubicBezTo>
                  <a:pt x="38577" y="118084"/>
                  <a:pt x="36483" y="118515"/>
                  <a:pt x="34776" y="117605"/>
                </a:cubicBezTo>
                <a:cubicBezTo>
                  <a:pt x="32926" y="116600"/>
                  <a:pt x="31158" y="114349"/>
                  <a:pt x="29227" y="114014"/>
                </a:cubicBezTo>
                <a:cubicBezTo>
                  <a:pt x="26524" y="113535"/>
                  <a:pt x="24695" y="113487"/>
                  <a:pt x="22174" y="111667"/>
                </a:cubicBezTo>
                <a:cubicBezTo>
                  <a:pt x="20386" y="110375"/>
                  <a:pt x="18516" y="109034"/>
                  <a:pt x="16626" y="108076"/>
                </a:cubicBezTo>
                <a:cubicBezTo>
                  <a:pt x="15345" y="107406"/>
                  <a:pt x="14186" y="106592"/>
                  <a:pt x="13109" y="105730"/>
                </a:cubicBezTo>
                <a:cubicBezTo>
                  <a:pt x="12134" y="104964"/>
                  <a:pt x="11666" y="104054"/>
                  <a:pt x="10589" y="103335"/>
                </a:cubicBezTo>
                <a:cubicBezTo>
                  <a:pt x="9247" y="102474"/>
                  <a:pt x="8983" y="102378"/>
                  <a:pt x="8048" y="100941"/>
                </a:cubicBezTo>
                <a:cubicBezTo>
                  <a:pt x="7398" y="99936"/>
                  <a:pt x="6930" y="99553"/>
                  <a:pt x="6544" y="98595"/>
                </a:cubicBezTo>
                <a:cubicBezTo>
                  <a:pt x="6300" y="98020"/>
                  <a:pt x="5325" y="95147"/>
                  <a:pt x="5040" y="93806"/>
                </a:cubicBezTo>
                <a:cubicBezTo>
                  <a:pt x="4247" y="89976"/>
                  <a:pt x="4044" y="84900"/>
                  <a:pt x="3516" y="80782"/>
                </a:cubicBezTo>
                <a:cubicBezTo>
                  <a:pt x="1686" y="66656"/>
                  <a:pt x="1361" y="53679"/>
                  <a:pt x="487" y="39169"/>
                </a:cubicBezTo>
                <a:cubicBezTo>
                  <a:pt x="-284" y="26241"/>
                  <a:pt x="0" y="13024"/>
                  <a:pt x="0" y="0"/>
                </a:cubicBezTo>
                <a:cubicBezTo>
                  <a:pt x="1361" y="287"/>
                  <a:pt x="2337" y="335"/>
                  <a:pt x="3516" y="1197"/>
                </a:cubicBezTo>
                <a:cubicBezTo>
                  <a:pt x="4898" y="2202"/>
                  <a:pt x="5731" y="3016"/>
                  <a:pt x="7052" y="4740"/>
                </a:cubicBezTo>
                <a:cubicBezTo>
                  <a:pt x="8130" y="6177"/>
                  <a:pt x="9308" y="8523"/>
                  <a:pt x="10081" y="9481"/>
                </a:cubicBezTo>
                <a:cubicBezTo>
                  <a:pt x="10406" y="9912"/>
                  <a:pt x="11544" y="11827"/>
                  <a:pt x="11585" y="11875"/>
                </a:cubicBezTo>
                <a:cubicBezTo>
                  <a:pt x="12093" y="11875"/>
                  <a:pt x="12256" y="11875"/>
                  <a:pt x="12601" y="11875"/>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97" name="Google Shape;397;p34"/>
          <p:cNvSpPr/>
          <p:nvPr/>
        </p:nvSpPr>
        <p:spPr>
          <a:xfrm>
            <a:off x="4991100" y="465137"/>
            <a:ext cx="1938337" cy="741362"/>
          </a:xfrm>
          <a:custGeom>
            <a:avLst/>
            <a:gdLst/>
            <a:ahLst/>
            <a:cxnLst/>
            <a:rect l="l" t="t" r="r" b="b"/>
            <a:pathLst>
              <a:path w="120000" h="120000" extrusionOk="0">
                <a:moveTo>
                  <a:pt x="21556" y="114116"/>
                </a:moveTo>
                <a:cubicBezTo>
                  <a:pt x="22515" y="113825"/>
                  <a:pt x="25881" y="112718"/>
                  <a:pt x="27642" y="112718"/>
                </a:cubicBezTo>
                <a:cubicBezTo>
                  <a:pt x="33438" y="112718"/>
                  <a:pt x="38989" y="115572"/>
                  <a:pt x="44785" y="115572"/>
                </a:cubicBezTo>
                <a:cubicBezTo>
                  <a:pt x="51696" y="115572"/>
                  <a:pt x="59030" y="117669"/>
                  <a:pt x="65807" y="114116"/>
                </a:cubicBezTo>
                <a:cubicBezTo>
                  <a:pt x="70800" y="111495"/>
                  <a:pt x="75727" y="108815"/>
                  <a:pt x="80720" y="106893"/>
                </a:cubicBezTo>
                <a:cubicBezTo>
                  <a:pt x="84376" y="105495"/>
                  <a:pt x="87698" y="101766"/>
                  <a:pt x="91242" y="99669"/>
                </a:cubicBezTo>
                <a:cubicBezTo>
                  <a:pt x="95411" y="97223"/>
                  <a:pt x="99268" y="94310"/>
                  <a:pt x="103392" y="89592"/>
                </a:cubicBezTo>
                <a:cubicBezTo>
                  <a:pt x="106579" y="85922"/>
                  <a:pt x="109299" y="81203"/>
                  <a:pt x="112242" y="76543"/>
                </a:cubicBezTo>
                <a:cubicBezTo>
                  <a:pt x="113914" y="73922"/>
                  <a:pt x="114761" y="71126"/>
                  <a:pt x="116121" y="67922"/>
                </a:cubicBezTo>
                <a:cubicBezTo>
                  <a:pt x="116656" y="66699"/>
                  <a:pt x="118550" y="63203"/>
                  <a:pt x="118885" y="62097"/>
                </a:cubicBezTo>
                <a:cubicBezTo>
                  <a:pt x="119152" y="61165"/>
                  <a:pt x="119732" y="59592"/>
                  <a:pt x="119977" y="57786"/>
                </a:cubicBezTo>
                <a:cubicBezTo>
                  <a:pt x="120958" y="50330"/>
                  <a:pt x="118974" y="47359"/>
                  <a:pt x="117770" y="43339"/>
                </a:cubicBezTo>
                <a:cubicBezTo>
                  <a:pt x="115073" y="34427"/>
                  <a:pt x="110592" y="28368"/>
                  <a:pt x="106713" y="23126"/>
                </a:cubicBezTo>
                <a:cubicBezTo>
                  <a:pt x="102322" y="17184"/>
                  <a:pt x="97417" y="17126"/>
                  <a:pt x="92892" y="14446"/>
                </a:cubicBezTo>
                <a:cubicBezTo>
                  <a:pt x="87631" y="11300"/>
                  <a:pt x="82102" y="9262"/>
                  <a:pt x="76864" y="5766"/>
                </a:cubicBezTo>
                <a:cubicBezTo>
                  <a:pt x="73297" y="3378"/>
                  <a:pt x="69507" y="990"/>
                  <a:pt x="65807" y="0"/>
                </a:cubicBezTo>
                <a:cubicBezTo>
                  <a:pt x="62017" y="-1048"/>
                  <a:pt x="55508" y="-1922"/>
                  <a:pt x="51963" y="1456"/>
                </a:cubicBezTo>
                <a:cubicBezTo>
                  <a:pt x="46100" y="7048"/>
                  <a:pt x="40416" y="15495"/>
                  <a:pt x="35378" y="24582"/>
                </a:cubicBezTo>
                <a:cubicBezTo>
                  <a:pt x="30585" y="33262"/>
                  <a:pt x="25658" y="41533"/>
                  <a:pt x="20999" y="50563"/>
                </a:cubicBezTo>
                <a:cubicBezTo>
                  <a:pt x="18881" y="54699"/>
                  <a:pt x="16251" y="58718"/>
                  <a:pt x="14378" y="63553"/>
                </a:cubicBezTo>
                <a:cubicBezTo>
                  <a:pt x="11614" y="70718"/>
                  <a:pt x="8493" y="80097"/>
                  <a:pt x="6085" y="88135"/>
                </a:cubicBezTo>
                <a:cubicBezTo>
                  <a:pt x="4725" y="92679"/>
                  <a:pt x="3566" y="96990"/>
                  <a:pt x="2206" y="101126"/>
                </a:cubicBezTo>
                <a:cubicBezTo>
                  <a:pt x="1248" y="104038"/>
                  <a:pt x="1070" y="102932"/>
                  <a:pt x="557" y="105495"/>
                </a:cubicBezTo>
                <a:cubicBezTo>
                  <a:pt x="312" y="106660"/>
                  <a:pt x="222" y="107242"/>
                  <a:pt x="0" y="109805"/>
                </a:cubicBezTo>
                <a:cubicBezTo>
                  <a:pt x="-111" y="111145"/>
                  <a:pt x="66" y="112718"/>
                  <a:pt x="0" y="114116"/>
                </a:cubicBezTo>
                <a:cubicBezTo>
                  <a:pt x="824" y="114640"/>
                  <a:pt x="1894" y="114815"/>
                  <a:pt x="2764" y="115572"/>
                </a:cubicBezTo>
                <a:cubicBezTo>
                  <a:pt x="4034" y="116679"/>
                  <a:pt x="5305" y="119475"/>
                  <a:pt x="6620" y="119941"/>
                </a:cubicBezTo>
                <a:cubicBezTo>
                  <a:pt x="11971" y="121922"/>
                  <a:pt x="18235" y="119475"/>
                  <a:pt x="23228" y="118485"/>
                </a:cubicBezTo>
                <a:cubicBezTo>
                  <a:pt x="23942" y="118368"/>
                  <a:pt x="24722" y="118776"/>
                  <a:pt x="25435" y="118485"/>
                </a:cubicBezTo>
              </a:path>
            </a:pathLst>
          </a:custGeom>
          <a:noFill/>
          <a:ln w="12700" cap="rnd"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transition spd="slow">
    <p:fade thruBlk="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Arial"/>
              <a:buNone/>
            </a:pPr>
            <a:endParaRPr sz="3200" b="0" i="0" u="none" strike="noStrike" cap="none">
              <a:solidFill>
                <a:schemeClr val="dk1"/>
              </a:solidFill>
              <a:latin typeface="Calibri"/>
              <a:ea typeface="Calibri"/>
              <a:cs typeface="Calibri"/>
              <a:sym typeface="Calibri"/>
            </a:endParaRPr>
          </a:p>
          <a:p>
            <a:pPr marL="342900" marR="0" lvl="0" indent="-139700" algn="l" rtl="0">
              <a:spcBef>
                <a:spcPts val="64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sp>
        <p:nvSpPr>
          <p:cNvPr id="403" name="Google Shape;403;p35"/>
          <p:cNvSpPr/>
          <p:nvPr/>
        </p:nvSpPr>
        <p:spPr>
          <a:xfrm>
            <a:off x="3725862" y="2254250"/>
            <a:ext cx="1371600" cy="609600"/>
          </a:xfrm>
          <a:prstGeom prst="roundRect">
            <a:avLst>
              <a:gd name="adj" fmla="val 10069"/>
            </a:avLst>
          </a:prstGeom>
          <a:gradFill>
            <a:gsLst>
              <a:gs pos="0">
                <a:srgbClr val="EEECE1">
                  <a:alpha val="79607"/>
                </a:srgbClr>
              </a:gs>
              <a:gs pos="100000">
                <a:srgbClr val="FFFFFF">
                  <a:alpha val="79607"/>
                </a:srgbClr>
              </a:gs>
            </a:gsLst>
            <a:lin ang="5400000" scaled="0"/>
          </a:gradFill>
          <a:ln>
            <a:noFill/>
          </a:ln>
          <a:effectLst>
            <a:outerShdw blurRad="63500" dist="17960" dir="2700000">
              <a:srgbClr val="8F8E87"/>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runnable</a:t>
            </a:r>
            <a:endParaRPr/>
          </a:p>
        </p:txBody>
      </p:sp>
      <p:cxnSp>
        <p:nvCxnSpPr>
          <p:cNvPr id="404" name="Google Shape;404;p35"/>
          <p:cNvCxnSpPr/>
          <p:nvPr/>
        </p:nvCxnSpPr>
        <p:spPr>
          <a:xfrm>
            <a:off x="2640012" y="2549525"/>
            <a:ext cx="1085850" cy="9525"/>
          </a:xfrm>
          <a:prstGeom prst="straightConnector1">
            <a:avLst/>
          </a:prstGeom>
          <a:noFill/>
          <a:ln w="38100" cap="flat" cmpd="sng">
            <a:solidFill>
              <a:schemeClr val="dk1"/>
            </a:solidFill>
            <a:prstDash val="solid"/>
            <a:miter lim="800000"/>
            <a:headEnd type="none" w="sm" len="sm"/>
            <a:tailEnd type="triangle" w="med" len="med"/>
          </a:ln>
        </p:spPr>
      </p:cxnSp>
      <p:sp>
        <p:nvSpPr>
          <p:cNvPr id="405" name="Google Shape;405;p35"/>
          <p:cNvSpPr txBox="1"/>
          <p:nvPr/>
        </p:nvSpPr>
        <p:spPr>
          <a:xfrm>
            <a:off x="2971800" y="3119437"/>
            <a:ext cx="1384300"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scheduler</a:t>
            </a:r>
            <a:endParaRPr/>
          </a:p>
        </p:txBody>
      </p:sp>
      <p:sp>
        <p:nvSpPr>
          <p:cNvPr id="406" name="Google Shape;406;p35"/>
          <p:cNvSpPr/>
          <p:nvPr/>
        </p:nvSpPr>
        <p:spPr>
          <a:xfrm>
            <a:off x="1268412" y="2244725"/>
            <a:ext cx="1371600" cy="609600"/>
          </a:xfrm>
          <a:prstGeom prst="roundRect">
            <a:avLst>
              <a:gd name="adj" fmla="val 10069"/>
            </a:avLst>
          </a:prstGeom>
          <a:gradFill>
            <a:gsLst>
              <a:gs pos="0">
                <a:srgbClr val="EEECE1">
                  <a:alpha val="79607"/>
                </a:srgbClr>
              </a:gs>
              <a:gs pos="100000">
                <a:srgbClr val="FFFFFF">
                  <a:alpha val="79607"/>
                </a:srgbClr>
              </a:gs>
            </a:gsLst>
            <a:lin ang="5400000" scaled="0"/>
          </a:gradFill>
          <a:ln>
            <a:noFill/>
          </a:ln>
          <a:effectLst>
            <a:outerShdw blurRad="63500" dist="17960" dir="2700000">
              <a:srgbClr val="8F8E87"/>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new</a:t>
            </a:r>
            <a:endParaRPr/>
          </a:p>
        </p:txBody>
      </p:sp>
      <p:sp>
        <p:nvSpPr>
          <p:cNvPr id="407" name="Google Shape;407;p35"/>
          <p:cNvSpPr/>
          <p:nvPr/>
        </p:nvSpPr>
        <p:spPr>
          <a:xfrm>
            <a:off x="3725862" y="5378450"/>
            <a:ext cx="1371600" cy="609600"/>
          </a:xfrm>
          <a:prstGeom prst="roundRect">
            <a:avLst>
              <a:gd name="adj" fmla="val 10069"/>
            </a:avLst>
          </a:prstGeom>
          <a:gradFill>
            <a:gsLst>
              <a:gs pos="0">
                <a:srgbClr val="EEECE1">
                  <a:alpha val="79607"/>
                </a:srgbClr>
              </a:gs>
              <a:gs pos="100000">
                <a:srgbClr val="FFFFFF">
                  <a:alpha val="79607"/>
                </a:srgbClr>
              </a:gs>
            </a:gsLst>
            <a:lin ang="5400000" scaled="0"/>
          </a:gradFill>
          <a:ln>
            <a:noFill/>
          </a:ln>
          <a:effectLst>
            <a:outerShdw blurRad="63500" dist="17960" dir="2700000">
              <a:srgbClr val="8F8E87"/>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dead</a:t>
            </a:r>
            <a:endParaRPr/>
          </a:p>
        </p:txBody>
      </p:sp>
      <p:sp>
        <p:nvSpPr>
          <p:cNvPr id="408" name="Google Shape;408;p35"/>
          <p:cNvSpPr/>
          <p:nvPr/>
        </p:nvSpPr>
        <p:spPr>
          <a:xfrm>
            <a:off x="3725862" y="3930650"/>
            <a:ext cx="1371600" cy="609600"/>
          </a:xfrm>
          <a:prstGeom prst="roundRect">
            <a:avLst>
              <a:gd name="adj" fmla="val 10069"/>
            </a:avLst>
          </a:prstGeom>
          <a:gradFill>
            <a:gsLst>
              <a:gs pos="0">
                <a:srgbClr val="EEECE1">
                  <a:alpha val="79607"/>
                </a:srgbClr>
              </a:gs>
              <a:gs pos="100000">
                <a:srgbClr val="FFFFFF">
                  <a:alpha val="79607"/>
                </a:srgbClr>
              </a:gs>
            </a:gsLst>
            <a:lin ang="5400000" scaled="0"/>
          </a:gradFill>
          <a:ln>
            <a:noFill/>
          </a:ln>
          <a:effectLst>
            <a:outerShdw blurRad="63500" dist="17960" dir="2700000">
              <a:srgbClr val="8F8E87"/>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running</a:t>
            </a:r>
            <a:endParaRPr/>
          </a:p>
        </p:txBody>
      </p:sp>
      <p:sp>
        <p:nvSpPr>
          <p:cNvPr id="409" name="Google Shape;409;p35"/>
          <p:cNvSpPr/>
          <p:nvPr/>
        </p:nvSpPr>
        <p:spPr>
          <a:xfrm>
            <a:off x="6407150" y="3930650"/>
            <a:ext cx="1371600" cy="609600"/>
          </a:xfrm>
          <a:prstGeom prst="roundRect">
            <a:avLst>
              <a:gd name="adj" fmla="val 10069"/>
            </a:avLst>
          </a:prstGeom>
          <a:gradFill>
            <a:gsLst>
              <a:gs pos="0">
                <a:srgbClr val="EEECE1">
                  <a:alpha val="79607"/>
                </a:srgbClr>
              </a:gs>
              <a:gs pos="100000">
                <a:srgbClr val="FFFFFF">
                  <a:alpha val="79607"/>
                </a:srgbClr>
              </a:gs>
            </a:gsLst>
            <a:lin ang="5400000" scaled="0"/>
          </a:gradFill>
          <a:ln>
            <a:noFill/>
          </a:ln>
          <a:effectLst>
            <a:outerShdw blurRad="63500" dist="17960" dir="2700000">
              <a:srgbClr val="8F8E87"/>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blocked</a:t>
            </a:r>
            <a:endParaRPr/>
          </a:p>
        </p:txBody>
      </p:sp>
      <p:cxnSp>
        <p:nvCxnSpPr>
          <p:cNvPr id="410" name="Google Shape;410;p35"/>
          <p:cNvCxnSpPr/>
          <p:nvPr/>
        </p:nvCxnSpPr>
        <p:spPr>
          <a:xfrm>
            <a:off x="4411662" y="2873375"/>
            <a:ext cx="0" cy="1047750"/>
          </a:xfrm>
          <a:prstGeom prst="straightConnector1">
            <a:avLst/>
          </a:prstGeom>
          <a:noFill/>
          <a:ln w="38100" cap="flat" cmpd="sng">
            <a:solidFill>
              <a:srgbClr val="D44700"/>
            </a:solidFill>
            <a:prstDash val="solid"/>
            <a:miter lim="800000"/>
            <a:headEnd type="none" w="sm" len="sm"/>
            <a:tailEnd type="triangle" w="med" len="med"/>
          </a:ln>
        </p:spPr>
      </p:cxnSp>
      <p:cxnSp>
        <p:nvCxnSpPr>
          <p:cNvPr id="411" name="Google Shape;411;p35"/>
          <p:cNvCxnSpPr/>
          <p:nvPr/>
        </p:nvCxnSpPr>
        <p:spPr>
          <a:xfrm>
            <a:off x="5097462" y="4235450"/>
            <a:ext cx="1309687" cy="0"/>
          </a:xfrm>
          <a:prstGeom prst="straightConnector1">
            <a:avLst/>
          </a:prstGeom>
          <a:noFill/>
          <a:ln w="38100" cap="flat" cmpd="sng">
            <a:solidFill>
              <a:schemeClr val="dk1"/>
            </a:solidFill>
            <a:prstDash val="solid"/>
            <a:miter lim="800000"/>
            <a:headEnd type="none" w="sm" len="sm"/>
            <a:tailEnd type="triangle" w="med" len="med"/>
          </a:ln>
        </p:spPr>
      </p:cxnSp>
      <p:cxnSp>
        <p:nvCxnSpPr>
          <p:cNvPr id="412" name="Google Shape;412;p35"/>
          <p:cNvCxnSpPr/>
          <p:nvPr/>
        </p:nvCxnSpPr>
        <p:spPr>
          <a:xfrm>
            <a:off x="4411662" y="4540250"/>
            <a:ext cx="0" cy="838200"/>
          </a:xfrm>
          <a:prstGeom prst="straightConnector1">
            <a:avLst/>
          </a:prstGeom>
          <a:noFill/>
          <a:ln w="38100" cap="flat" cmpd="sng">
            <a:solidFill>
              <a:schemeClr val="dk1"/>
            </a:solidFill>
            <a:prstDash val="solid"/>
            <a:miter lim="800000"/>
            <a:headEnd type="none" w="sm" len="sm"/>
            <a:tailEnd type="triangle" w="med" len="med"/>
          </a:ln>
        </p:spPr>
      </p:cxnSp>
      <p:sp>
        <p:nvSpPr>
          <p:cNvPr id="413" name="Google Shape;413;p35"/>
          <p:cNvSpPr/>
          <p:nvPr/>
        </p:nvSpPr>
        <p:spPr>
          <a:xfrm>
            <a:off x="4716462" y="2863850"/>
            <a:ext cx="76200" cy="1066800"/>
          </a:xfrm>
          <a:custGeom>
            <a:avLst/>
            <a:gdLst/>
            <a:ahLst/>
            <a:cxnLst/>
            <a:rect l="l" t="t" r="r" b="b"/>
            <a:pathLst>
              <a:path w="120000" h="120000" extrusionOk="0">
                <a:moveTo>
                  <a:pt x="0" y="120000"/>
                </a:moveTo>
                <a:cubicBezTo>
                  <a:pt x="60000" y="100000"/>
                  <a:pt x="120000" y="80000"/>
                  <a:pt x="120000" y="60000"/>
                </a:cubicBezTo>
                <a:cubicBezTo>
                  <a:pt x="120000" y="40000"/>
                  <a:pt x="60000" y="20000"/>
                  <a:pt x="0" y="0"/>
                </a:cubicBezTo>
              </a:path>
            </a:pathLst>
          </a:custGeom>
          <a:noFill/>
          <a:ln w="381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414" name="Google Shape;414;p35"/>
          <p:cNvCxnSpPr/>
          <p:nvPr/>
        </p:nvCxnSpPr>
        <p:spPr>
          <a:xfrm>
            <a:off x="506412" y="2549525"/>
            <a:ext cx="762000" cy="0"/>
          </a:xfrm>
          <a:prstGeom prst="straightConnector1">
            <a:avLst/>
          </a:prstGeom>
          <a:noFill/>
          <a:ln w="38100" cap="flat" cmpd="sng">
            <a:solidFill>
              <a:schemeClr val="dk1"/>
            </a:solidFill>
            <a:prstDash val="solid"/>
            <a:miter lim="800000"/>
            <a:headEnd type="none" w="sm" len="sm"/>
            <a:tailEnd type="triangle" w="med" len="med"/>
          </a:ln>
        </p:spPr>
      </p:cxnSp>
      <p:sp>
        <p:nvSpPr>
          <p:cNvPr id="415" name="Google Shape;415;p35"/>
          <p:cNvSpPr txBox="1"/>
          <p:nvPr/>
        </p:nvSpPr>
        <p:spPr>
          <a:xfrm>
            <a:off x="482600" y="2051050"/>
            <a:ext cx="677862"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new</a:t>
            </a:r>
            <a:endParaRPr/>
          </a:p>
        </p:txBody>
      </p:sp>
      <p:sp>
        <p:nvSpPr>
          <p:cNvPr id="416" name="Google Shape;416;p35"/>
          <p:cNvSpPr txBox="1"/>
          <p:nvPr/>
        </p:nvSpPr>
        <p:spPr>
          <a:xfrm>
            <a:off x="2859087" y="2044700"/>
            <a:ext cx="733425"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start</a:t>
            </a:r>
            <a:endParaRPr/>
          </a:p>
        </p:txBody>
      </p:sp>
      <p:sp>
        <p:nvSpPr>
          <p:cNvPr id="417" name="Google Shape;417;p35"/>
          <p:cNvSpPr txBox="1"/>
          <p:nvPr/>
        </p:nvSpPr>
        <p:spPr>
          <a:xfrm>
            <a:off x="2743200" y="4648200"/>
            <a:ext cx="1398587"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terminate</a:t>
            </a:r>
            <a:endParaRPr/>
          </a:p>
        </p:txBody>
      </p:sp>
      <p:sp>
        <p:nvSpPr>
          <p:cNvPr id="418" name="Google Shape;418;p35"/>
          <p:cNvSpPr txBox="1"/>
          <p:nvPr/>
        </p:nvSpPr>
        <p:spPr>
          <a:xfrm>
            <a:off x="5097462" y="4338637"/>
            <a:ext cx="1309687" cy="7016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IO, sleep,</a:t>
            </a:r>
            <a:endParaRPr/>
          </a:p>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wait, join</a:t>
            </a:r>
            <a:endParaRPr/>
          </a:p>
        </p:txBody>
      </p:sp>
      <p:sp>
        <p:nvSpPr>
          <p:cNvPr id="419" name="Google Shape;419;p35"/>
          <p:cNvSpPr txBox="1"/>
          <p:nvPr/>
        </p:nvSpPr>
        <p:spPr>
          <a:xfrm>
            <a:off x="4833937" y="3184525"/>
            <a:ext cx="1338262" cy="7016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yield,</a:t>
            </a:r>
            <a:endParaRPr/>
          </a:p>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time slice</a:t>
            </a:r>
            <a:endParaRPr/>
          </a:p>
        </p:txBody>
      </p:sp>
      <p:sp>
        <p:nvSpPr>
          <p:cNvPr id="420" name="Google Shape;420;p35"/>
          <p:cNvSpPr txBox="1"/>
          <p:nvPr/>
        </p:nvSpPr>
        <p:spPr>
          <a:xfrm>
            <a:off x="6477000" y="2198687"/>
            <a:ext cx="2232025" cy="13112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notify, notifyAll,</a:t>
            </a:r>
            <a:endParaRPr/>
          </a:p>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IO complete, sleep expired,</a:t>
            </a:r>
            <a:endParaRPr/>
          </a:p>
          <a:p>
            <a:pPr marL="0" marR="0" lvl="0" indent="0" algn="l" rtl="0">
              <a:lnSpc>
                <a:spcPct val="100000"/>
              </a:lnSpc>
              <a:spcBef>
                <a:spcPts val="0"/>
              </a:spcBef>
              <a:spcAft>
                <a:spcPts val="0"/>
              </a:spcAft>
              <a:buClr>
                <a:srgbClr val="008600"/>
              </a:buClr>
              <a:buFont typeface="Calibri"/>
              <a:buNone/>
            </a:pPr>
            <a:r>
              <a:rPr lang="en-US" sz="2000" b="0" i="0" u="none">
                <a:solidFill>
                  <a:srgbClr val="008600"/>
                </a:solidFill>
                <a:latin typeface="Calibri"/>
                <a:ea typeface="Calibri"/>
                <a:cs typeface="Calibri"/>
                <a:sym typeface="Calibri"/>
              </a:rPr>
              <a:t>join complete</a:t>
            </a:r>
            <a:endParaRPr/>
          </a:p>
        </p:txBody>
      </p:sp>
      <p:sp>
        <p:nvSpPr>
          <p:cNvPr id="421" name="Google Shape;421;p35"/>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Java Thread States (Contd.)</a:t>
            </a:r>
            <a:endParaRPr/>
          </a:p>
        </p:txBody>
      </p:sp>
      <p:sp>
        <p:nvSpPr>
          <p:cNvPr id="422" name="Google Shape;422;p35"/>
          <p:cNvSpPr txBox="1"/>
          <p:nvPr/>
        </p:nvSpPr>
        <p:spPr>
          <a:xfrm>
            <a:off x="0" y="1243012"/>
            <a:ext cx="9144000" cy="585787"/>
          </a:xfrm>
          <a:prstGeom prst="rect">
            <a:avLst/>
          </a:prstGeom>
          <a:solidFill>
            <a:srgbClr val="009999"/>
          </a:solidFill>
          <a:ln w="9525" cap="flat" cmpd="sng">
            <a:solidFill>
              <a:srgbClr val="000000"/>
            </a:solidFill>
            <a:prstDash val="solid"/>
            <a:miter lim="800000"/>
            <a:headEnd type="none" w="sm" len="sm"/>
            <a:tailEnd type="none" w="sm" len="sm"/>
          </a:ln>
        </p:spPr>
        <p:txBody>
          <a:bodyPr spcFirstLastPara="1" wrap="square" lIns="92075" tIns="46025" rIns="92075" bIns="46025" anchor="t" anchorCtr="0">
            <a:noAutofit/>
          </a:bodyPr>
          <a:lstStyle/>
          <a:p>
            <a:pPr marL="571500" marR="0" lvl="0" indent="-57150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State Diagram</a:t>
            </a:r>
            <a:endParaRPr/>
          </a:p>
        </p:txBody>
      </p:sp>
      <p:cxnSp>
        <p:nvCxnSpPr>
          <p:cNvPr id="423" name="Google Shape;423;p35"/>
          <p:cNvCxnSpPr/>
          <p:nvPr/>
        </p:nvCxnSpPr>
        <p:spPr>
          <a:xfrm>
            <a:off x="4419600" y="2881312"/>
            <a:ext cx="0" cy="1047750"/>
          </a:xfrm>
          <a:prstGeom prst="straightConnector1">
            <a:avLst/>
          </a:prstGeom>
          <a:noFill/>
          <a:ln w="38100" cap="flat" cmpd="sng">
            <a:solidFill>
              <a:srgbClr val="D44700"/>
            </a:solidFill>
            <a:prstDash val="solid"/>
            <a:miter lim="800000"/>
            <a:headEnd type="none" w="sm" len="sm"/>
            <a:tailEnd type="triangle" w="med" len="med"/>
          </a:ln>
        </p:spPr>
      </p:cxnSp>
      <p:sp>
        <p:nvSpPr>
          <p:cNvPr id="424" name="Google Shape;424;p35"/>
          <p:cNvSpPr/>
          <p:nvPr/>
        </p:nvSpPr>
        <p:spPr>
          <a:xfrm>
            <a:off x="5029200" y="2714625"/>
            <a:ext cx="1752600" cy="1219200"/>
          </a:xfrm>
          <a:custGeom>
            <a:avLst/>
            <a:gdLst/>
            <a:ahLst/>
            <a:cxnLst/>
            <a:rect l="l" t="t" r="r" b="b"/>
            <a:pathLst>
              <a:path w="120000" h="120000" extrusionOk="0">
                <a:moveTo>
                  <a:pt x="120000" y="120000"/>
                </a:moveTo>
                <a:cubicBezTo>
                  <a:pt x="109130" y="100000"/>
                  <a:pt x="98260" y="80000"/>
                  <a:pt x="78260" y="60000"/>
                </a:cubicBezTo>
                <a:cubicBezTo>
                  <a:pt x="58260" y="40000"/>
                  <a:pt x="29130" y="20000"/>
                  <a:pt x="0" y="0"/>
                </a:cubicBezTo>
              </a:path>
            </a:pathLst>
          </a:custGeom>
          <a:noFill/>
          <a:ln w="381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425" name="Google Shape;425;p35"/>
          <p:cNvCxnSpPr/>
          <p:nvPr/>
        </p:nvCxnSpPr>
        <p:spPr>
          <a:xfrm>
            <a:off x="4419600" y="2895600"/>
            <a:ext cx="0" cy="1047750"/>
          </a:xfrm>
          <a:prstGeom prst="straightConnector1">
            <a:avLst/>
          </a:prstGeom>
          <a:noFill/>
          <a:ln w="38100" cap="flat" cmpd="sng">
            <a:solidFill>
              <a:srgbClr val="D44700"/>
            </a:solidFill>
            <a:prstDash val="solid"/>
            <a:miter lim="800000"/>
            <a:headEnd type="none" w="sm" len="sm"/>
            <a:tailEnd type="triangle" w="med" len="med"/>
          </a:ln>
        </p:spPr>
      </p:cxn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par>
                                <p:cTn id="8" presetID="10" presetClass="entr" presetSubtype="0" fill="hold" nodeType="withEffect">
                                  <p:stCondLst>
                                    <p:cond delay="0"/>
                                  </p:stCondLst>
                                  <p:childTnLst>
                                    <p:set>
                                      <p:cBhvr>
                                        <p:cTn id="9" dur="1" fill="hold">
                                          <p:stCondLst>
                                            <p:cond delay="0"/>
                                          </p:stCondLst>
                                        </p:cTn>
                                        <p:tgtEl>
                                          <p:spTgt spid="415"/>
                                        </p:tgtEl>
                                        <p:attrNameLst>
                                          <p:attrName>style.visibility</p:attrName>
                                        </p:attrNameLst>
                                      </p:cBhvr>
                                      <p:to>
                                        <p:strVal val="visible"/>
                                      </p:to>
                                    </p:set>
                                    <p:animEffect transition="in" filter="fade">
                                      <p:cBhvr>
                                        <p:cTn id="10" dur="500"/>
                                        <p:tgtEl>
                                          <p:spTgt spid="415"/>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406"/>
                                        </p:tgtEl>
                                        <p:attrNameLst>
                                          <p:attrName>style.visibility</p:attrName>
                                        </p:attrNameLst>
                                      </p:cBhvr>
                                      <p:to>
                                        <p:strVal val="visible"/>
                                      </p:to>
                                    </p:set>
                                    <p:animEffect transition="in" filter="fade">
                                      <p:cBhvr>
                                        <p:cTn id="14" dur="500"/>
                                        <p:tgtEl>
                                          <p:spTgt spid="40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404"/>
                                        </p:tgtEl>
                                        <p:attrNameLst>
                                          <p:attrName>style.visibility</p:attrName>
                                        </p:attrNameLst>
                                      </p:cBhvr>
                                      <p:to>
                                        <p:strVal val="visible"/>
                                      </p:to>
                                    </p:set>
                                    <p:animEffect transition="in" filter="fade">
                                      <p:cBhvr>
                                        <p:cTn id="19" dur="500"/>
                                        <p:tgtEl>
                                          <p:spTgt spid="404"/>
                                        </p:tgtEl>
                                      </p:cBhvr>
                                    </p:animEffect>
                                  </p:childTnLst>
                                </p:cTn>
                              </p:par>
                              <p:par>
                                <p:cTn id="20" presetID="10" presetClass="entr" presetSubtype="0" fill="hold" nodeType="withEffect">
                                  <p:stCondLst>
                                    <p:cond delay="0"/>
                                  </p:stCondLst>
                                  <p:childTnLst>
                                    <p:set>
                                      <p:cBhvr>
                                        <p:cTn id="21" dur="1" fill="hold">
                                          <p:stCondLst>
                                            <p:cond delay="0"/>
                                          </p:stCondLst>
                                        </p:cTn>
                                        <p:tgtEl>
                                          <p:spTgt spid="416"/>
                                        </p:tgtEl>
                                        <p:attrNameLst>
                                          <p:attrName>style.visibility</p:attrName>
                                        </p:attrNameLst>
                                      </p:cBhvr>
                                      <p:to>
                                        <p:strVal val="visible"/>
                                      </p:to>
                                    </p:set>
                                    <p:animEffect transition="in" filter="fade">
                                      <p:cBhvr>
                                        <p:cTn id="22" dur="500"/>
                                        <p:tgtEl>
                                          <p:spTgt spid="416"/>
                                        </p:tgtEl>
                                      </p:cBhvr>
                                    </p:animEffect>
                                  </p:childTnLst>
                                </p:cTn>
                              </p:par>
                            </p:childTnLst>
                          </p:cTn>
                        </p:par>
                        <p:par>
                          <p:cTn id="23" fill="hold">
                            <p:stCondLst>
                              <p:cond delay="500"/>
                            </p:stCondLst>
                            <p:childTnLst>
                              <p:par>
                                <p:cTn id="24" presetID="10" presetClass="entr" presetSubtype="0" fill="hold" nodeType="afterEffect">
                                  <p:stCondLst>
                                    <p:cond delay="0"/>
                                  </p:stCondLst>
                                  <p:childTnLst>
                                    <p:set>
                                      <p:cBhvr>
                                        <p:cTn id="25" dur="1" fill="hold">
                                          <p:stCondLst>
                                            <p:cond delay="0"/>
                                          </p:stCondLst>
                                        </p:cTn>
                                        <p:tgtEl>
                                          <p:spTgt spid="403"/>
                                        </p:tgtEl>
                                        <p:attrNameLst>
                                          <p:attrName>style.visibility</p:attrName>
                                        </p:attrNameLst>
                                      </p:cBhvr>
                                      <p:to>
                                        <p:strVal val="visible"/>
                                      </p:to>
                                    </p:set>
                                    <p:animEffect transition="in" filter="fade">
                                      <p:cBhvr>
                                        <p:cTn id="26" dur="500"/>
                                        <p:tgtEl>
                                          <p:spTgt spid="40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10"/>
                                        </p:tgtEl>
                                        <p:attrNameLst>
                                          <p:attrName>style.visibility</p:attrName>
                                        </p:attrNameLst>
                                      </p:cBhvr>
                                      <p:to>
                                        <p:strVal val="visible"/>
                                      </p:to>
                                    </p:set>
                                    <p:animEffect transition="in" filter="fade">
                                      <p:cBhvr>
                                        <p:cTn id="31" dur="500"/>
                                        <p:tgtEl>
                                          <p:spTgt spid="410"/>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405"/>
                                        </p:tgtEl>
                                        <p:attrNameLst>
                                          <p:attrName>style.visibility</p:attrName>
                                        </p:attrNameLst>
                                      </p:cBhvr>
                                      <p:to>
                                        <p:strVal val="visible"/>
                                      </p:to>
                                    </p:set>
                                    <p:animEffect transition="in" filter="fade">
                                      <p:cBhvr>
                                        <p:cTn id="35" dur="500"/>
                                        <p:tgtEl>
                                          <p:spTgt spid="405"/>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408"/>
                                        </p:tgtEl>
                                        <p:attrNameLst>
                                          <p:attrName>style.visibility</p:attrName>
                                        </p:attrNameLst>
                                      </p:cBhvr>
                                      <p:to>
                                        <p:strVal val="visible"/>
                                      </p:to>
                                    </p:set>
                                    <p:animEffect transition="in" filter="fade">
                                      <p:cBhvr>
                                        <p:cTn id="39" dur="500"/>
                                        <p:tgtEl>
                                          <p:spTgt spid="40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13"/>
                                        </p:tgtEl>
                                        <p:attrNameLst>
                                          <p:attrName>style.visibility</p:attrName>
                                        </p:attrNameLst>
                                      </p:cBhvr>
                                      <p:to>
                                        <p:strVal val="visible"/>
                                      </p:to>
                                    </p:set>
                                    <p:animEffect transition="in" filter="fade">
                                      <p:cBhvr>
                                        <p:cTn id="44" dur="500"/>
                                        <p:tgtEl>
                                          <p:spTgt spid="413"/>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419"/>
                                        </p:tgtEl>
                                        <p:attrNameLst>
                                          <p:attrName>style.visibility</p:attrName>
                                        </p:attrNameLst>
                                      </p:cBhvr>
                                      <p:to>
                                        <p:strVal val="visible"/>
                                      </p:to>
                                    </p:set>
                                    <p:animEffect transition="in" filter="fade">
                                      <p:cBhvr>
                                        <p:cTn id="48" dur="500"/>
                                        <p:tgtEl>
                                          <p:spTgt spid="41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23"/>
                                        </p:tgtEl>
                                        <p:attrNameLst>
                                          <p:attrName>style.visibility</p:attrName>
                                        </p:attrNameLst>
                                      </p:cBhvr>
                                      <p:to>
                                        <p:strVal val="visible"/>
                                      </p:to>
                                    </p:set>
                                    <p:animEffect transition="in" filter="fade">
                                      <p:cBhvr>
                                        <p:cTn id="53" dur="500"/>
                                        <p:tgtEl>
                                          <p:spTgt spid="42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411"/>
                                        </p:tgtEl>
                                        <p:attrNameLst>
                                          <p:attrName>style.visibility</p:attrName>
                                        </p:attrNameLst>
                                      </p:cBhvr>
                                      <p:to>
                                        <p:strVal val="visible"/>
                                      </p:to>
                                    </p:set>
                                    <p:animEffect transition="in" filter="fade">
                                      <p:cBhvr>
                                        <p:cTn id="58" dur="500"/>
                                        <p:tgtEl>
                                          <p:spTgt spid="411"/>
                                        </p:tgtEl>
                                      </p:cBhvr>
                                    </p:animEffect>
                                  </p:childTnLst>
                                </p:cTn>
                              </p:par>
                            </p:childTnLst>
                          </p:cTn>
                        </p:par>
                        <p:par>
                          <p:cTn id="59" fill="hold">
                            <p:stCondLst>
                              <p:cond delay="500"/>
                            </p:stCondLst>
                            <p:childTnLst>
                              <p:par>
                                <p:cTn id="60" presetID="10" presetClass="entr" presetSubtype="0" fill="hold" nodeType="afterEffect">
                                  <p:stCondLst>
                                    <p:cond delay="0"/>
                                  </p:stCondLst>
                                  <p:childTnLst>
                                    <p:set>
                                      <p:cBhvr>
                                        <p:cTn id="61" dur="1" fill="hold">
                                          <p:stCondLst>
                                            <p:cond delay="0"/>
                                          </p:stCondLst>
                                        </p:cTn>
                                        <p:tgtEl>
                                          <p:spTgt spid="418"/>
                                        </p:tgtEl>
                                        <p:attrNameLst>
                                          <p:attrName>style.visibility</p:attrName>
                                        </p:attrNameLst>
                                      </p:cBhvr>
                                      <p:to>
                                        <p:strVal val="visible"/>
                                      </p:to>
                                    </p:set>
                                    <p:animEffect transition="in" filter="fade">
                                      <p:cBhvr>
                                        <p:cTn id="62" dur="500"/>
                                        <p:tgtEl>
                                          <p:spTgt spid="418"/>
                                        </p:tgtEl>
                                      </p:cBhvr>
                                    </p:animEffect>
                                  </p:childTnLst>
                                </p:cTn>
                              </p:par>
                            </p:childTnLst>
                          </p:cTn>
                        </p:par>
                        <p:par>
                          <p:cTn id="63" fill="hold">
                            <p:stCondLst>
                              <p:cond delay="1000"/>
                            </p:stCondLst>
                            <p:childTnLst>
                              <p:par>
                                <p:cTn id="64" presetID="10" presetClass="entr" presetSubtype="0" fill="hold" nodeType="afterEffect">
                                  <p:stCondLst>
                                    <p:cond delay="0"/>
                                  </p:stCondLst>
                                  <p:childTnLst>
                                    <p:set>
                                      <p:cBhvr>
                                        <p:cTn id="65" dur="1" fill="hold">
                                          <p:stCondLst>
                                            <p:cond delay="0"/>
                                          </p:stCondLst>
                                        </p:cTn>
                                        <p:tgtEl>
                                          <p:spTgt spid="409"/>
                                        </p:tgtEl>
                                        <p:attrNameLst>
                                          <p:attrName>style.visibility</p:attrName>
                                        </p:attrNameLst>
                                      </p:cBhvr>
                                      <p:to>
                                        <p:strVal val="visible"/>
                                      </p:to>
                                    </p:set>
                                    <p:animEffect transition="in" filter="fade">
                                      <p:cBhvr>
                                        <p:cTn id="66" dur="500"/>
                                        <p:tgtEl>
                                          <p:spTgt spid="40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24"/>
                                        </p:tgtEl>
                                        <p:attrNameLst>
                                          <p:attrName>style.visibility</p:attrName>
                                        </p:attrNameLst>
                                      </p:cBhvr>
                                      <p:to>
                                        <p:strVal val="visible"/>
                                      </p:to>
                                    </p:set>
                                    <p:animEffect transition="in" filter="fade">
                                      <p:cBhvr>
                                        <p:cTn id="71" dur="500"/>
                                        <p:tgtEl>
                                          <p:spTgt spid="424"/>
                                        </p:tgtEl>
                                      </p:cBhvr>
                                    </p:animEffect>
                                  </p:childTnLst>
                                </p:cTn>
                              </p:par>
                            </p:childTnLst>
                          </p:cTn>
                        </p:par>
                        <p:par>
                          <p:cTn id="72" fill="hold">
                            <p:stCondLst>
                              <p:cond delay="500"/>
                            </p:stCondLst>
                            <p:childTnLst>
                              <p:par>
                                <p:cTn id="73" presetID="10" presetClass="entr" presetSubtype="0" fill="hold" nodeType="afterEffect">
                                  <p:stCondLst>
                                    <p:cond delay="0"/>
                                  </p:stCondLst>
                                  <p:childTnLst>
                                    <p:set>
                                      <p:cBhvr>
                                        <p:cTn id="74" dur="1" fill="hold">
                                          <p:stCondLst>
                                            <p:cond delay="0"/>
                                          </p:stCondLst>
                                        </p:cTn>
                                        <p:tgtEl>
                                          <p:spTgt spid="420"/>
                                        </p:tgtEl>
                                        <p:attrNameLst>
                                          <p:attrName>style.visibility</p:attrName>
                                        </p:attrNameLst>
                                      </p:cBhvr>
                                      <p:to>
                                        <p:strVal val="visible"/>
                                      </p:to>
                                    </p:set>
                                    <p:animEffect transition="in" filter="fade">
                                      <p:cBhvr>
                                        <p:cTn id="75" dur="500"/>
                                        <p:tgtEl>
                                          <p:spTgt spid="420"/>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425"/>
                                        </p:tgtEl>
                                        <p:attrNameLst>
                                          <p:attrName>style.visibility</p:attrName>
                                        </p:attrNameLst>
                                      </p:cBhvr>
                                      <p:to>
                                        <p:strVal val="visible"/>
                                      </p:to>
                                    </p:set>
                                    <p:animEffect transition="in" filter="fade">
                                      <p:cBhvr>
                                        <p:cTn id="80" dur="500"/>
                                        <p:tgtEl>
                                          <p:spTgt spid="42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412"/>
                                        </p:tgtEl>
                                        <p:attrNameLst>
                                          <p:attrName>style.visibility</p:attrName>
                                        </p:attrNameLst>
                                      </p:cBhvr>
                                      <p:to>
                                        <p:strVal val="visible"/>
                                      </p:to>
                                    </p:set>
                                    <p:animEffect transition="in" filter="fade">
                                      <p:cBhvr>
                                        <p:cTn id="85" dur="500"/>
                                        <p:tgtEl>
                                          <p:spTgt spid="412"/>
                                        </p:tgtEl>
                                      </p:cBhvr>
                                    </p:animEffect>
                                  </p:childTnLst>
                                </p:cTn>
                              </p:par>
                            </p:childTnLst>
                          </p:cTn>
                        </p:par>
                        <p:par>
                          <p:cTn id="86" fill="hold">
                            <p:stCondLst>
                              <p:cond delay="500"/>
                            </p:stCondLst>
                            <p:childTnLst>
                              <p:par>
                                <p:cTn id="87" presetID="10" presetClass="entr" presetSubtype="0" fill="hold" nodeType="afterEffect">
                                  <p:stCondLst>
                                    <p:cond delay="0"/>
                                  </p:stCondLst>
                                  <p:childTnLst>
                                    <p:set>
                                      <p:cBhvr>
                                        <p:cTn id="88" dur="1" fill="hold">
                                          <p:stCondLst>
                                            <p:cond delay="0"/>
                                          </p:stCondLst>
                                        </p:cTn>
                                        <p:tgtEl>
                                          <p:spTgt spid="417"/>
                                        </p:tgtEl>
                                        <p:attrNameLst>
                                          <p:attrName>style.visibility</p:attrName>
                                        </p:attrNameLst>
                                      </p:cBhvr>
                                      <p:to>
                                        <p:strVal val="visible"/>
                                      </p:to>
                                    </p:set>
                                    <p:animEffect transition="in" filter="fade">
                                      <p:cBhvr>
                                        <p:cTn id="89" dur="500"/>
                                        <p:tgtEl>
                                          <p:spTgt spid="417"/>
                                        </p:tgtEl>
                                      </p:cBhvr>
                                    </p:animEffect>
                                  </p:childTnLst>
                                </p:cTn>
                              </p:par>
                            </p:childTnLst>
                          </p:cTn>
                        </p:par>
                        <p:par>
                          <p:cTn id="90" fill="hold">
                            <p:stCondLst>
                              <p:cond delay="1000"/>
                            </p:stCondLst>
                            <p:childTnLst>
                              <p:par>
                                <p:cTn id="91" presetID="10" presetClass="entr" presetSubtype="0" fill="hold" nodeType="afterEffect">
                                  <p:stCondLst>
                                    <p:cond delay="0"/>
                                  </p:stCondLst>
                                  <p:childTnLst>
                                    <p:set>
                                      <p:cBhvr>
                                        <p:cTn id="92" dur="1" fill="hold">
                                          <p:stCondLst>
                                            <p:cond delay="0"/>
                                          </p:stCondLst>
                                        </p:cTn>
                                        <p:tgtEl>
                                          <p:spTgt spid="407"/>
                                        </p:tgtEl>
                                        <p:attrNameLst>
                                          <p:attrName>style.visibility</p:attrName>
                                        </p:attrNameLst>
                                      </p:cBhvr>
                                      <p:to>
                                        <p:strVal val="visible"/>
                                      </p:to>
                                    </p:set>
                                    <p:animEffect transition="in" filter="fade">
                                      <p:cBhvr>
                                        <p:cTn id="93" dur="500"/>
                                        <p:tgtEl>
                                          <p:spTgt spid="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descr="Stationery"/>
          <p:cNvSpPr txBox="1"/>
          <p:nvPr/>
        </p:nvSpPr>
        <p:spPr>
          <a:xfrm>
            <a:off x="609600" y="1752600"/>
            <a:ext cx="8077200" cy="21336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406400" marR="0" lvl="1" indent="-177800" algn="l" rtl="0">
              <a:lnSpc>
                <a:spcPct val="100000"/>
              </a:lnSpc>
              <a:spcBef>
                <a:spcPts val="0"/>
              </a:spcBef>
              <a:spcAft>
                <a:spcPts val="0"/>
              </a:spcAft>
              <a:buClr>
                <a:schemeClr val="accent1"/>
              </a:buClr>
              <a:buSzPts val="2500"/>
              <a:buFont typeface="Calibri"/>
              <a:buChar char="•"/>
            </a:pPr>
            <a:r>
              <a:rPr lang="en-US" sz="2000" b="0" i="0" u="none" strike="noStrike" cap="none">
                <a:solidFill>
                  <a:schemeClr val="dk1"/>
                </a:solidFill>
                <a:latin typeface="Calibri"/>
                <a:ea typeface="Calibri"/>
                <a:cs typeface="Calibri"/>
                <a:sym typeface="Calibri"/>
              </a:rPr>
              <a:t> Two ways of creating Thread in Java:</a:t>
            </a:r>
            <a:endParaRPr/>
          </a:p>
          <a:p>
            <a:pPr marL="406400" marR="0" lvl="1" indent="-177800" algn="l" rtl="0">
              <a:lnSpc>
                <a:spcPct val="100000"/>
              </a:lnSpc>
              <a:spcBef>
                <a:spcPts val="0"/>
              </a:spcBef>
              <a:spcAft>
                <a:spcPts val="0"/>
              </a:spcAft>
              <a:buClr>
                <a:schemeClr val="dk1"/>
              </a:buClr>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432" name="Google Shape;432;p36"/>
          <p:cNvSpPr txBox="1"/>
          <p:nvPr/>
        </p:nvSpPr>
        <p:spPr>
          <a:xfrm>
            <a:off x="0" y="1243012"/>
            <a:ext cx="9144000" cy="585787"/>
          </a:xfrm>
          <a:prstGeom prst="rect">
            <a:avLst/>
          </a:prstGeom>
          <a:solidFill>
            <a:srgbClr val="009999"/>
          </a:solidFill>
          <a:ln w="9525" cap="flat" cmpd="sng">
            <a:solidFill>
              <a:srgbClr val="000000"/>
            </a:solidFill>
            <a:prstDash val="solid"/>
            <a:miter lim="800000"/>
            <a:headEnd type="none" w="sm" len="sm"/>
            <a:tailEnd type="none" w="sm" len="sm"/>
          </a:ln>
        </p:spPr>
        <p:txBody>
          <a:bodyPr spcFirstLastPara="1" wrap="square" lIns="92075" tIns="46025" rIns="92075" bIns="46025" anchor="t" anchorCtr="0">
            <a:noAutofit/>
          </a:bodyPr>
          <a:lstStyle/>
          <a:p>
            <a:pPr marL="571500" marR="0" lvl="0" indent="-57150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Creating Threads</a:t>
            </a:r>
            <a:endParaRPr/>
          </a:p>
        </p:txBody>
      </p:sp>
      <p:grpSp>
        <p:nvGrpSpPr>
          <p:cNvPr id="433" name="Google Shape;433;p36"/>
          <p:cNvGrpSpPr/>
          <p:nvPr/>
        </p:nvGrpSpPr>
        <p:grpSpPr>
          <a:xfrm>
            <a:off x="1676400" y="2667000"/>
            <a:ext cx="5410200" cy="457200"/>
            <a:chOff x="1066800" y="2819400"/>
            <a:chExt cx="4724400" cy="457200"/>
          </a:xfrm>
        </p:grpSpPr>
        <p:sp>
          <p:nvSpPr>
            <p:cNvPr id="434" name="Google Shape;434;p36" descr="Stationery"/>
            <p:cNvSpPr txBox="1"/>
            <p:nvPr/>
          </p:nvSpPr>
          <p:spPr>
            <a:xfrm>
              <a:off x="1066800" y="2819400"/>
              <a:ext cx="47244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1.</a:t>
              </a:r>
              <a:endParaRPr/>
            </a:p>
          </p:txBody>
        </p:sp>
        <p:sp>
          <p:nvSpPr>
            <p:cNvPr id="435" name="Google Shape;435;p36" descr="Stationery"/>
            <p:cNvSpPr txBox="1"/>
            <p:nvPr/>
          </p:nvSpPr>
          <p:spPr>
            <a:xfrm>
              <a:off x="1676400" y="2819400"/>
              <a:ext cx="41148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grpSp>
      <p:grpSp>
        <p:nvGrpSpPr>
          <p:cNvPr id="436" name="Google Shape;436;p36"/>
          <p:cNvGrpSpPr/>
          <p:nvPr/>
        </p:nvGrpSpPr>
        <p:grpSpPr>
          <a:xfrm>
            <a:off x="1676400" y="3124200"/>
            <a:ext cx="5410200" cy="457200"/>
            <a:chOff x="1066800" y="3352800"/>
            <a:chExt cx="4724400" cy="457200"/>
          </a:xfrm>
        </p:grpSpPr>
        <p:sp>
          <p:nvSpPr>
            <p:cNvPr id="437" name="Google Shape;437;p36" descr="Stationery"/>
            <p:cNvSpPr txBox="1"/>
            <p:nvPr/>
          </p:nvSpPr>
          <p:spPr>
            <a:xfrm>
              <a:off x="1066800" y="3352800"/>
              <a:ext cx="47244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2.</a:t>
              </a:r>
              <a:endParaRPr/>
            </a:p>
          </p:txBody>
        </p:sp>
        <p:sp>
          <p:nvSpPr>
            <p:cNvPr id="438" name="Google Shape;438;p36" descr="Stationery"/>
            <p:cNvSpPr txBox="1"/>
            <p:nvPr/>
          </p:nvSpPr>
          <p:spPr>
            <a:xfrm>
              <a:off x="1676400" y="3352800"/>
              <a:ext cx="4114800" cy="4572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grpSp>
      <p:sp>
        <p:nvSpPr>
          <p:cNvPr id="439" name="Google Shape;439;p36"/>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a:t>
            </a:r>
            <a:endParaRPr/>
          </a:p>
        </p:txBody>
      </p:sp>
    </p:spTree>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7" descr="Stationery"/>
          <p:cNvSpPr txBox="1"/>
          <p:nvPr/>
        </p:nvSpPr>
        <p:spPr>
          <a:xfrm>
            <a:off x="609600" y="1752600"/>
            <a:ext cx="8534400" cy="16002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290512" marR="0" lvl="0" indent="-80961" algn="l" rtl="0">
              <a:lnSpc>
                <a:spcPct val="100000"/>
              </a:lnSpc>
              <a:spcBef>
                <a:spcPts val="0"/>
              </a:spcBef>
              <a:spcAft>
                <a:spcPts val="0"/>
              </a:spcAft>
              <a:buClr>
                <a:schemeClr val="accent1"/>
              </a:buClr>
              <a:buSzPts val="2500"/>
              <a:buFont typeface="Arial"/>
              <a:buNone/>
            </a:pPr>
            <a:endParaRPr sz="2000" b="0" i="0" u="none">
              <a:solidFill>
                <a:schemeClr val="dk1"/>
              </a:solidFill>
              <a:latin typeface="Calibri"/>
              <a:ea typeface="Calibri"/>
              <a:cs typeface="Calibri"/>
              <a:sym typeface="Calibri"/>
            </a:endParaRPr>
          </a:p>
          <a:p>
            <a:pPr marL="290512" marR="0" lvl="0" indent="-239711" algn="l" rtl="0">
              <a:lnSpc>
                <a:spcPct val="100000"/>
              </a:lnSpc>
              <a:spcBef>
                <a:spcPts val="0"/>
              </a:spcBef>
              <a:spcAft>
                <a:spcPts val="0"/>
              </a:spcAft>
              <a:buClr>
                <a:schemeClr val="accent1"/>
              </a:buClr>
              <a:buSzPts val="2500"/>
              <a:buFont typeface="Calibri"/>
              <a:buChar char="•"/>
            </a:pPr>
            <a:r>
              <a:rPr lang="en-US" sz="2000" b="0" i="0" u="none">
                <a:solidFill>
                  <a:schemeClr val="dk1"/>
                </a:solidFill>
                <a:latin typeface="Calibri"/>
                <a:ea typeface="Calibri"/>
                <a:cs typeface="Calibri"/>
                <a:sym typeface="Calibri"/>
              </a:rPr>
              <a:t> The class extending the Thread class calls start() method to begin</a:t>
            </a:r>
            <a:endParaRPr/>
          </a:p>
          <a:p>
            <a:pPr marL="290512" marR="0" lvl="0" indent="-239711"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executing child thread.</a:t>
            </a:r>
            <a:endParaRPr/>
          </a:p>
          <a:p>
            <a:pPr marL="290512" marR="0" lvl="0" indent="-239711"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290512" marR="0" lvl="0" indent="-239711"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290512" marR="0" lvl="0" indent="-239711"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290512" marR="0" lvl="0" indent="-80961" algn="l" rtl="0">
              <a:lnSpc>
                <a:spcPct val="100000"/>
              </a:lnSpc>
              <a:spcBef>
                <a:spcPts val="0"/>
              </a:spcBef>
              <a:spcAft>
                <a:spcPts val="0"/>
              </a:spcAft>
              <a:buClr>
                <a:schemeClr val="accent1"/>
              </a:buClr>
              <a:buSzPts val="2500"/>
              <a:buFont typeface="Arial"/>
              <a:buNone/>
            </a:pPr>
            <a:endParaRPr sz="2000" b="0" i="0" u="none">
              <a:solidFill>
                <a:schemeClr val="dk1"/>
              </a:solidFill>
              <a:latin typeface="Calibri"/>
              <a:ea typeface="Calibri"/>
              <a:cs typeface="Calibri"/>
              <a:sym typeface="Calibri"/>
            </a:endParaRPr>
          </a:p>
          <a:p>
            <a:pPr marL="566737" marR="0" lvl="1" indent="-109537" algn="l" rtl="0">
              <a:lnSpc>
                <a:spcPct val="100000"/>
              </a:lnSpc>
              <a:spcBef>
                <a:spcPts val="0"/>
              </a:spcBef>
              <a:spcAft>
                <a:spcPts val="0"/>
              </a:spcAft>
              <a:buClr>
                <a:schemeClr val="dk1"/>
              </a:buClr>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447" name="Google Shape;447;p37"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448" name="Google Shape;448;p37"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449" name="Google Shape;449;p37"/>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450" name="Google Shape;450;p37"/>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51" name="Google Shape;451;p37"/>
          <p:cNvSpPr txBox="1"/>
          <p:nvPr/>
        </p:nvSpPr>
        <p:spPr>
          <a:xfrm>
            <a:off x="609600" y="3429000"/>
            <a:ext cx="8534400" cy="2667000"/>
          </a:xfrm>
          <a:prstGeom prst="rect">
            <a:avLst/>
          </a:prstGeom>
          <a:solidFill>
            <a:schemeClr val="dk1"/>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290512" marR="0" lvl="0" indent="-239711"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   public class MyThread extends Thread {</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public void run() {</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 			</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MyThread T = new MyThread () ;	// create thread</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T.start();		       	// begin running thread</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a:t>
            </a:r>
            <a:endParaRPr/>
          </a:p>
          <a:p>
            <a:pPr marL="0" marR="0" lvl="0" indent="0" algn="l" rtl="0">
              <a:lnSpc>
                <a:spcPct val="100000"/>
              </a:lnSpc>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2" name="Google Shape;452;p37" descr="Stationery"/>
          <p:cNvSpPr/>
          <p:nvPr/>
        </p:nvSpPr>
        <p:spPr>
          <a:xfrm>
            <a:off x="4800600" y="2743200"/>
            <a:ext cx="2209800" cy="1066800"/>
          </a:xfrm>
          <a:prstGeom prst="cloudCallout">
            <a:avLst>
              <a:gd name="adj1" fmla="val -47"/>
              <a:gd name="adj2" fmla="val 21857"/>
            </a:avLst>
          </a:prstGeom>
          <a:blipFill rotWithShape="1">
            <a:blip r:embed="rId3">
              <a:alphaModFix/>
            </a:blip>
            <a:stretch>
              <a:fillRect/>
            </a:stretch>
          </a:blipFill>
          <a:ln>
            <a:noFill/>
          </a:ln>
          <a:effectLst>
            <a:outerShdw blurRad="63500" dist="17960" dir="2700000">
              <a:srgbClr val="99997A"/>
            </a:outerShdw>
          </a:effectLst>
        </p:spPr>
        <p:txBody>
          <a:bodyPr spcFirstLastPara="1" wrap="square" lIns="91425" tIns="45700" rIns="91425" bIns="45700" anchor="t" anchorCtr="0">
            <a:noAutofit/>
          </a:bodyPr>
          <a:lstStyle/>
          <a:p>
            <a:pPr marL="290512" marR="0" lvl="0" indent="-239711"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Sample Code</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6"/>
                                        </p:tgtEl>
                                        <p:attrNameLst>
                                          <p:attrName>style.visibility</p:attrName>
                                        </p:attrNameLst>
                                      </p:cBhvr>
                                      <p:to>
                                        <p:strVal val="visible"/>
                                      </p:to>
                                    </p:set>
                                    <p:animEffect transition="in" filter="fade">
                                      <p:cBhvr>
                                        <p:cTn id="7" dur="1000"/>
                                        <p:tgtEl>
                                          <p:spTgt spid="44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452"/>
                                        </p:tgtEl>
                                        <p:attrNameLst>
                                          <p:attrName>style.visibility</p:attrName>
                                        </p:attrNameLst>
                                      </p:cBhvr>
                                      <p:to>
                                        <p:strVal val="visible"/>
                                      </p:to>
                                    </p:set>
                                    <p:anim calcmode="lin" valueType="num">
                                      <p:cBhvr additive="base">
                                        <p:cTn id="12" dur="500"/>
                                        <p:tgtEl>
                                          <p:spTgt spid="452"/>
                                        </p:tgtEl>
                                        <p:attrNameLst>
                                          <p:attrName>ppt_w</p:attrName>
                                        </p:attrNameLst>
                                      </p:cBhvr>
                                      <p:tavLst>
                                        <p:tav tm="0">
                                          <p:val>
                                            <p:strVal val="0"/>
                                          </p:val>
                                        </p:tav>
                                        <p:tav tm="100000">
                                          <p:val>
                                            <p:strVal val="#ppt_w"/>
                                          </p:val>
                                        </p:tav>
                                      </p:tavLst>
                                    </p:anim>
                                    <p:anim calcmode="lin" valueType="num">
                                      <p:cBhvr additive="base">
                                        <p:cTn id="13" dur="500"/>
                                        <p:tgtEl>
                                          <p:spTgt spid="452"/>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51"/>
                                        </p:tgtEl>
                                        <p:attrNameLst>
                                          <p:attrName>style.visibility</p:attrName>
                                        </p:attrNameLst>
                                      </p:cBhvr>
                                      <p:to>
                                        <p:strVal val="visible"/>
                                      </p:to>
                                    </p:set>
                                    <p:animEffect transition="in" filter="fade">
                                      <p:cBhvr>
                                        <p:cTn id="18" dur="80"/>
                                        <p:tgtEl>
                                          <p:spTgt spid="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8"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460" name="Google Shape;460;p38"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461" name="Google Shape;461;p38"/>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462" name="Google Shape;462;p38"/>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63" name="Google Shape;463;p38" descr="Stationery"/>
          <p:cNvSpPr/>
          <p:nvPr/>
        </p:nvSpPr>
        <p:spPr>
          <a:xfrm>
            <a:off x="3581400" y="1752600"/>
            <a:ext cx="2743200" cy="1828800"/>
          </a:xfrm>
          <a:prstGeom prst="cloudCallout">
            <a:avLst>
              <a:gd name="adj1" fmla="val 7138"/>
              <a:gd name="adj2" fmla="val 25069"/>
            </a:avLst>
          </a:prstGeom>
          <a:blipFill rotWithShape="1">
            <a:blip r:embed="rId3">
              <a:alphaModFix amt="39999"/>
            </a:blip>
            <a:stretch>
              <a:fillRect/>
            </a:stretch>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Code to create Thread using Thread class</a:t>
            </a:r>
            <a:endParaRPr/>
          </a:p>
        </p:txBody>
      </p:sp>
      <p:sp>
        <p:nvSpPr>
          <p:cNvPr id="464" name="Google Shape;464;p38"/>
          <p:cNvSpPr txBox="1"/>
          <p:nvPr/>
        </p:nvSpPr>
        <p:spPr>
          <a:xfrm>
            <a:off x="0" y="1919287"/>
            <a:ext cx="5029200"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class MyThread extends Thread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private String name, msg;</a:t>
            </a:r>
            <a:endParaRPr/>
          </a:p>
          <a:p>
            <a:pPr marL="342900" marR="0" lvl="0" indent="-342900" algn="l" rtl="0">
              <a:lnSpc>
                <a:spcPct val="8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MyThread(String name, String msg)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this.name = name;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this.msg = msg;</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void run()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starts its execution");</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465" name="Google Shape;465;p38"/>
          <p:cNvSpPr txBox="1"/>
          <p:nvPr/>
        </p:nvSpPr>
        <p:spPr>
          <a:xfrm>
            <a:off x="5181600" y="1878012"/>
            <a:ext cx="3962400"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for (int i = 0; i &lt; =5; i++)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says: " + msg+” for “+i+” time/s”);</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try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Thread.sleep(2000);</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catch (InterruptedException ie)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End of For Loop</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finished execution");</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p:txBody>
      </p:sp>
      <p:cxnSp>
        <p:nvCxnSpPr>
          <p:cNvPr id="466" name="Google Shape;466;p38"/>
          <p:cNvCxnSpPr/>
          <p:nvPr/>
        </p:nvCxnSpPr>
        <p:spPr>
          <a:xfrm>
            <a:off x="5029200" y="1752600"/>
            <a:ext cx="0" cy="4724400"/>
          </a:xfrm>
          <a:prstGeom prst="straightConnector1">
            <a:avLst/>
          </a:prstGeom>
          <a:noFill/>
          <a:ln w="38100" cap="flat" cmpd="sng">
            <a:solidFill>
              <a:srgbClr val="336600"/>
            </a:solidFill>
            <a:prstDash val="solid"/>
            <a:miter lim="800000"/>
            <a:headEnd type="none" w="sm" len="sm"/>
            <a:tailEnd type="none" w="sm" len="sm"/>
          </a:ln>
        </p:spPr>
      </p:cxn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3"/>
                                        </p:tgtEl>
                                        <p:attrNameLst>
                                          <p:attrName>style.visibility</p:attrName>
                                        </p:attrNameLst>
                                      </p:cBhvr>
                                      <p:to>
                                        <p:strVal val="visible"/>
                                      </p:to>
                                    </p:set>
                                    <p:animEffect transition="in" filter="fade">
                                      <p:cBhvr>
                                        <p:cTn id="7" dur="500"/>
                                        <p:tgtEl>
                                          <p:spTgt spid="4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4">
                                            <p:txEl>
                                              <p:pRg st="0" end="0"/>
                                            </p:txEl>
                                          </p:spTgt>
                                        </p:tgtEl>
                                        <p:attrNameLst>
                                          <p:attrName>style.visibility</p:attrName>
                                        </p:attrNameLst>
                                      </p:cBhvr>
                                      <p:to>
                                        <p:strVal val="visible"/>
                                      </p:to>
                                    </p:set>
                                    <p:animEffect transition="in" filter="fade">
                                      <p:cBhvr>
                                        <p:cTn id="12" dur="80"/>
                                        <p:tgtEl>
                                          <p:spTgt spid="46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4">
                                            <p:txEl>
                                              <p:pRg st="1" end="1"/>
                                            </p:txEl>
                                          </p:spTgt>
                                        </p:tgtEl>
                                        <p:attrNameLst>
                                          <p:attrName>style.visibility</p:attrName>
                                        </p:attrNameLst>
                                      </p:cBhvr>
                                      <p:to>
                                        <p:strVal val="visible"/>
                                      </p:to>
                                    </p:set>
                                    <p:animEffect transition="in" filter="fade">
                                      <p:cBhvr>
                                        <p:cTn id="17" dur="80"/>
                                        <p:tgtEl>
                                          <p:spTgt spid="46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64">
                                            <p:txEl>
                                              <p:pRg st="2" end="2"/>
                                            </p:txEl>
                                          </p:spTgt>
                                        </p:tgtEl>
                                        <p:attrNameLst>
                                          <p:attrName>style.visibility</p:attrName>
                                        </p:attrNameLst>
                                      </p:cBhvr>
                                      <p:to>
                                        <p:strVal val="visible"/>
                                      </p:to>
                                    </p:set>
                                    <p:animEffect transition="in" filter="fade">
                                      <p:cBhvr>
                                        <p:cTn id="22" dur="80"/>
                                        <p:tgtEl>
                                          <p:spTgt spid="46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4">
                                            <p:txEl>
                                              <p:pRg st="3" end="3"/>
                                            </p:txEl>
                                          </p:spTgt>
                                        </p:tgtEl>
                                        <p:attrNameLst>
                                          <p:attrName>style.visibility</p:attrName>
                                        </p:attrNameLst>
                                      </p:cBhvr>
                                      <p:to>
                                        <p:strVal val="visible"/>
                                      </p:to>
                                    </p:set>
                                    <p:animEffect transition="in" filter="fade">
                                      <p:cBhvr>
                                        <p:cTn id="27" dur="80"/>
                                        <p:tgtEl>
                                          <p:spTgt spid="46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64">
                                            <p:txEl>
                                              <p:pRg st="4" end="4"/>
                                            </p:txEl>
                                          </p:spTgt>
                                        </p:tgtEl>
                                        <p:attrNameLst>
                                          <p:attrName>style.visibility</p:attrName>
                                        </p:attrNameLst>
                                      </p:cBhvr>
                                      <p:to>
                                        <p:strVal val="visible"/>
                                      </p:to>
                                    </p:set>
                                    <p:animEffect transition="in" filter="fade">
                                      <p:cBhvr>
                                        <p:cTn id="32" dur="80"/>
                                        <p:tgtEl>
                                          <p:spTgt spid="46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64">
                                            <p:txEl>
                                              <p:pRg st="5" end="5"/>
                                            </p:txEl>
                                          </p:spTgt>
                                        </p:tgtEl>
                                        <p:attrNameLst>
                                          <p:attrName>style.visibility</p:attrName>
                                        </p:attrNameLst>
                                      </p:cBhvr>
                                      <p:to>
                                        <p:strVal val="visible"/>
                                      </p:to>
                                    </p:set>
                                    <p:animEffect transition="in" filter="fade">
                                      <p:cBhvr>
                                        <p:cTn id="37" dur="80"/>
                                        <p:tgtEl>
                                          <p:spTgt spid="464">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64">
                                            <p:txEl>
                                              <p:pRg st="6" end="6"/>
                                            </p:txEl>
                                          </p:spTgt>
                                        </p:tgtEl>
                                        <p:attrNameLst>
                                          <p:attrName>style.visibility</p:attrName>
                                        </p:attrNameLst>
                                      </p:cBhvr>
                                      <p:to>
                                        <p:strVal val="visible"/>
                                      </p:to>
                                    </p:set>
                                    <p:animEffect transition="in" filter="fade">
                                      <p:cBhvr>
                                        <p:cTn id="42" dur="80"/>
                                        <p:tgtEl>
                                          <p:spTgt spid="464">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64">
                                            <p:txEl>
                                              <p:pRg st="7" end="7"/>
                                            </p:txEl>
                                          </p:spTgt>
                                        </p:tgtEl>
                                        <p:attrNameLst>
                                          <p:attrName>style.visibility</p:attrName>
                                        </p:attrNameLst>
                                      </p:cBhvr>
                                      <p:to>
                                        <p:strVal val="visible"/>
                                      </p:to>
                                    </p:set>
                                    <p:animEffect transition="in" filter="fade">
                                      <p:cBhvr>
                                        <p:cTn id="47" dur="80"/>
                                        <p:tgtEl>
                                          <p:spTgt spid="464">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64">
                                            <p:txEl>
                                              <p:pRg st="8" end="8"/>
                                            </p:txEl>
                                          </p:spTgt>
                                        </p:tgtEl>
                                        <p:attrNameLst>
                                          <p:attrName>style.visibility</p:attrName>
                                        </p:attrNameLst>
                                      </p:cBhvr>
                                      <p:to>
                                        <p:strVal val="visible"/>
                                      </p:to>
                                    </p:set>
                                    <p:animEffect transition="in" filter="fade">
                                      <p:cBhvr>
                                        <p:cTn id="52" dur="80"/>
                                        <p:tgtEl>
                                          <p:spTgt spid="464">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64">
                                            <p:txEl>
                                              <p:pRg st="9" end="9"/>
                                            </p:txEl>
                                          </p:spTgt>
                                        </p:tgtEl>
                                        <p:attrNameLst>
                                          <p:attrName>style.visibility</p:attrName>
                                        </p:attrNameLst>
                                      </p:cBhvr>
                                      <p:to>
                                        <p:strVal val="visible"/>
                                      </p:to>
                                    </p:set>
                                    <p:animEffect transition="in" filter="fade">
                                      <p:cBhvr>
                                        <p:cTn id="57" dur="80"/>
                                        <p:tgtEl>
                                          <p:spTgt spid="464">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64">
                                            <p:txEl>
                                              <p:pRg st="10" end="10"/>
                                            </p:txEl>
                                          </p:spTgt>
                                        </p:tgtEl>
                                        <p:attrNameLst>
                                          <p:attrName>style.visibility</p:attrName>
                                        </p:attrNameLst>
                                      </p:cBhvr>
                                      <p:to>
                                        <p:strVal val="visible"/>
                                      </p:to>
                                    </p:set>
                                    <p:animEffect transition="in" filter="fade">
                                      <p:cBhvr>
                                        <p:cTn id="62" dur="80"/>
                                        <p:tgtEl>
                                          <p:spTgt spid="464">
                                            <p:txEl>
                                              <p:pRg st="10" end="10"/>
                                            </p:txEl>
                                          </p:spTgt>
                                        </p:tgtEl>
                                      </p:cBhvr>
                                    </p:animEffect>
                                  </p:childTnLst>
                                </p:cTn>
                              </p:par>
                            </p:childTnLst>
                          </p:cTn>
                        </p:par>
                        <p:par>
                          <p:cTn id="63" fill="hold">
                            <p:stCondLst>
                              <p:cond delay="80"/>
                            </p:stCondLst>
                            <p:childTnLst>
                              <p:par>
                                <p:cTn id="64" presetID="10" presetClass="entr" presetSubtype="0" fill="hold" nodeType="afterEffect">
                                  <p:stCondLst>
                                    <p:cond delay="0"/>
                                  </p:stCondLst>
                                  <p:childTnLst>
                                    <p:set>
                                      <p:cBhvr>
                                        <p:cTn id="65" dur="1" fill="hold">
                                          <p:stCondLst>
                                            <p:cond delay="0"/>
                                          </p:stCondLst>
                                        </p:cTn>
                                        <p:tgtEl>
                                          <p:spTgt spid="466"/>
                                        </p:tgtEl>
                                        <p:attrNameLst>
                                          <p:attrName>style.visibility</p:attrName>
                                        </p:attrNameLst>
                                      </p:cBhvr>
                                      <p:to>
                                        <p:strVal val="visible"/>
                                      </p:to>
                                    </p:set>
                                    <p:animEffect transition="in" filter="fade">
                                      <p:cBhvr>
                                        <p:cTn id="66" dur="500"/>
                                        <p:tgtEl>
                                          <p:spTgt spid="46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65">
                                            <p:txEl>
                                              <p:pRg st="0" end="0"/>
                                            </p:txEl>
                                          </p:spTgt>
                                        </p:tgtEl>
                                        <p:attrNameLst>
                                          <p:attrName>style.visibility</p:attrName>
                                        </p:attrNameLst>
                                      </p:cBhvr>
                                      <p:to>
                                        <p:strVal val="visible"/>
                                      </p:to>
                                    </p:set>
                                    <p:animEffect transition="in" filter="fade">
                                      <p:cBhvr>
                                        <p:cTn id="71" dur="80"/>
                                        <p:tgtEl>
                                          <p:spTgt spid="465">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465">
                                            <p:txEl>
                                              <p:pRg st="1" end="1"/>
                                            </p:txEl>
                                          </p:spTgt>
                                        </p:tgtEl>
                                        <p:attrNameLst>
                                          <p:attrName>style.visibility</p:attrName>
                                        </p:attrNameLst>
                                      </p:cBhvr>
                                      <p:to>
                                        <p:strVal val="visible"/>
                                      </p:to>
                                    </p:set>
                                    <p:animEffect transition="in" filter="fade">
                                      <p:cBhvr>
                                        <p:cTn id="76" dur="80"/>
                                        <p:tgtEl>
                                          <p:spTgt spid="465">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465">
                                            <p:txEl>
                                              <p:pRg st="2" end="2"/>
                                            </p:txEl>
                                          </p:spTgt>
                                        </p:tgtEl>
                                        <p:attrNameLst>
                                          <p:attrName>style.visibility</p:attrName>
                                        </p:attrNameLst>
                                      </p:cBhvr>
                                      <p:to>
                                        <p:strVal val="visible"/>
                                      </p:to>
                                    </p:set>
                                    <p:animEffect transition="in" filter="fade">
                                      <p:cBhvr>
                                        <p:cTn id="81" dur="80"/>
                                        <p:tgtEl>
                                          <p:spTgt spid="465">
                                            <p:txEl>
                                              <p:pRg st="2" end="2"/>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465">
                                            <p:txEl>
                                              <p:pRg st="3" end="3"/>
                                            </p:txEl>
                                          </p:spTgt>
                                        </p:tgtEl>
                                        <p:attrNameLst>
                                          <p:attrName>style.visibility</p:attrName>
                                        </p:attrNameLst>
                                      </p:cBhvr>
                                      <p:to>
                                        <p:strVal val="visible"/>
                                      </p:to>
                                    </p:set>
                                    <p:animEffect transition="in" filter="fade">
                                      <p:cBhvr>
                                        <p:cTn id="86" dur="80"/>
                                        <p:tgtEl>
                                          <p:spTgt spid="465">
                                            <p:txEl>
                                              <p:pRg st="3" end="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465">
                                            <p:txEl>
                                              <p:pRg st="4" end="4"/>
                                            </p:txEl>
                                          </p:spTgt>
                                        </p:tgtEl>
                                        <p:attrNameLst>
                                          <p:attrName>style.visibility</p:attrName>
                                        </p:attrNameLst>
                                      </p:cBhvr>
                                      <p:to>
                                        <p:strVal val="visible"/>
                                      </p:to>
                                    </p:set>
                                    <p:animEffect transition="in" filter="fade">
                                      <p:cBhvr>
                                        <p:cTn id="91" dur="80"/>
                                        <p:tgtEl>
                                          <p:spTgt spid="465">
                                            <p:txEl>
                                              <p:pRg st="4" end="4"/>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465">
                                            <p:txEl>
                                              <p:pRg st="5" end="5"/>
                                            </p:txEl>
                                          </p:spTgt>
                                        </p:tgtEl>
                                        <p:attrNameLst>
                                          <p:attrName>style.visibility</p:attrName>
                                        </p:attrNameLst>
                                      </p:cBhvr>
                                      <p:to>
                                        <p:strVal val="visible"/>
                                      </p:to>
                                    </p:set>
                                    <p:animEffect transition="in" filter="fade">
                                      <p:cBhvr>
                                        <p:cTn id="96" dur="80"/>
                                        <p:tgtEl>
                                          <p:spTgt spid="465">
                                            <p:txEl>
                                              <p:pRg st="5" end="5"/>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5">
                                            <p:txEl>
                                              <p:pRg st="6" end="6"/>
                                            </p:txEl>
                                          </p:spTgt>
                                        </p:tgtEl>
                                        <p:attrNameLst>
                                          <p:attrName>style.visibility</p:attrName>
                                        </p:attrNameLst>
                                      </p:cBhvr>
                                      <p:to>
                                        <p:strVal val="visible"/>
                                      </p:to>
                                    </p:set>
                                    <p:animEffect transition="in" filter="fade">
                                      <p:cBhvr>
                                        <p:cTn id="101" dur="80"/>
                                        <p:tgtEl>
                                          <p:spTgt spid="465">
                                            <p:txEl>
                                              <p:pRg st="6" end="6"/>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465">
                                            <p:txEl>
                                              <p:pRg st="7" end="7"/>
                                            </p:txEl>
                                          </p:spTgt>
                                        </p:tgtEl>
                                        <p:attrNameLst>
                                          <p:attrName>style.visibility</p:attrName>
                                        </p:attrNameLst>
                                      </p:cBhvr>
                                      <p:to>
                                        <p:strVal val="visible"/>
                                      </p:to>
                                    </p:set>
                                    <p:animEffect transition="in" filter="fade">
                                      <p:cBhvr>
                                        <p:cTn id="106" dur="80"/>
                                        <p:tgtEl>
                                          <p:spTgt spid="465">
                                            <p:txEl>
                                              <p:pRg st="7" end="7"/>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465">
                                            <p:txEl>
                                              <p:pRg st="8" end="8"/>
                                            </p:txEl>
                                          </p:spTgt>
                                        </p:tgtEl>
                                        <p:attrNameLst>
                                          <p:attrName>style.visibility</p:attrName>
                                        </p:attrNameLst>
                                      </p:cBhvr>
                                      <p:to>
                                        <p:strVal val="visible"/>
                                      </p:to>
                                    </p:set>
                                    <p:animEffect transition="in" filter="fade">
                                      <p:cBhvr>
                                        <p:cTn id="111" dur="80"/>
                                        <p:tgtEl>
                                          <p:spTgt spid="465">
                                            <p:txEl>
                                              <p:pRg st="8" end="8"/>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465">
                                            <p:txEl>
                                              <p:pRg st="9" end="9"/>
                                            </p:txEl>
                                          </p:spTgt>
                                        </p:tgtEl>
                                        <p:attrNameLst>
                                          <p:attrName>style.visibility</p:attrName>
                                        </p:attrNameLst>
                                      </p:cBhvr>
                                      <p:to>
                                        <p:strVal val="visible"/>
                                      </p:to>
                                    </p:set>
                                    <p:animEffect transition="in" filter="fade">
                                      <p:cBhvr>
                                        <p:cTn id="116" dur="80"/>
                                        <p:tgtEl>
                                          <p:spTgt spid="46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9"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474" name="Google Shape;474;p39"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475" name="Google Shape;475;p39"/>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476" name="Google Shape;476;p39"/>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7" name="Google Shape;477;p39"/>
          <p:cNvSpPr txBox="1"/>
          <p:nvPr/>
        </p:nvSpPr>
        <p:spPr>
          <a:xfrm>
            <a:off x="131884" y="1874044"/>
            <a:ext cx="4536831"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class </a:t>
            </a:r>
            <a:r>
              <a:rPr lang="en-US" sz="1800" b="0" i="0" u="none" dirty="0" err="1">
                <a:solidFill>
                  <a:schemeClr val="dk1"/>
                </a:solidFill>
                <a:latin typeface="Calibri"/>
                <a:ea typeface="Calibri"/>
                <a:cs typeface="Calibri"/>
                <a:sym typeface="Calibri"/>
              </a:rPr>
              <a:t>MyThread</a:t>
            </a:r>
            <a:r>
              <a:rPr lang="en-US" sz="1800" b="0" i="0" u="none" dirty="0">
                <a:solidFill>
                  <a:schemeClr val="dk1"/>
                </a:solidFill>
                <a:latin typeface="Calibri"/>
                <a:ea typeface="Calibri"/>
                <a:cs typeface="Calibri"/>
                <a:sym typeface="Calibri"/>
              </a:rPr>
              <a:t> </a:t>
            </a:r>
            <a:r>
              <a:rPr lang="en-US" sz="1800" b="0" i="1" u="none" dirty="0">
                <a:solidFill>
                  <a:schemeClr val="dk1"/>
                </a:solidFill>
                <a:latin typeface="Calibri"/>
                <a:ea typeface="Calibri"/>
                <a:cs typeface="Calibri"/>
                <a:sym typeface="Calibri"/>
              </a:rPr>
              <a:t>extends Thread</a:t>
            </a:r>
            <a:r>
              <a:rPr lang="en-US" sz="1800" b="0" i="0" u="none" dirty="0">
                <a:solidFill>
                  <a:schemeClr val="dk1"/>
                </a:solidFill>
                <a:latin typeface="Calibri"/>
                <a:ea typeface="Calibri"/>
                <a:cs typeface="Calibri"/>
                <a:sym typeface="Calibri"/>
              </a:rPr>
              <a:t> {</a:t>
            </a:r>
            <a:endParaRPr dirty="0"/>
          </a:p>
          <a:p>
            <a:pPr marL="342900" marR="0" lvl="0" indent="-342900" algn="l" rtl="0">
              <a:lnSpc>
                <a:spcPct val="8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private String name, </a:t>
            </a:r>
            <a:r>
              <a:rPr lang="en-US" sz="1800" b="0" i="0" u="none" dirty="0" err="1">
                <a:solidFill>
                  <a:schemeClr val="dk1"/>
                </a:solidFill>
                <a:latin typeface="Calibri"/>
                <a:ea typeface="Calibri"/>
                <a:cs typeface="Calibri"/>
                <a:sym typeface="Calibri"/>
              </a:rPr>
              <a:t>msg</a:t>
            </a:r>
            <a:r>
              <a:rPr lang="en-US" sz="1800" b="0" i="0" u="none" dirty="0">
                <a:solidFill>
                  <a:schemeClr val="dk1"/>
                </a:solidFill>
                <a:latin typeface="Calibri"/>
                <a:ea typeface="Calibri"/>
                <a:cs typeface="Calibri"/>
                <a:sym typeface="Calibri"/>
              </a:rPr>
              <a:t>;</a:t>
            </a:r>
            <a:endParaRPr dirty="0"/>
          </a:p>
          <a:p>
            <a:pPr marL="342900" marR="0" lvl="0" indent="-342900" algn="l" rtl="0">
              <a:lnSpc>
                <a:spcPct val="80000"/>
              </a:lnSpc>
              <a:spcBef>
                <a:spcPts val="900"/>
              </a:spcBef>
              <a:spcAft>
                <a:spcPts val="0"/>
              </a:spcAft>
              <a:buClr>
                <a:schemeClr val="dk1"/>
              </a:buClr>
              <a:buFont typeface="Arial"/>
              <a:buNone/>
            </a:pPr>
            <a:endParaRPr sz="1800" b="0" i="0" u="none" dirty="0">
              <a:solidFill>
                <a:schemeClr val="dk1"/>
              </a:solidFill>
              <a:latin typeface="Calibri"/>
              <a:ea typeface="Calibri"/>
              <a:cs typeface="Calibri"/>
              <a:sym typeface="Calibri"/>
            </a:endParaRPr>
          </a:p>
          <a:p>
            <a:pPr marL="342900" marR="0" lvl="0" indent="-342900" algn="l" rtl="0">
              <a:lnSpc>
                <a:spcPct val="8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public </a:t>
            </a:r>
            <a:r>
              <a:rPr lang="en-US" sz="1800" b="0" i="0" u="none" dirty="0" err="1">
                <a:solidFill>
                  <a:schemeClr val="dk1"/>
                </a:solidFill>
                <a:latin typeface="Calibri"/>
                <a:ea typeface="Calibri"/>
                <a:cs typeface="Calibri"/>
                <a:sym typeface="Calibri"/>
              </a:rPr>
              <a:t>MyThread</a:t>
            </a:r>
            <a:r>
              <a:rPr lang="en-US" sz="1800" b="0" i="0" u="none" dirty="0">
                <a:solidFill>
                  <a:schemeClr val="dk1"/>
                </a:solidFill>
                <a:latin typeface="Calibri"/>
                <a:ea typeface="Calibri"/>
                <a:cs typeface="Calibri"/>
                <a:sym typeface="Calibri"/>
              </a:rPr>
              <a:t>(String name, String </a:t>
            </a:r>
            <a:r>
              <a:rPr lang="en-US" sz="1800" b="0" i="0" u="none" dirty="0" err="1">
                <a:solidFill>
                  <a:schemeClr val="dk1"/>
                </a:solidFill>
                <a:latin typeface="Calibri"/>
                <a:ea typeface="Calibri"/>
                <a:cs typeface="Calibri"/>
                <a:sym typeface="Calibri"/>
              </a:rPr>
              <a:t>msg</a:t>
            </a:r>
            <a:r>
              <a:rPr lang="en-US" sz="1800" b="0" i="0" u="none" dirty="0">
                <a:solidFill>
                  <a:schemeClr val="dk1"/>
                </a:solidFill>
                <a:latin typeface="Calibri"/>
                <a:ea typeface="Calibri"/>
                <a:cs typeface="Calibri"/>
                <a:sym typeface="Calibri"/>
              </a:rPr>
              <a:t>) {</a:t>
            </a:r>
            <a:endParaRPr dirty="0"/>
          </a:p>
          <a:p>
            <a:pPr marL="342900" marR="0" lvl="0" indent="-342900" algn="l" rtl="0">
              <a:lnSpc>
                <a:spcPct val="8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this.name = name; </a:t>
            </a:r>
            <a:endParaRPr dirty="0"/>
          </a:p>
          <a:p>
            <a:pPr marL="342900" marR="0" lvl="0" indent="-342900" algn="l" rtl="0">
              <a:lnSpc>
                <a:spcPct val="8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this.msg = </a:t>
            </a:r>
            <a:r>
              <a:rPr lang="en-US" sz="1800" b="0" i="0" u="none" dirty="0" err="1">
                <a:solidFill>
                  <a:schemeClr val="dk1"/>
                </a:solidFill>
                <a:latin typeface="Calibri"/>
                <a:ea typeface="Calibri"/>
                <a:cs typeface="Calibri"/>
                <a:sym typeface="Calibri"/>
              </a:rPr>
              <a:t>msg</a:t>
            </a:r>
            <a:r>
              <a:rPr lang="en-US" sz="1800" b="0" i="0" u="none" dirty="0">
                <a:solidFill>
                  <a:schemeClr val="dk1"/>
                </a:solidFill>
                <a:latin typeface="Calibri"/>
                <a:ea typeface="Calibri"/>
                <a:cs typeface="Calibri"/>
                <a:sym typeface="Calibri"/>
              </a:rPr>
              <a:t>;</a:t>
            </a:r>
            <a:endParaRPr dirty="0"/>
          </a:p>
          <a:p>
            <a:pPr marL="342900" marR="0" lvl="0" indent="-342900" algn="l" rtl="0">
              <a:lnSpc>
                <a:spcPct val="8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Arial"/>
              <a:buNone/>
            </a:pPr>
            <a:endParaRPr sz="1800" b="0" i="0" u="none" dirty="0">
              <a:solidFill>
                <a:schemeClr val="dk1"/>
              </a:solidFill>
              <a:latin typeface="Calibri"/>
              <a:ea typeface="Calibri"/>
              <a:cs typeface="Calibri"/>
              <a:sym typeface="Calibri"/>
            </a:endParaRPr>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public void run()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r>
              <a:rPr lang="en-US" sz="1800" b="0" i="0" u="none" dirty="0" err="1">
                <a:solidFill>
                  <a:schemeClr val="dk1"/>
                </a:solidFill>
                <a:latin typeface="Calibri"/>
                <a:ea typeface="Calibri"/>
                <a:cs typeface="Calibri"/>
                <a:sym typeface="Calibri"/>
              </a:rPr>
              <a:t>System.out.println</a:t>
            </a:r>
            <a:r>
              <a:rPr lang="en-US" sz="1800" b="0" i="0" u="none" dirty="0">
                <a:solidFill>
                  <a:schemeClr val="dk1"/>
                </a:solidFill>
                <a:latin typeface="Calibri"/>
                <a:ea typeface="Calibri"/>
                <a:cs typeface="Calibri"/>
                <a:sym typeface="Calibri"/>
              </a:rPr>
              <a:t>(name + " starts its execution");</a:t>
            </a:r>
            <a:endParaRPr dirty="0"/>
          </a:p>
          <a:p>
            <a:pPr marL="0" marR="0" lvl="0" indent="0" algn="l" rtl="0">
              <a:lnSpc>
                <a:spcPct val="100000"/>
              </a:lnSpc>
              <a:spcBef>
                <a:spcPts val="270"/>
              </a:spcBef>
              <a:spcAft>
                <a:spcPts val="0"/>
              </a:spcAft>
              <a:buNone/>
            </a:pPr>
            <a:endParaRPr sz="1800" b="0" i="0" u="none" dirty="0">
              <a:solidFill>
                <a:schemeClr val="dk1"/>
              </a:solidFill>
              <a:latin typeface="Calibri"/>
              <a:ea typeface="Calibri"/>
              <a:cs typeface="Calibri"/>
              <a:sym typeface="Calibri"/>
            </a:endParaRPr>
          </a:p>
        </p:txBody>
      </p:sp>
      <p:sp>
        <p:nvSpPr>
          <p:cNvPr id="478" name="Google Shape;478;p39"/>
          <p:cNvSpPr txBox="1"/>
          <p:nvPr/>
        </p:nvSpPr>
        <p:spPr>
          <a:xfrm>
            <a:off x="5257800" y="1860917"/>
            <a:ext cx="3716215"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for (</a:t>
            </a:r>
            <a:r>
              <a:rPr lang="en-US" sz="1800" b="0" i="0" u="none" dirty="0" err="1">
                <a:solidFill>
                  <a:schemeClr val="dk1"/>
                </a:solidFill>
                <a:latin typeface="Calibri"/>
                <a:ea typeface="Calibri"/>
                <a:cs typeface="Calibri"/>
                <a:sym typeface="Calibri"/>
              </a:rPr>
              <a:t>int</a:t>
            </a:r>
            <a:r>
              <a:rPr lang="en-US" sz="1800" b="0" i="0" u="none" dirty="0">
                <a:solidFill>
                  <a:schemeClr val="dk1"/>
                </a:solidFill>
                <a:latin typeface="Calibri"/>
                <a:ea typeface="Calibri"/>
                <a:cs typeface="Calibri"/>
                <a:sym typeface="Calibri"/>
              </a:rPr>
              <a:t> </a:t>
            </a:r>
            <a:r>
              <a:rPr lang="en-US" sz="1800" b="0" i="0" u="none" dirty="0" err="1">
                <a:solidFill>
                  <a:schemeClr val="dk1"/>
                </a:solidFill>
                <a:latin typeface="Calibri"/>
                <a:ea typeface="Calibri"/>
                <a:cs typeface="Calibri"/>
                <a:sym typeface="Calibri"/>
              </a:rPr>
              <a:t>i</a:t>
            </a:r>
            <a:r>
              <a:rPr lang="en-US" sz="1800" b="0" i="0" u="none" dirty="0">
                <a:solidFill>
                  <a:schemeClr val="dk1"/>
                </a:solidFill>
                <a:latin typeface="Calibri"/>
                <a:ea typeface="Calibri"/>
                <a:cs typeface="Calibri"/>
                <a:sym typeface="Calibri"/>
              </a:rPr>
              <a:t> = 0; </a:t>
            </a:r>
            <a:r>
              <a:rPr lang="en-US" sz="1800" b="0" i="0" u="none" dirty="0" err="1">
                <a:solidFill>
                  <a:schemeClr val="dk1"/>
                </a:solidFill>
                <a:latin typeface="Calibri"/>
                <a:ea typeface="Calibri"/>
                <a:cs typeface="Calibri"/>
                <a:sym typeface="Calibri"/>
              </a:rPr>
              <a:t>i</a:t>
            </a:r>
            <a:r>
              <a:rPr lang="en-US" sz="1800" b="0" i="0" u="none" dirty="0">
                <a:solidFill>
                  <a:schemeClr val="dk1"/>
                </a:solidFill>
                <a:latin typeface="Calibri"/>
                <a:ea typeface="Calibri"/>
                <a:cs typeface="Calibri"/>
                <a:sym typeface="Calibri"/>
              </a:rPr>
              <a:t> &lt; =5; </a:t>
            </a:r>
            <a:r>
              <a:rPr lang="en-US" sz="1800" b="0" i="0" u="none" dirty="0" err="1">
                <a:solidFill>
                  <a:schemeClr val="dk1"/>
                </a:solidFill>
                <a:latin typeface="Calibri"/>
                <a:ea typeface="Calibri"/>
                <a:cs typeface="Calibri"/>
                <a:sym typeface="Calibri"/>
              </a:rPr>
              <a:t>i</a:t>
            </a:r>
            <a:r>
              <a:rPr lang="en-US" sz="1800" b="0" i="0" u="none" dirty="0">
                <a:solidFill>
                  <a:schemeClr val="dk1"/>
                </a:solidFill>
                <a:latin typeface="Calibri"/>
                <a:ea typeface="Calibri"/>
                <a:cs typeface="Calibri"/>
                <a:sym typeface="Calibri"/>
              </a:rPr>
              <a:t>++) {</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r>
              <a:rPr lang="en-US" sz="1800" b="0" i="0" u="none" dirty="0" err="1">
                <a:solidFill>
                  <a:schemeClr val="dk1"/>
                </a:solidFill>
                <a:latin typeface="Calibri"/>
                <a:ea typeface="Calibri"/>
                <a:cs typeface="Calibri"/>
                <a:sym typeface="Calibri"/>
              </a:rPr>
              <a:t>System.out.println</a:t>
            </a:r>
            <a:r>
              <a:rPr lang="en-US" sz="1800" b="0" i="0" u="none" dirty="0">
                <a:solidFill>
                  <a:schemeClr val="dk1"/>
                </a:solidFill>
                <a:latin typeface="Calibri"/>
                <a:ea typeface="Calibri"/>
                <a:cs typeface="Calibri"/>
                <a:sym typeface="Calibri"/>
              </a:rPr>
              <a:t>(name + " says: " + </a:t>
            </a:r>
            <a:r>
              <a:rPr lang="en-US" sz="1800" b="0" i="0" u="none" dirty="0" err="1">
                <a:solidFill>
                  <a:schemeClr val="dk1"/>
                </a:solidFill>
                <a:latin typeface="Calibri"/>
                <a:ea typeface="Calibri"/>
                <a:cs typeface="Calibri"/>
                <a:sym typeface="Calibri"/>
              </a:rPr>
              <a:t>msg</a:t>
            </a:r>
            <a:r>
              <a:rPr lang="en-US" sz="1800" b="0" i="0" u="none" dirty="0">
                <a:solidFill>
                  <a:schemeClr val="dk1"/>
                </a:solidFill>
                <a:latin typeface="Calibri"/>
                <a:ea typeface="Calibri"/>
                <a:cs typeface="Calibri"/>
                <a:sym typeface="Calibri"/>
              </a:rPr>
              <a:t>+” for “+</a:t>
            </a:r>
            <a:r>
              <a:rPr lang="en-US" sz="1800" b="0" i="0" u="none" dirty="0" err="1">
                <a:solidFill>
                  <a:schemeClr val="dk1"/>
                </a:solidFill>
                <a:latin typeface="Calibri"/>
                <a:ea typeface="Calibri"/>
                <a:cs typeface="Calibri"/>
                <a:sym typeface="Calibri"/>
              </a:rPr>
              <a:t>i</a:t>
            </a:r>
            <a:r>
              <a:rPr lang="en-US" sz="1800" b="0" i="0" u="none" dirty="0">
                <a:solidFill>
                  <a:schemeClr val="dk1"/>
                </a:solidFill>
                <a:latin typeface="Calibri"/>
                <a:ea typeface="Calibri"/>
                <a:cs typeface="Calibri"/>
                <a:sym typeface="Calibri"/>
              </a:rPr>
              <a:t>+” time/s”);</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try {</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r>
              <a:rPr lang="en-US" sz="1800" b="0" i="0" u="none" dirty="0" err="1">
                <a:solidFill>
                  <a:schemeClr val="dk1"/>
                </a:solidFill>
                <a:latin typeface="Calibri"/>
                <a:ea typeface="Calibri"/>
                <a:cs typeface="Calibri"/>
                <a:sym typeface="Calibri"/>
              </a:rPr>
              <a:t>Thread.sleep</a:t>
            </a:r>
            <a:r>
              <a:rPr lang="en-US" sz="1800" b="0" i="0" u="none" dirty="0">
                <a:solidFill>
                  <a:schemeClr val="dk1"/>
                </a:solidFill>
                <a:latin typeface="Calibri"/>
                <a:ea typeface="Calibri"/>
                <a:cs typeface="Calibri"/>
                <a:sym typeface="Calibri"/>
              </a:rPr>
              <a:t>(2000);</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 </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catch (</a:t>
            </a:r>
            <a:r>
              <a:rPr lang="en-US" sz="1800" b="0" i="0" u="none" dirty="0" err="1">
                <a:solidFill>
                  <a:schemeClr val="dk1"/>
                </a:solidFill>
                <a:latin typeface="Calibri"/>
                <a:ea typeface="Calibri"/>
                <a:cs typeface="Calibri"/>
                <a:sym typeface="Calibri"/>
              </a:rPr>
              <a:t>InterruptedException</a:t>
            </a:r>
            <a:r>
              <a:rPr lang="en-US" sz="1800" b="0" i="0" u="none" dirty="0">
                <a:solidFill>
                  <a:schemeClr val="dk1"/>
                </a:solidFill>
                <a:latin typeface="Calibri"/>
                <a:ea typeface="Calibri"/>
                <a:cs typeface="Calibri"/>
                <a:sym typeface="Calibri"/>
              </a:rPr>
              <a:t> </a:t>
            </a:r>
            <a:r>
              <a:rPr lang="en-US" sz="1800" b="0" i="0" u="none" dirty="0" err="1">
                <a:solidFill>
                  <a:schemeClr val="dk1"/>
                </a:solidFill>
                <a:latin typeface="Calibri"/>
                <a:ea typeface="Calibri"/>
                <a:cs typeface="Calibri"/>
                <a:sym typeface="Calibri"/>
              </a:rPr>
              <a:t>ie</a:t>
            </a:r>
            <a:r>
              <a:rPr lang="en-US" sz="1800" b="0" i="0" u="none" dirty="0">
                <a:solidFill>
                  <a:schemeClr val="dk1"/>
                </a:solidFill>
                <a:latin typeface="Calibri"/>
                <a:ea typeface="Calibri"/>
                <a:cs typeface="Calibri"/>
                <a:sym typeface="Calibri"/>
              </a:rPr>
              <a:t>) {}</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 End of For Loop</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r>
              <a:rPr lang="en-US" sz="1800" b="0" i="0" u="none" dirty="0" err="1">
                <a:solidFill>
                  <a:schemeClr val="dk1"/>
                </a:solidFill>
                <a:latin typeface="Calibri"/>
                <a:ea typeface="Calibri"/>
                <a:cs typeface="Calibri"/>
                <a:sym typeface="Calibri"/>
              </a:rPr>
              <a:t>System.out.println</a:t>
            </a:r>
            <a:r>
              <a:rPr lang="en-US" sz="1800" b="0" i="0" u="none" dirty="0">
                <a:solidFill>
                  <a:schemeClr val="dk1"/>
                </a:solidFill>
                <a:latin typeface="Calibri"/>
                <a:ea typeface="Calibri"/>
                <a:cs typeface="Calibri"/>
                <a:sym typeface="Calibri"/>
              </a:rPr>
              <a:t>(name + " finished execution");</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0" marR="0" lvl="0" indent="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a:t>
            </a:r>
            <a:endParaRPr dirty="0"/>
          </a:p>
        </p:txBody>
      </p:sp>
      <p:cxnSp>
        <p:nvCxnSpPr>
          <p:cNvPr id="479" name="Google Shape;479;p39"/>
          <p:cNvCxnSpPr/>
          <p:nvPr/>
        </p:nvCxnSpPr>
        <p:spPr>
          <a:xfrm>
            <a:off x="4668715" y="1752600"/>
            <a:ext cx="0" cy="4724400"/>
          </a:xfrm>
          <a:prstGeom prst="straightConnector1">
            <a:avLst/>
          </a:prstGeom>
          <a:noFill/>
          <a:ln w="38100" cap="flat" cmpd="sng">
            <a:solidFill>
              <a:srgbClr val="336600"/>
            </a:solidFill>
            <a:prstDash val="solid"/>
            <a:miter lim="800000"/>
            <a:headEnd type="none" w="sm" len="sm"/>
            <a:tailEnd type="none" w="sm" len="sm"/>
          </a:ln>
        </p:spPr>
      </p:cxnSp>
      <p:sp>
        <p:nvSpPr>
          <p:cNvPr id="480" name="Google Shape;480;p39"/>
          <p:cNvSpPr/>
          <p:nvPr/>
        </p:nvSpPr>
        <p:spPr>
          <a:xfrm>
            <a:off x="1682262" y="1857986"/>
            <a:ext cx="1752600" cy="3048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transition spd="slow">
    <p:fade thruBlk="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0"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488" name="Google Shape;488;p40"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489" name="Google Shape;489;p40"/>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490" name="Google Shape;490;p40"/>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91" name="Google Shape;491;p40"/>
          <p:cNvSpPr txBox="1"/>
          <p:nvPr/>
        </p:nvSpPr>
        <p:spPr>
          <a:xfrm>
            <a:off x="0" y="1919287"/>
            <a:ext cx="5029200"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class MyThread extends Thread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private String name, msg;</a:t>
            </a:r>
            <a:endParaRPr/>
          </a:p>
          <a:p>
            <a:pPr marL="342900" marR="0" lvl="0" indent="-342900" algn="l" rtl="0">
              <a:lnSpc>
                <a:spcPct val="8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MyThread(String name, String msg)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this.name = name;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this.msg = msg;</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100000"/>
              </a:lnSpc>
              <a:spcBef>
                <a:spcPts val="900"/>
              </a:spcBef>
              <a:spcAft>
                <a:spcPts val="0"/>
              </a:spcAft>
              <a:buClr>
                <a:schemeClr val="dk1"/>
              </a:buClr>
              <a:buFont typeface="Calibri"/>
              <a:buNone/>
            </a:pPr>
            <a:r>
              <a:rPr lang="en-US" sz="1800" b="0" i="1" u="none">
                <a:solidFill>
                  <a:schemeClr val="dk1"/>
                </a:solidFill>
                <a:latin typeface="Calibri"/>
                <a:ea typeface="Calibri"/>
                <a:cs typeface="Calibri"/>
                <a:sym typeface="Calibri"/>
              </a:rPr>
              <a:t>  public void</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run()</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starts its execution");</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492" name="Google Shape;492;p40"/>
          <p:cNvSpPr txBox="1"/>
          <p:nvPr/>
        </p:nvSpPr>
        <p:spPr>
          <a:xfrm>
            <a:off x="5181600" y="1878012"/>
            <a:ext cx="3962400"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for (int i = 1; i &lt; =5; i++)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says: " + msg+” for “+i+” time/s”);</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try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Thread.sleep(2000);</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catch (InterruptedException ie)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End of For Loop</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finished execution");</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p:txBody>
      </p:sp>
      <p:cxnSp>
        <p:nvCxnSpPr>
          <p:cNvPr id="493" name="Google Shape;493;p40"/>
          <p:cNvCxnSpPr/>
          <p:nvPr/>
        </p:nvCxnSpPr>
        <p:spPr>
          <a:xfrm>
            <a:off x="5029200" y="1787768"/>
            <a:ext cx="0" cy="4724400"/>
          </a:xfrm>
          <a:prstGeom prst="straightConnector1">
            <a:avLst/>
          </a:prstGeom>
          <a:noFill/>
          <a:ln w="38100" cap="flat" cmpd="sng">
            <a:solidFill>
              <a:srgbClr val="336600"/>
            </a:solidFill>
            <a:prstDash val="solid"/>
            <a:miter lim="800000"/>
            <a:headEnd type="none" w="sm" len="sm"/>
            <a:tailEnd type="none" w="sm" len="sm"/>
          </a:ln>
        </p:spPr>
      </p:cxnSp>
      <p:sp>
        <p:nvSpPr>
          <p:cNvPr id="494" name="Google Shape;494;p40"/>
          <p:cNvSpPr/>
          <p:nvPr/>
        </p:nvSpPr>
        <p:spPr>
          <a:xfrm>
            <a:off x="164124" y="4619258"/>
            <a:ext cx="19050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495" name="Google Shape;495;p40"/>
          <p:cNvCxnSpPr/>
          <p:nvPr/>
        </p:nvCxnSpPr>
        <p:spPr>
          <a:xfrm flipV="1">
            <a:off x="2171700" y="4343400"/>
            <a:ext cx="647700" cy="311943"/>
          </a:xfrm>
          <a:prstGeom prst="straightConnector1">
            <a:avLst/>
          </a:prstGeom>
          <a:noFill/>
          <a:ln w="38100" cap="flat" cmpd="sng">
            <a:solidFill>
              <a:srgbClr val="3366CC"/>
            </a:solidFill>
            <a:prstDash val="solid"/>
            <a:miter lim="800000"/>
            <a:headEnd type="none" w="sm" len="sm"/>
            <a:tailEnd type="triangle" w="med" len="med"/>
          </a:ln>
        </p:spPr>
      </p:cxnSp>
      <p:sp>
        <p:nvSpPr>
          <p:cNvPr id="496" name="Google Shape;496;p40"/>
          <p:cNvSpPr/>
          <p:nvPr/>
        </p:nvSpPr>
        <p:spPr>
          <a:xfrm>
            <a:off x="2438400" y="3548062"/>
            <a:ext cx="2514600" cy="1219200"/>
          </a:xfrm>
          <a:prstGeom prst="star8">
            <a:avLst>
              <a:gd name="adj" fmla="val 37500"/>
            </a:avLst>
          </a:prstGeom>
          <a:gradFill>
            <a:gsLst>
              <a:gs pos="0">
                <a:srgbClr val="4F81BD">
                  <a:alpha val="89803"/>
                </a:srgbClr>
              </a:gs>
              <a:gs pos="50000">
                <a:srgbClr val="B9CDE5"/>
              </a:gs>
              <a:gs pos="100000">
                <a:srgbClr val="4F81BD">
                  <a:alpha val="89803"/>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dirty="0">
                <a:solidFill>
                  <a:schemeClr val="dk1"/>
                </a:solidFill>
                <a:latin typeface="Calibri"/>
                <a:ea typeface="Calibri"/>
                <a:cs typeface="Calibri"/>
                <a:sym typeface="Calibri"/>
              </a:rPr>
              <a:t>Overridden Method</a:t>
            </a:r>
            <a:endParaRPr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5"/>
                                        </p:tgtEl>
                                        <p:attrNameLst>
                                          <p:attrName>style.visibility</p:attrName>
                                        </p:attrNameLst>
                                      </p:cBhvr>
                                      <p:to>
                                        <p:strVal val="visible"/>
                                      </p:to>
                                    </p:set>
                                    <p:animEffect transition="in" filter="fade">
                                      <p:cBhvr>
                                        <p:cTn id="7" dur="500"/>
                                        <p:tgtEl>
                                          <p:spTgt spid="49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96"/>
                                        </p:tgtEl>
                                        <p:attrNameLst>
                                          <p:attrName>style.visibility</p:attrName>
                                        </p:attrNameLst>
                                      </p:cBhvr>
                                      <p:to>
                                        <p:strVal val="visible"/>
                                      </p:to>
                                    </p:set>
                                    <p:animEffect transition="in" filter="fade">
                                      <p:cBhvr>
                                        <p:cTn id="11" dur="500"/>
                                        <p:tgtEl>
                                          <p:spTgt spid="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41"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04" name="Google Shape;504;p41"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505" name="Google Shape;505;p4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506" name="Google Shape;506;p41"/>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507" name="Google Shape;507;p41"/>
          <p:cNvSpPr txBox="1"/>
          <p:nvPr/>
        </p:nvSpPr>
        <p:spPr>
          <a:xfrm>
            <a:off x="0" y="1919287"/>
            <a:ext cx="5029200"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class MyThread extends Thread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private String name, msg;</a:t>
            </a:r>
            <a:endParaRPr/>
          </a:p>
          <a:p>
            <a:pPr marL="342900" marR="0" lvl="0" indent="-342900" algn="l" rtl="0">
              <a:lnSpc>
                <a:spcPct val="8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MyThread(String name, String msg)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this.name = name;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this.msg = msg;</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100000"/>
              </a:lnSpc>
              <a:spcBef>
                <a:spcPts val="900"/>
              </a:spcBef>
              <a:spcAft>
                <a:spcPts val="0"/>
              </a:spcAft>
              <a:buClr>
                <a:schemeClr val="dk1"/>
              </a:buClr>
              <a:buFont typeface="Calibri"/>
              <a:buNone/>
            </a:pPr>
            <a:r>
              <a:rPr lang="en-US" sz="1800" b="0" i="1" u="none">
                <a:solidFill>
                  <a:schemeClr val="dk1"/>
                </a:solidFill>
                <a:latin typeface="Calibri"/>
                <a:ea typeface="Calibri"/>
                <a:cs typeface="Calibri"/>
                <a:sym typeface="Calibri"/>
              </a:rPr>
              <a:t>  public void</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run()</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starts its execution");</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508" name="Google Shape;508;p41"/>
          <p:cNvSpPr txBox="1"/>
          <p:nvPr/>
        </p:nvSpPr>
        <p:spPr>
          <a:xfrm>
            <a:off x="5181600" y="1878012"/>
            <a:ext cx="3962400"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for (int i = 1; i &lt; =5; i++)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says: " + msg+” for “+i+” time/s”);</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try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Thread.sleep(2000);</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catch (InterruptedException ie)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End of For Loop</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finished execution");</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p:txBody>
      </p:sp>
      <p:cxnSp>
        <p:nvCxnSpPr>
          <p:cNvPr id="509" name="Google Shape;509;p41"/>
          <p:cNvCxnSpPr/>
          <p:nvPr/>
        </p:nvCxnSpPr>
        <p:spPr>
          <a:xfrm>
            <a:off x="5029200" y="1752600"/>
            <a:ext cx="0" cy="4724400"/>
          </a:xfrm>
          <a:prstGeom prst="straightConnector1">
            <a:avLst/>
          </a:prstGeom>
          <a:noFill/>
          <a:ln w="38100" cap="flat" cmpd="sng">
            <a:solidFill>
              <a:srgbClr val="336600"/>
            </a:solidFill>
            <a:prstDash val="solid"/>
            <a:miter lim="800000"/>
            <a:headEnd type="none" w="sm" len="sm"/>
            <a:tailEnd type="none" w="sm" len="sm"/>
          </a:ln>
        </p:spPr>
      </p:cxnSp>
      <p:sp>
        <p:nvSpPr>
          <p:cNvPr id="510" name="Google Shape;510;p41"/>
          <p:cNvSpPr/>
          <p:nvPr/>
        </p:nvSpPr>
        <p:spPr>
          <a:xfrm>
            <a:off x="5562600" y="2971800"/>
            <a:ext cx="22098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511" name="Google Shape;511;p41"/>
          <p:cNvCxnSpPr/>
          <p:nvPr/>
        </p:nvCxnSpPr>
        <p:spPr>
          <a:xfrm flipH="1">
            <a:off x="4648200" y="3352800"/>
            <a:ext cx="990600" cy="457200"/>
          </a:xfrm>
          <a:prstGeom prst="straightConnector1">
            <a:avLst/>
          </a:prstGeom>
          <a:noFill/>
          <a:ln w="38100" cap="flat" cmpd="sng">
            <a:solidFill>
              <a:srgbClr val="3366CC"/>
            </a:solidFill>
            <a:prstDash val="solid"/>
            <a:miter lim="800000"/>
            <a:headEnd type="none" w="sm" len="sm"/>
            <a:tailEnd type="triangle" w="med" len="med"/>
          </a:ln>
        </p:spPr>
      </p:cxnSp>
      <p:sp>
        <p:nvSpPr>
          <p:cNvPr id="512" name="Google Shape;512;p41"/>
          <p:cNvSpPr/>
          <p:nvPr/>
        </p:nvSpPr>
        <p:spPr>
          <a:xfrm>
            <a:off x="2328862" y="3810000"/>
            <a:ext cx="2395537" cy="701675"/>
          </a:xfrm>
          <a:prstGeom prst="roundRect">
            <a:avLst>
              <a:gd name="adj" fmla="val 16667"/>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It will throw an InterruptedException</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1"/>
                                        </p:tgtEl>
                                        <p:attrNameLst>
                                          <p:attrName>style.visibility</p:attrName>
                                        </p:attrNameLst>
                                      </p:cBhvr>
                                      <p:to>
                                        <p:strVal val="visible"/>
                                      </p:to>
                                    </p:set>
                                    <p:animEffect transition="in" filter="fade">
                                      <p:cBhvr>
                                        <p:cTn id="7" dur="500"/>
                                        <p:tgtEl>
                                          <p:spTgt spid="5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2"/>
                                        </p:tgtEl>
                                        <p:attrNameLst>
                                          <p:attrName>style.visibility</p:attrName>
                                        </p:attrNameLst>
                                      </p:cBhvr>
                                      <p:to>
                                        <p:strVal val="visible"/>
                                      </p:to>
                                    </p:set>
                                    <p:animEffect transition="in" filter="fade">
                                      <p:cBhvr>
                                        <p:cTn id="11" dur="500"/>
                                        <p:tgtEl>
                                          <p:spTgt spid="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2"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20" name="Google Shape;520;p42"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521" name="Google Shape;521;p42"/>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522" name="Google Shape;522;p42"/>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523" name="Google Shape;523;p42"/>
          <p:cNvSpPr txBox="1"/>
          <p:nvPr/>
        </p:nvSpPr>
        <p:spPr>
          <a:xfrm>
            <a:off x="0" y="1919287"/>
            <a:ext cx="5029200"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class MyThread extends Thread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private String name, msg;</a:t>
            </a:r>
            <a:endParaRPr/>
          </a:p>
          <a:p>
            <a:pPr marL="342900" marR="0" lvl="0" indent="-342900" algn="l" rtl="0">
              <a:lnSpc>
                <a:spcPct val="8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MyThread(String name, String msg)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this.name = name;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this.msg = msg;</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100000"/>
              </a:lnSpc>
              <a:spcBef>
                <a:spcPts val="900"/>
              </a:spcBef>
              <a:spcAft>
                <a:spcPts val="0"/>
              </a:spcAft>
              <a:buClr>
                <a:schemeClr val="dk1"/>
              </a:buClr>
              <a:buFont typeface="Calibri"/>
              <a:buNone/>
            </a:pPr>
            <a:r>
              <a:rPr lang="en-US" sz="1800" b="0" i="1" u="none">
                <a:solidFill>
                  <a:schemeClr val="dk1"/>
                </a:solidFill>
                <a:latin typeface="Calibri"/>
                <a:ea typeface="Calibri"/>
                <a:cs typeface="Calibri"/>
                <a:sym typeface="Calibri"/>
              </a:rPr>
              <a:t>  public void</a:t>
            </a: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run()</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starts its execution");</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524" name="Google Shape;524;p42"/>
          <p:cNvSpPr txBox="1"/>
          <p:nvPr/>
        </p:nvSpPr>
        <p:spPr>
          <a:xfrm>
            <a:off x="5181600" y="1878012"/>
            <a:ext cx="3962400"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for (int i = 1; i &lt; =5; i++)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says: " + msg+” for “+i+” time/s”);</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try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Thread.sleep(2000);</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1800" b="0" i="1" u="none">
                <a:solidFill>
                  <a:schemeClr val="dk1"/>
                </a:solidFill>
                <a:latin typeface="Calibri"/>
                <a:ea typeface="Calibri"/>
                <a:cs typeface="Calibri"/>
                <a:sym typeface="Calibri"/>
              </a:rPr>
              <a:t>catch (InterruptedException ie)</a:t>
            </a: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End of For Loop</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finished execution");</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p:txBody>
      </p:sp>
      <p:cxnSp>
        <p:nvCxnSpPr>
          <p:cNvPr id="525" name="Google Shape;525;p42"/>
          <p:cNvCxnSpPr/>
          <p:nvPr/>
        </p:nvCxnSpPr>
        <p:spPr>
          <a:xfrm>
            <a:off x="5029200" y="1752600"/>
            <a:ext cx="0" cy="4724400"/>
          </a:xfrm>
          <a:prstGeom prst="straightConnector1">
            <a:avLst/>
          </a:prstGeom>
          <a:noFill/>
          <a:ln w="38100" cap="flat" cmpd="sng">
            <a:solidFill>
              <a:srgbClr val="336600"/>
            </a:solidFill>
            <a:prstDash val="solid"/>
            <a:miter lim="800000"/>
            <a:headEnd type="none" w="sm" len="sm"/>
            <a:tailEnd type="none" w="sm" len="sm"/>
          </a:ln>
        </p:spPr>
      </p:cxnSp>
      <p:sp>
        <p:nvSpPr>
          <p:cNvPr id="526" name="Google Shape;526;p42"/>
          <p:cNvSpPr/>
          <p:nvPr/>
        </p:nvSpPr>
        <p:spPr>
          <a:xfrm>
            <a:off x="5867400" y="3505200"/>
            <a:ext cx="22098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527" name="Google Shape;527;p42"/>
          <p:cNvCxnSpPr/>
          <p:nvPr/>
        </p:nvCxnSpPr>
        <p:spPr>
          <a:xfrm flipH="1">
            <a:off x="4724400" y="3657600"/>
            <a:ext cx="1219200" cy="381000"/>
          </a:xfrm>
          <a:prstGeom prst="straightConnector1">
            <a:avLst/>
          </a:prstGeom>
          <a:noFill/>
          <a:ln w="38100" cap="flat" cmpd="sng">
            <a:solidFill>
              <a:srgbClr val="3366CC"/>
            </a:solidFill>
            <a:prstDash val="solid"/>
            <a:miter lim="800000"/>
            <a:headEnd type="none" w="sm" len="sm"/>
            <a:tailEnd type="triangle" w="med" len="med"/>
          </a:ln>
        </p:spPr>
      </p:cxnSp>
      <p:sp>
        <p:nvSpPr>
          <p:cNvPr id="528" name="Google Shape;528;p42"/>
          <p:cNvSpPr/>
          <p:nvPr/>
        </p:nvSpPr>
        <p:spPr>
          <a:xfrm>
            <a:off x="2341562" y="3824287"/>
            <a:ext cx="2370137" cy="595312"/>
          </a:xfrm>
          <a:prstGeom prst="roundRect">
            <a:avLst>
              <a:gd name="adj" fmla="val 16667"/>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Caught by</a:t>
            </a:r>
            <a:endParaRPr/>
          </a:p>
        </p:txBody>
      </p:sp>
      <p:cxnSp>
        <p:nvCxnSpPr>
          <p:cNvPr id="529" name="Google Shape;529;p42"/>
          <p:cNvCxnSpPr/>
          <p:nvPr/>
        </p:nvCxnSpPr>
        <p:spPr>
          <a:xfrm>
            <a:off x="4724400" y="4191000"/>
            <a:ext cx="3429000" cy="190500"/>
          </a:xfrm>
          <a:prstGeom prst="curvedConnector5">
            <a:avLst>
              <a:gd name="adj1" fmla="val 0"/>
              <a:gd name="adj2" fmla="val 0"/>
              <a:gd name="adj3" fmla="val 0"/>
            </a:avLst>
          </a:prstGeom>
          <a:noFill/>
          <a:ln w="38100" cap="rnd" cmpd="sng">
            <a:solidFill>
              <a:schemeClr val="accent1"/>
            </a:solidFill>
            <a:prstDash val="solid"/>
            <a:miter lim="800000"/>
            <a:headEnd type="none" w="sm" len="sm"/>
            <a:tailEnd type="triangle" w="med" len="med"/>
          </a:ln>
        </p:spPr>
      </p:cxnSp>
      <p:sp>
        <p:nvSpPr>
          <p:cNvPr id="530" name="Google Shape;530;p42"/>
          <p:cNvSpPr/>
          <p:nvPr/>
        </p:nvSpPr>
        <p:spPr>
          <a:xfrm>
            <a:off x="5181600" y="4191000"/>
            <a:ext cx="3810000" cy="5334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29"/>
                                        </p:tgtEl>
                                        <p:attrNameLst>
                                          <p:attrName>style.visibility</p:attrName>
                                        </p:attrNameLst>
                                      </p:cBhvr>
                                      <p:to>
                                        <p:strVal val="visible"/>
                                      </p:to>
                                    </p:set>
                                    <p:animEffect transition="in" filter="fade">
                                      <p:cBhvr>
                                        <p:cTn id="7" dur="500"/>
                                        <p:tgtEl>
                                          <p:spTgt spid="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3"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38" name="Google Shape;538;p43"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539" name="Google Shape;539;p43"/>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540" name="Google Shape;540;p43"/>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541" name="Google Shape;541;p43" descr="Stationery"/>
          <p:cNvSpPr/>
          <p:nvPr/>
        </p:nvSpPr>
        <p:spPr>
          <a:xfrm>
            <a:off x="2438400" y="2286000"/>
            <a:ext cx="4191000" cy="3276600"/>
          </a:xfrm>
          <a:prstGeom prst="cloudCallout">
            <a:avLst>
              <a:gd name="adj1" fmla="val -82"/>
              <a:gd name="adj2" fmla="val 25807"/>
            </a:avLst>
          </a:prstGeom>
          <a:blipFill rotWithShape="1">
            <a:blip r:embed="rId3">
              <a:alphaModFix/>
            </a:blip>
            <a:stretch>
              <a:fillRect/>
            </a:stretch>
          </a:blipFill>
          <a:ln>
            <a:noFill/>
          </a:ln>
          <a:effectLst>
            <a:outerShdw blurRad="63500" dist="17960" dir="2700000">
              <a:srgbClr val="99997A"/>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800" b="0" i="0" u="none">
                <a:solidFill>
                  <a:schemeClr val="dk1"/>
                </a:solidFill>
                <a:latin typeface="Calibri"/>
                <a:ea typeface="Calibri"/>
                <a:cs typeface="Calibri"/>
                <a:sym typeface="Calibri"/>
              </a:rPr>
              <a:t>How to Use Our Thread that we have created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1"/>
                                        </p:tgtEl>
                                        <p:attrNameLst>
                                          <p:attrName>style.visibility</p:attrName>
                                        </p:attrNameLst>
                                      </p:cBhvr>
                                      <p:to>
                                        <p:strVal val="visible"/>
                                      </p:to>
                                    </p:set>
                                    <p:animEffect transition="in" filter="fade">
                                      <p:cBhvr>
                                        <p:cTn id="7" dur="500"/>
                                        <p:tgtEl>
                                          <p:spTgt spid="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4"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49" name="Google Shape;549;p44"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550" name="Google Shape;550;p44"/>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551" name="Google Shape;551;p44"/>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552" name="Google Shape;552;p44"/>
          <p:cNvSpPr txBox="1"/>
          <p:nvPr/>
        </p:nvSpPr>
        <p:spPr>
          <a:xfrm>
            <a:off x="533400" y="2286000"/>
            <a:ext cx="6477000" cy="2819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public class </a:t>
            </a:r>
            <a:r>
              <a:rPr lang="en-US" sz="1800" b="0" i="0" u="none" dirty="0" err="1">
                <a:solidFill>
                  <a:schemeClr val="dk1"/>
                </a:solidFill>
                <a:latin typeface="Calibri"/>
                <a:ea typeface="Calibri"/>
                <a:cs typeface="Calibri"/>
                <a:sym typeface="Calibri"/>
              </a:rPr>
              <a:t>TestMyThread</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public static void main(String[] </a:t>
            </a:r>
            <a:r>
              <a:rPr lang="en-US" sz="1800" b="0" i="0" u="none" dirty="0" err="1">
                <a:solidFill>
                  <a:schemeClr val="dk1"/>
                </a:solidFill>
                <a:latin typeface="Calibri"/>
                <a:ea typeface="Calibri"/>
                <a:cs typeface="Calibri"/>
                <a:sym typeface="Calibri"/>
              </a:rPr>
              <a:t>args</a:t>
            </a: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r>
              <a:rPr lang="en-US" sz="1800" b="0" i="0" u="none" dirty="0" err="1">
                <a:solidFill>
                  <a:schemeClr val="dk1"/>
                </a:solidFill>
                <a:latin typeface="Calibri"/>
                <a:ea typeface="Calibri"/>
                <a:cs typeface="Calibri"/>
                <a:sym typeface="Calibri"/>
              </a:rPr>
              <a:t>MyThread</a:t>
            </a:r>
            <a:r>
              <a:rPr lang="en-US" sz="1800" b="0" i="0" u="none" dirty="0">
                <a:solidFill>
                  <a:schemeClr val="dk1"/>
                </a:solidFill>
                <a:latin typeface="Calibri"/>
                <a:ea typeface="Calibri"/>
                <a:cs typeface="Calibri"/>
                <a:sym typeface="Calibri"/>
              </a:rPr>
              <a:t> mth1 = new </a:t>
            </a:r>
            <a:r>
              <a:rPr lang="en-US" sz="1800" b="0" i="0" u="none" dirty="0" err="1">
                <a:solidFill>
                  <a:schemeClr val="dk1"/>
                </a:solidFill>
                <a:latin typeface="Calibri"/>
                <a:ea typeface="Calibri"/>
                <a:cs typeface="Calibri"/>
                <a:sym typeface="Calibri"/>
              </a:rPr>
              <a:t>MyThread</a:t>
            </a:r>
            <a:r>
              <a:rPr lang="en-US" sz="1800" b="0" i="0" u="none" dirty="0" smtClean="0">
                <a:solidFill>
                  <a:schemeClr val="dk1"/>
                </a:solidFill>
                <a:latin typeface="Calibri"/>
                <a:ea typeface="Calibri"/>
                <a:cs typeface="Calibri"/>
                <a:sym typeface="Calibri"/>
              </a:rPr>
              <a:t>(“SICS", </a:t>
            </a:r>
            <a:r>
              <a:rPr lang="en-US" sz="1800" b="0" i="0" u="none" dirty="0">
                <a:solidFill>
                  <a:schemeClr val="dk1"/>
                </a:solidFill>
                <a:latin typeface="Calibri"/>
                <a:ea typeface="Calibri"/>
                <a:cs typeface="Calibri"/>
                <a:sym typeface="Calibri"/>
              </a:rPr>
              <a:t>“Hello");</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mth1.start();</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a:t>
            </a:r>
            <a:endParaRPr dirty="0"/>
          </a:p>
          <a:p>
            <a:pPr marL="0" marR="0" lvl="0" indent="0" algn="l" rtl="0">
              <a:lnSpc>
                <a:spcPct val="100000"/>
              </a:lnSpc>
              <a:spcBef>
                <a:spcPts val="270"/>
              </a:spcBef>
              <a:spcAft>
                <a:spcPts val="0"/>
              </a:spcAft>
              <a:buNone/>
            </a:pPr>
            <a:endParaRPr sz="1800" b="0" i="0" u="none" dirty="0">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2">
                                            <p:txEl>
                                              <p:pRg st="0" end="0"/>
                                            </p:txEl>
                                          </p:spTgt>
                                        </p:tgtEl>
                                        <p:attrNameLst>
                                          <p:attrName>style.visibility</p:attrName>
                                        </p:attrNameLst>
                                      </p:cBhvr>
                                      <p:to>
                                        <p:strVal val="visible"/>
                                      </p:to>
                                    </p:set>
                                    <p:animEffect transition="in" filter="fade">
                                      <p:cBhvr>
                                        <p:cTn id="7" dur="80"/>
                                        <p:tgtEl>
                                          <p:spTgt spid="5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2">
                                            <p:txEl>
                                              <p:pRg st="1" end="1"/>
                                            </p:txEl>
                                          </p:spTgt>
                                        </p:tgtEl>
                                        <p:attrNameLst>
                                          <p:attrName>style.visibility</p:attrName>
                                        </p:attrNameLst>
                                      </p:cBhvr>
                                      <p:to>
                                        <p:strVal val="visible"/>
                                      </p:to>
                                    </p:set>
                                    <p:animEffect transition="in" filter="fade">
                                      <p:cBhvr>
                                        <p:cTn id="12" dur="80"/>
                                        <p:tgtEl>
                                          <p:spTgt spid="5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52">
                                            <p:txEl>
                                              <p:pRg st="2" end="2"/>
                                            </p:txEl>
                                          </p:spTgt>
                                        </p:tgtEl>
                                        <p:attrNameLst>
                                          <p:attrName>style.visibility</p:attrName>
                                        </p:attrNameLst>
                                      </p:cBhvr>
                                      <p:to>
                                        <p:strVal val="visible"/>
                                      </p:to>
                                    </p:set>
                                    <p:animEffect transition="in" filter="fade">
                                      <p:cBhvr>
                                        <p:cTn id="17" dur="80"/>
                                        <p:tgtEl>
                                          <p:spTgt spid="5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52">
                                            <p:txEl>
                                              <p:pRg st="3" end="3"/>
                                            </p:txEl>
                                          </p:spTgt>
                                        </p:tgtEl>
                                        <p:attrNameLst>
                                          <p:attrName>style.visibility</p:attrName>
                                        </p:attrNameLst>
                                      </p:cBhvr>
                                      <p:to>
                                        <p:strVal val="visible"/>
                                      </p:to>
                                    </p:set>
                                    <p:animEffect transition="in" filter="fade">
                                      <p:cBhvr>
                                        <p:cTn id="22" dur="80"/>
                                        <p:tgtEl>
                                          <p:spTgt spid="55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2">
                                            <p:txEl>
                                              <p:pRg st="4" end="4"/>
                                            </p:txEl>
                                          </p:spTgt>
                                        </p:tgtEl>
                                        <p:attrNameLst>
                                          <p:attrName>style.visibility</p:attrName>
                                        </p:attrNameLst>
                                      </p:cBhvr>
                                      <p:to>
                                        <p:strVal val="visible"/>
                                      </p:to>
                                    </p:set>
                                    <p:animEffect transition="in" filter="fade">
                                      <p:cBhvr>
                                        <p:cTn id="27" dur="80"/>
                                        <p:tgtEl>
                                          <p:spTgt spid="55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52">
                                            <p:txEl>
                                              <p:pRg st="5" end="5"/>
                                            </p:txEl>
                                          </p:spTgt>
                                        </p:tgtEl>
                                        <p:attrNameLst>
                                          <p:attrName>style.visibility</p:attrName>
                                        </p:attrNameLst>
                                      </p:cBhvr>
                                      <p:to>
                                        <p:strVal val="visible"/>
                                      </p:to>
                                    </p:set>
                                    <p:animEffect transition="in" filter="fade">
                                      <p:cBhvr>
                                        <p:cTn id="32" dur="80"/>
                                        <p:tgtEl>
                                          <p:spTgt spid="55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52">
                                            <p:txEl>
                                              <p:pRg st="6" end="6"/>
                                            </p:txEl>
                                          </p:spTgt>
                                        </p:tgtEl>
                                        <p:attrNameLst>
                                          <p:attrName>style.visibility</p:attrName>
                                        </p:attrNameLst>
                                      </p:cBhvr>
                                      <p:to>
                                        <p:strVal val="visible"/>
                                      </p:to>
                                    </p:set>
                                    <p:animEffect transition="in" filter="fade">
                                      <p:cBhvr>
                                        <p:cTn id="37" dur="80"/>
                                        <p:tgtEl>
                                          <p:spTgt spid="55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52">
                                            <p:txEl>
                                              <p:pRg st="7" end="7"/>
                                            </p:txEl>
                                          </p:spTgt>
                                        </p:tgtEl>
                                        <p:attrNameLst>
                                          <p:attrName>style.visibility</p:attrName>
                                        </p:attrNameLst>
                                      </p:cBhvr>
                                      <p:to>
                                        <p:strVal val="visible"/>
                                      </p:to>
                                    </p:set>
                                    <p:animEffect transition="in" filter="fade">
                                      <p:cBhvr>
                                        <p:cTn id="42" dur="80"/>
                                        <p:tgtEl>
                                          <p:spTgt spid="55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52">
                                            <p:txEl>
                                              <p:pRg st="8" end="8"/>
                                            </p:txEl>
                                          </p:spTgt>
                                        </p:tgtEl>
                                        <p:attrNameLst>
                                          <p:attrName>style.visibility</p:attrName>
                                        </p:attrNameLst>
                                      </p:cBhvr>
                                      <p:to>
                                        <p:strVal val="visible"/>
                                      </p:to>
                                    </p:set>
                                    <p:animEffect transition="in" filter="fade">
                                      <p:cBhvr>
                                        <p:cTn id="47" dur="80"/>
                                        <p:tgtEl>
                                          <p:spTgt spid="55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45"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60" name="Google Shape;560;p45"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561" name="Google Shape;561;p45"/>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562" name="Google Shape;562;p45"/>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563" name="Google Shape;563;p45"/>
          <p:cNvSpPr txBox="1"/>
          <p:nvPr/>
        </p:nvSpPr>
        <p:spPr>
          <a:xfrm>
            <a:off x="533400" y="2286000"/>
            <a:ext cx="6477000" cy="2819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public class </a:t>
            </a:r>
            <a:r>
              <a:rPr lang="en-US" sz="1800" b="0" i="0" u="none" dirty="0" err="1">
                <a:solidFill>
                  <a:schemeClr val="dk1"/>
                </a:solidFill>
                <a:latin typeface="Calibri"/>
                <a:ea typeface="Calibri"/>
                <a:cs typeface="Calibri"/>
                <a:sym typeface="Calibri"/>
              </a:rPr>
              <a:t>TestMyThread</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public static void main(String[] </a:t>
            </a:r>
            <a:r>
              <a:rPr lang="en-US" sz="1800" b="0" i="0" u="none" dirty="0" err="1">
                <a:solidFill>
                  <a:schemeClr val="dk1"/>
                </a:solidFill>
                <a:latin typeface="Calibri"/>
                <a:ea typeface="Calibri"/>
                <a:cs typeface="Calibri"/>
                <a:sym typeface="Calibri"/>
              </a:rPr>
              <a:t>args</a:t>
            </a: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1" u="none" dirty="0">
                <a:solidFill>
                  <a:schemeClr val="dk1"/>
                </a:solidFill>
                <a:latin typeface="Calibri"/>
                <a:ea typeface="Calibri"/>
                <a:cs typeface="Calibri"/>
                <a:sym typeface="Calibri"/>
              </a:rPr>
              <a:t>          </a:t>
            </a:r>
            <a:r>
              <a:rPr lang="en-US" sz="1800" b="0" i="1" u="none" dirty="0" err="1">
                <a:solidFill>
                  <a:schemeClr val="dk1"/>
                </a:solidFill>
                <a:latin typeface="Calibri"/>
                <a:ea typeface="Calibri"/>
                <a:cs typeface="Calibri"/>
                <a:sym typeface="Calibri"/>
              </a:rPr>
              <a:t>MyThread</a:t>
            </a:r>
            <a:r>
              <a:rPr lang="en-US" sz="1800" b="0" i="1" u="none" dirty="0">
                <a:solidFill>
                  <a:schemeClr val="dk1"/>
                </a:solidFill>
                <a:latin typeface="Calibri"/>
                <a:ea typeface="Calibri"/>
                <a:cs typeface="Calibri"/>
                <a:sym typeface="Calibri"/>
              </a:rPr>
              <a:t> mth1 = new </a:t>
            </a:r>
            <a:r>
              <a:rPr lang="en-US" sz="1800" b="0" i="1" u="none" dirty="0" err="1">
                <a:solidFill>
                  <a:schemeClr val="dk1"/>
                </a:solidFill>
                <a:latin typeface="Calibri"/>
                <a:ea typeface="Calibri"/>
                <a:cs typeface="Calibri"/>
                <a:sym typeface="Calibri"/>
              </a:rPr>
              <a:t>MyThread</a:t>
            </a:r>
            <a:r>
              <a:rPr lang="en-US" sz="1800" b="0" i="1" u="none" dirty="0" smtClean="0">
                <a:solidFill>
                  <a:schemeClr val="dk1"/>
                </a:solidFill>
                <a:latin typeface="Calibri"/>
                <a:ea typeface="Calibri"/>
                <a:cs typeface="Calibri"/>
                <a:sym typeface="Calibri"/>
              </a:rPr>
              <a:t>(“SICS", </a:t>
            </a:r>
            <a:r>
              <a:rPr lang="en-US" sz="1800" b="0" i="1" u="none" dirty="0">
                <a:solidFill>
                  <a:schemeClr val="dk1"/>
                </a:solidFill>
                <a:latin typeface="Calibri"/>
                <a:ea typeface="Calibri"/>
                <a:cs typeface="Calibri"/>
                <a:sym typeface="Calibri"/>
              </a:rPr>
              <a:t>“Hello");</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mth1.start();</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       }</a:t>
            </a:r>
            <a:endParaRPr dirty="0"/>
          </a:p>
          <a:p>
            <a:pPr marL="342900" marR="0" lvl="0" indent="-342900" algn="l" rtl="0">
              <a:lnSpc>
                <a:spcPct val="100000"/>
              </a:lnSpc>
              <a:spcBef>
                <a:spcPts val="900"/>
              </a:spcBef>
              <a:spcAft>
                <a:spcPts val="0"/>
              </a:spcAft>
              <a:buClr>
                <a:schemeClr val="dk1"/>
              </a:buClr>
              <a:buFont typeface="Calibri"/>
              <a:buNone/>
            </a:pPr>
            <a:r>
              <a:rPr lang="en-US" sz="1800" b="0" i="0" u="none" dirty="0">
                <a:solidFill>
                  <a:schemeClr val="dk1"/>
                </a:solidFill>
                <a:latin typeface="Calibri"/>
                <a:ea typeface="Calibri"/>
                <a:cs typeface="Calibri"/>
                <a:sym typeface="Calibri"/>
              </a:rPr>
              <a:t>}</a:t>
            </a:r>
            <a:endParaRPr dirty="0"/>
          </a:p>
          <a:p>
            <a:pPr marL="0" marR="0" lvl="0" indent="0" algn="l" rtl="0">
              <a:lnSpc>
                <a:spcPct val="100000"/>
              </a:lnSpc>
              <a:spcBef>
                <a:spcPts val="270"/>
              </a:spcBef>
              <a:spcAft>
                <a:spcPts val="0"/>
              </a:spcAft>
              <a:buNone/>
            </a:pPr>
            <a:endParaRPr sz="1800" b="0" i="0" u="none" dirty="0">
              <a:solidFill>
                <a:schemeClr val="dk1"/>
              </a:solidFill>
              <a:latin typeface="Calibri"/>
              <a:ea typeface="Calibri"/>
              <a:cs typeface="Calibri"/>
              <a:sym typeface="Calibri"/>
            </a:endParaRPr>
          </a:p>
        </p:txBody>
      </p:sp>
      <p:sp>
        <p:nvSpPr>
          <p:cNvPr id="564" name="Google Shape;564;p45"/>
          <p:cNvSpPr/>
          <p:nvPr/>
        </p:nvSpPr>
        <p:spPr>
          <a:xfrm>
            <a:off x="1143000" y="3962400"/>
            <a:ext cx="55626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565" name="Google Shape;565;p45"/>
          <p:cNvCxnSpPr/>
          <p:nvPr/>
        </p:nvCxnSpPr>
        <p:spPr>
          <a:xfrm rot="10800000" flipH="1">
            <a:off x="6705600" y="3886200"/>
            <a:ext cx="457200" cy="228600"/>
          </a:xfrm>
          <a:prstGeom prst="straightConnector1">
            <a:avLst/>
          </a:prstGeom>
          <a:noFill/>
          <a:ln w="38100" cap="flat" cmpd="sng">
            <a:solidFill>
              <a:schemeClr val="accent1"/>
            </a:solidFill>
            <a:prstDash val="solid"/>
            <a:miter lim="800000"/>
            <a:headEnd type="none" w="sm" len="sm"/>
            <a:tailEnd type="triangle" w="med" len="med"/>
          </a:ln>
        </p:spPr>
      </p:cxnSp>
      <p:sp>
        <p:nvSpPr>
          <p:cNvPr id="566" name="Google Shape;566;p45"/>
          <p:cNvSpPr/>
          <p:nvPr/>
        </p:nvSpPr>
        <p:spPr>
          <a:xfrm>
            <a:off x="7015162" y="2635250"/>
            <a:ext cx="2058987" cy="1928812"/>
          </a:xfrm>
          <a:prstGeom prst="verticalScroll">
            <a:avLst>
              <a:gd name="adj" fmla="val 12500"/>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 New Thread Created But Not Running</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65"/>
                                        </p:tgtEl>
                                        <p:attrNameLst>
                                          <p:attrName>style.visibility</p:attrName>
                                        </p:attrNameLst>
                                      </p:cBhvr>
                                      <p:to>
                                        <p:strVal val="visible"/>
                                      </p:to>
                                    </p:set>
                                    <p:animEffect transition="in" filter="fade">
                                      <p:cBhvr>
                                        <p:cTn id="7" dur="500"/>
                                        <p:tgtEl>
                                          <p:spTgt spid="56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66"/>
                                        </p:tgtEl>
                                        <p:attrNameLst>
                                          <p:attrName>style.visibility</p:attrName>
                                        </p:attrNameLst>
                                      </p:cBhvr>
                                      <p:to>
                                        <p:strVal val="visible"/>
                                      </p:to>
                                    </p:set>
                                    <p:animEffect transition="in" filter="fade">
                                      <p:cBhvr>
                                        <p:cTn id="11" dur="500"/>
                                        <p:tgtEl>
                                          <p:spTgt spid="5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6"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74" name="Google Shape;574;p46"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575" name="Google Shape;575;p46"/>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576" name="Google Shape;576;p46"/>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577" name="Google Shape;577;p46"/>
          <p:cNvSpPr txBox="1"/>
          <p:nvPr/>
        </p:nvSpPr>
        <p:spPr>
          <a:xfrm>
            <a:off x="533400" y="2286000"/>
            <a:ext cx="6477000" cy="2819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public class TestMyThread</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static void main(String[] args)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MyThread mth1 = new MyThread(“SICS", “Hello");</a:t>
            </a:r>
            <a:endParaRPr/>
          </a:p>
          <a:p>
            <a:pPr marL="342900" marR="0" lvl="0" indent="-342900" algn="l" rtl="0">
              <a:lnSpc>
                <a:spcPct val="100000"/>
              </a:lnSpc>
              <a:spcBef>
                <a:spcPts val="900"/>
              </a:spcBef>
              <a:spcAft>
                <a:spcPts val="0"/>
              </a:spcAft>
              <a:buClr>
                <a:schemeClr val="dk1"/>
              </a:buClr>
              <a:buFont typeface="Calibri"/>
              <a:buNone/>
            </a:pPr>
            <a:r>
              <a:rPr lang="en-US" sz="1800" b="0" i="1" u="none">
                <a:solidFill>
                  <a:schemeClr val="dk1"/>
                </a:solidFill>
                <a:latin typeface="Calibri"/>
                <a:ea typeface="Calibri"/>
                <a:cs typeface="Calibri"/>
                <a:sym typeface="Calibri"/>
              </a:rPr>
              <a:t>          mth1.start();</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578" name="Google Shape;578;p46"/>
          <p:cNvSpPr/>
          <p:nvPr/>
        </p:nvSpPr>
        <p:spPr>
          <a:xfrm>
            <a:off x="1143000" y="4387850"/>
            <a:ext cx="55626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579" name="Google Shape;579;p46"/>
          <p:cNvCxnSpPr/>
          <p:nvPr/>
        </p:nvCxnSpPr>
        <p:spPr>
          <a:xfrm rot="10800000" flipH="1">
            <a:off x="6705600" y="4311650"/>
            <a:ext cx="457200" cy="260350"/>
          </a:xfrm>
          <a:prstGeom prst="straightConnector1">
            <a:avLst/>
          </a:prstGeom>
          <a:noFill/>
          <a:ln w="38100" cap="flat" cmpd="sng">
            <a:solidFill>
              <a:schemeClr val="accent1"/>
            </a:solidFill>
            <a:prstDash val="solid"/>
            <a:miter lim="800000"/>
            <a:headEnd type="none" w="sm" len="sm"/>
            <a:tailEnd type="triangle" w="med" len="med"/>
          </a:ln>
        </p:spPr>
      </p:cxnSp>
      <p:sp>
        <p:nvSpPr>
          <p:cNvPr id="580" name="Google Shape;580;p46"/>
          <p:cNvSpPr/>
          <p:nvPr/>
        </p:nvSpPr>
        <p:spPr>
          <a:xfrm>
            <a:off x="7016750" y="1839912"/>
            <a:ext cx="2125662" cy="4616450"/>
          </a:xfrm>
          <a:prstGeom prst="verticalScroll">
            <a:avLst>
              <a:gd name="adj" fmla="val 12500"/>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run() method is called.</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The New Thread moves to runnable state or to the running state depending upon the scheduler.</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9"/>
                                        </p:tgtEl>
                                        <p:attrNameLst>
                                          <p:attrName>style.visibility</p:attrName>
                                        </p:attrNameLst>
                                      </p:cBhvr>
                                      <p:to>
                                        <p:strVal val="visible"/>
                                      </p:to>
                                    </p:set>
                                    <p:animEffect transition="in" filter="fade">
                                      <p:cBhvr>
                                        <p:cTn id="7" dur="500"/>
                                        <p:tgtEl>
                                          <p:spTgt spid="57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80"/>
                                        </p:tgtEl>
                                        <p:attrNameLst>
                                          <p:attrName>style.visibility</p:attrName>
                                        </p:attrNameLst>
                                      </p:cBhvr>
                                      <p:to>
                                        <p:strVal val="visible"/>
                                      </p:to>
                                    </p:set>
                                    <p:animEffect transition="in" filter="fade">
                                      <p:cBhvr>
                                        <p:cTn id="11" dur="500"/>
                                        <p:tgtEl>
                                          <p:spTgt spid="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7"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88" name="Google Shape;588;p47"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589" name="Google Shape;589;p47"/>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590" name="Google Shape;590;p47"/>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591" name="Google Shape;591;p47"/>
          <p:cNvSpPr/>
          <p:nvPr/>
        </p:nvSpPr>
        <p:spPr>
          <a:xfrm>
            <a:off x="2438400" y="2587625"/>
            <a:ext cx="4419600" cy="2060575"/>
          </a:xfrm>
          <a:prstGeom prst="verticalScroll">
            <a:avLst>
              <a:gd name="adj" fmla="val 12500"/>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800" b="0" i="0" u="none">
                <a:solidFill>
                  <a:schemeClr val="dk1"/>
                </a:solidFill>
                <a:latin typeface="Calibri"/>
                <a:ea typeface="Calibri"/>
                <a:cs typeface="Calibri"/>
                <a:sym typeface="Calibri"/>
              </a:rPr>
              <a:t>Can U Predict The Output of the     Program</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1"/>
                                        </p:tgtEl>
                                        <p:attrNameLst>
                                          <p:attrName>style.visibility</p:attrName>
                                        </p:attrNameLst>
                                      </p:cBhvr>
                                      <p:to>
                                        <p:strVal val="visible"/>
                                      </p:to>
                                    </p:set>
                                    <p:animEffect transition="in" filter="fade">
                                      <p:cBhvr>
                                        <p:cTn id="7" dur="500"/>
                                        <p:tgtEl>
                                          <p:spTgt spid="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8"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599" name="Google Shape;599;p48"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600" name="Google Shape;600;p48"/>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01" name="Google Shape;601;p48"/>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02" name="Google Shape;602;p48"/>
          <p:cNvSpPr txBox="1"/>
          <p:nvPr/>
        </p:nvSpPr>
        <p:spPr>
          <a:xfrm>
            <a:off x="914400" y="2119312"/>
            <a:ext cx="7543800" cy="4052887"/>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603" name="Google Shape;603;p48" descr="C:\Users\shree\Desktop\Presentation\JAVA\Images\unit3 thread\1.jpg"/>
          <p:cNvPicPr preferRelativeResize="0">
            <a:picLocks noGrp="1"/>
          </p:cNvPicPr>
          <p:nvPr>
            <p:ph type="body" idx="1"/>
          </p:nvPr>
        </p:nvPicPr>
        <p:blipFill rotWithShape="1">
          <a:blip r:embed="rId4">
            <a:alphaModFix/>
          </a:blip>
          <a:srcRect/>
          <a:stretch/>
        </p:blipFill>
        <p:spPr>
          <a:xfrm>
            <a:off x="914400" y="2133600"/>
            <a:ext cx="7543800" cy="4038600"/>
          </a:xfrm>
          <a:prstGeom prst="rect">
            <a:avLst/>
          </a:prstGeom>
          <a:noFill/>
          <a:ln>
            <a:noFill/>
          </a:ln>
        </p:spPr>
      </p:pic>
    </p:spTree>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49"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611" name="Google Shape;611;p49"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612" name="Google Shape;612;p49"/>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13" name="Google Shape;613;p49"/>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14" name="Google Shape;614;p49"/>
          <p:cNvSpPr txBox="1"/>
          <p:nvPr/>
        </p:nvSpPr>
        <p:spPr>
          <a:xfrm>
            <a:off x="914400" y="2119312"/>
            <a:ext cx="7543800" cy="4114800"/>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615" name="Google Shape;615;p49" descr="C:\Users\shree\Desktop\Presentation\JAVA\Images\unit3 thread\2.jpg"/>
          <p:cNvPicPr preferRelativeResize="0">
            <a:picLocks noGrp="1"/>
          </p:cNvPicPr>
          <p:nvPr>
            <p:ph type="body" idx="1"/>
          </p:nvPr>
        </p:nvPicPr>
        <p:blipFill rotWithShape="1">
          <a:blip r:embed="rId4">
            <a:alphaModFix/>
          </a:blip>
          <a:srcRect/>
          <a:stretch/>
        </p:blipFill>
        <p:spPr>
          <a:xfrm>
            <a:off x="914400" y="2133600"/>
            <a:ext cx="7543800" cy="4114800"/>
          </a:xfrm>
          <a:prstGeom prst="rect">
            <a:avLst/>
          </a:prstGeom>
          <a:noFill/>
          <a:ln>
            <a:noFill/>
          </a:ln>
        </p:spPr>
      </p:pic>
    </p:spTree>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50"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623" name="Google Shape;623;p50"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624" name="Google Shape;624;p50"/>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25" name="Google Shape;625;p50"/>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26" name="Google Shape;626;p50"/>
          <p:cNvSpPr txBox="1"/>
          <p:nvPr/>
        </p:nvSpPr>
        <p:spPr>
          <a:xfrm>
            <a:off x="914400" y="2119312"/>
            <a:ext cx="7543800" cy="4114800"/>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627" name="Google Shape;627;p50" descr="C:\Users\shree\Desktop\Presentation\JAVA\Images\unit3 thread\3.jpg"/>
          <p:cNvPicPr preferRelativeResize="0">
            <a:picLocks noGrp="1"/>
          </p:cNvPicPr>
          <p:nvPr>
            <p:ph type="body" idx="1"/>
          </p:nvPr>
        </p:nvPicPr>
        <p:blipFill rotWithShape="1">
          <a:blip r:embed="rId4">
            <a:alphaModFix/>
          </a:blip>
          <a:srcRect/>
          <a:stretch/>
        </p:blipFill>
        <p:spPr>
          <a:xfrm>
            <a:off x="914400" y="2133600"/>
            <a:ext cx="7543800" cy="4114800"/>
          </a:xfrm>
          <a:prstGeom prst="rect">
            <a:avLst/>
          </a:prstGeom>
          <a:noFill/>
          <a:ln>
            <a:noFill/>
          </a:ln>
        </p:spPr>
      </p:pic>
    </p:spTree>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1"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635" name="Google Shape;635;p51"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636" name="Google Shape;636;p5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37" name="Google Shape;637;p51"/>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38" name="Google Shape;638;p51"/>
          <p:cNvSpPr txBox="1"/>
          <p:nvPr/>
        </p:nvSpPr>
        <p:spPr>
          <a:xfrm>
            <a:off x="914400" y="2119312"/>
            <a:ext cx="7543800" cy="4114800"/>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639" name="Google Shape;639;p51" descr="C:\Users\shree\Desktop\Presentation\JAVA\Images\unit3 thread\4.jpg"/>
          <p:cNvPicPr preferRelativeResize="0">
            <a:picLocks noGrp="1"/>
          </p:cNvPicPr>
          <p:nvPr>
            <p:ph type="body" idx="1"/>
          </p:nvPr>
        </p:nvPicPr>
        <p:blipFill rotWithShape="1">
          <a:blip r:embed="rId4">
            <a:alphaModFix/>
          </a:blip>
          <a:srcRect/>
          <a:stretch/>
        </p:blipFill>
        <p:spPr>
          <a:xfrm>
            <a:off x="914400" y="2133600"/>
            <a:ext cx="7543800" cy="4114800"/>
          </a:xfrm>
          <a:prstGeom prst="rect">
            <a:avLst/>
          </a:prstGeom>
          <a:noFill/>
          <a:ln>
            <a:noFill/>
          </a:ln>
        </p:spPr>
      </p:pic>
    </p:spTree>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52"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647" name="Google Shape;647;p52"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648" name="Google Shape;648;p52"/>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49" name="Google Shape;649;p52"/>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50" name="Google Shape;650;p52"/>
          <p:cNvSpPr txBox="1"/>
          <p:nvPr/>
        </p:nvSpPr>
        <p:spPr>
          <a:xfrm>
            <a:off x="914400" y="2119312"/>
            <a:ext cx="7543800" cy="4114800"/>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651" name="Google Shape;651;p52" descr="C:\Users\shree\Desktop\Presentation\JAVA\Images\unit3 thread\5.jpg"/>
          <p:cNvPicPr preferRelativeResize="0">
            <a:picLocks noGrp="1"/>
          </p:cNvPicPr>
          <p:nvPr>
            <p:ph type="body" idx="1"/>
          </p:nvPr>
        </p:nvPicPr>
        <p:blipFill rotWithShape="1">
          <a:blip r:embed="rId4">
            <a:alphaModFix/>
          </a:blip>
          <a:srcRect/>
          <a:stretch/>
        </p:blipFill>
        <p:spPr>
          <a:xfrm>
            <a:off x="914400" y="2133600"/>
            <a:ext cx="7467600" cy="4114800"/>
          </a:xfrm>
          <a:prstGeom prst="rect">
            <a:avLst/>
          </a:prstGeom>
          <a:noFill/>
          <a:ln>
            <a:noFill/>
          </a:ln>
        </p:spPr>
      </p:pic>
    </p:spTree>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3"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1.</a:t>
            </a:r>
            <a:endParaRPr/>
          </a:p>
        </p:txBody>
      </p:sp>
      <p:sp>
        <p:nvSpPr>
          <p:cNvPr id="659" name="Google Shape;659;p53"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Extending from java.lang.Thread class</a:t>
            </a:r>
            <a:endParaRPr/>
          </a:p>
        </p:txBody>
      </p:sp>
      <p:sp>
        <p:nvSpPr>
          <p:cNvPr id="660" name="Google Shape;660;p53"/>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61" name="Google Shape;661;p53"/>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62" name="Google Shape;662;p53"/>
          <p:cNvSpPr txBox="1"/>
          <p:nvPr/>
        </p:nvSpPr>
        <p:spPr>
          <a:xfrm>
            <a:off x="914400" y="2119312"/>
            <a:ext cx="7543800" cy="4114800"/>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663" name="Google Shape;663;p53" descr="C:\Users\shree\Desktop\Presentation\JAVA\Images\unit3 thread\6.jpg"/>
          <p:cNvPicPr preferRelativeResize="0">
            <a:picLocks noGrp="1"/>
          </p:cNvPicPr>
          <p:nvPr>
            <p:ph type="body" idx="1"/>
          </p:nvPr>
        </p:nvPicPr>
        <p:blipFill rotWithShape="1">
          <a:blip r:embed="rId4">
            <a:alphaModFix/>
          </a:blip>
          <a:srcRect/>
          <a:stretch/>
        </p:blipFill>
        <p:spPr>
          <a:xfrm>
            <a:off x="914400" y="2133600"/>
            <a:ext cx="7543800" cy="4114800"/>
          </a:xfrm>
          <a:prstGeom prst="rect">
            <a:avLst/>
          </a:prstGeom>
          <a:noFill/>
          <a:ln>
            <a:noFill/>
          </a:ln>
        </p:spPr>
      </p:pic>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4" descr="Stationery"/>
          <p:cNvSpPr txBox="1"/>
          <p:nvPr/>
        </p:nvSpPr>
        <p:spPr>
          <a:xfrm>
            <a:off x="609600" y="1752600"/>
            <a:ext cx="8534400" cy="2362200"/>
          </a:xfrm>
          <a:prstGeom prst="rect">
            <a:avLst/>
          </a:prstGeom>
          <a:blipFill rotWithShape="1">
            <a:blip r:embed="rId3">
              <a:alphaModFix/>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290512" marR="0" lvl="0" indent="-80961" algn="l" rtl="0">
              <a:lnSpc>
                <a:spcPct val="100000"/>
              </a:lnSpc>
              <a:spcBef>
                <a:spcPts val="0"/>
              </a:spcBef>
              <a:spcAft>
                <a:spcPts val="0"/>
              </a:spcAft>
              <a:buClr>
                <a:schemeClr val="accent1"/>
              </a:buClr>
              <a:buSzPts val="2500"/>
              <a:buFont typeface="Arial"/>
              <a:buNone/>
            </a:pPr>
            <a:endParaRPr sz="2000" b="0" i="0" u="none">
              <a:solidFill>
                <a:schemeClr val="dk1"/>
              </a:solidFill>
              <a:latin typeface="Calibri"/>
              <a:ea typeface="Calibri"/>
              <a:cs typeface="Calibri"/>
              <a:sym typeface="Calibri"/>
            </a:endParaRPr>
          </a:p>
          <a:p>
            <a:pPr marL="290512" marR="0" lvl="0" indent="-239711" algn="l" rtl="0">
              <a:lnSpc>
                <a:spcPct val="100000"/>
              </a:lnSpc>
              <a:spcBef>
                <a:spcPts val="0"/>
              </a:spcBef>
              <a:spcAft>
                <a:spcPts val="0"/>
              </a:spcAft>
              <a:buClr>
                <a:schemeClr val="accent1"/>
              </a:buClr>
              <a:buSzPts val="2500"/>
              <a:buFont typeface="Calibri"/>
              <a:buChar char="•"/>
            </a:pPr>
            <a:r>
              <a:rPr lang="en-US" sz="2000" b="0" i="0" u="none">
                <a:solidFill>
                  <a:schemeClr val="dk1"/>
                </a:solidFill>
                <a:latin typeface="Calibri"/>
                <a:ea typeface="Calibri"/>
                <a:cs typeface="Calibri"/>
                <a:sym typeface="Calibri"/>
              </a:rPr>
              <a:t> The Runnable interface only consists of run() method.</a:t>
            </a:r>
            <a:endParaRPr/>
          </a:p>
          <a:p>
            <a:pPr marL="290512" marR="0" lvl="0" indent="-239711"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290512" marR="0" lvl="0" indent="-239711" algn="l" rtl="0">
              <a:lnSpc>
                <a:spcPct val="100000"/>
              </a:lnSpc>
              <a:spcBef>
                <a:spcPts val="0"/>
              </a:spcBef>
              <a:spcAft>
                <a:spcPts val="0"/>
              </a:spcAft>
              <a:buClr>
                <a:schemeClr val="accent1"/>
              </a:buClr>
              <a:buSzPts val="2500"/>
              <a:buFont typeface="Calibri"/>
              <a:buChar char="•"/>
            </a:pPr>
            <a:r>
              <a:rPr lang="en-US" sz="2000" b="0" i="0" u="none">
                <a:solidFill>
                  <a:schemeClr val="dk1"/>
                </a:solidFill>
                <a:latin typeface="Calibri"/>
                <a:ea typeface="Calibri"/>
                <a:cs typeface="Calibri"/>
                <a:sym typeface="Calibri"/>
              </a:rPr>
              <a:t>  When a program needs to be inherited from a class other than Thread                                                                                  </a:t>
            </a:r>
            <a:endParaRPr/>
          </a:p>
          <a:p>
            <a:pPr marL="290512" marR="0" lvl="0" indent="-239711"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class, you need to implement the Runnable interface.</a:t>
            </a:r>
            <a:endParaRPr/>
          </a:p>
          <a:p>
            <a:pPr marL="290512" marR="0" lvl="0" indent="-239711" algn="l" rtl="0">
              <a:lnSpc>
                <a:spcPct val="100000"/>
              </a:lnSpc>
              <a:spcBef>
                <a:spcPts val="0"/>
              </a:spcBef>
              <a:spcAft>
                <a:spcPts val="0"/>
              </a:spcAft>
              <a:buClr>
                <a:schemeClr val="dk1"/>
              </a:buClr>
              <a:buFont typeface="Arial"/>
              <a:buNone/>
            </a:pPr>
            <a:endParaRPr sz="2000" b="0" i="0" u="none">
              <a:solidFill>
                <a:schemeClr val="dk1"/>
              </a:solidFill>
              <a:latin typeface="Calibri"/>
              <a:ea typeface="Calibri"/>
              <a:cs typeface="Calibri"/>
              <a:sym typeface="Calibri"/>
            </a:endParaRPr>
          </a:p>
          <a:p>
            <a:pPr marL="290512" marR="0" lvl="0" indent="-80961" algn="l" rtl="0">
              <a:lnSpc>
                <a:spcPct val="100000"/>
              </a:lnSpc>
              <a:spcBef>
                <a:spcPts val="0"/>
              </a:spcBef>
              <a:spcAft>
                <a:spcPts val="0"/>
              </a:spcAft>
              <a:buClr>
                <a:schemeClr val="accent1"/>
              </a:buClr>
              <a:buSzPts val="2500"/>
              <a:buFont typeface="Arial"/>
              <a:buNone/>
            </a:pPr>
            <a:endParaRPr sz="2000" b="0" i="0" u="none">
              <a:solidFill>
                <a:schemeClr val="dk1"/>
              </a:solidFill>
              <a:latin typeface="Calibri"/>
              <a:ea typeface="Calibri"/>
              <a:cs typeface="Calibri"/>
              <a:sym typeface="Calibri"/>
            </a:endParaRPr>
          </a:p>
          <a:p>
            <a:pPr marL="566737" marR="0" lvl="1" indent="-109537" algn="l" rtl="0">
              <a:lnSpc>
                <a:spcPct val="100000"/>
              </a:lnSpc>
              <a:spcBef>
                <a:spcPts val="0"/>
              </a:spcBef>
              <a:spcAft>
                <a:spcPts val="0"/>
              </a:spcAft>
              <a:buClr>
                <a:schemeClr val="dk1"/>
              </a:buClr>
              <a:buFont typeface="Arial"/>
              <a:buNone/>
            </a:pPr>
            <a:endParaRPr sz="20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000" b="0" i="0" u="none" strike="noStrike" cap="none">
              <a:solidFill>
                <a:schemeClr val="dk1"/>
              </a:solidFill>
              <a:latin typeface="Calibri"/>
              <a:ea typeface="Calibri"/>
              <a:cs typeface="Calibri"/>
              <a:sym typeface="Calibri"/>
            </a:endParaRPr>
          </a:p>
        </p:txBody>
      </p:sp>
      <p:sp>
        <p:nvSpPr>
          <p:cNvPr id="671" name="Google Shape;671;p54"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672" name="Google Shape;672;p54"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673" name="Google Shape;673;p54"/>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74" name="Google Shape;674;p54"/>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75" name="Google Shape;675;p54"/>
          <p:cNvSpPr txBox="1"/>
          <p:nvPr/>
        </p:nvSpPr>
        <p:spPr>
          <a:xfrm>
            <a:off x="609600" y="4114800"/>
            <a:ext cx="8534400" cy="2209800"/>
          </a:xfrm>
          <a:prstGeom prst="rect">
            <a:avLst/>
          </a:prstGeom>
          <a:solidFill>
            <a:schemeClr val="dk1"/>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290512" marR="0" lvl="0" indent="-239711"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   </a:t>
            </a:r>
            <a:endParaRPr/>
          </a:p>
          <a:p>
            <a:pPr marL="290512" marR="0" lvl="0" indent="-239711"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public class MyRunnableThread implements Runnable {</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public void run() {</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   // work for thread</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Thread T = new Thread(new MyT());  // create thread</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T.start();			       	// begin running thread</a:t>
            </a:r>
            <a:endParaRPr/>
          </a:p>
          <a:p>
            <a:pPr marL="566737" marR="0" lvl="1" indent="-109537" algn="l" rtl="0">
              <a:lnSpc>
                <a:spcPct val="100000"/>
              </a:lnSpc>
              <a:spcBef>
                <a:spcPts val="0"/>
              </a:spcBef>
              <a:spcAft>
                <a:spcPts val="0"/>
              </a:spcAft>
              <a:buClr>
                <a:schemeClr val="lt1"/>
              </a:buClr>
              <a:buFont typeface="Calibri"/>
              <a:buNone/>
            </a:pPr>
            <a:r>
              <a:rPr lang="en-US" sz="1800" b="0" i="0" u="none" strike="noStrike" cap="none">
                <a:solidFill>
                  <a:schemeClr val="lt1"/>
                </a:solidFill>
                <a:latin typeface="Calibri"/>
                <a:ea typeface="Calibri"/>
                <a:cs typeface="Calibri"/>
                <a:sym typeface="Calibri"/>
              </a:rPr>
              <a:t>…				</a:t>
            </a:r>
            <a:endParaRPr/>
          </a:p>
        </p:txBody>
      </p:sp>
      <p:sp>
        <p:nvSpPr>
          <p:cNvPr id="676" name="Google Shape;676;p54" descr="Stationery"/>
          <p:cNvSpPr/>
          <p:nvPr/>
        </p:nvSpPr>
        <p:spPr>
          <a:xfrm>
            <a:off x="5257800" y="3429000"/>
            <a:ext cx="2209800" cy="1066800"/>
          </a:xfrm>
          <a:prstGeom prst="cloudCallout">
            <a:avLst>
              <a:gd name="adj1" fmla="val -47"/>
              <a:gd name="adj2" fmla="val 21857"/>
            </a:avLst>
          </a:prstGeom>
          <a:blipFill rotWithShape="1">
            <a:blip r:embed="rId3">
              <a:alphaModFix/>
            </a:blip>
            <a:stretch>
              <a:fillRect/>
            </a:stretch>
          </a:blipFill>
          <a:ln>
            <a:noFill/>
          </a:ln>
          <a:effectLst>
            <a:outerShdw blurRad="63500" dist="17960" dir="2700000">
              <a:srgbClr val="99997A"/>
            </a:outerShdw>
          </a:effectLst>
        </p:spPr>
        <p:txBody>
          <a:bodyPr spcFirstLastPara="1" wrap="square" lIns="91425" tIns="45700" rIns="91425" bIns="45700" anchor="t" anchorCtr="0">
            <a:noAutofit/>
          </a:bodyPr>
          <a:lstStyle/>
          <a:p>
            <a:pPr marL="290512" marR="0" lvl="0" indent="-239711"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Sample Code</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0"/>
                                        </p:tgtEl>
                                        <p:attrNameLst>
                                          <p:attrName>style.visibility</p:attrName>
                                        </p:attrNameLst>
                                      </p:cBhvr>
                                      <p:to>
                                        <p:strVal val="visible"/>
                                      </p:to>
                                    </p:set>
                                    <p:animEffect transition="in" filter="fade">
                                      <p:cBhvr>
                                        <p:cTn id="7" dur="1000"/>
                                        <p:tgtEl>
                                          <p:spTgt spid="67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676"/>
                                        </p:tgtEl>
                                        <p:attrNameLst>
                                          <p:attrName>style.visibility</p:attrName>
                                        </p:attrNameLst>
                                      </p:cBhvr>
                                      <p:to>
                                        <p:strVal val="visible"/>
                                      </p:to>
                                    </p:set>
                                    <p:anim calcmode="lin" valueType="num">
                                      <p:cBhvr additive="base">
                                        <p:cTn id="12" dur="500"/>
                                        <p:tgtEl>
                                          <p:spTgt spid="676"/>
                                        </p:tgtEl>
                                        <p:attrNameLst>
                                          <p:attrName>ppt_w</p:attrName>
                                        </p:attrNameLst>
                                      </p:cBhvr>
                                      <p:tavLst>
                                        <p:tav tm="0">
                                          <p:val>
                                            <p:strVal val="0"/>
                                          </p:val>
                                        </p:tav>
                                        <p:tav tm="100000">
                                          <p:val>
                                            <p:strVal val="#ppt_w"/>
                                          </p:val>
                                        </p:tav>
                                      </p:tavLst>
                                    </p:anim>
                                    <p:anim calcmode="lin" valueType="num">
                                      <p:cBhvr additive="base">
                                        <p:cTn id="13" dur="500"/>
                                        <p:tgtEl>
                                          <p:spTgt spid="676"/>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75"/>
                                        </p:tgtEl>
                                        <p:attrNameLst>
                                          <p:attrName>style.visibility</p:attrName>
                                        </p:attrNameLst>
                                      </p:cBhvr>
                                      <p:to>
                                        <p:strVal val="visible"/>
                                      </p:to>
                                    </p:set>
                                    <p:animEffect transition="in" filter="fade">
                                      <p:cBhvr>
                                        <p:cTn id="18" dur="80"/>
                                        <p:tgtEl>
                                          <p:spTgt spid="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55"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684" name="Google Shape;684;p55"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685" name="Google Shape;685;p55"/>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686" name="Google Shape;686;p55"/>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687" name="Google Shape;687;p55" descr="Stationery"/>
          <p:cNvSpPr/>
          <p:nvPr/>
        </p:nvSpPr>
        <p:spPr>
          <a:xfrm>
            <a:off x="3581400" y="1752600"/>
            <a:ext cx="2743200" cy="1828800"/>
          </a:xfrm>
          <a:prstGeom prst="cloudCallout">
            <a:avLst>
              <a:gd name="adj1" fmla="val 7138"/>
              <a:gd name="adj2" fmla="val 25069"/>
            </a:avLst>
          </a:prstGeom>
          <a:blipFill rotWithShape="1">
            <a:blip r:embed="rId3">
              <a:alphaModFix amt="39999"/>
            </a:blip>
            <a:stretch>
              <a:fillRect/>
            </a:stretch>
          </a:blip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Code to create Thread using Runnable Interface</a:t>
            </a:r>
            <a:endParaRPr/>
          </a:p>
        </p:txBody>
      </p:sp>
      <p:sp>
        <p:nvSpPr>
          <p:cNvPr id="688" name="Google Shape;688;p55"/>
          <p:cNvSpPr txBox="1"/>
          <p:nvPr/>
        </p:nvSpPr>
        <p:spPr>
          <a:xfrm>
            <a:off x="0" y="1919287"/>
            <a:ext cx="5029200"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class MyRunnableThread implements Runnable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private String name, msg;</a:t>
            </a:r>
            <a:endParaRPr/>
          </a:p>
          <a:p>
            <a:pPr marL="342900" marR="0" lvl="0" indent="-342900" algn="l" rtl="0">
              <a:lnSpc>
                <a:spcPct val="8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MyRunnableThread(String name, String msg)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this.name = name;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this.msg = msg;</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void run()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starts its execution");</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689" name="Google Shape;689;p55"/>
          <p:cNvSpPr txBox="1"/>
          <p:nvPr/>
        </p:nvSpPr>
        <p:spPr>
          <a:xfrm>
            <a:off x="5181600" y="1878012"/>
            <a:ext cx="3962400"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for (int i = 1; i &lt; =5; i++)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says: " + msg+” for “+i+” time/s”);</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try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Thread.sleep(2000);</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catch (InterruptedException ie)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End of For Loop</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finished execution");</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p:txBody>
      </p:sp>
      <p:cxnSp>
        <p:nvCxnSpPr>
          <p:cNvPr id="690" name="Google Shape;690;p55"/>
          <p:cNvCxnSpPr/>
          <p:nvPr/>
        </p:nvCxnSpPr>
        <p:spPr>
          <a:xfrm>
            <a:off x="5029200" y="1752600"/>
            <a:ext cx="0" cy="4724400"/>
          </a:xfrm>
          <a:prstGeom prst="straightConnector1">
            <a:avLst/>
          </a:prstGeom>
          <a:noFill/>
          <a:ln w="38100" cap="flat" cmpd="sng">
            <a:solidFill>
              <a:srgbClr val="336600"/>
            </a:solidFill>
            <a:prstDash val="solid"/>
            <a:miter lim="800000"/>
            <a:headEnd type="none" w="sm" len="sm"/>
            <a:tailEnd type="none" w="sm" len="sm"/>
          </a:ln>
        </p:spPr>
      </p:cxn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87"/>
                                        </p:tgtEl>
                                        <p:attrNameLst>
                                          <p:attrName>style.visibility</p:attrName>
                                        </p:attrNameLst>
                                      </p:cBhvr>
                                      <p:to>
                                        <p:strVal val="visible"/>
                                      </p:to>
                                    </p:set>
                                    <p:animEffect transition="in" filter="fade">
                                      <p:cBhvr>
                                        <p:cTn id="7" dur="500"/>
                                        <p:tgtEl>
                                          <p:spTgt spid="6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88">
                                            <p:txEl>
                                              <p:pRg st="0" end="0"/>
                                            </p:txEl>
                                          </p:spTgt>
                                        </p:tgtEl>
                                        <p:attrNameLst>
                                          <p:attrName>style.visibility</p:attrName>
                                        </p:attrNameLst>
                                      </p:cBhvr>
                                      <p:to>
                                        <p:strVal val="visible"/>
                                      </p:to>
                                    </p:set>
                                    <p:animEffect transition="in" filter="fade">
                                      <p:cBhvr>
                                        <p:cTn id="12" dur="80"/>
                                        <p:tgtEl>
                                          <p:spTgt spid="68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8">
                                            <p:txEl>
                                              <p:pRg st="1" end="1"/>
                                            </p:txEl>
                                          </p:spTgt>
                                        </p:tgtEl>
                                        <p:attrNameLst>
                                          <p:attrName>style.visibility</p:attrName>
                                        </p:attrNameLst>
                                      </p:cBhvr>
                                      <p:to>
                                        <p:strVal val="visible"/>
                                      </p:to>
                                    </p:set>
                                    <p:animEffect transition="in" filter="fade">
                                      <p:cBhvr>
                                        <p:cTn id="17" dur="80"/>
                                        <p:tgtEl>
                                          <p:spTgt spid="68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88">
                                            <p:txEl>
                                              <p:pRg st="2" end="2"/>
                                            </p:txEl>
                                          </p:spTgt>
                                        </p:tgtEl>
                                        <p:attrNameLst>
                                          <p:attrName>style.visibility</p:attrName>
                                        </p:attrNameLst>
                                      </p:cBhvr>
                                      <p:to>
                                        <p:strVal val="visible"/>
                                      </p:to>
                                    </p:set>
                                    <p:animEffect transition="in" filter="fade">
                                      <p:cBhvr>
                                        <p:cTn id="22" dur="80"/>
                                        <p:tgtEl>
                                          <p:spTgt spid="68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88">
                                            <p:txEl>
                                              <p:pRg st="3" end="3"/>
                                            </p:txEl>
                                          </p:spTgt>
                                        </p:tgtEl>
                                        <p:attrNameLst>
                                          <p:attrName>style.visibility</p:attrName>
                                        </p:attrNameLst>
                                      </p:cBhvr>
                                      <p:to>
                                        <p:strVal val="visible"/>
                                      </p:to>
                                    </p:set>
                                    <p:animEffect transition="in" filter="fade">
                                      <p:cBhvr>
                                        <p:cTn id="27" dur="80"/>
                                        <p:tgtEl>
                                          <p:spTgt spid="68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88">
                                            <p:txEl>
                                              <p:pRg st="4" end="4"/>
                                            </p:txEl>
                                          </p:spTgt>
                                        </p:tgtEl>
                                        <p:attrNameLst>
                                          <p:attrName>style.visibility</p:attrName>
                                        </p:attrNameLst>
                                      </p:cBhvr>
                                      <p:to>
                                        <p:strVal val="visible"/>
                                      </p:to>
                                    </p:set>
                                    <p:animEffect transition="in" filter="fade">
                                      <p:cBhvr>
                                        <p:cTn id="32" dur="80"/>
                                        <p:tgtEl>
                                          <p:spTgt spid="68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88">
                                            <p:txEl>
                                              <p:pRg st="5" end="5"/>
                                            </p:txEl>
                                          </p:spTgt>
                                        </p:tgtEl>
                                        <p:attrNameLst>
                                          <p:attrName>style.visibility</p:attrName>
                                        </p:attrNameLst>
                                      </p:cBhvr>
                                      <p:to>
                                        <p:strVal val="visible"/>
                                      </p:to>
                                    </p:set>
                                    <p:animEffect transition="in" filter="fade">
                                      <p:cBhvr>
                                        <p:cTn id="37" dur="80"/>
                                        <p:tgtEl>
                                          <p:spTgt spid="68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88">
                                            <p:txEl>
                                              <p:pRg st="6" end="6"/>
                                            </p:txEl>
                                          </p:spTgt>
                                        </p:tgtEl>
                                        <p:attrNameLst>
                                          <p:attrName>style.visibility</p:attrName>
                                        </p:attrNameLst>
                                      </p:cBhvr>
                                      <p:to>
                                        <p:strVal val="visible"/>
                                      </p:to>
                                    </p:set>
                                    <p:animEffect transition="in" filter="fade">
                                      <p:cBhvr>
                                        <p:cTn id="42" dur="80"/>
                                        <p:tgtEl>
                                          <p:spTgt spid="688">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88">
                                            <p:txEl>
                                              <p:pRg st="7" end="7"/>
                                            </p:txEl>
                                          </p:spTgt>
                                        </p:tgtEl>
                                        <p:attrNameLst>
                                          <p:attrName>style.visibility</p:attrName>
                                        </p:attrNameLst>
                                      </p:cBhvr>
                                      <p:to>
                                        <p:strVal val="visible"/>
                                      </p:to>
                                    </p:set>
                                    <p:animEffect transition="in" filter="fade">
                                      <p:cBhvr>
                                        <p:cTn id="47" dur="80"/>
                                        <p:tgtEl>
                                          <p:spTgt spid="688">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88">
                                            <p:txEl>
                                              <p:pRg st="8" end="8"/>
                                            </p:txEl>
                                          </p:spTgt>
                                        </p:tgtEl>
                                        <p:attrNameLst>
                                          <p:attrName>style.visibility</p:attrName>
                                        </p:attrNameLst>
                                      </p:cBhvr>
                                      <p:to>
                                        <p:strVal val="visible"/>
                                      </p:to>
                                    </p:set>
                                    <p:animEffect transition="in" filter="fade">
                                      <p:cBhvr>
                                        <p:cTn id="52" dur="80"/>
                                        <p:tgtEl>
                                          <p:spTgt spid="688">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88">
                                            <p:txEl>
                                              <p:pRg st="9" end="9"/>
                                            </p:txEl>
                                          </p:spTgt>
                                        </p:tgtEl>
                                        <p:attrNameLst>
                                          <p:attrName>style.visibility</p:attrName>
                                        </p:attrNameLst>
                                      </p:cBhvr>
                                      <p:to>
                                        <p:strVal val="visible"/>
                                      </p:to>
                                    </p:set>
                                    <p:animEffect transition="in" filter="fade">
                                      <p:cBhvr>
                                        <p:cTn id="57" dur="80"/>
                                        <p:tgtEl>
                                          <p:spTgt spid="688">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88">
                                            <p:txEl>
                                              <p:pRg st="10" end="10"/>
                                            </p:txEl>
                                          </p:spTgt>
                                        </p:tgtEl>
                                        <p:attrNameLst>
                                          <p:attrName>style.visibility</p:attrName>
                                        </p:attrNameLst>
                                      </p:cBhvr>
                                      <p:to>
                                        <p:strVal val="visible"/>
                                      </p:to>
                                    </p:set>
                                    <p:animEffect transition="in" filter="fade">
                                      <p:cBhvr>
                                        <p:cTn id="62" dur="80"/>
                                        <p:tgtEl>
                                          <p:spTgt spid="688">
                                            <p:txEl>
                                              <p:pRg st="10" end="10"/>
                                            </p:txEl>
                                          </p:spTgt>
                                        </p:tgtEl>
                                      </p:cBhvr>
                                    </p:animEffect>
                                  </p:childTnLst>
                                </p:cTn>
                              </p:par>
                            </p:childTnLst>
                          </p:cTn>
                        </p:par>
                        <p:par>
                          <p:cTn id="63" fill="hold">
                            <p:stCondLst>
                              <p:cond delay="80"/>
                            </p:stCondLst>
                            <p:childTnLst>
                              <p:par>
                                <p:cTn id="64" presetID="10" presetClass="entr" presetSubtype="0" fill="hold" nodeType="afterEffect">
                                  <p:stCondLst>
                                    <p:cond delay="0"/>
                                  </p:stCondLst>
                                  <p:childTnLst>
                                    <p:set>
                                      <p:cBhvr>
                                        <p:cTn id="65" dur="1" fill="hold">
                                          <p:stCondLst>
                                            <p:cond delay="0"/>
                                          </p:stCondLst>
                                        </p:cTn>
                                        <p:tgtEl>
                                          <p:spTgt spid="690"/>
                                        </p:tgtEl>
                                        <p:attrNameLst>
                                          <p:attrName>style.visibility</p:attrName>
                                        </p:attrNameLst>
                                      </p:cBhvr>
                                      <p:to>
                                        <p:strVal val="visible"/>
                                      </p:to>
                                    </p:set>
                                    <p:animEffect transition="in" filter="fade">
                                      <p:cBhvr>
                                        <p:cTn id="66" dur="500"/>
                                        <p:tgtEl>
                                          <p:spTgt spid="69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689">
                                            <p:txEl>
                                              <p:pRg st="0" end="0"/>
                                            </p:txEl>
                                          </p:spTgt>
                                        </p:tgtEl>
                                        <p:attrNameLst>
                                          <p:attrName>style.visibility</p:attrName>
                                        </p:attrNameLst>
                                      </p:cBhvr>
                                      <p:to>
                                        <p:strVal val="visible"/>
                                      </p:to>
                                    </p:set>
                                    <p:animEffect transition="in" filter="fade">
                                      <p:cBhvr>
                                        <p:cTn id="71" dur="80"/>
                                        <p:tgtEl>
                                          <p:spTgt spid="689">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689">
                                            <p:txEl>
                                              <p:pRg st="1" end="1"/>
                                            </p:txEl>
                                          </p:spTgt>
                                        </p:tgtEl>
                                        <p:attrNameLst>
                                          <p:attrName>style.visibility</p:attrName>
                                        </p:attrNameLst>
                                      </p:cBhvr>
                                      <p:to>
                                        <p:strVal val="visible"/>
                                      </p:to>
                                    </p:set>
                                    <p:animEffect transition="in" filter="fade">
                                      <p:cBhvr>
                                        <p:cTn id="76" dur="80"/>
                                        <p:tgtEl>
                                          <p:spTgt spid="689">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689">
                                            <p:txEl>
                                              <p:pRg st="2" end="2"/>
                                            </p:txEl>
                                          </p:spTgt>
                                        </p:tgtEl>
                                        <p:attrNameLst>
                                          <p:attrName>style.visibility</p:attrName>
                                        </p:attrNameLst>
                                      </p:cBhvr>
                                      <p:to>
                                        <p:strVal val="visible"/>
                                      </p:to>
                                    </p:set>
                                    <p:animEffect transition="in" filter="fade">
                                      <p:cBhvr>
                                        <p:cTn id="81" dur="80"/>
                                        <p:tgtEl>
                                          <p:spTgt spid="689">
                                            <p:txEl>
                                              <p:pRg st="2" end="2"/>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689">
                                            <p:txEl>
                                              <p:pRg st="3" end="3"/>
                                            </p:txEl>
                                          </p:spTgt>
                                        </p:tgtEl>
                                        <p:attrNameLst>
                                          <p:attrName>style.visibility</p:attrName>
                                        </p:attrNameLst>
                                      </p:cBhvr>
                                      <p:to>
                                        <p:strVal val="visible"/>
                                      </p:to>
                                    </p:set>
                                    <p:animEffect transition="in" filter="fade">
                                      <p:cBhvr>
                                        <p:cTn id="86" dur="80"/>
                                        <p:tgtEl>
                                          <p:spTgt spid="689">
                                            <p:txEl>
                                              <p:pRg st="3" end="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89">
                                            <p:txEl>
                                              <p:pRg st="4" end="4"/>
                                            </p:txEl>
                                          </p:spTgt>
                                        </p:tgtEl>
                                        <p:attrNameLst>
                                          <p:attrName>style.visibility</p:attrName>
                                        </p:attrNameLst>
                                      </p:cBhvr>
                                      <p:to>
                                        <p:strVal val="visible"/>
                                      </p:to>
                                    </p:set>
                                    <p:animEffect transition="in" filter="fade">
                                      <p:cBhvr>
                                        <p:cTn id="91" dur="80"/>
                                        <p:tgtEl>
                                          <p:spTgt spid="689">
                                            <p:txEl>
                                              <p:pRg st="4" end="4"/>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689">
                                            <p:txEl>
                                              <p:pRg st="5" end="5"/>
                                            </p:txEl>
                                          </p:spTgt>
                                        </p:tgtEl>
                                        <p:attrNameLst>
                                          <p:attrName>style.visibility</p:attrName>
                                        </p:attrNameLst>
                                      </p:cBhvr>
                                      <p:to>
                                        <p:strVal val="visible"/>
                                      </p:to>
                                    </p:set>
                                    <p:animEffect transition="in" filter="fade">
                                      <p:cBhvr>
                                        <p:cTn id="96" dur="80"/>
                                        <p:tgtEl>
                                          <p:spTgt spid="689">
                                            <p:txEl>
                                              <p:pRg st="5" end="5"/>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689">
                                            <p:txEl>
                                              <p:pRg st="6" end="6"/>
                                            </p:txEl>
                                          </p:spTgt>
                                        </p:tgtEl>
                                        <p:attrNameLst>
                                          <p:attrName>style.visibility</p:attrName>
                                        </p:attrNameLst>
                                      </p:cBhvr>
                                      <p:to>
                                        <p:strVal val="visible"/>
                                      </p:to>
                                    </p:set>
                                    <p:animEffect transition="in" filter="fade">
                                      <p:cBhvr>
                                        <p:cTn id="101" dur="80"/>
                                        <p:tgtEl>
                                          <p:spTgt spid="689">
                                            <p:txEl>
                                              <p:pRg st="6" end="6"/>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689">
                                            <p:txEl>
                                              <p:pRg st="7" end="7"/>
                                            </p:txEl>
                                          </p:spTgt>
                                        </p:tgtEl>
                                        <p:attrNameLst>
                                          <p:attrName>style.visibility</p:attrName>
                                        </p:attrNameLst>
                                      </p:cBhvr>
                                      <p:to>
                                        <p:strVal val="visible"/>
                                      </p:to>
                                    </p:set>
                                    <p:animEffect transition="in" filter="fade">
                                      <p:cBhvr>
                                        <p:cTn id="106" dur="80"/>
                                        <p:tgtEl>
                                          <p:spTgt spid="689">
                                            <p:txEl>
                                              <p:pRg st="7" end="7"/>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689">
                                            <p:txEl>
                                              <p:pRg st="8" end="8"/>
                                            </p:txEl>
                                          </p:spTgt>
                                        </p:tgtEl>
                                        <p:attrNameLst>
                                          <p:attrName>style.visibility</p:attrName>
                                        </p:attrNameLst>
                                      </p:cBhvr>
                                      <p:to>
                                        <p:strVal val="visible"/>
                                      </p:to>
                                    </p:set>
                                    <p:animEffect transition="in" filter="fade">
                                      <p:cBhvr>
                                        <p:cTn id="111" dur="80"/>
                                        <p:tgtEl>
                                          <p:spTgt spid="689">
                                            <p:txEl>
                                              <p:pRg st="8" end="8"/>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689">
                                            <p:txEl>
                                              <p:pRg st="9" end="9"/>
                                            </p:txEl>
                                          </p:spTgt>
                                        </p:tgtEl>
                                        <p:attrNameLst>
                                          <p:attrName>style.visibility</p:attrName>
                                        </p:attrNameLst>
                                      </p:cBhvr>
                                      <p:to>
                                        <p:strVal val="visible"/>
                                      </p:to>
                                    </p:set>
                                    <p:animEffect transition="in" filter="fade">
                                      <p:cBhvr>
                                        <p:cTn id="116" dur="80"/>
                                        <p:tgtEl>
                                          <p:spTgt spid="68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56"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698" name="Google Shape;698;p56"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699" name="Google Shape;699;p56"/>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700" name="Google Shape;700;p56"/>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01" name="Google Shape;701;p56"/>
          <p:cNvSpPr txBox="1"/>
          <p:nvPr/>
        </p:nvSpPr>
        <p:spPr>
          <a:xfrm>
            <a:off x="0" y="1905000"/>
            <a:ext cx="5029200"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600" b="0" i="0" u="none">
                <a:solidFill>
                  <a:schemeClr val="dk1"/>
                </a:solidFill>
                <a:latin typeface="Calibri"/>
                <a:ea typeface="Calibri"/>
                <a:cs typeface="Calibri"/>
                <a:sym typeface="Calibri"/>
              </a:rPr>
              <a:t>class MyRunnableThread </a:t>
            </a:r>
            <a:r>
              <a:rPr lang="en-US" sz="1600" b="0" i="1" u="none">
                <a:solidFill>
                  <a:schemeClr val="dk1"/>
                </a:solidFill>
                <a:latin typeface="Calibri"/>
                <a:ea typeface="Calibri"/>
                <a:cs typeface="Calibri"/>
                <a:sym typeface="Calibri"/>
              </a:rPr>
              <a:t>implements Runnable</a:t>
            </a:r>
            <a:r>
              <a:rPr lang="en-US" sz="1600" b="0" i="0" u="none">
                <a:solidFill>
                  <a:schemeClr val="dk1"/>
                </a:solidFill>
                <a:latin typeface="Calibri"/>
                <a:ea typeface="Calibri"/>
                <a:cs typeface="Calibri"/>
                <a:sym typeface="Calibri"/>
              </a:rPr>
              <a:t> {</a:t>
            </a:r>
            <a:endParaRPr/>
          </a:p>
          <a:p>
            <a:pPr marL="342900" marR="0" lvl="0" indent="-342900" algn="l" rtl="0">
              <a:lnSpc>
                <a:spcPct val="80000"/>
              </a:lnSpc>
              <a:spcBef>
                <a:spcPts val="800"/>
              </a:spcBef>
              <a:spcAft>
                <a:spcPts val="0"/>
              </a:spcAft>
              <a:buClr>
                <a:schemeClr val="dk1"/>
              </a:buClr>
              <a:buFont typeface="Calibri"/>
              <a:buNone/>
            </a:pPr>
            <a:r>
              <a:rPr lang="en-US" sz="1600" b="0" i="0" u="none">
                <a:solidFill>
                  <a:schemeClr val="dk1"/>
                </a:solidFill>
                <a:latin typeface="Calibri"/>
                <a:ea typeface="Calibri"/>
                <a:cs typeface="Calibri"/>
                <a:sym typeface="Calibri"/>
              </a:rPr>
              <a:t>  private String name, msg;</a:t>
            </a:r>
            <a:endParaRPr/>
          </a:p>
          <a:p>
            <a:pPr marL="342900" marR="0" lvl="0" indent="-342900" algn="l" rtl="0">
              <a:lnSpc>
                <a:spcPct val="80000"/>
              </a:lnSpc>
              <a:spcBef>
                <a:spcPts val="800"/>
              </a:spcBef>
              <a:spcAft>
                <a:spcPts val="0"/>
              </a:spcAft>
              <a:buClr>
                <a:schemeClr val="dk1"/>
              </a:buClr>
              <a:buFont typeface="Arial"/>
              <a:buNone/>
            </a:pPr>
            <a:endParaRPr sz="1600" b="0" i="0" u="none">
              <a:solidFill>
                <a:schemeClr val="dk1"/>
              </a:solidFill>
              <a:latin typeface="Calibri"/>
              <a:ea typeface="Calibri"/>
              <a:cs typeface="Calibri"/>
              <a:sym typeface="Calibri"/>
            </a:endParaRPr>
          </a:p>
          <a:p>
            <a:pPr marL="342900" marR="0" lvl="0" indent="-342900" algn="l" rtl="0">
              <a:lnSpc>
                <a:spcPct val="80000"/>
              </a:lnSpc>
              <a:spcBef>
                <a:spcPts val="800"/>
              </a:spcBef>
              <a:spcAft>
                <a:spcPts val="0"/>
              </a:spcAft>
              <a:buClr>
                <a:schemeClr val="dk1"/>
              </a:buClr>
              <a:buFont typeface="Calibri"/>
              <a:buNone/>
            </a:pPr>
            <a:r>
              <a:rPr lang="en-US" sz="1600" b="0" i="0" u="none">
                <a:solidFill>
                  <a:schemeClr val="dk1"/>
                </a:solidFill>
                <a:latin typeface="Calibri"/>
                <a:ea typeface="Calibri"/>
                <a:cs typeface="Calibri"/>
                <a:sym typeface="Calibri"/>
              </a:rPr>
              <a:t>  public MyRunnable(String name, String msg) {</a:t>
            </a:r>
            <a:endParaRPr/>
          </a:p>
          <a:p>
            <a:pPr marL="342900" marR="0" lvl="0" indent="-342900" algn="l" rtl="0">
              <a:lnSpc>
                <a:spcPct val="80000"/>
              </a:lnSpc>
              <a:spcBef>
                <a:spcPts val="800"/>
              </a:spcBef>
              <a:spcAft>
                <a:spcPts val="0"/>
              </a:spcAft>
              <a:buClr>
                <a:schemeClr val="dk1"/>
              </a:buClr>
              <a:buFont typeface="Calibri"/>
              <a:buNone/>
            </a:pPr>
            <a:r>
              <a:rPr lang="en-US" sz="1600" b="0" i="0" u="none">
                <a:solidFill>
                  <a:schemeClr val="dk1"/>
                </a:solidFill>
                <a:latin typeface="Calibri"/>
                <a:ea typeface="Calibri"/>
                <a:cs typeface="Calibri"/>
                <a:sym typeface="Calibri"/>
              </a:rPr>
              <a:t>        this.name = name; </a:t>
            </a:r>
            <a:endParaRPr/>
          </a:p>
          <a:p>
            <a:pPr marL="342900" marR="0" lvl="0" indent="-342900" algn="l" rtl="0">
              <a:lnSpc>
                <a:spcPct val="80000"/>
              </a:lnSpc>
              <a:spcBef>
                <a:spcPts val="800"/>
              </a:spcBef>
              <a:spcAft>
                <a:spcPts val="0"/>
              </a:spcAft>
              <a:buClr>
                <a:schemeClr val="dk1"/>
              </a:buClr>
              <a:buFont typeface="Calibri"/>
              <a:buNone/>
            </a:pPr>
            <a:r>
              <a:rPr lang="en-US" sz="1600" b="0" i="0" u="none">
                <a:solidFill>
                  <a:schemeClr val="dk1"/>
                </a:solidFill>
                <a:latin typeface="Calibri"/>
                <a:ea typeface="Calibri"/>
                <a:cs typeface="Calibri"/>
                <a:sym typeface="Calibri"/>
              </a:rPr>
              <a:t>        this.msg = msg;</a:t>
            </a:r>
            <a:endParaRPr/>
          </a:p>
          <a:p>
            <a:pPr marL="342900" marR="0" lvl="0" indent="-342900" algn="l" rtl="0">
              <a:lnSpc>
                <a:spcPct val="80000"/>
              </a:lnSpc>
              <a:spcBef>
                <a:spcPts val="800"/>
              </a:spcBef>
              <a:spcAft>
                <a:spcPts val="0"/>
              </a:spcAft>
              <a:buClr>
                <a:schemeClr val="dk1"/>
              </a:buClr>
              <a:buFont typeface="Calibri"/>
              <a:buNone/>
            </a:pPr>
            <a:r>
              <a:rPr lang="en-US" sz="1600" b="0" i="0" u="none">
                <a:solidFill>
                  <a:schemeClr val="dk1"/>
                </a:solidFill>
                <a:latin typeface="Calibri"/>
                <a:ea typeface="Calibri"/>
                <a:cs typeface="Calibri"/>
                <a:sym typeface="Calibri"/>
              </a:rPr>
              <a:t>    }</a:t>
            </a:r>
            <a:endParaRPr/>
          </a:p>
          <a:p>
            <a:pPr marL="342900" marR="0" lvl="0" indent="-342900" algn="l" rtl="0">
              <a:lnSpc>
                <a:spcPct val="100000"/>
              </a:lnSpc>
              <a:spcBef>
                <a:spcPts val="800"/>
              </a:spcBef>
              <a:spcAft>
                <a:spcPts val="0"/>
              </a:spcAft>
              <a:buClr>
                <a:schemeClr val="dk1"/>
              </a:buClr>
              <a:buFont typeface="Arial"/>
              <a:buNone/>
            </a:pPr>
            <a:endParaRPr sz="1600" b="0" i="0" u="none">
              <a:solidFill>
                <a:schemeClr val="dk1"/>
              </a:solidFill>
              <a:latin typeface="Calibri"/>
              <a:ea typeface="Calibri"/>
              <a:cs typeface="Calibri"/>
              <a:sym typeface="Calibri"/>
            </a:endParaRPr>
          </a:p>
          <a:p>
            <a:pPr marL="342900" marR="0" lvl="0" indent="-342900" algn="l" rtl="0">
              <a:lnSpc>
                <a:spcPct val="100000"/>
              </a:lnSpc>
              <a:spcBef>
                <a:spcPts val="800"/>
              </a:spcBef>
              <a:spcAft>
                <a:spcPts val="0"/>
              </a:spcAft>
              <a:buClr>
                <a:schemeClr val="dk1"/>
              </a:buClr>
              <a:buFont typeface="Calibri"/>
              <a:buNone/>
            </a:pPr>
            <a:r>
              <a:rPr lang="en-US" sz="1600" b="0" i="0" u="none">
                <a:solidFill>
                  <a:schemeClr val="dk1"/>
                </a:solidFill>
                <a:latin typeface="Calibri"/>
                <a:ea typeface="Calibri"/>
                <a:cs typeface="Calibri"/>
                <a:sym typeface="Calibri"/>
              </a:rPr>
              <a:t>  public void run()    {</a:t>
            </a:r>
            <a:endParaRPr/>
          </a:p>
          <a:p>
            <a:pPr marL="342900" marR="0" lvl="0" indent="-342900" algn="l" rtl="0">
              <a:lnSpc>
                <a:spcPct val="100000"/>
              </a:lnSpc>
              <a:spcBef>
                <a:spcPts val="800"/>
              </a:spcBef>
              <a:spcAft>
                <a:spcPts val="0"/>
              </a:spcAft>
              <a:buClr>
                <a:schemeClr val="dk1"/>
              </a:buClr>
              <a:buFont typeface="Calibri"/>
              <a:buNone/>
            </a:pPr>
            <a:r>
              <a:rPr lang="en-US" sz="1600" b="0" i="0" u="none">
                <a:solidFill>
                  <a:schemeClr val="dk1"/>
                </a:solidFill>
                <a:latin typeface="Calibri"/>
                <a:ea typeface="Calibri"/>
                <a:cs typeface="Calibri"/>
                <a:sym typeface="Calibri"/>
              </a:rPr>
              <a:t>  System.out.println(name + " starts its execution");</a:t>
            </a:r>
            <a:endParaRPr/>
          </a:p>
          <a:p>
            <a:pPr marL="0" marR="0" lvl="0" indent="0" algn="l" rtl="0">
              <a:lnSpc>
                <a:spcPct val="100000"/>
              </a:lnSpc>
              <a:spcBef>
                <a:spcPts val="240"/>
              </a:spcBef>
              <a:spcAft>
                <a:spcPts val="0"/>
              </a:spcAft>
              <a:buNone/>
            </a:pPr>
            <a:endParaRPr sz="1600" b="0" i="0" u="none">
              <a:solidFill>
                <a:schemeClr val="dk1"/>
              </a:solidFill>
              <a:latin typeface="Calibri"/>
              <a:ea typeface="Calibri"/>
              <a:cs typeface="Calibri"/>
              <a:sym typeface="Calibri"/>
            </a:endParaRPr>
          </a:p>
        </p:txBody>
      </p:sp>
      <p:sp>
        <p:nvSpPr>
          <p:cNvPr id="702" name="Google Shape;702;p56"/>
          <p:cNvSpPr txBox="1"/>
          <p:nvPr/>
        </p:nvSpPr>
        <p:spPr>
          <a:xfrm>
            <a:off x="5181600" y="1878012"/>
            <a:ext cx="3962400"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for (int i = 1; i &lt; =5; i++)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says: " + msg+” for “+i+” time/s”);</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try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Thread.sleep(2000);</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catch (InterruptedException ie)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End of For Loop</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finished execution");</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p:txBody>
      </p:sp>
      <p:cxnSp>
        <p:nvCxnSpPr>
          <p:cNvPr id="703" name="Google Shape;703;p56"/>
          <p:cNvCxnSpPr/>
          <p:nvPr/>
        </p:nvCxnSpPr>
        <p:spPr>
          <a:xfrm>
            <a:off x="5029200" y="1752600"/>
            <a:ext cx="0" cy="4724400"/>
          </a:xfrm>
          <a:prstGeom prst="straightConnector1">
            <a:avLst/>
          </a:prstGeom>
          <a:noFill/>
          <a:ln w="38100" cap="flat" cmpd="sng">
            <a:solidFill>
              <a:srgbClr val="336600"/>
            </a:solidFill>
            <a:prstDash val="solid"/>
            <a:miter lim="800000"/>
            <a:headEnd type="none" w="sm" len="sm"/>
            <a:tailEnd type="none" w="sm" len="sm"/>
          </a:ln>
        </p:spPr>
      </p:cxnSp>
      <p:sp>
        <p:nvSpPr>
          <p:cNvPr id="704" name="Google Shape;704;p56"/>
          <p:cNvSpPr/>
          <p:nvPr/>
        </p:nvSpPr>
        <p:spPr>
          <a:xfrm>
            <a:off x="2057400" y="1905000"/>
            <a:ext cx="2438400" cy="3048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transition spd="slow">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57"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712" name="Google Shape;712;p57"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713" name="Google Shape;713;p57"/>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714" name="Google Shape;714;p57"/>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15" name="Google Shape;715;p57"/>
          <p:cNvSpPr txBox="1"/>
          <p:nvPr/>
        </p:nvSpPr>
        <p:spPr>
          <a:xfrm>
            <a:off x="0" y="1919287"/>
            <a:ext cx="5029200" cy="5472112"/>
          </a:xfrm>
          <a:prstGeom prst="rect">
            <a:avLst/>
          </a:prstGeom>
          <a:noFill/>
          <a:ln>
            <a:noFill/>
          </a:ln>
        </p:spPr>
        <p:txBody>
          <a:bodyPr spcFirstLastPara="1" wrap="square" lIns="92075" tIns="46025" rIns="92075" bIns="46025" anchor="t" anchorCtr="0">
            <a:noAutofit/>
          </a:bodyPr>
          <a:lstStyle/>
          <a:p>
            <a:pPr marL="342900" marR="0" lvl="0" indent="-342900" algn="l" rtl="0">
              <a:lnSpc>
                <a:spcPct val="8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class MyRunnableThread implements Runnable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private String name, msg;</a:t>
            </a:r>
            <a:endParaRPr/>
          </a:p>
          <a:p>
            <a:pPr marL="342900" marR="0" lvl="0" indent="-342900" algn="l" rtl="0">
              <a:lnSpc>
                <a:spcPct val="8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MyRunnable(String name, String msg)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this.name = name; </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this.msg = msg;</a:t>
            </a:r>
            <a:endParaRPr/>
          </a:p>
          <a:p>
            <a:pPr marL="342900" marR="0" lvl="0" indent="-342900" algn="l" rtl="0">
              <a:lnSpc>
                <a:spcPct val="8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public void run()</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starts its execution");</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716" name="Google Shape;716;p57"/>
          <p:cNvSpPr txBox="1"/>
          <p:nvPr/>
        </p:nvSpPr>
        <p:spPr>
          <a:xfrm>
            <a:off x="5181600" y="1878012"/>
            <a:ext cx="3962400" cy="4630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for (int i = 1; i &lt; =5; i++)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says: " + msg+” for “+i+” time/s”);</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try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Thread.sleep(2000);</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catch (InterruptedException ie)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 End of For Loop</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System.out.println(name + " finished execution");</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p:txBody>
      </p:sp>
      <p:cxnSp>
        <p:nvCxnSpPr>
          <p:cNvPr id="717" name="Google Shape;717;p57"/>
          <p:cNvCxnSpPr/>
          <p:nvPr/>
        </p:nvCxnSpPr>
        <p:spPr>
          <a:xfrm>
            <a:off x="5029200" y="1752600"/>
            <a:ext cx="0" cy="4724400"/>
          </a:xfrm>
          <a:prstGeom prst="straightConnector1">
            <a:avLst/>
          </a:prstGeom>
          <a:noFill/>
          <a:ln w="38100" cap="flat" cmpd="sng">
            <a:solidFill>
              <a:srgbClr val="336600"/>
            </a:solidFill>
            <a:prstDash val="solid"/>
            <a:miter lim="800000"/>
            <a:headEnd type="none" w="sm" len="sm"/>
            <a:tailEnd type="none" w="sm" len="sm"/>
          </a:ln>
        </p:spPr>
      </p:cxnSp>
      <p:sp>
        <p:nvSpPr>
          <p:cNvPr id="718" name="Google Shape;718;p57"/>
          <p:cNvSpPr/>
          <p:nvPr/>
        </p:nvSpPr>
        <p:spPr>
          <a:xfrm>
            <a:off x="152400" y="4876800"/>
            <a:ext cx="1905000" cy="3048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719" name="Google Shape;719;p57"/>
          <p:cNvCxnSpPr/>
          <p:nvPr/>
        </p:nvCxnSpPr>
        <p:spPr>
          <a:xfrm rot="10800000" flipH="1">
            <a:off x="1752600" y="4343400"/>
            <a:ext cx="1066800" cy="533400"/>
          </a:xfrm>
          <a:prstGeom prst="straightConnector1">
            <a:avLst/>
          </a:prstGeom>
          <a:noFill/>
          <a:ln w="38100" cap="flat" cmpd="sng">
            <a:solidFill>
              <a:srgbClr val="3366CC"/>
            </a:solidFill>
            <a:prstDash val="solid"/>
            <a:miter lim="800000"/>
            <a:headEnd type="none" w="sm" len="sm"/>
            <a:tailEnd type="triangle" w="med" len="med"/>
          </a:ln>
        </p:spPr>
      </p:cxnSp>
      <p:sp>
        <p:nvSpPr>
          <p:cNvPr id="720" name="Google Shape;720;p57"/>
          <p:cNvSpPr/>
          <p:nvPr/>
        </p:nvSpPr>
        <p:spPr>
          <a:xfrm>
            <a:off x="2895600" y="3414712"/>
            <a:ext cx="2092325" cy="1614487"/>
          </a:xfrm>
          <a:prstGeom prst="roundRect">
            <a:avLst>
              <a:gd name="adj" fmla="val 16667"/>
            </a:avLst>
          </a:prstGeom>
          <a:gradFill>
            <a:gsLst>
              <a:gs pos="0">
                <a:srgbClr val="4F81BD">
                  <a:alpha val="89803"/>
                </a:srgbClr>
              </a:gs>
              <a:gs pos="50000">
                <a:srgbClr val="B9CDE5"/>
              </a:gs>
              <a:gs pos="100000">
                <a:srgbClr val="4F81BD">
                  <a:alpha val="89803"/>
                </a:srgbClr>
              </a:gs>
            </a:gsLst>
            <a:lin ang="54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Defining the behavior of run method declared in the Runnable interface</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19"/>
                                        </p:tgtEl>
                                        <p:attrNameLst>
                                          <p:attrName>style.visibility</p:attrName>
                                        </p:attrNameLst>
                                      </p:cBhvr>
                                      <p:to>
                                        <p:strVal val="visible"/>
                                      </p:to>
                                    </p:set>
                                    <p:animEffect transition="in" filter="fade">
                                      <p:cBhvr>
                                        <p:cTn id="7" dur="500"/>
                                        <p:tgtEl>
                                          <p:spTgt spid="7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20"/>
                                        </p:tgtEl>
                                        <p:attrNameLst>
                                          <p:attrName>style.visibility</p:attrName>
                                        </p:attrNameLst>
                                      </p:cBhvr>
                                      <p:to>
                                        <p:strVal val="visible"/>
                                      </p:to>
                                    </p:set>
                                    <p:animEffect transition="in" filter="fade">
                                      <p:cBhvr>
                                        <p:cTn id="11" dur="500"/>
                                        <p:tgtEl>
                                          <p:spTgt spid="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58"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728" name="Google Shape;728;p58"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729" name="Google Shape;729;p58"/>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730" name="Google Shape;730;p58"/>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31" name="Google Shape;731;p58"/>
          <p:cNvSpPr txBox="1"/>
          <p:nvPr/>
        </p:nvSpPr>
        <p:spPr>
          <a:xfrm>
            <a:off x="0" y="2286000"/>
            <a:ext cx="9144000" cy="3962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public class TestRunnableThread</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static void main(String[] args)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MyRunnableThread mrt = new MyRunnableThread(“SICS“,“Hello");</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 t1 = new Thread(mrt);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t1.start();</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1">
                                            <p:txEl>
                                              <p:pRg st="0" end="0"/>
                                            </p:txEl>
                                          </p:spTgt>
                                        </p:tgtEl>
                                        <p:attrNameLst>
                                          <p:attrName>style.visibility</p:attrName>
                                        </p:attrNameLst>
                                      </p:cBhvr>
                                      <p:to>
                                        <p:strVal val="visible"/>
                                      </p:to>
                                    </p:set>
                                    <p:animEffect transition="in" filter="fade">
                                      <p:cBhvr>
                                        <p:cTn id="7" dur="80"/>
                                        <p:tgtEl>
                                          <p:spTgt spid="7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1">
                                            <p:txEl>
                                              <p:pRg st="1" end="1"/>
                                            </p:txEl>
                                          </p:spTgt>
                                        </p:tgtEl>
                                        <p:attrNameLst>
                                          <p:attrName>style.visibility</p:attrName>
                                        </p:attrNameLst>
                                      </p:cBhvr>
                                      <p:to>
                                        <p:strVal val="visible"/>
                                      </p:to>
                                    </p:set>
                                    <p:animEffect transition="in" filter="fade">
                                      <p:cBhvr>
                                        <p:cTn id="12" dur="80"/>
                                        <p:tgtEl>
                                          <p:spTgt spid="7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31">
                                            <p:txEl>
                                              <p:pRg st="2" end="2"/>
                                            </p:txEl>
                                          </p:spTgt>
                                        </p:tgtEl>
                                        <p:attrNameLst>
                                          <p:attrName>style.visibility</p:attrName>
                                        </p:attrNameLst>
                                      </p:cBhvr>
                                      <p:to>
                                        <p:strVal val="visible"/>
                                      </p:to>
                                    </p:set>
                                    <p:animEffect transition="in" filter="fade">
                                      <p:cBhvr>
                                        <p:cTn id="17" dur="80"/>
                                        <p:tgtEl>
                                          <p:spTgt spid="7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1">
                                            <p:txEl>
                                              <p:pRg st="3" end="3"/>
                                            </p:txEl>
                                          </p:spTgt>
                                        </p:tgtEl>
                                        <p:attrNameLst>
                                          <p:attrName>style.visibility</p:attrName>
                                        </p:attrNameLst>
                                      </p:cBhvr>
                                      <p:to>
                                        <p:strVal val="visible"/>
                                      </p:to>
                                    </p:set>
                                    <p:animEffect transition="in" filter="fade">
                                      <p:cBhvr>
                                        <p:cTn id="22" dur="80"/>
                                        <p:tgtEl>
                                          <p:spTgt spid="7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31">
                                            <p:txEl>
                                              <p:pRg st="4" end="4"/>
                                            </p:txEl>
                                          </p:spTgt>
                                        </p:tgtEl>
                                        <p:attrNameLst>
                                          <p:attrName>style.visibility</p:attrName>
                                        </p:attrNameLst>
                                      </p:cBhvr>
                                      <p:to>
                                        <p:strVal val="visible"/>
                                      </p:to>
                                    </p:set>
                                    <p:animEffect transition="in" filter="fade">
                                      <p:cBhvr>
                                        <p:cTn id="27" dur="80"/>
                                        <p:tgtEl>
                                          <p:spTgt spid="7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31">
                                            <p:txEl>
                                              <p:pRg st="5" end="5"/>
                                            </p:txEl>
                                          </p:spTgt>
                                        </p:tgtEl>
                                        <p:attrNameLst>
                                          <p:attrName>style.visibility</p:attrName>
                                        </p:attrNameLst>
                                      </p:cBhvr>
                                      <p:to>
                                        <p:strVal val="visible"/>
                                      </p:to>
                                    </p:set>
                                    <p:animEffect transition="in" filter="fade">
                                      <p:cBhvr>
                                        <p:cTn id="32" dur="80"/>
                                        <p:tgtEl>
                                          <p:spTgt spid="7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31">
                                            <p:txEl>
                                              <p:pRg st="6" end="6"/>
                                            </p:txEl>
                                          </p:spTgt>
                                        </p:tgtEl>
                                        <p:attrNameLst>
                                          <p:attrName>style.visibility</p:attrName>
                                        </p:attrNameLst>
                                      </p:cBhvr>
                                      <p:to>
                                        <p:strVal val="visible"/>
                                      </p:to>
                                    </p:set>
                                    <p:animEffect transition="in" filter="fade">
                                      <p:cBhvr>
                                        <p:cTn id="37" dur="80"/>
                                        <p:tgtEl>
                                          <p:spTgt spid="73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31">
                                            <p:txEl>
                                              <p:pRg st="7" end="7"/>
                                            </p:txEl>
                                          </p:spTgt>
                                        </p:tgtEl>
                                        <p:attrNameLst>
                                          <p:attrName>style.visibility</p:attrName>
                                        </p:attrNameLst>
                                      </p:cBhvr>
                                      <p:to>
                                        <p:strVal val="visible"/>
                                      </p:to>
                                    </p:set>
                                    <p:animEffect transition="in" filter="fade">
                                      <p:cBhvr>
                                        <p:cTn id="42" dur="80"/>
                                        <p:tgtEl>
                                          <p:spTgt spid="73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31">
                                            <p:txEl>
                                              <p:pRg st="8" end="8"/>
                                            </p:txEl>
                                          </p:spTgt>
                                        </p:tgtEl>
                                        <p:attrNameLst>
                                          <p:attrName>style.visibility</p:attrName>
                                        </p:attrNameLst>
                                      </p:cBhvr>
                                      <p:to>
                                        <p:strVal val="visible"/>
                                      </p:to>
                                    </p:set>
                                    <p:animEffect transition="in" filter="fade">
                                      <p:cBhvr>
                                        <p:cTn id="47" dur="80"/>
                                        <p:tgtEl>
                                          <p:spTgt spid="73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31">
                                            <p:txEl>
                                              <p:pRg st="9" end="9"/>
                                            </p:txEl>
                                          </p:spTgt>
                                        </p:tgtEl>
                                        <p:attrNameLst>
                                          <p:attrName>style.visibility</p:attrName>
                                        </p:attrNameLst>
                                      </p:cBhvr>
                                      <p:to>
                                        <p:strVal val="visible"/>
                                      </p:to>
                                    </p:set>
                                    <p:animEffect transition="in" filter="fade">
                                      <p:cBhvr>
                                        <p:cTn id="52" dur="80"/>
                                        <p:tgtEl>
                                          <p:spTgt spid="73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59"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739" name="Google Shape;739;p59"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740" name="Google Shape;740;p59"/>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741" name="Google Shape;741;p59"/>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42" name="Google Shape;742;p59"/>
          <p:cNvSpPr txBox="1"/>
          <p:nvPr/>
        </p:nvSpPr>
        <p:spPr>
          <a:xfrm>
            <a:off x="381000" y="2286000"/>
            <a:ext cx="6858000" cy="2819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public class TestMyRunnable</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static void main(String[] args)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r>
              <a:rPr lang="en-US" sz="1800" b="0" i="1" u="none">
                <a:solidFill>
                  <a:schemeClr val="dk1"/>
                </a:solidFill>
                <a:latin typeface="Calibri"/>
                <a:ea typeface="Calibri"/>
                <a:cs typeface="Calibri"/>
                <a:sym typeface="Calibri"/>
              </a:rPr>
              <a:t>MyRunnable mrt = new MyRunnable(“SICS", “Hello");</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Thread t1 = new Thread(mrt);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t1.start();</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743" name="Google Shape;743;p59"/>
          <p:cNvSpPr/>
          <p:nvPr/>
        </p:nvSpPr>
        <p:spPr>
          <a:xfrm>
            <a:off x="990600" y="3962400"/>
            <a:ext cx="62484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744" name="Google Shape;744;p59"/>
          <p:cNvCxnSpPr/>
          <p:nvPr/>
        </p:nvCxnSpPr>
        <p:spPr>
          <a:xfrm rot="10800000">
            <a:off x="7924800" y="3657600"/>
            <a:ext cx="0" cy="457200"/>
          </a:xfrm>
          <a:prstGeom prst="straightConnector1">
            <a:avLst/>
          </a:prstGeom>
          <a:noFill/>
          <a:ln w="38100" cap="flat" cmpd="sng">
            <a:solidFill>
              <a:schemeClr val="accent1"/>
            </a:solidFill>
            <a:prstDash val="solid"/>
            <a:miter lim="800000"/>
            <a:headEnd type="none" w="sm" len="sm"/>
            <a:tailEnd type="triangle" w="med" len="med"/>
          </a:ln>
        </p:spPr>
      </p:cxnSp>
      <p:sp>
        <p:nvSpPr>
          <p:cNvPr id="745" name="Google Shape;745;p59"/>
          <p:cNvSpPr/>
          <p:nvPr/>
        </p:nvSpPr>
        <p:spPr>
          <a:xfrm>
            <a:off x="7013575" y="1981200"/>
            <a:ext cx="2052637" cy="1595437"/>
          </a:xfrm>
          <a:prstGeom prst="verticalScroll">
            <a:avLst>
              <a:gd name="adj" fmla="val 12500"/>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 New Runnable object is created</a:t>
            </a:r>
            <a:endParaRPr/>
          </a:p>
        </p:txBody>
      </p:sp>
      <p:cxnSp>
        <p:nvCxnSpPr>
          <p:cNvPr id="746" name="Google Shape;746;p59"/>
          <p:cNvCxnSpPr/>
          <p:nvPr/>
        </p:nvCxnSpPr>
        <p:spPr>
          <a:xfrm>
            <a:off x="7239000" y="4114800"/>
            <a:ext cx="685800" cy="0"/>
          </a:xfrm>
          <a:prstGeom prst="straightConnector1">
            <a:avLst/>
          </a:prstGeom>
          <a:noFill/>
          <a:ln w="38100" cap="flat" cmpd="sng">
            <a:solidFill>
              <a:schemeClr val="accent1"/>
            </a:solidFill>
            <a:prstDash val="solid"/>
            <a:miter lim="800000"/>
            <a:headEnd type="none" w="sm" len="sm"/>
            <a:tailEnd type="none" w="sm" len="sm"/>
          </a:ln>
        </p:spPr>
      </p:cxn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46"/>
                                        </p:tgtEl>
                                        <p:attrNameLst>
                                          <p:attrName>style.visibility</p:attrName>
                                        </p:attrNameLst>
                                      </p:cBhvr>
                                      <p:to>
                                        <p:strVal val="visible"/>
                                      </p:to>
                                    </p:set>
                                    <p:animEffect transition="in" filter="fade">
                                      <p:cBhvr>
                                        <p:cTn id="7" dur="500"/>
                                        <p:tgtEl>
                                          <p:spTgt spid="74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44"/>
                                        </p:tgtEl>
                                        <p:attrNameLst>
                                          <p:attrName>style.visibility</p:attrName>
                                        </p:attrNameLst>
                                      </p:cBhvr>
                                      <p:to>
                                        <p:strVal val="visible"/>
                                      </p:to>
                                    </p:set>
                                    <p:animEffect transition="in" filter="fade">
                                      <p:cBhvr>
                                        <p:cTn id="11" dur="500"/>
                                        <p:tgtEl>
                                          <p:spTgt spid="74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45"/>
                                        </p:tgtEl>
                                        <p:attrNameLst>
                                          <p:attrName>style.visibility</p:attrName>
                                        </p:attrNameLst>
                                      </p:cBhvr>
                                      <p:to>
                                        <p:strVal val="visible"/>
                                      </p:to>
                                    </p:set>
                                    <p:animEffect transition="in" filter="fade">
                                      <p:cBhvr>
                                        <p:cTn id="15" dur="500"/>
                                        <p:tgtEl>
                                          <p:spTgt spid="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60"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754" name="Google Shape;754;p60"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755" name="Google Shape;755;p60"/>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756" name="Google Shape;756;p60"/>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57" name="Google Shape;757;p60"/>
          <p:cNvSpPr txBox="1"/>
          <p:nvPr/>
        </p:nvSpPr>
        <p:spPr>
          <a:xfrm>
            <a:off x="381000" y="2286000"/>
            <a:ext cx="6858000" cy="2819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public class TestMyRunnable</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static void main(String[] args)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MyRunnable mrt = new MyRunnable(“SICS", “Hello");</a:t>
            </a:r>
            <a:endParaRPr/>
          </a:p>
          <a:p>
            <a:pPr marL="342900" marR="0" lvl="0" indent="-342900" algn="l" rtl="0">
              <a:lnSpc>
                <a:spcPct val="100000"/>
              </a:lnSpc>
              <a:spcBef>
                <a:spcPts val="900"/>
              </a:spcBef>
              <a:spcAft>
                <a:spcPts val="0"/>
              </a:spcAft>
              <a:buClr>
                <a:schemeClr val="dk1"/>
              </a:buClr>
              <a:buFont typeface="Calibri"/>
              <a:buNone/>
            </a:pPr>
            <a:r>
              <a:rPr lang="en-US" sz="1800" b="0" i="1" u="none">
                <a:solidFill>
                  <a:schemeClr val="dk1"/>
                </a:solidFill>
                <a:latin typeface="Calibri"/>
                <a:ea typeface="Calibri"/>
                <a:cs typeface="Calibri"/>
                <a:sym typeface="Calibri"/>
              </a:rPr>
              <a:t>	    Thread t1 = new Thread(mrt);</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t1.start();</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758" name="Google Shape;758;p60"/>
          <p:cNvSpPr/>
          <p:nvPr/>
        </p:nvSpPr>
        <p:spPr>
          <a:xfrm>
            <a:off x="990600" y="4343400"/>
            <a:ext cx="62484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759" name="Google Shape;759;p60"/>
          <p:cNvCxnSpPr/>
          <p:nvPr/>
        </p:nvCxnSpPr>
        <p:spPr>
          <a:xfrm rot="10800000">
            <a:off x="7924800" y="3657600"/>
            <a:ext cx="0" cy="838200"/>
          </a:xfrm>
          <a:prstGeom prst="straightConnector1">
            <a:avLst/>
          </a:prstGeom>
          <a:noFill/>
          <a:ln w="38100" cap="flat" cmpd="sng">
            <a:solidFill>
              <a:schemeClr val="accent1"/>
            </a:solidFill>
            <a:prstDash val="solid"/>
            <a:miter lim="800000"/>
            <a:headEnd type="none" w="sm" len="sm"/>
            <a:tailEnd type="triangle" w="med" len="med"/>
          </a:ln>
        </p:spPr>
      </p:cxnSp>
      <p:sp>
        <p:nvSpPr>
          <p:cNvPr id="760" name="Google Shape;760;p60"/>
          <p:cNvSpPr/>
          <p:nvPr/>
        </p:nvSpPr>
        <p:spPr>
          <a:xfrm>
            <a:off x="7058025" y="2028825"/>
            <a:ext cx="1963737" cy="1219200"/>
          </a:xfrm>
          <a:prstGeom prst="verticalScroll">
            <a:avLst>
              <a:gd name="adj" fmla="val 12500"/>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 New Thread is created</a:t>
            </a:r>
            <a:endParaRPr/>
          </a:p>
        </p:txBody>
      </p:sp>
      <p:cxnSp>
        <p:nvCxnSpPr>
          <p:cNvPr id="761" name="Google Shape;761;p60"/>
          <p:cNvCxnSpPr/>
          <p:nvPr/>
        </p:nvCxnSpPr>
        <p:spPr>
          <a:xfrm>
            <a:off x="7239000" y="4495800"/>
            <a:ext cx="685800" cy="0"/>
          </a:xfrm>
          <a:prstGeom prst="straightConnector1">
            <a:avLst/>
          </a:prstGeom>
          <a:noFill/>
          <a:ln w="38100" cap="flat" cmpd="sng">
            <a:solidFill>
              <a:schemeClr val="accent1"/>
            </a:solidFill>
            <a:prstDash val="solid"/>
            <a:miter lim="800000"/>
            <a:headEnd type="none" w="sm" len="sm"/>
            <a:tailEnd type="none" w="sm" len="sm"/>
          </a:ln>
        </p:spPr>
      </p:cxn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61"/>
                                        </p:tgtEl>
                                        <p:attrNameLst>
                                          <p:attrName>style.visibility</p:attrName>
                                        </p:attrNameLst>
                                      </p:cBhvr>
                                      <p:to>
                                        <p:strVal val="visible"/>
                                      </p:to>
                                    </p:set>
                                    <p:animEffect transition="in" filter="fade">
                                      <p:cBhvr>
                                        <p:cTn id="7" dur="500"/>
                                        <p:tgtEl>
                                          <p:spTgt spid="76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59"/>
                                        </p:tgtEl>
                                        <p:attrNameLst>
                                          <p:attrName>style.visibility</p:attrName>
                                        </p:attrNameLst>
                                      </p:cBhvr>
                                      <p:to>
                                        <p:strVal val="visible"/>
                                      </p:to>
                                    </p:set>
                                    <p:animEffect transition="in" filter="fade">
                                      <p:cBhvr>
                                        <p:cTn id="11" dur="500"/>
                                        <p:tgtEl>
                                          <p:spTgt spid="75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60"/>
                                        </p:tgtEl>
                                        <p:attrNameLst>
                                          <p:attrName>style.visibility</p:attrName>
                                        </p:attrNameLst>
                                      </p:cBhvr>
                                      <p:to>
                                        <p:strVal val="visible"/>
                                      </p:to>
                                    </p:set>
                                    <p:animEffect transition="in" filter="fade">
                                      <p:cBhvr>
                                        <p:cTn id="15" dur="500"/>
                                        <p:tgtEl>
                                          <p:spTgt spid="7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61"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769" name="Google Shape;769;p61"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a:t>
            </a:r>
            <a:endParaRPr/>
          </a:p>
        </p:txBody>
      </p:sp>
      <p:sp>
        <p:nvSpPr>
          <p:cNvPr id="770" name="Google Shape;770;p6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771" name="Google Shape;771;p61"/>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72" name="Google Shape;772;p61"/>
          <p:cNvSpPr txBox="1"/>
          <p:nvPr/>
        </p:nvSpPr>
        <p:spPr>
          <a:xfrm>
            <a:off x="381000" y="2286000"/>
            <a:ext cx="6858000" cy="2819400"/>
          </a:xfrm>
          <a:prstGeom prst="rect">
            <a:avLst/>
          </a:prstGeom>
          <a:noFill/>
          <a:ln>
            <a:noFill/>
          </a:ln>
        </p:spPr>
        <p:txBody>
          <a:bodyPr spcFirstLastPara="1" wrap="square" lIns="92075" tIns="46025" rIns="92075" bIns="46025"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public class TestMyRunnable</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public static void main(String[] args)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MyRunnable mrt = new MyRunnable(“SICS", “Hello");</a:t>
            </a:r>
            <a:endParaRPr/>
          </a:p>
          <a:p>
            <a:pPr marL="342900" marR="0" lvl="0" indent="-342900" algn="l" rtl="0">
              <a:lnSpc>
                <a:spcPct val="100000"/>
              </a:lnSpc>
              <a:spcBef>
                <a:spcPts val="900"/>
              </a:spcBef>
              <a:spcAft>
                <a:spcPts val="0"/>
              </a:spcAft>
              <a:buClr>
                <a:schemeClr val="dk1"/>
              </a:buClr>
              <a:buFont typeface="Calibri"/>
              <a:buNone/>
            </a:pPr>
            <a:r>
              <a:rPr lang="en-US" sz="1800" b="0" i="1" u="none">
                <a:solidFill>
                  <a:schemeClr val="dk1"/>
                </a:solidFill>
                <a:latin typeface="Calibri"/>
                <a:ea typeface="Calibri"/>
                <a:cs typeface="Calibri"/>
                <a:sym typeface="Calibri"/>
              </a:rPr>
              <a:t>	    Thread t1 = new Thread(mrt);</a:t>
            </a: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t1.start();</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       }</a:t>
            </a:r>
            <a:endParaRPr/>
          </a:p>
          <a:p>
            <a:pPr marL="342900" marR="0" lvl="0" indent="-342900" algn="l" rtl="0">
              <a:lnSpc>
                <a:spcPct val="100000"/>
              </a:lnSpc>
              <a:spcBef>
                <a:spcPts val="900"/>
              </a:spcBef>
              <a:spcAft>
                <a:spcPts val="0"/>
              </a:spcAft>
              <a:buClr>
                <a:schemeClr val="dk1"/>
              </a:buClr>
              <a:buFont typeface="Calibri"/>
              <a:buNone/>
            </a:pPr>
            <a:r>
              <a:rPr lang="en-US" sz="1800" b="0" i="0" u="none">
                <a:solidFill>
                  <a:schemeClr val="dk1"/>
                </a:solidFill>
                <a:latin typeface="Calibri"/>
                <a:ea typeface="Calibri"/>
                <a:cs typeface="Calibri"/>
                <a:sym typeface="Calibri"/>
              </a:rPr>
              <a:t>}</a:t>
            </a:r>
            <a:endParaRPr/>
          </a:p>
          <a:p>
            <a:pPr marL="0" marR="0" lvl="0" indent="0" algn="l" rtl="0">
              <a:lnSpc>
                <a:spcPct val="100000"/>
              </a:lnSpc>
              <a:spcBef>
                <a:spcPts val="270"/>
              </a:spcBef>
              <a:spcAft>
                <a:spcPts val="0"/>
              </a:spcAft>
              <a:buNone/>
            </a:pPr>
            <a:endParaRPr sz="1800" b="0" i="0" u="none">
              <a:solidFill>
                <a:schemeClr val="dk1"/>
              </a:solidFill>
              <a:latin typeface="Calibri"/>
              <a:ea typeface="Calibri"/>
              <a:cs typeface="Calibri"/>
              <a:sym typeface="Calibri"/>
            </a:endParaRPr>
          </a:p>
        </p:txBody>
      </p:sp>
      <p:sp>
        <p:nvSpPr>
          <p:cNvPr id="773" name="Google Shape;773;p61"/>
          <p:cNvSpPr/>
          <p:nvPr/>
        </p:nvSpPr>
        <p:spPr>
          <a:xfrm>
            <a:off x="990600" y="4800600"/>
            <a:ext cx="6248400" cy="381000"/>
          </a:xfrm>
          <a:prstGeom prst="roundRect">
            <a:avLst>
              <a:gd name="adj" fmla="val 16667"/>
            </a:avLst>
          </a:prstGeom>
          <a:noFill/>
          <a:ln w="38100" cap="flat" cmpd="dbl">
            <a:solidFill>
              <a:srgbClr val="3366C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774" name="Google Shape;774;p61"/>
          <p:cNvCxnSpPr/>
          <p:nvPr/>
        </p:nvCxnSpPr>
        <p:spPr>
          <a:xfrm rot="10800000">
            <a:off x="7924800" y="4495800"/>
            <a:ext cx="0" cy="457200"/>
          </a:xfrm>
          <a:prstGeom prst="straightConnector1">
            <a:avLst/>
          </a:prstGeom>
          <a:noFill/>
          <a:ln w="38100" cap="flat" cmpd="sng">
            <a:solidFill>
              <a:schemeClr val="accent1"/>
            </a:solidFill>
            <a:prstDash val="solid"/>
            <a:miter lim="800000"/>
            <a:headEnd type="none" w="sm" len="sm"/>
            <a:tailEnd type="triangle" w="med" len="med"/>
          </a:ln>
        </p:spPr>
      </p:cxnSp>
      <p:sp>
        <p:nvSpPr>
          <p:cNvPr id="775" name="Google Shape;775;p61"/>
          <p:cNvSpPr/>
          <p:nvPr/>
        </p:nvSpPr>
        <p:spPr>
          <a:xfrm>
            <a:off x="7062787" y="1808162"/>
            <a:ext cx="2030412" cy="2659062"/>
          </a:xfrm>
          <a:prstGeom prst="verticalScroll">
            <a:avLst>
              <a:gd name="adj" fmla="val 12500"/>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 newly created thread is moved either to runnable or running state by the scheduler</a:t>
            </a:r>
            <a:endParaRPr/>
          </a:p>
        </p:txBody>
      </p:sp>
      <p:cxnSp>
        <p:nvCxnSpPr>
          <p:cNvPr id="776" name="Google Shape;776;p61"/>
          <p:cNvCxnSpPr/>
          <p:nvPr/>
        </p:nvCxnSpPr>
        <p:spPr>
          <a:xfrm>
            <a:off x="7239000" y="4953000"/>
            <a:ext cx="685800" cy="0"/>
          </a:xfrm>
          <a:prstGeom prst="straightConnector1">
            <a:avLst/>
          </a:prstGeom>
          <a:noFill/>
          <a:ln w="38100" cap="flat" cmpd="sng">
            <a:solidFill>
              <a:schemeClr val="accent1"/>
            </a:solidFill>
            <a:prstDash val="solid"/>
            <a:miter lim="800000"/>
            <a:headEnd type="none" w="sm" len="sm"/>
            <a:tailEnd type="none" w="sm" len="sm"/>
          </a:ln>
        </p:spPr>
      </p:cxn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76"/>
                                        </p:tgtEl>
                                        <p:attrNameLst>
                                          <p:attrName>style.visibility</p:attrName>
                                        </p:attrNameLst>
                                      </p:cBhvr>
                                      <p:to>
                                        <p:strVal val="visible"/>
                                      </p:to>
                                    </p:set>
                                    <p:animEffect transition="in" filter="fade">
                                      <p:cBhvr>
                                        <p:cTn id="7" dur="500"/>
                                        <p:tgtEl>
                                          <p:spTgt spid="77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74"/>
                                        </p:tgtEl>
                                        <p:attrNameLst>
                                          <p:attrName>style.visibility</p:attrName>
                                        </p:attrNameLst>
                                      </p:cBhvr>
                                      <p:to>
                                        <p:strVal val="visible"/>
                                      </p:to>
                                    </p:set>
                                    <p:animEffect transition="in" filter="fade">
                                      <p:cBhvr>
                                        <p:cTn id="11" dur="500"/>
                                        <p:tgtEl>
                                          <p:spTgt spid="77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775"/>
                                        </p:tgtEl>
                                        <p:attrNameLst>
                                          <p:attrName>style.visibility</p:attrName>
                                        </p:attrNameLst>
                                      </p:cBhvr>
                                      <p:to>
                                        <p:strVal val="visible"/>
                                      </p:to>
                                    </p:set>
                                    <p:animEffect transition="in" filter="fade">
                                      <p:cBhvr>
                                        <p:cTn id="15" dur="500"/>
                                        <p:tgtEl>
                                          <p:spTgt spid="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62" descr="Stationery"/>
          <p:cNvSpPr txBox="1"/>
          <p:nvPr/>
        </p:nvSpPr>
        <p:spPr>
          <a:xfrm>
            <a:off x="0" y="1143000"/>
            <a:ext cx="91440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2.</a:t>
            </a:r>
            <a:endParaRPr/>
          </a:p>
        </p:txBody>
      </p:sp>
      <p:sp>
        <p:nvSpPr>
          <p:cNvPr id="784" name="Google Shape;784;p62" descr="Stationery"/>
          <p:cNvSpPr txBox="1"/>
          <p:nvPr/>
        </p:nvSpPr>
        <p:spPr>
          <a:xfrm>
            <a:off x="609600" y="1143000"/>
            <a:ext cx="8534400" cy="609600"/>
          </a:xfrm>
          <a:prstGeom prst="rect">
            <a:avLst/>
          </a:prstGeom>
          <a:blipFill rotWithShape="1">
            <a:blip r:embed="rId3">
              <a:alphaModFix amt="3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Implementing the Runnable Interface </a:t>
            </a:r>
            <a:endParaRPr/>
          </a:p>
        </p:txBody>
      </p:sp>
      <p:sp>
        <p:nvSpPr>
          <p:cNvPr id="785" name="Google Shape;785;p62"/>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Creating Threads (Contd.)</a:t>
            </a:r>
            <a:endParaRPr/>
          </a:p>
        </p:txBody>
      </p:sp>
      <p:sp>
        <p:nvSpPr>
          <p:cNvPr id="786" name="Google Shape;786;p62"/>
          <p:cNvSpPr/>
          <p:nvPr/>
        </p:nvSpPr>
        <p:spPr>
          <a:xfrm>
            <a:off x="3048000" y="3810000"/>
            <a:ext cx="1981200" cy="1600200"/>
          </a:xfrm>
          <a:prstGeom prst="cloudCallout">
            <a:avLst>
              <a:gd name="adj1" fmla="val -20833"/>
              <a:gd name="adj2" fmla="val 62500"/>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787" name="Google Shape;787;p62"/>
          <p:cNvSpPr/>
          <p:nvPr/>
        </p:nvSpPr>
        <p:spPr>
          <a:xfrm>
            <a:off x="2438400" y="2587625"/>
            <a:ext cx="4419600" cy="2060575"/>
          </a:xfrm>
          <a:prstGeom prst="verticalScroll">
            <a:avLst>
              <a:gd name="adj" fmla="val 12500"/>
            </a:avLst>
          </a:prstGeom>
          <a:gradFill>
            <a:gsLst>
              <a:gs pos="0">
                <a:srgbClr val="4F81BD">
                  <a:alpha val="89803"/>
                </a:srgbClr>
              </a:gs>
              <a:gs pos="50000">
                <a:srgbClr val="B9CDE5"/>
              </a:gs>
              <a:gs pos="100000">
                <a:srgbClr val="4F81BD">
                  <a:alpha val="89803"/>
                </a:srgbClr>
              </a:gs>
            </a:gsLst>
            <a:lin ang="5400000" scaled="0"/>
          </a:gradFill>
          <a:ln>
            <a:noFill/>
          </a:ln>
          <a:effectLst>
            <a:outerShdw blurRad="63500" dist="17960" dir="2700000">
              <a:srgbClr val="2F4D71"/>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800" b="0" i="0" u="none">
                <a:solidFill>
                  <a:schemeClr val="dk1"/>
                </a:solidFill>
                <a:latin typeface="Calibri"/>
                <a:ea typeface="Calibri"/>
                <a:cs typeface="Calibri"/>
                <a:sym typeface="Calibri"/>
              </a:rPr>
              <a:t>Same Output As In The Case Of   TestMyThread class</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87"/>
                                        </p:tgtEl>
                                        <p:attrNameLst>
                                          <p:attrName>style.visibility</p:attrName>
                                        </p:attrNameLst>
                                      </p:cBhvr>
                                      <p:to>
                                        <p:strVal val="visible"/>
                                      </p:to>
                                    </p:set>
                                    <p:animEffect transition="in" filter="fade">
                                      <p:cBhvr>
                                        <p:cTn id="7" dur="500"/>
                                        <p:tgtEl>
                                          <p:spTgt spid="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63"/>
          <p:cNvSpPr txBox="1">
            <a:spLocks noGrp="1"/>
          </p:cNvSpPr>
          <p:nvPr>
            <p:ph type="body" idx="1"/>
          </p:nvPr>
        </p:nvSpPr>
        <p:spPr>
          <a:xfrm>
            <a:off x="0" y="1905000"/>
            <a:ext cx="9144000" cy="4572000"/>
          </a:xfrm>
          <a:prstGeom prst="rect">
            <a:avLst/>
          </a:prstGeom>
          <a:solidFill>
            <a:schemeClr val="dk1"/>
          </a:solidFill>
          <a:ln>
            <a:noFill/>
          </a:ln>
          <a:effectLst>
            <a:outerShdw blurRad="63500" dist="17960" dir="2700000">
              <a:srgbClr val="000000"/>
            </a:outerShdw>
          </a:effectLst>
        </p:spPr>
        <p:txBody>
          <a:bodyPr spcFirstLastPara="1" wrap="square" lIns="91425" tIns="45700" rIns="91425" bIns="45700" anchor="t" anchorCtr="0">
            <a:noAutofit/>
          </a:bodyPr>
          <a:lstStyle/>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public class MultiThreadExample extends Thread {</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public void run() {</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for (int i = 0; i &lt; 3; i++)</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System.out.println(i);</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try {</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sleep((int)(Math.random() * 5000)); // sleep for 5 seconds.</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 catch (InterruptedException e) { }</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public static void main(String[] args) {</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new MultiThreadExample().start();</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new MultiThreadExample().start();</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System.out.println("Done");</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    }</a:t>
            </a:r>
            <a:endParaRPr/>
          </a:p>
          <a:p>
            <a:pPr marL="742950" marR="0" lvl="1" indent="-285750" algn="l" rtl="0">
              <a:lnSpc>
                <a:spcPct val="100000"/>
              </a:lnSpc>
              <a:spcBef>
                <a:spcPts val="0"/>
              </a:spcBef>
              <a:spcAft>
                <a:spcPts val="0"/>
              </a:spcAft>
              <a:buClr>
                <a:schemeClr val="lt1"/>
              </a:buClr>
              <a:buFont typeface="Arial"/>
              <a:buNone/>
            </a:pPr>
            <a:r>
              <a:rPr lang="en-US" sz="1800" b="0" i="0" u="none" strike="noStrike" cap="none">
                <a:solidFill>
                  <a:schemeClr val="lt1"/>
                </a:solidFill>
                <a:latin typeface="Calibri"/>
                <a:ea typeface="Calibri"/>
                <a:cs typeface="Calibri"/>
                <a:sym typeface="Calibri"/>
              </a:rPr>
              <a:t>}</a:t>
            </a:r>
            <a:endParaRPr/>
          </a:p>
        </p:txBody>
      </p:sp>
      <p:sp>
        <p:nvSpPr>
          <p:cNvPr id="795" name="Google Shape;795;p63"/>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Java MultiThreading Example (Contd.)</a:t>
            </a:r>
            <a:endParaRPr/>
          </a:p>
        </p:txBody>
      </p:sp>
      <p:sp>
        <p:nvSpPr>
          <p:cNvPr id="796" name="Google Shape;796;p63" descr="Papyrus"/>
          <p:cNvSpPr/>
          <p:nvPr/>
        </p:nvSpPr>
        <p:spPr>
          <a:xfrm>
            <a:off x="2819400" y="990600"/>
            <a:ext cx="2133600" cy="762000"/>
          </a:xfrm>
          <a:prstGeom prst="cloudCallout">
            <a:avLst>
              <a:gd name="adj1" fmla="val -20833"/>
              <a:gd name="adj2" fmla="val 62500"/>
            </a:avLst>
          </a:prstGeom>
          <a:gradFill>
            <a:gsLst>
              <a:gs pos="0">
                <a:schemeClr val="lt1"/>
              </a:gs>
              <a:gs pos="50000">
                <a:schemeClr val="dk1"/>
              </a:gs>
              <a:gs pos="100000">
                <a:schemeClr val="lt1"/>
              </a:gs>
            </a:gsLst>
            <a:lin ang="5400000" scaled="0"/>
          </a:gradFill>
          <a:ln>
            <a:noFill/>
          </a:ln>
          <a:effectLst>
            <a:outerShdw blurRad="63500" dist="17960" dir="2700000">
              <a:srgbClr val="000000"/>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Sample Code</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96"/>
                                        </p:tgtEl>
                                        <p:attrNameLst>
                                          <p:attrName>style.visibility</p:attrName>
                                        </p:attrNameLst>
                                      </p:cBhvr>
                                      <p:to>
                                        <p:strVal val="visible"/>
                                      </p:to>
                                    </p:set>
                                    <p:animEffect transition="in" filter="fade">
                                      <p:cBhvr>
                                        <p:cTn id="7" dur="500"/>
                                        <p:tgtEl>
                                          <p:spTgt spid="79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4"/>
                                        </p:tgtEl>
                                        <p:attrNameLst>
                                          <p:attrName>style.visibility</p:attrName>
                                        </p:attrNameLst>
                                      </p:cBhvr>
                                      <p:to>
                                        <p:strVal val="visible"/>
                                      </p:to>
                                    </p:set>
                                    <p:animEffect transition="in" filter="fade">
                                      <p:cBhvr>
                                        <p:cTn id="12" dur="80"/>
                                        <p:tgtEl>
                                          <p:spTgt spid="79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94">
                                            <p:txEl>
                                              <p:pRg st="0" end="0"/>
                                            </p:txEl>
                                          </p:spTgt>
                                        </p:tgtEl>
                                        <p:attrNameLst>
                                          <p:attrName>style.visibility</p:attrName>
                                        </p:attrNameLst>
                                      </p:cBhvr>
                                      <p:to>
                                        <p:strVal val="visible"/>
                                      </p:to>
                                    </p:set>
                                    <p:animEffect transition="in" filter="fade">
                                      <p:cBhvr>
                                        <p:cTn id="17" dur="80"/>
                                        <p:tgtEl>
                                          <p:spTgt spid="79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94">
                                            <p:txEl>
                                              <p:pRg st="1" end="1"/>
                                            </p:txEl>
                                          </p:spTgt>
                                        </p:tgtEl>
                                        <p:attrNameLst>
                                          <p:attrName>style.visibility</p:attrName>
                                        </p:attrNameLst>
                                      </p:cBhvr>
                                      <p:to>
                                        <p:strVal val="visible"/>
                                      </p:to>
                                    </p:set>
                                    <p:animEffect transition="in" filter="fade">
                                      <p:cBhvr>
                                        <p:cTn id="22" dur="80"/>
                                        <p:tgtEl>
                                          <p:spTgt spid="79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94">
                                            <p:txEl>
                                              <p:pRg st="2" end="2"/>
                                            </p:txEl>
                                          </p:spTgt>
                                        </p:tgtEl>
                                        <p:attrNameLst>
                                          <p:attrName>style.visibility</p:attrName>
                                        </p:attrNameLst>
                                      </p:cBhvr>
                                      <p:to>
                                        <p:strVal val="visible"/>
                                      </p:to>
                                    </p:set>
                                    <p:animEffect transition="in" filter="fade">
                                      <p:cBhvr>
                                        <p:cTn id="27" dur="80"/>
                                        <p:tgtEl>
                                          <p:spTgt spid="79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94">
                                            <p:txEl>
                                              <p:pRg st="3" end="3"/>
                                            </p:txEl>
                                          </p:spTgt>
                                        </p:tgtEl>
                                        <p:attrNameLst>
                                          <p:attrName>style.visibility</p:attrName>
                                        </p:attrNameLst>
                                      </p:cBhvr>
                                      <p:to>
                                        <p:strVal val="visible"/>
                                      </p:to>
                                    </p:set>
                                    <p:animEffect transition="in" filter="fade">
                                      <p:cBhvr>
                                        <p:cTn id="32" dur="80"/>
                                        <p:tgtEl>
                                          <p:spTgt spid="79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94">
                                            <p:txEl>
                                              <p:pRg st="4" end="4"/>
                                            </p:txEl>
                                          </p:spTgt>
                                        </p:tgtEl>
                                        <p:attrNameLst>
                                          <p:attrName>style.visibility</p:attrName>
                                        </p:attrNameLst>
                                      </p:cBhvr>
                                      <p:to>
                                        <p:strVal val="visible"/>
                                      </p:to>
                                    </p:set>
                                    <p:animEffect transition="in" filter="fade">
                                      <p:cBhvr>
                                        <p:cTn id="37" dur="80"/>
                                        <p:tgtEl>
                                          <p:spTgt spid="79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94">
                                            <p:txEl>
                                              <p:pRg st="5" end="5"/>
                                            </p:txEl>
                                          </p:spTgt>
                                        </p:tgtEl>
                                        <p:attrNameLst>
                                          <p:attrName>style.visibility</p:attrName>
                                        </p:attrNameLst>
                                      </p:cBhvr>
                                      <p:to>
                                        <p:strVal val="visible"/>
                                      </p:to>
                                    </p:set>
                                    <p:animEffect transition="in" filter="fade">
                                      <p:cBhvr>
                                        <p:cTn id="42" dur="80"/>
                                        <p:tgtEl>
                                          <p:spTgt spid="794">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94">
                                            <p:txEl>
                                              <p:pRg st="6" end="6"/>
                                            </p:txEl>
                                          </p:spTgt>
                                        </p:tgtEl>
                                        <p:attrNameLst>
                                          <p:attrName>style.visibility</p:attrName>
                                        </p:attrNameLst>
                                      </p:cBhvr>
                                      <p:to>
                                        <p:strVal val="visible"/>
                                      </p:to>
                                    </p:set>
                                    <p:animEffect transition="in" filter="fade">
                                      <p:cBhvr>
                                        <p:cTn id="47" dur="80"/>
                                        <p:tgtEl>
                                          <p:spTgt spid="794">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94">
                                            <p:txEl>
                                              <p:pRg st="7" end="7"/>
                                            </p:txEl>
                                          </p:spTgt>
                                        </p:tgtEl>
                                        <p:attrNameLst>
                                          <p:attrName>style.visibility</p:attrName>
                                        </p:attrNameLst>
                                      </p:cBhvr>
                                      <p:to>
                                        <p:strVal val="visible"/>
                                      </p:to>
                                    </p:set>
                                    <p:animEffect transition="in" filter="fade">
                                      <p:cBhvr>
                                        <p:cTn id="52" dur="80"/>
                                        <p:tgtEl>
                                          <p:spTgt spid="794">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94">
                                            <p:txEl>
                                              <p:pRg st="8" end="8"/>
                                            </p:txEl>
                                          </p:spTgt>
                                        </p:tgtEl>
                                        <p:attrNameLst>
                                          <p:attrName>style.visibility</p:attrName>
                                        </p:attrNameLst>
                                      </p:cBhvr>
                                      <p:to>
                                        <p:strVal val="visible"/>
                                      </p:to>
                                    </p:set>
                                    <p:animEffect transition="in" filter="fade">
                                      <p:cBhvr>
                                        <p:cTn id="57" dur="80"/>
                                        <p:tgtEl>
                                          <p:spTgt spid="794">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94">
                                            <p:txEl>
                                              <p:pRg st="9" end="9"/>
                                            </p:txEl>
                                          </p:spTgt>
                                        </p:tgtEl>
                                        <p:attrNameLst>
                                          <p:attrName>style.visibility</p:attrName>
                                        </p:attrNameLst>
                                      </p:cBhvr>
                                      <p:to>
                                        <p:strVal val="visible"/>
                                      </p:to>
                                    </p:set>
                                    <p:animEffect transition="in" filter="fade">
                                      <p:cBhvr>
                                        <p:cTn id="62" dur="80"/>
                                        <p:tgtEl>
                                          <p:spTgt spid="794">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94">
                                            <p:txEl>
                                              <p:pRg st="10" end="10"/>
                                            </p:txEl>
                                          </p:spTgt>
                                        </p:tgtEl>
                                        <p:attrNameLst>
                                          <p:attrName>style.visibility</p:attrName>
                                        </p:attrNameLst>
                                      </p:cBhvr>
                                      <p:to>
                                        <p:strVal val="visible"/>
                                      </p:to>
                                    </p:set>
                                    <p:animEffect transition="in" filter="fade">
                                      <p:cBhvr>
                                        <p:cTn id="67" dur="80"/>
                                        <p:tgtEl>
                                          <p:spTgt spid="794">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794">
                                            <p:txEl>
                                              <p:pRg st="11" end="11"/>
                                            </p:txEl>
                                          </p:spTgt>
                                        </p:tgtEl>
                                        <p:attrNameLst>
                                          <p:attrName>style.visibility</p:attrName>
                                        </p:attrNameLst>
                                      </p:cBhvr>
                                      <p:to>
                                        <p:strVal val="visible"/>
                                      </p:to>
                                    </p:set>
                                    <p:animEffect transition="in" filter="fade">
                                      <p:cBhvr>
                                        <p:cTn id="72" dur="80"/>
                                        <p:tgtEl>
                                          <p:spTgt spid="794">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94">
                                            <p:txEl>
                                              <p:pRg st="12" end="12"/>
                                            </p:txEl>
                                          </p:spTgt>
                                        </p:tgtEl>
                                        <p:attrNameLst>
                                          <p:attrName>style.visibility</p:attrName>
                                        </p:attrNameLst>
                                      </p:cBhvr>
                                      <p:to>
                                        <p:strVal val="visible"/>
                                      </p:to>
                                    </p:set>
                                    <p:animEffect transition="in" filter="fade">
                                      <p:cBhvr>
                                        <p:cTn id="77" dur="80"/>
                                        <p:tgtEl>
                                          <p:spTgt spid="794">
                                            <p:txEl>
                                              <p:pRg st="12" end="1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794">
                                            <p:txEl>
                                              <p:pRg st="13" end="13"/>
                                            </p:txEl>
                                          </p:spTgt>
                                        </p:tgtEl>
                                        <p:attrNameLst>
                                          <p:attrName>style.visibility</p:attrName>
                                        </p:attrNameLst>
                                      </p:cBhvr>
                                      <p:to>
                                        <p:strVal val="visible"/>
                                      </p:to>
                                    </p:set>
                                    <p:animEffect transition="in" filter="fade">
                                      <p:cBhvr>
                                        <p:cTn id="82" dur="80"/>
                                        <p:tgtEl>
                                          <p:spTgt spid="794">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64"/>
          <p:cNvSpPr/>
          <p:nvPr/>
        </p:nvSpPr>
        <p:spPr>
          <a:xfrm>
            <a:off x="3276600" y="990600"/>
            <a:ext cx="2133600" cy="990600"/>
          </a:xfrm>
          <a:prstGeom prst="cloudCallout">
            <a:avLst>
              <a:gd name="adj1" fmla="val 26775"/>
              <a:gd name="adj2" fmla="val 25615"/>
            </a:avLst>
          </a:prstGeom>
          <a:gradFill>
            <a:gsLst>
              <a:gs pos="0">
                <a:schemeClr val="lt1"/>
              </a:gs>
              <a:gs pos="50000">
                <a:srgbClr val="003366"/>
              </a:gs>
              <a:gs pos="100000">
                <a:schemeClr val="lt1"/>
              </a:gs>
            </a:gsLst>
            <a:lin ang="5400000" scaled="0"/>
          </a:gradFill>
          <a:ln>
            <a:noFill/>
          </a:ln>
          <a:effectLst>
            <a:outerShdw blurRad="63500" dist="17960" dir="2700000">
              <a:srgbClr val="001F3D"/>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803" name="Google Shape;803;p64"/>
          <p:cNvSpPr/>
          <p:nvPr/>
        </p:nvSpPr>
        <p:spPr>
          <a:xfrm>
            <a:off x="609600" y="533400"/>
            <a:ext cx="8229600" cy="5867400"/>
          </a:xfrm>
          <a:prstGeom prst="cloudCallout">
            <a:avLst>
              <a:gd name="adj1" fmla="val 6925"/>
              <a:gd name="adj2" fmla="val 12302"/>
            </a:avLst>
          </a:prstGeom>
          <a:gradFill>
            <a:gsLst>
              <a:gs pos="0">
                <a:schemeClr val="lt1"/>
              </a:gs>
              <a:gs pos="50000">
                <a:srgbClr val="003366">
                  <a:alpha val="39607"/>
                </a:srgbClr>
              </a:gs>
              <a:gs pos="100000">
                <a:schemeClr val="lt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64"/>
          <p:cNvSpPr txBox="1"/>
          <p:nvPr/>
        </p:nvSpPr>
        <p:spPr>
          <a:xfrm rot="5400000">
            <a:off x="2520133" y="643190"/>
            <a:ext cx="3823317" cy="53759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805" name="Google Shape;805;p64"/>
          <p:cNvSpPr txBox="1">
            <a:spLocks noGrp="1"/>
          </p:cNvSpPr>
          <p:nvPr>
            <p:ph type="title"/>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000" b="0" i="0" u="none" strike="noStrike" cap="none">
                <a:solidFill>
                  <a:schemeClr val="dk1"/>
                </a:solidFill>
                <a:latin typeface="Calibri"/>
                <a:ea typeface="Calibri"/>
                <a:cs typeface="Calibri"/>
                <a:sym typeface="Calibri"/>
              </a:rPr>
              <a:t>Java MultiThreading Example</a:t>
            </a:r>
            <a:endParaRPr/>
          </a:p>
        </p:txBody>
      </p:sp>
      <p:sp>
        <p:nvSpPr>
          <p:cNvPr id="806" name="Google Shape;806;p64"/>
          <p:cNvSpPr/>
          <p:nvPr/>
        </p:nvSpPr>
        <p:spPr>
          <a:xfrm>
            <a:off x="3276600" y="990600"/>
            <a:ext cx="2133600" cy="990600"/>
          </a:xfrm>
          <a:prstGeom prst="cloudCallout">
            <a:avLst>
              <a:gd name="adj1" fmla="val -5111"/>
              <a:gd name="adj2" fmla="val 29423"/>
            </a:avLst>
          </a:prstGeom>
          <a:gradFill>
            <a:gsLst>
              <a:gs pos="0">
                <a:schemeClr val="lt1"/>
              </a:gs>
              <a:gs pos="50000">
                <a:srgbClr val="003366"/>
              </a:gs>
              <a:gs pos="100000">
                <a:schemeClr val="lt1"/>
              </a:gs>
            </a:gsLst>
            <a:lin ang="5400000" scaled="0"/>
          </a:gradFill>
          <a:ln>
            <a:noFill/>
          </a:ln>
          <a:effectLst>
            <a:outerShdw blurRad="63500" dist="17960" dir="2700000">
              <a:srgbClr val="001F3D"/>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Possible Outputs</a:t>
            </a:r>
            <a:endParaRPr/>
          </a:p>
        </p:txBody>
      </p:sp>
      <p:sp>
        <p:nvSpPr>
          <p:cNvPr id="807" name="Google Shape;807;p64"/>
          <p:cNvSpPr/>
          <p:nvPr/>
        </p:nvSpPr>
        <p:spPr>
          <a:xfrm>
            <a:off x="1981200" y="2514600"/>
            <a:ext cx="2614612" cy="457200"/>
          </a:xfrm>
          <a:prstGeom prst="wave">
            <a:avLst>
              <a:gd name="adj1" fmla="val 12500"/>
              <a:gd name="adj2" fmla="val 0"/>
            </a:avLst>
          </a:prstGeom>
          <a:solidFill>
            <a:srgbClr val="071215"/>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0, 1, 2, 0, 1, 2, Done </a:t>
            </a:r>
            <a:endParaRPr/>
          </a:p>
        </p:txBody>
      </p:sp>
      <p:sp>
        <p:nvSpPr>
          <p:cNvPr id="808" name="Google Shape;808;p64"/>
          <p:cNvSpPr/>
          <p:nvPr/>
        </p:nvSpPr>
        <p:spPr>
          <a:xfrm>
            <a:off x="4572000" y="2514600"/>
            <a:ext cx="3657600" cy="457200"/>
          </a:xfrm>
          <a:prstGeom prst="wave">
            <a:avLst>
              <a:gd name="adj1" fmla="val 12500"/>
              <a:gd name="adj2" fmla="val 0"/>
            </a:avLst>
          </a:prstGeom>
          <a:gradFill>
            <a:gsLst>
              <a:gs pos="0">
                <a:schemeClr val="dk1"/>
              </a:gs>
              <a:gs pos="50000">
                <a:srgbClr val="003366">
                  <a:alpha val="49803"/>
                </a:srgbClr>
              </a:gs>
              <a:gs pos="100000">
                <a:schemeClr val="dk1"/>
              </a:gs>
            </a:gsLst>
            <a:lin ang="540000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 thread1, thread2, main()</a:t>
            </a:r>
            <a:endParaRPr/>
          </a:p>
        </p:txBody>
      </p:sp>
      <p:sp>
        <p:nvSpPr>
          <p:cNvPr id="809" name="Google Shape;809;p64"/>
          <p:cNvSpPr/>
          <p:nvPr/>
        </p:nvSpPr>
        <p:spPr>
          <a:xfrm>
            <a:off x="1981200" y="2971800"/>
            <a:ext cx="2614612" cy="457200"/>
          </a:xfrm>
          <a:prstGeom prst="wave">
            <a:avLst>
              <a:gd name="adj1" fmla="val 12500"/>
              <a:gd name="adj2" fmla="val 0"/>
            </a:avLst>
          </a:prstGeom>
          <a:gradFill>
            <a:gsLst>
              <a:gs pos="0">
                <a:schemeClr val="dk1"/>
              </a:gs>
              <a:gs pos="50000">
                <a:srgbClr val="003366"/>
              </a:gs>
              <a:gs pos="100000">
                <a:schemeClr val="dk1"/>
              </a:gs>
            </a:gsLst>
            <a:lin ang="540000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0, 1, 2, Done, 0, 1, 2 </a:t>
            </a:r>
            <a:endParaRPr/>
          </a:p>
        </p:txBody>
      </p:sp>
      <p:sp>
        <p:nvSpPr>
          <p:cNvPr id="810" name="Google Shape;810;p64"/>
          <p:cNvSpPr/>
          <p:nvPr/>
        </p:nvSpPr>
        <p:spPr>
          <a:xfrm>
            <a:off x="4572000" y="2971800"/>
            <a:ext cx="3657600" cy="457200"/>
          </a:xfrm>
          <a:prstGeom prst="wave">
            <a:avLst>
              <a:gd name="adj1" fmla="val 12500"/>
              <a:gd name="adj2" fmla="val 0"/>
            </a:avLst>
          </a:prstGeom>
          <a:gradFill>
            <a:gsLst>
              <a:gs pos="0">
                <a:schemeClr val="dk1"/>
              </a:gs>
              <a:gs pos="50000">
                <a:srgbClr val="003366">
                  <a:alpha val="49803"/>
                </a:srgbClr>
              </a:gs>
              <a:gs pos="100000">
                <a:schemeClr val="dk1"/>
              </a:gs>
            </a:gsLst>
            <a:lin ang="540000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 thread1, main(), thread2</a:t>
            </a:r>
            <a:endParaRPr/>
          </a:p>
        </p:txBody>
      </p:sp>
      <p:sp>
        <p:nvSpPr>
          <p:cNvPr id="811" name="Google Shape;811;p64"/>
          <p:cNvSpPr/>
          <p:nvPr/>
        </p:nvSpPr>
        <p:spPr>
          <a:xfrm>
            <a:off x="1981200" y="3429000"/>
            <a:ext cx="2614612" cy="457200"/>
          </a:xfrm>
          <a:prstGeom prst="wave">
            <a:avLst>
              <a:gd name="adj1" fmla="val 12500"/>
              <a:gd name="adj2" fmla="val 0"/>
            </a:avLst>
          </a:prstGeom>
          <a:gradFill>
            <a:gsLst>
              <a:gs pos="0">
                <a:schemeClr val="dk1"/>
              </a:gs>
              <a:gs pos="50000">
                <a:srgbClr val="003366"/>
              </a:gs>
              <a:gs pos="100000">
                <a:schemeClr val="dk1"/>
              </a:gs>
            </a:gsLst>
            <a:lin ang="540000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Done, 0, 1, 2, 0, 1, 2 </a:t>
            </a:r>
            <a:endParaRPr/>
          </a:p>
        </p:txBody>
      </p:sp>
      <p:sp>
        <p:nvSpPr>
          <p:cNvPr id="812" name="Google Shape;812;p64"/>
          <p:cNvSpPr/>
          <p:nvPr/>
        </p:nvSpPr>
        <p:spPr>
          <a:xfrm>
            <a:off x="4572000" y="3429000"/>
            <a:ext cx="3657600" cy="457200"/>
          </a:xfrm>
          <a:prstGeom prst="wave">
            <a:avLst>
              <a:gd name="adj1" fmla="val 12500"/>
              <a:gd name="adj2" fmla="val 0"/>
            </a:avLst>
          </a:prstGeom>
          <a:gradFill>
            <a:gsLst>
              <a:gs pos="0">
                <a:schemeClr val="dk1"/>
              </a:gs>
              <a:gs pos="50000">
                <a:srgbClr val="003366">
                  <a:alpha val="49803"/>
                </a:srgbClr>
              </a:gs>
              <a:gs pos="100000">
                <a:schemeClr val="dk1"/>
              </a:gs>
            </a:gsLst>
            <a:lin ang="540000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 main(), thread1, thread2</a:t>
            </a:r>
            <a:endParaRPr/>
          </a:p>
        </p:txBody>
      </p:sp>
      <p:sp>
        <p:nvSpPr>
          <p:cNvPr id="813" name="Google Shape;813;p64"/>
          <p:cNvSpPr/>
          <p:nvPr/>
        </p:nvSpPr>
        <p:spPr>
          <a:xfrm>
            <a:off x="1981200" y="3886200"/>
            <a:ext cx="2614612" cy="457200"/>
          </a:xfrm>
          <a:prstGeom prst="wave">
            <a:avLst>
              <a:gd name="adj1" fmla="val 12500"/>
              <a:gd name="adj2" fmla="val 0"/>
            </a:avLst>
          </a:prstGeom>
          <a:gradFill>
            <a:gsLst>
              <a:gs pos="0">
                <a:schemeClr val="dk1"/>
              </a:gs>
              <a:gs pos="50000">
                <a:srgbClr val="003366"/>
              </a:gs>
              <a:gs pos="100000">
                <a:schemeClr val="dk1"/>
              </a:gs>
            </a:gsLst>
            <a:lin ang="540000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0, 0, 1, 1, 2, Done, 2</a:t>
            </a:r>
            <a:endParaRPr/>
          </a:p>
        </p:txBody>
      </p:sp>
      <p:sp>
        <p:nvSpPr>
          <p:cNvPr id="814" name="Google Shape;814;p64"/>
          <p:cNvSpPr/>
          <p:nvPr/>
        </p:nvSpPr>
        <p:spPr>
          <a:xfrm>
            <a:off x="4572000" y="3886200"/>
            <a:ext cx="3657600" cy="457200"/>
          </a:xfrm>
          <a:prstGeom prst="wave">
            <a:avLst>
              <a:gd name="adj1" fmla="val 12500"/>
              <a:gd name="adj2" fmla="val 0"/>
            </a:avLst>
          </a:prstGeom>
          <a:gradFill>
            <a:gsLst>
              <a:gs pos="0">
                <a:schemeClr val="dk1"/>
              </a:gs>
              <a:gs pos="50000">
                <a:srgbClr val="003366">
                  <a:alpha val="49803"/>
                </a:srgbClr>
              </a:gs>
              <a:gs pos="100000">
                <a:schemeClr val="dk1"/>
              </a:gs>
            </a:gsLst>
            <a:lin ang="5400000" scaled="0"/>
          </a:gra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 main() &amp; threads interleaved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803"/>
                                        </p:tgtEl>
                                        <p:attrNameLst>
                                          <p:attrName>style.visibility</p:attrName>
                                        </p:attrNameLst>
                                      </p:cBhvr>
                                      <p:to>
                                        <p:strVal val="visible"/>
                                      </p:to>
                                    </p:set>
                                    <p:anim calcmode="lin" valueType="num">
                                      <p:cBhvr additive="base">
                                        <p:cTn id="7" dur="500"/>
                                        <p:tgtEl>
                                          <p:spTgt spid="803"/>
                                        </p:tgtEl>
                                        <p:attrNameLst>
                                          <p:attrName>ppt_w</p:attrName>
                                        </p:attrNameLst>
                                      </p:cBhvr>
                                      <p:tavLst>
                                        <p:tav tm="0">
                                          <p:val>
                                            <p:strVal val="0"/>
                                          </p:val>
                                        </p:tav>
                                        <p:tav tm="100000">
                                          <p:val>
                                            <p:strVal val="#ppt_w"/>
                                          </p:val>
                                        </p:tav>
                                      </p:tavLst>
                                    </p:anim>
                                    <p:anim calcmode="lin" valueType="num">
                                      <p:cBhvr additive="base">
                                        <p:cTn id="8" dur="500"/>
                                        <p:tgtEl>
                                          <p:spTgt spid="80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06"/>
                                        </p:tgtEl>
                                        <p:attrNameLst>
                                          <p:attrName>style.visibility</p:attrName>
                                        </p:attrNameLst>
                                      </p:cBhvr>
                                      <p:to>
                                        <p:strVal val="visible"/>
                                      </p:to>
                                    </p:set>
                                    <p:animEffect transition="in" filter="fade">
                                      <p:cBhvr>
                                        <p:cTn id="13" dur="500"/>
                                        <p:tgtEl>
                                          <p:spTgt spid="806"/>
                                        </p:tgtEl>
                                      </p:cBhvr>
                                    </p:animEffect>
                                  </p:childTnLst>
                                </p:cTn>
                              </p:par>
                              <p:par>
                                <p:cTn id="14" presetID="10" presetClass="entr" presetSubtype="0" fill="hold" nodeType="withEffect">
                                  <p:stCondLst>
                                    <p:cond delay="0"/>
                                  </p:stCondLst>
                                  <p:childTnLst>
                                    <p:set>
                                      <p:cBhvr>
                                        <p:cTn id="15" dur="1" fill="hold">
                                          <p:stCondLst>
                                            <p:cond delay="0"/>
                                          </p:stCondLst>
                                        </p:cTn>
                                        <p:tgtEl>
                                          <p:spTgt spid="802"/>
                                        </p:tgtEl>
                                        <p:attrNameLst>
                                          <p:attrName>style.visibility</p:attrName>
                                        </p:attrNameLst>
                                      </p:cBhvr>
                                      <p:to>
                                        <p:strVal val="visible"/>
                                      </p:to>
                                    </p:set>
                                    <p:animEffect transition="in" filter="fade">
                                      <p:cBhvr>
                                        <p:cTn id="16" dur="500"/>
                                        <p:tgtEl>
                                          <p:spTgt spid="80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07"/>
                                        </p:tgtEl>
                                        <p:attrNameLst>
                                          <p:attrName>style.visibility</p:attrName>
                                        </p:attrNameLst>
                                      </p:cBhvr>
                                      <p:to>
                                        <p:strVal val="visible"/>
                                      </p:to>
                                    </p:set>
                                    <p:animEffect transition="in" filter="fade">
                                      <p:cBhvr>
                                        <p:cTn id="21" dur="500"/>
                                        <p:tgtEl>
                                          <p:spTgt spid="807"/>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808"/>
                                        </p:tgtEl>
                                        <p:attrNameLst>
                                          <p:attrName>style.visibility</p:attrName>
                                        </p:attrNameLst>
                                      </p:cBhvr>
                                      <p:to>
                                        <p:strVal val="visible"/>
                                      </p:to>
                                    </p:set>
                                    <p:animEffect transition="in" filter="fade">
                                      <p:cBhvr>
                                        <p:cTn id="25" dur="500"/>
                                        <p:tgtEl>
                                          <p:spTgt spid="80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09"/>
                                        </p:tgtEl>
                                        <p:attrNameLst>
                                          <p:attrName>style.visibility</p:attrName>
                                        </p:attrNameLst>
                                      </p:cBhvr>
                                      <p:to>
                                        <p:strVal val="visible"/>
                                      </p:to>
                                    </p:set>
                                    <p:animEffect transition="in" filter="fade">
                                      <p:cBhvr>
                                        <p:cTn id="30" dur="500"/>
                                        <p:tgtEl>
                                          <p:spTgt spid="809"/>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810"/>
                                        </p:tgtEl>
                                        <p:attrNameLst>
                                          <p:attrName>style.visibility</p:attrName>
                                        </p:attrNameLst>
                                      </p:cBhvr>
                                      <p:to>
                                        <p:strVal val="visible"/>
                                      </p:to>
                                    </p:set>
                                    <p:animEffect transition="in" filter="fade">
                                      <p:cBhvr>
                                        <p:cTn id="34" dur="500"/>
                                        <p:tgtEl>
                                          <p:spTgt spid="81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11"/>
                                        </p:tgtEl>
                                        <p:attrNameLst>
                                          <p:attrName>style.visibility</p:attrName>
                                        </p:attrNameLst>
                                      </p:cBhvr>
                                      <p:to>
                                        <p:strVal val="visible"/>
                                      </p:to>
                                    </p:set>
                                    <p:animEffect transition="in" filter="fade">
                                      <p:cBhvr>
                                        <p:cTn id="39" dur="500"/>
                                        <p:tgtEl>
                                          <p:spTgt spid="811"/>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812"/>
                                        </p:tgtEl>
                                        <p:attrNameLst>
                                          <p:attrName>style.visibility</p:attrName>
                                        </p:attrNameLst>
                                      </p:cBhvr>
                                      <p:to>
                                        <p:strVal val="visible"/>
                                      </p:to>
                                    </p:set>
                                    <p:animEffect transition="in" filter="fade">
                                      <p:cBhvr>
                                        <p:cTn id="43" dur="500"/>
                                        <p:tgtEl>
                                          <p:spTgt spid="8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813"/>
                                        </p:tgtEl>
                                        <p:attrNameLst>
                                          <p:attrName>style.visibility</p:attrName>
                                        </p:attrNameLst>
                                      </p:cBhvr>
                                      <p:to>
                                        <p:strVal val="visible"/>
                                      </p:to>
                                    </p:set>
                                    <p:animEffect transition="in" filter="fade">
                                      <p:cBhvr>
                                        <p:cTn id="48" dur="500"/>
                                        <p:tgtEl>
                                          <p:spTgt spid="813"/>
                                        </p:tgtEl>
                                      </p:cBhvr>
                                    </p:animEffec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814"/>
                                        </p:tgtEl>
                                        <p:attrNameLst>
                                          <p:attrName>style.visibility</p:attrName>
                                        </p:attrNameLst>
                                      </p:cBhvr>
                                      <p:to>
                                        <p:strVal val="visible"/>
                                      </p:to>
                                    </p:set>
                                    <p:animEffect transition="in" filter="fade">
                                      <p:cBhvr>
                                        <p:cTn id="52" dur="500"/>
                                        <p:tgtEl>
                                          <p:spTgt spid="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65"/>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Using Threads in Java</a:t>
            </a:r>
            <a:endParaRPr/>
          </a:p>
        </p:txBody>
      </p:sp>
      <p:sp>
        <p:nvSpPr>
          <p:cNvPr id="822" name="Google Shape;822;p65" descr="Pink tissue paper"/>
          <p:cNvSpPr txBox="1"/>
          <p:nvPr/>
        </p:nvSpPr>
        <p:spPr>
          <a:xfrm>
            <a:off x="0" y="1143000"/>
            <a:ext cx="9144000" cy="585787"/>
          </a:xfrm>
          <a:prstGeom prst="rect">
            <a:avLst/>
          </a:prstGeom>
          <a:blipFill rotWithShape="1">
            <a:blip r:embed="rId3">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Point To Be Noted</a:t>
            </a:r>
            <a:endParaRPr/>
          </a:p>
        </p:txBody>
      </p:sp>
      <p:sp>
        <p:nvSpPr>
          <p:cNvPr id="823" name="Google Shape;823;p65"/>
          <p:cNvSpPr/>
          <p:nvPr/>
        </p:nvSpPr>
        <p:spPr>
          <a:xfrm>
            <a:off x="1371600" y="1981200"/>
            <a:ext cx="6172200" cy="3657600"/>
          </a:xfrm>
          <a:prstGeom prst="verticalScroll">
            <a:avLst>
              <a:gd name="adj" fmla="val 12500"/>
            </a:avLst>
          </a:prstGeom>
          <a:gradFill>
            <a:gsLst>
              <a:gs pos="0">
                <a:srgbClr val="FF99FF"/>
              </a:gs>
              <a:gs pos="100000">
                <a:schemeClr val="lt1"/>
              </a:gs>
            </a:gsLst>
            <a:lin ang="5400000" scaled="0"/>
          </a:gradFill>
          <a:ln w="38100" cap="flat" cmpd="sng">
            <a:solidFill>
              <a:srgbClr val="0033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The first thread to be executed in a multithreaded process is called the main thread. </a:t>
            </a:r>
            <a:endParaRPr/>
          </a:p>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The main thread is created automatically on the startup of java program execution.</a:t>
            </a:r>
            <a:endParaRPr/>
          </a:p>
        </p:txBody>
      </p:sp>
    </p:spTree>
  </p:cSld>
  <p:clrMapOvr>
    <a:masterClrMapping/>
  </p:clrMapOvr>
  <p:transition spd="slow">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66"/>
          <p:cNvSpPr txBox="1">
            <a:spLocks noGrp="1"/>
          </p:cNvSpPr>
          <p:nvPr>
            <p:ph type="title"/>
          </p:nvPr>
        </p:nvSpPr>
        <p:spPr>
          <a:xfrm>
            <a:off x="457200" y="0"/>
            <a:ext cx="8229600" cy="487362"/>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Controlling the main thread</a:t>
            </a:r>
            <a:endParaRPr/>
          </a:p>
        </p:txBody>
      </p:sp>
      <p:sp>
        <p:nvSpPr>
          <p:cNvPr id="831" name="Google Shape;831;p66"/>
          <p:cNvSpPr txBox="1">
            <a:spLocks noGrp="1"/>
          </p:cNvSpPr>
          <p:nvPr>
            <p:ph type="body" idx="1"/>
          </p:nvPr>
        </p:nvSpPr>
        <p:spPr>
          <a:xfrm>
            <a:off x="457200" y="685800"/>
            <a:ext cx="8229600" cy="5943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Controlling the main Thread.</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class CurrentThreadDemo {</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public static void main(String args[]) {</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Thread t = Thread.currentThread();</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System.out.println("Current thread: " + t);</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 change the name of the thread</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t.setName("My Thread");</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System.out.println("After name change: " + t);</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try {</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for(int n = 5; n &gt; 0; n--) {</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System.out.println(n);</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Thread.sleep(1000);</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 catch (InterruptedException e) {</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System.out.println("Main thread interrupted");</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a:t>
            </a:r>
            <a:endParaRPr/>
          </a:p>
        </p:txBody>
      </p:sp>
    </p:spTree>
  </p:cSld>
  <p:clrMapOvr>
    <a:masterClrMapping/>
  </p:clrMapOvr>
  <p:transition spd="slow">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67" descr="Stationery"/>
          <p:cNvSpPr txBox="1"/>
          <p:nvPr/>
        </p:nvSpPr>
        <p:spPr>
          <a:xfrm>
            <a:off x="0" y="609600"/>
            <a:ext cx="8991600" cy="685800"/>
          </a:xfrm>
          <a:prstGeom prst="rect">
            <a:avLst/>
          </a:prstGeom>
          <a:blipFill rotWithShape="1">
            <a:blip r:embed="rId3">
              <a:alphaModFix amt="69999"/>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Scheduling</a:t>
            </a:r>
            <a:endParaRPr/>
          </a:p>
        </p:txBody>
      </p:sp>
      <p:sp>
        <p:nvSpPr>
          <p:cNvPr id="839" name="Google Shape;839;p67"/>
          <p:cNvSpPr txBox="1">
            <a:spLocks noGrp="1"/>
          </p:cNvSpPr>
          <p:nvPr>
            <p:ph type="body" idx="1"/>
          </p:nvPr>
        </p:nvSpPr>
        <p:spPr>
          <a:xfrm>
            <a:off x="685800" y="1965325"/>
            <a:ext cx="7775575" cy="176847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Determines which runnable threads to run</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Can be based on thread priority</a:t>
            </a:r>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Part of OS or Java Virtual Machine (JVM) </a:t>
            </a:r>
            <a:endParaRPr/>
          </a:p>
        </p:txBody>
      </p:sp>
      <p:sp>
        <p:nvSpPr>
          <p:cNvPr id="840" name="Google Shape;840;p67"/>
          <p:cNvSpPr txBox="1"/>
          <p:nvPr/>
        </p:nvSpPr>
        <p:spPr>
          <a:xfrm>
            <a:off x="0" y="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Threads Scheduling</a:t>
            </a:r>
            <a:endParaRPr/>
          </a:p>
        </p:txBody>
      </p:sp>
      <p:sp>
        <p:nvSpPr>
          <p:cNvPr id="841" name="Google Shape;841;p67" descr="Stationery"/>
          <p:cNvSpPr txBox="1"/>
          <p:nvPr/>
        </p:nvSpPr>
        <p:spPr>
          <a:xfrm>
            <a:off x="2057400" y="609600"/>
            <a:ext cx="7086600" cy="701675"/>
          </a:xfrm>
          <a:prstGeom prst="rect">
            <a:avLst/>
          </a:prstGeom>
          <a:blipFill rotWithShape="1">
            <a:blip r:embed="rId3">
              <a:alphaModFix amt="50000"/>
            </a:blip>
            <a:stretch>
              <a:fillRect/>
            </a:stretch>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The execution of multiple threads on a single CPU is called scheduling. </a:t>
            </a:r>
            <a:endParaRPr/>
          </a:p>
        </p:txBody>
      </p:sp>
      <p:sp>
        <p:nvSpPr>
          <p:cNvPr id="842" name="Google Shape;842;p67" descr="Bouquet"/>
          <p:cNvSpPr/>
          <p:nvPr/>
        </p:nvSpPr>
        <p:spPr>
          <a:xfrm>
            <a:off x="369887" y="5216525"/>
            <a:ext cx="8361362" cy="904875"/>
          </a:xfrm>
          <a:prstGeom prst="horizontalScroll">
            <a:avLst>
              <a:gd name="adj" fmla="val 12500"/>
            </a:avLst>
          </a:prstGeom>
          <a:gradFill>
            <a:gsLst>
              <a:gs pos="0">
                <a:srgbClr val="CC0066"/>
              </a:gs>
              <a:gs pos="50000">
                <a:schemeClr val="lt1"/>
              </a:gs>
              <a:gs pos="100000">
                <a:srgbClr val="CC0066"/>
              </a:gs>
            </a:gsLst>
            <a:lin ang="5400000" scaled="0"/>
          </a:gradFill>
          <a:ln>
            <a:noFill/>
          </a:ln>
          <a:effectLst>
            <a:outerShdw blurRad="63500" dist="17960" dir="2700000">
              <a:srgbClr val="7A003D"/>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The Java runtime supports a very simple, deterministic scheduling algorithm known as fixed priority scheduling. </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38"/>
                                        </p:tgtEl>
                                        <p:attrNameLst>
                                          <p:attrName>style.visibility</p:attrName>
                                        </p:attrNameLst>
                                      </p:cBhvr>
                                      <p:to>
                                        <p:strVal val="visible"/>
                                      </p:to>
                                    </p:set>
                                    <p:animEffect transition="in" filter="fade">
                                      <p:cBhvr>
                                        <p:cTn id="7" dur="500"/>
                                        <p:tgtEl>
                                          <p:spTgt spid="83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41"/>
                                        </p:tgtEl>
                                        <p:attrNameLst>
                                          <p:attrName>style.visibility</p:attrName>
                                        </p:attrNameLst>
                                      </p:cBhvr>
                                      <p:to>
                                        <p:strVal val="visible"/>
                                      </p:to>
                                    </p:set>
                                    <p:animEffect transition="in" filter="fade">
                                      <p:cBhvr>
                                        <p:cTn id="11" dur="500"/>
                                        <p:tgtEl>
                                          <p:spTgt spid="84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39">
                                            <p:txEl>
                                              <p:pRg st="0" end="0"/>
                                            </p:txEl>
                                          </p:spTgt>
                                        </p:tgtEl>
                                        <p:attrNameLst>
                                          <p:attrName>style.visibility</p:attrName>
                                        </p:attrNameLst>
                                      </p:cBhvr>
                                      <p:to>
                                        <p:strVal val="visible"/>
                                      </p:to>
                                    </p:set>
                                    <p:animEffect transition="in" filter="fade">
                                      <p:cBhvr>
                                        <p:cTn id="16" dur="500"/>
                                        <p:tgtEl>
                                          <p:spTgt spid="83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39">
                                            <p:txEl>
                                              <p:pRg st="1" end="1"/>
                                            </p:txEl>
                                          </p:spTgt>
                                        </p:tgtEl>
                                        <p:attrNameLst>
                                          <p:attrName>style.visibility</p:attrName>
                                        </p:attrNameLst>
                                      </p:cBhvr>
                                      <p:to>
                                        <p:strVal val="visible"/>
                                      </p:to>
                                    </p:set>
                                    <p:animEffect transition="in" filter="fade">
                                      <p:cBhvr>
                                        <p:cTn id="21" dur="500"/>
                                        <p:tgtEl>
                                          <p:spTgt spid="83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39">
                                            <p:txEl>
                                              <p:pRg st="2" end="2"/>
                                            </p:txEl>
                                          </p:spTgt>
                                        </p:tgtEl>
                                        <p:attrNameLst>
                                          <p:attrName>style.visibility</p:attrName>
                                        </p:attrNameLst>
                                      </p:cBhvr>
                                      <p:to>
                                        <p:strVal val="visible"/>
                                      </p:to>
                                    </p:set>
                                    <p:animEffect transition="in" filter="fade">
                                      <p:cBhvr>
                                        <p:cTn id="26" dur="500"/>
                                        <p:tgtEl>
                                          <p:spTgt spid="839">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842"/>
                                        </p:tgtEl>
                                        <p:attrNameLst>
                                          <p:attrName>style.visibility</p:attrName>
                                        </p:attrNameLst>
                                      </p:cBhvr>
                                      <p:to>
                                        <p:strVal val="visible"/>
                                      </p:to>
                                    </p:set>
                                    <p:animEffect transition="in" filter="fade">
                                      <p:cBhvr>
                                        <p:cTn id="31" dur="500"/>
                                        <p:tgtEl>
                                          <p:spTgt spid="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68"/>
          <p:cNvSpPr txBox="1"/>
          <p:nvPr/>
        </p:nvSpPr>
        <p:spPr>
          <a:xfrm>
            <a:off x="609600" y="990600"/>
            <a:ext cx="8305800" cy="510540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Font typeface="Arial"/>
              <a:buNone/>
            </a:pPr>
            <a:endParaRPr sz="2200" b="0" i="0" u="none">
              <a:solidFill>
                <a:schemeClr val="dk1"/>
              </a:solidFill>
              <a:latin typeface="Calibri"/>
              <a:ea typeface="Calibri"/>
              <a:cs typeface="Calibri"/>
              <a:sym typeface="Calibri"/>
            </a:endParaRPr>
          </a:p>
          <a:p>
            <a:pPr marL="457200" marR="0" lvl="0" indent="-457200" algn="l" rtl="0">
              <a:lnSpc>
                <a:spcPct val="100000"/>
              </a:lnSpc>
              <a:spcBef>
                <a:spcPts val="440"/>
              </a:spcBef>
              <a:spcAft>
                <a:spcPts val="0"/>
              </a:spcAft>
              <a:buClr>
                <a:schemeClr val="accent1"/>
              </a:buClr>
              <a:buSzPts val="2750"/>
              <a:buFont typeface="Calibri"/>
              <a:buChar char="•"/>
            </a:pPr>
            <a:r>
              <a:rPr lang="en-US" sz="2200" b="0" i="0" u="none">
                <a:solidFill>
                  <a:schemeClr val="dk1"/>
                </a:solidFill>
                <a:latin typeface="Calibri"/>
                <a:ea typeface="Calibri"/>
                <a:cs typeface="Calibri"/>
                <a:sym typeface="Calibri"/>
              </a:rPr>
              <a:t>Thread priorities are the integers in the range of 1 to 10 that specify the priority of one thread with respect to the priority of another thread. </a:t>
            </a:r>
            <a:endParaRPr/>
          </a:p>
          <a:p>
            <a:pPr marL="457200" marR="0" lvl="0" indent="-457200" algn="l" rtl="0">
              <a:lnSpc>
                <a:spcPct val="90000"/>
              </a:lnSpc>
              <a:spcBef>
                <a:spcPts val="770"/>
              </a:spcBef>
              <a:spcAft>
                <a:spcPts val="0"/>
              </a:spcAft>
              <a:buClr>
                <a:schemeClr val="accent1"/>
              </a:buClr>
              <a:buSzPts val="2750"/>
              <a:buFont typeface="Calibri"/>
              <a:buChar char="•"/>
            </a:pPr>
            <a:r>
              <a:rPr lang="en-US" sz="2200" b="0" i="0" u="none">
                <a:solidFill>
                  <a:schemeClr val="dk1"/>
                </a:solidFill>
                <a:latin typeface="Calibri"/>
                <a:ea typeface="Calibri"/>
                <a:cs typeface="Calibri"/>
                <a:sym typeface="Calibri"/>
              </a:rPr>
              <a:t>Each Java thread is given a numeric priority between MIN_PRIORITY and MAX_PRIORITY.</a:t>
            </a:r>
            <a:endParaRPr sz="2200" b="0" i="0" u="none">
              <a:solidFill>
                <a:schemeClr val="dk1"/>
              </a:solidFill>
              <a:latin typeface="Calibri"/>
              <a:ea typeface="Calibri"/>
              <a:cs typeface="Calibri"/>
              <a:sym typeface="Calibri"/>
            </a:endParaRPr>
          </a:p>
          <a:p>
            <a:pPr marL="457200" marR="0" lvl="0" indent="-457200" algn="l" rtl="0">
              <a:lnSpc>
                <a:spcPct val="100000"/>
              </a:lnSpc>
              <a:spcBef>
                <a:spcPts val="770"/>
              </a:spcBef>
              <a:spcAft>
                <a:spcPts val="0"/>
              </a:spcAft>
              <a:buClr>
                <a:schemeClr val="accent1"/>
              </a:buClr>
              <a:buSzPts val="2750"/>
              <a:buFont typeface="Calibri"/>
              <a:buChar char="•"/>
            </a:pPr>
            <a:r>
              <a:rPr lang="en-US" sz="2200" b="0" i="0" u="none">
                <a:solidFill>
                  <a:schemeClr val="dk1"/>
                </a:solidFill>
                <a:latin typeface="Calibri"/>
                <a:ea typeface="Calibri"/>
                <a:cs typeface="Calibri"/>
                <a:sym typeface="Calibri"/>
              </a:rPr>
              <a:t>The Java Run-time system selects the runnable thread with the highest priority of execution when a number of threads get ready to execute.</a:t>
            </a:r>
            <a:endParaRPr/>
          </a:p>
          <a:p>
            <a:pPr marL="457200" marR="0" lvl="0" indent="-457200" algn="l" rtl="0">
              <a:lnSpc>
                <a:spcPct val="100000"/>
              </a:lnSpc>
              <a:spcBef>
                <a:spcPts val="0"/>
              </a:spcBef>
              <a:spcAft>
                <a:spcPts val="0"/>
              </a:spcAft>
              <a:buClr>
                <a:schemeClr val="accent1"/>
              </a:buClr>
              <a:buSzPts val="2750"/>
              <a:buFont typeface="Calibri"/>
              <a:buChar char="•"/>
            </a:pPr>
            <a:r>
              <a:rPr lang="en-US" sz="2200" b="0" i="0" u="none">
                <a:solidFill>
                  <a:schemeClr val="dk1"/>
                </a:solidFill>
                <a:latin typeface="Calibri"/>
                <a:ea typeface="Calibri"/>
                <a:cs typeface="Calibri"/>
                <a:sym typeface="Calibri"/>
              </a:rPr>
              <a:t>The Java Run-time Environment executes threads based on their priority.</a:t>
            </a:r>
            <a:endParaRPr/>
          </a:p>
          <a:p>
            <a:pPr marL="457200" marR="0" lvl="0" indent="-457200" algn="l" rtl="0">
              <a:lnSpc>
                <a:spcPct val="100000"/>
              </a:lnSpc>
              <a:spcBef>
                <a:spcPts val="0"/>
              </a:spcBef>
              <a:spcAft>
                <a:spcPts val="0"/>
              </a:spcAft>
              <a:buClr>
                <a:schemeClr val="accent1"/>
              </a:buClr>
              <a:buSzPts val="2750"/>
              <a:buFont typeface="Calibri"/>
              <a:buChar char="•"/>
            </a:pPr>
            <a:r>
              <a:rPr lang="en-US" sz="2200" b="0" i="0" u="none">
                <a:solidFill>
                  <a:schemeClr val="dk1"/>
                </a:solidFill>
                <a:latin typeface="Calibri"/>
                <a:ea typeface="Calibri"/>
                <a:cs typeface="Calibri"/>
                <a:sym typeface="Calibri"/>
              </a:rPr>
              <a:t>A thread with higher priority runs before threads with low priority. </a:t>
            </a:r>
            <a:endParaRPr/>
          </a:p>
          <a:p>
            <a:pPr marL="457200" marR="0" lvl="0" indent="-457200" algn="l" rtl="0">
              <a:lnSpc>
                <a:spcPct val="90000"/>
              </a:lnSpc>
              <a:spcBef>
                <a:spcPts val="770"/>
              </a:spcBef>
              <a:spcAft>
                <a:spcPts val="0"/>
              </a:spcAft>
              <a:buClr>
                <a:schemeClr val="accent1"/>
              </a:buClr>
              <a:buSzPts val="2750"/>
              <a:buFont typeface="Calibri"/>
              <a:buChar char="•"/>
            </a:pPr>
            <a:r>
              <a:rPr lang="en-US" sz="2200" b="0" i="0" u="none">
                <a:solidFill>
                  <a:schemeClr val="dk1"/>
                </a:solidFill>
                <a:latin typeface="Calibri"/>
                <a:ea typeface="Calibri"/>
                <a:cs typeface="Calibri"/>
                <a:sym typeface="Calibri"/>
              </a:rPr>
              <a:t>A given thread may, at any time, give up its right to execute by calling the yield method. Threads can only yield the CPU to other threads of the same priority--attempts to yield to a lower priority thread are ignored. </a:t>
            </a:r>
            <a:endParaRPr/>
          </a:p>
          <a:p>
            <a:pPr marL="457200" marR="0" lvl="0" indent="-282575" algn="l" rtl="0">
              <a:lnSpc>
                <a:spcPct val="100000"/>
              </a:lnSpc>
              <a:spcBef>
                <a:spcPts val="330"/>
              </a:spcBef>
              <a:spcAft>
                <a:spcPts val="0"/>
              </a:spcAft>
              <a:buClr>
                <a:schemeClr val="accent1"/>
              </a:buClr>
              <a:buSzPts val="2750"/>
              <a:buFont typeface="Arial"/>
              <a:buNone/>
            </a:pPr>
            <a:endParaRPr sz="2200" b="0" i="0" u="none">
              <a:solidFill>
                <a:schemeClr val="dk1"/>
              </a:solidFill>
              <a:latin typeface="Calibri"/>
              <a:ea typeface="Calibri"/>
              <a:cs typeface="Calibri"/>
              <a:sym typeface="Calibri"/>
            </a:endParaRPr>
          </a:p>
          <a:p>
            <a:pPr marL="457200" marR="0" lvl="0" indent="-282575" algn="l" rtl="0">
              <a:lnSpc>
                <a:spcPct val="100000"/>
              </a:lnSpc>
              <a:spcBef>
                <a:spcPts val="0"/>
              </a:spcBef>
              <a:spcAft>
                <a:spcPts val="0"/>
              </a:spcAft>
              <a:buClr>
                <a:schemeClr val="accent1"/>
              </a:buClr>
              <a:buSzPts val="2750"/>
              <a:buFont typeface="Arial"/>
              <a:buNone/>
            </a:pPr>
            <a:endParaRPr sz="2200" b="0" i="0" u="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2200" b="0" i="0" u="none">
              <a:solidFill>
                <a:schemeClr val="dk1"/>
              </a:solidFill>
              <a:latin typeface="Calibri"/>
              <a:ea typeface="Calibri"/>
              <a:cs typeface="Calibri"/>
              <a:sym typeface="Calibri"/>
            </a:endParaRPr>
          </a:p>
        </p:txBody>
      </p:sp>
      <p:sp>
        <p:nvSpPr>
          <p:cNvPr id="850" name="Google Shape;850;p68"/>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Priority</a:t>
            </a:r>
            <a:endParaRPr/>
          </a:p>
        </p:txBody>
      </p:sp>
    </p:spTree>
  </p:cSld>
  <p:clrMapOvr>
    <a:masterClrMapping/>
  </p:clrMapOvr>
  <p:transition spd="slow">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69"/>
          <p:cNvSpPr txBox="1"/>
          <p:nvPr/>
        </p:nvSpPr>
        <p:spPr>
          <a:xfrm>
            <a:off x="609600" y="1981200"/>
            <a:ext cx="8305800" cy="114300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457200" marR="0" lvl="0" indent="-457200" algn="l" rtl="0">
              <a:lnSpc>
                <a:spcPct val="100000"/>
              </a:lnSpc>
              <a:spcBef>
                <a:spcPts val="360"/>
              </a:spcBef>
              <a:spcAft>
                <a:spcPts val="0"/>
              </a:spcAft>
              <a:buClr>
                <a:schemeClr val="accent1"/>
              </a:buClr>
              <a:buSzPts val="2250"/>
              <a:buFont typeface="Calibri"/>
              <a:buChar char="•"/>
            </a:pPr>
            <a:r>
              <a:rPr lang="en-US" sz="1800" b="0" i="0" u="none">
                <a:solidFill>
                  <a:schemeClr val="dk1"/>
                </a:solidFill>
                <a:latin typeface="Calibri"/>
                <a:ea typeface="Calibri"/>
                <a:cs typeface="Calibri"/>
                <a:sym typeface="Calibri"/>
              </a:rPr>
              <a:t>You can set the thread priority after it is created using the setPriority() method declared in the Thread class.  </a:t>
            </a:r>
            <a:endParaRPr/>
          </a:p>
          <a:p>
            <a:pPr marL="914400" marR="0" lvl="1" indent="-314325" algn="l" rtl="0">
              <a:lnSpc>
                <a:spcPct val="100000"/>
              </a:lnSpc>
              <a:spcBef>
                <a:spcPts val="360"/>
              </a:spcBef>
              <a:spcAft>
                <a:spcPts val="0"/>
              </a:spcAft>
              <a:buClr>
                <a:schemeClr val="accent1"/>
              </a:buClr>
              <a:buSzPts val="2250"/>
              <a:buFont typeface="Noto Sans Symbols"/>
              <a:buNone/>
            </a:pPr>
            <a:endParaRPr sz="1800" b="0" i="0" u="none" strike="noStrike" cap="none">
              <a:solidFill>
                <a:schemeClr val="dk1"/>
              </a:solidFill>
              <a:latin typeface="Calibri"/>
              <a:ea typeface="Calibri"/>
              <a:cs typeface="Calibri"/>
              <a:sym typeface="Calibri"/>
            </a:endParaRPr>
          </a:p>
          <a:p>
            <a:pPr marL="914400" marR="0" lvl="1" indent="-457200" algn="l" rtl="0">
              <a:lnSpc>
                <a:spcPct val="100000"/>
              </a:lnSpc>
              <a:spcBef>
                <a:spcPts val="36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a:t>
            </a:r>
            <a:endParaRPr/>
          </a:p>
        </p:txBody>
      </p:sp>
      <p:sp>
        <p:nvSpPr>
          <p:cNvPr id="858" name="Google Shape;858;p69"/>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Priority (Contd.)</a:t>
            </a:r>
            <a:endParaRPr/>
          </a:p>
        </p:txBody>
      </p:sp>
      <p:sp>
        <p:nvSpPr>
          <p:cNvPr id="859" name="Google Shape;859;p69"/>
          <p:cNvSpPr txBox="1"/>
          <p:nvPr/>
        </p:nvSpPr>
        <p:spPr>
          <a:xfrm>
            <a:off x="0" y="1243012"/>
            <a:ext cx="9144000" cy="585787"/>
          </a:xfrm>
          <a:prstGeom prst="rect">
            <a:avLst/>
          </a:prstGeom>
          <a:solidFill>
            <a:srgbClr val="009999"/>
          </a:solidFill>
          <a:ln w="9525" cap="flat" cmpd="sng">
            <a:solidFill>
              <a:srgbClr val="000000"/>
            </a:solidFill>
            <a:prstDash val="solid"/>
            <a:miter lim="800000"/>
            <a:headEnd type="none" w="sm" len="sm"/>
            <a:tailEnd type="none" w="sm" len="sm"/>
          </a:ln>
        </p:spPr>
        <p:txBody>
          <a:bodyPr spcFirstLastPara="1" wrap="square" lIns="92075" tIns="46025" rIns="92075" bIns="46025" anchor="t" anchorCtr="0">
            <a:noAutofit/>
          </a:bodyPr>
          <a:lstStyle/>
          <a:p>
            <a:pPr marL="571500" marR="0" lvl="0" indent="-571500" algn="l" rtl="0">
              <a:lnSpc>
                <a:spcPct val="100000"/>
              </a:lnSpc>
              <a:spcBef>
                <a:spcPts val="0"/>
              </a:spcBef>
              <a:spcAft>
                <a:spcPts val="0"/>
              </a:spcAft>
              <a:buClr>
                <a:schemeClr val="lt1"/>
              </a:buClr>
              <a:buFont typeface="Calibri"/>
              <a:buNone/>
            </a:pPr>
            <a:r>
              <a:rPr lang="en-US" sz="1800" b="0" i="0" u="none">
                <a:solidFill>
                  <a:schemeClr val="lt1"/>
                </a:solidFill>
                <a:latin typeface="Calibri"/>
                <a:ea typeface="Calibri"/>
                <a:cs typeface="Calibri"/>
                <a:sym typeface="Calibri"/>
              </a:rPr>
              <a:t>Setting Thread Priority</a:t>
            </a:r>
            <a:endParaRPr/>
          </a:p>
        </p:txBody>
      </p:sp>
      <p:sp>
        <p:nvSpPr>
          <p:cNvPr id="860" name="Google Shape;860;p69"/>
          <p:cNvSpPr txBox="1"/>
          <p:nvPr/>
        </p:nvSpPr>
        <p:spPr>
          <a:xfrm>
            <a:off x="1676400" y="5089525"/>
            <a:ext cx="5635625" cy="396875"/>
          </a:xfrm>
          <a:prstGeom prst="rect">
            <a:avLst/>
          </a:prstGeom>
          <a:gradFill>
            <a:gsLst>
              <a:gs pos="0">
                <a:srgbClr val="008000"/>
              </a:gs>
              <a:gs pos="100000">
                <a:srgbClr val="43A143"/>
              </a:gs>
            </a:gsLst>
            <a:lin ang="5400000" scaled="0"/>
          </a:gradFill>
          <a:ln>
            <a:noFill/>
          </a:ln>
          <a:effectLst>
            <a:outerShdw blurRad="63500" dist="17960" dir="2700000">
              <a:srgbClr val="004D00"/>
            </a:outerShdw>
          </a:effectLst>
        </p:spPr>
        <p:txBody>
          <a:bodyPr spcFirstLastPara="1" wrap="square" lIns="91425" tIns="45700" rIns="91425" bIns="45700" anchor="t" anchorCtr="0">
            <a:noAutofit/>
          </a:bodyPr>
          <a:lstStyle/>
          <a:p>
            <a:pPr marL="457200" marR="0" lvl="1" indent="0" algn="l" rtl="0">
              <a:lnSpc>
                <a:spcPct val="100000"/>
              </a:lnSpc>
              <a:spcBef>
                <a:spcPts val="0"/>
              </a:spcBef>
              <a:spcAft>
                <a:spcPts val="0"/>
              </a:spcAft>
              <a:buClr>
                <a:schemeClr val="lt1"/>
              </a:buClr>
              <a:buFont typeface="Calibri"/>
              <a:buNone/>
            </a:pPr>
            <a:r>
              <a:rPr lang="en-US" sz="2000" b="0" i="0" u="none" strike="noStrike" cap="none">
                <a:solidFill>
                  <a:schemeClr val="lt1"/>
                </a:solidFill>
                <a:latin typeface="Calibri"/>
                <a:ea typeface="Calibri"/>
                <a:cs typeface="Calibri"/>
                <a:sym typeface="Calibri"/>
              </a:rPr>
              <a:t>public final void setPriority (int newPriority) </a:t>
            </a:r>
            <a:endParaRPr/>
          </a:p>
        </p:txBody>
      </p:sp>
      <p:sp>
        <p:nvSpPr>
          <p:cNvPr id="861" name="Google Shape;861;p69"/>
          <p:cNvSpPr/>
          <p:nvPr/>
        </p:nvSpPr>
        <p:spPr>
          <a:xfrm>
            <a:off x="3429000" y="3028950"/>
            <a:ext cx="2590800" cy="1497012"/>
          </a:xfrm>
          <a:prstGeom prst="cloudCallout">
            <a:avLst>
              <a:gd name="adj1" fmla="val 1469"/>
              <a:gd name="adj2" fmla="val 28563"/>
            </a:avLst>
          </a:prstGeom>
          <a:gradFill>
            <a:gsLst>
              <a:gs pos="0">
                <a:srgbClr val="008000">
                  <a:alpha val="29803"/>
                </a:srgbClr>
              </a:gs>
              <a:gs pos="100000">
                <a:srgbClr val="43A143"/>
              </a:gs>
            </a:gsLst>
            <a:lin ang="5400000" scaled="0"/>
          </a:gradFill>
          <a:ln>
            <a:noFill/>
          </a:ln>
          <a:effectLst>
            <a:outerShdw blurRad="63500" dist="17960" dir="2700000">
              <a:srgbClr val="004D00"/>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Font typeface="Calibri"/>
              <a:buNone/>
            </a:pPr>
            <a:r>
              <a:rPr lang="en-US" sz="2000" b="0" i="0" u="none">
                <a:solidFill>
                  <a:schemeClr val="lt1"/>
                </a:solidFill>
                <a:latin typeface="Calibri"/>
                <a:ea typeface="Calibri"/>
                <a:cs typeface="Calibri"/>
                <a:sym typeface="Calibri"/>
              </a:rPr>
              <a:t>Syntax for setPriority method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57"/>
                                        </p:tgtEl>
                                        <p:attrNameLst>
                                          <p:attrName>style.visibility</p:attrName>
                                        </p:attrNameLst>
                                      </p:cBhvr>
                                      <p:to>
                                        <p:strVal val="visible"/>
                                      </p:to>
                                    </p:set>
                                    <p:animEffect transition="in" filter="fade">
                                      <p:cBhvr>
                                        <p:cTn id="7" dur="500"/>
                                        <p:tgtEl>
                                          <p:spTgt spid="8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61"/>
                                        </p:tgtEl>
                                        <p:attrNameLst>
                                          <p:attrName>style.visibility</p:attrName>
                                        </p:attrNameLst>
                                      </p:cBhvr>
                                      <p:to>
                                        <p:strVal val="visible"/>
                                      </p:to>
                                    </p:set>
                                    <p:animEffect transition="in" filter="fade">
                                      <p:cBhvr>
                                        <p:cTn id="12" dur="500"/>
                                        <p:tgtEl>
                                          <p:spTgt spid="861"/>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860"/>
                                        </p:tgtEl>
                                        <p:attrNameLst>
                                          <p:attrName>style.visibility</p:attrName>
                                        </p:attrNameLst>
                                      </p:cBhvr>
                                      <p:to>
                                        <p:strVal val="visible"/>
                                      </p:to>
                                    </p:set>
                                    <p:animEffect transition="in" filter="fade">
                                      <p:cBhvr>
                                        <p:cTn id="16" dur="500"/>
                                        <p:tgtEl>
                                          <p:spTgt spid="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70"/>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Font typeface="Calibri"/>
              <a:buNone/>
            </a:pPr>
            <a:fld id="{00000000-1234-1234-1234-123412341234}" type="slidenum">
              <a:rPr lang="en-US" sz="1200" b="0" i="0" u="none">
                <a:solidFill>
                  <a:srgbClr val="898989"/>
                </a:solidFill>
                <a:latin typeface="Calibri"/>
                <a:ea typeface="Calibri"/>
                <a:cs typeface="Calibri"/>
                <a:sym typeface="Calibri"/>
              </a:rPr>
              <a:t>54</a:t>
            </a:fld>
            <a:endParaRPr/>
          </a:p>
        </p:txBody>
      </p:sp>
      <p:sp>
        <p:nvSpPr>
          <p:cNvPr id="868" name="Google Shape;868;p70"/>
          <p:cNvSpPr txBox="1">
            <a:spLocks noGrp="1"/>
          </p:cNvSpPr>
          <p:nvPr>
            <p:ph type="title"/>
          </p:nvPr>
        </p:nvSpPr>
        <p:spPr>
          <a:xfrm>
            <a:off x="457200" y="-152400"/>
            <a:ext cx="82296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Thread Priority Example</a:t>
            </a:r>
            <a:endParaRPr/>
          </a:p>
        </p:txBody>
      </p:sp>
      <p:sp>
        <p:nvSpPr>
          <p:cNvPr id="869" name="Google Shape;869;p70"/>
          <p:cNvSpPr txBox="1">
            <a:spLocks noGrp="1"/>
          </p:cNvSpPr>
          <p:nvPr>
            <p:ph type="body" idx="1"/>
          </p:nvPr>
        </p:nvSpPr>
        <p:spPr>
          <a:xfrm>
            <a:off x="457200" y="914400"/>
            <a:ext cx="8229600" cy="40761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60000"/>
              </a:lnSpc>
              <a:spcBef>
                <a:spcPts val="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class C extends Thread</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public void run()</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System.out.println("Thread C started");</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for(int k=1;k&lt;=4;k++)</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System.out.println("\t From ThreadC: k= "+k);</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System.out.println("Exit from C");</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class ThreadPriority</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public static void main(String args[])</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 threadA=new A();</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B threadB=new B();</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C threadC=new C();</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t>
            </a:r>
            <a:r>
              <a:rPr lang="en-US" sz="1400" b="1" i="0" u="none" strike="noStrike" cap="none">
                <a:solidFill>
                  <a:schemeClr val="hlink"/>
                </a:solidFill>
                <a:latin typeface="Calibri"/>
                <a:ea typeface="Calibri"/>
                <a:cs typeface="Calibri"/>
                <a:sym typeface="Calibri"/>
              </a:rPr>
              <a:t>threadC.setPriority(Thread.MAX_PRIORITY);</a:t>
            </a:r>
            <a:endParaRPr/>
          </a:p>
          <a:p>
            <a:pPr marL="342900" marR="0" lvl="0" indent="-342900" algn="l" rtl="0">
              <a:lnSpc>
                <a:spcPct val="60000"/>
              </a:lnSpc>
              <a:spcBef>
                <a:spcPts val="280"/>
              </a:spcBef>
              <a:spcAft>
                <a:spcPts val="0"/>
              </a:spcAft>
              <a:buClr>
                <a:schemeClr val="hlink"/>
              </a:buClr>
              <a:buFont typeface="Arial"/>
              <a:buNone/>
            </a:pPr>
            <a:r>
              <a:rPr lang="en-US" sz="1400" b="1" i="0" u="none" strike="noStrike" cap="none">
                <a:solidFill>
                  <a:schemeClr val="hlink"/>
                </a:solidFill>
                <a:latin typeface="Calibri"/>
                <a:ea typeface="Calibri"/>
                <a:cs typeface="Calibri"/>
                <a:sym typeface="Calibri"/>
              </a:rPr>
              <a:t>                    threadB.setPriority(threadA.getPriority()+1);</a:t>
            </a:r>
            <a:endParaRPr/>
          </a:p>
          <a:p>
            <a:pPr marL="342900" marR="0" lvl="0" indent="-342900" algn="l" rtl="0">
              <a:lnSpc>
                <a:spcPct val="60000"/>
              </a:lnSpc>
              <a:spcBef>
                <a:spcPts val="280"/>
              </a:spcBef>
              <a:spcAft>
                <a:spcPts val="0"/>
              </a:spcAft>
              <a:buClr>
                <a:schemeClr val="hlink"/>
              </a:buClr>
              <a:buFont typeface="Arial"/>
              <a:buNone/>
            </a:pPr>
            <a:r>
              <a:rPr lang="en-US" sz="1400" b="1" i="0" u="none" strike="noStrike" cap="none">
                <a:solidFill>
                  <a:schemeClr val="hlink"/>
                </a:solidFill>
                <a:latin typeface="Calibri"/>
                <a:ea typeface="Calibri"/>
                <a:cs typeface="Calibri"/>
                <a:sym typeface="Calibri"/>
              </a:rPr>
              <a:t>                    threadA.setPriority(Thread.MIN_PRIORITY);</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System.out.println("Started Thread A");</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threadA.start();</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System.out.println("Started Thread B");</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threadB.start();</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System.out.println("Started Thread C");</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threadC.start();</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System.out.println("End of main thread");</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           }</a:t>
            </a:r>
            <a:endParaRPr/>
          </a:p>
          <a:p>
            <a:pPr marL="342900" marR="0" lvl="0" indent="-342900" algn="l" rtl="0">
              <a:lnSpc>
                <a:spcPct val="60000"/>
              </a:lnSpc>
              <a:spcBef>
                <a:spcPts val="280"/>
              </a:spcBef>
              <a:spcAft>
                <a:spcPts val="0"/>
              </a:spcAft>
              <a:buClr>
                <a:schemeClr val="dk1"/>
              </a:buClr>
              <a:buFont typeface="Arial"/>
              <a:buNone/>
            </a:pPr>
            <a:r>
              <a:rPr lang="en-US" sz="1400" b="1" i="0" u="none" strike="noStrike" cap="none">
                <a:solidFill>
                  <a:schemeClr val="dk1"/>
                </a:solidFill>
                <a:latin typeface="Calibri"/>
                <a:ea typeface="Calibri"/>
                <a:cs typeface="Calibri"/>
                <a:sym typeface="Calibri"/>
              </a:rPr>
              <a:t>}</a:t>
            </a:r>
            <a:endParaRPr/>
          </a:p>
        </p:txBody>
      </p:sp>
    </p:spTree>
  </p:cSld>
  <p:clrMapOvr>
    <a:masterClrMapping/>
  </p:clrMapOvr>
  <p:transition spd="slow">
    <p:fade thruBlk="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grpSp>
        <p:nvGrpSpPr>
          <p:cNvPr id="875" name="Google Shape;875;p71"/>
          <p:cNvGrpSpPr/>
          <p:nvPr/>
        </p:nvGrpSpPr>
        <p:grpSpPr>
          <a:xfrm>
            <a:off x="-19050" y="2266950"/>
            <a:ext cx="9163050" cy="1559601"/>
            <a:chOff x="-19050" y="2266950"/>
            <a:chExt cx="9163050" cy="1559601"/>
          </a:xfrm>
        </p:grpSpPr>
        <p:pic>
          <p:nvPicPr>
            <p:cNvPr id="876" name="Google Shape;876;p71"/>
            <p:cNvPicPr preferRelativeResize="0"/>
            <p:nvPr/>
          </p:nvPicPr>
          <p:blipFill rotWithShape="1">
            <a:blip r:embed="rId3">
              <a:alphaModFix/>
            </a:blip>
            <a:srcRect/>
            <a:stretch/>
          </p:blipFill>
          <p:spPr>
            <a:xfrm>
              <a:off x="-19050" y="2266950"/>
              <a:ext cx="9103593" cy="1559601"/>
            </a:xfrm>
            <a:prstGeom prst="rect">
              <a:avLst/>
            </a:prstGeom>
            <a:noFill/>
            <a:ln>
              <a:noFill/>
            </a:ln>
          </p:spPr>
        </p:pic>
        <p:sp>
          <p:nvSpPr>
            <p:cNvPr id="877" name="Google Shape;877;p71"/>
            <p:cNvSpPr txBox="1"/>
            <p:nvPr/>
          </p:nvSpPr>
          <p:spPr>
            <a:xfrm>
              <a:off x="0" y="2286000"/>
              <a:ext cx="9144000" cy="1524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Problem: </a:t>
              </a:r>
              <a:endParaRPr/>
            </a:p>
            <a:p>
              <a:pPr marL="342900" marR="0" lvl="0" indent="-342900" algn="l" rtl="0">
                <a:lnSpc>
                  <a:spcPct val="100000"/>
                </a:lnSpc>
                <a:spcBef>
                  <a:spcPts val="360"/>
                </a:spcBef>
                <a:spcAft>
                  <a:spcPts val="0"/>
                </a:spcAft>
                <a:buClr>
                  <a:schemeClr val="dk1"/>
                </a:buClr>
                <a:buFont typeface="Calibri"/>
                <a:buNone/>
              </a:pPr>
              <a:r>
                <a:rPr lang="en-US" sz="1800" b="0" i="0" u="none">
                  <a:solidFill>
                    <a:schemeClr val="dk1"/>
                  </a:solidFill>
                  <a:latin typeface="Calibri"/>
                  <a:ea typeface="Calibri"/>
                  <a:cs typeface="Calibri"/>
                  <a:sym typeface="Calibri"/>
                </a:rPr>
                <a:t>Race condition!</a:t>
              </a:r>
              <a:endParaRPr/>
            </a:p>
            <a:p>
              <a:pPr marL="342900" marR="0" lvl="0" indent="-342900" algn="l" rtl="0">
                <a:lnSpc>
                  <a:spcPct val="100000"/>
                </a:lnSpc>
                <a:spcBef>
                  <a:spcPts val="360"/>
                </a:spcBef>
                <a:spcAft>
                  <a:spcPts val="0"/>
                </a:spcAft>
                <a:buClr>
                  <a:schemeClr val="dk1"/>
                </a:buClr>
                <a:buSzPts val="1800"/>
                <a:buFont typeface="Arial"/>
                <a:buChar char="•"/>
              </a:pPr>
              <a:r>
                <a:rPr lang="en-US" sz="1800" b="0" i="0" u="none">
                  <a:solidFill>
                    <a:schemeClr val="dk1"/>
                  </a:solidFill>
                  <a:latin typeface="Calibri"/>
                  <a:ea typeface="Calibri"/>
                  <a:cs typeface="Calibri"/>
                  <a:sym typeface="Calibri"/>
                </a:rPr>
                <a:t>Two or more threads access to same object and each call a method that modifies the state of the object. </a:t>
              </a:r>
              <a:endParaRPr/>
            </a:p>
            <a:p>
              <a:pPr marL="0" marR="0" lvl="0" indent="0" algn="l" rtl="0">
                <a:lnSpc>
                  <a:spcPct val="100000"/>
                </a:lnSpc>
                <a:spcBef>
                  <a:spcPts val="0"/>
                </a:spcBef>
                <a:spcAft>
                  <a:spcPts val="0"/>
                </a:spcAft>
                <a:buNone/>
              </a:pPr>
              <a:endParaRPr sz="1800" b="0" i="0" u="none">
                <a:solidFill>
                  <a:schemeClr val="dk1"/>
                </a:solidFill>
                <a:latin typeface="Calibri"/>
                <a:ea typeface="Calibri"/>
                <a:cs typeface="Calibri"/>
                <a:sym typeface="Calibri"/>
              </a:endParaRPr>
            </a:p>
          </p:txBody>
        </p:sp>
      </p:grpSp>
      <p:sp>
        <p:nvSpPr>
          <p:cNvPr id="878" name="Google Shape;878;p71"/>
          <p:cNvSpPr>
            <a:spLocks noGrp="1"/>
          </p:cNvSpPr>
          <p:nvPr>
            <p:ph type="title"/>
          </p:nvPr>
        </p:nvSpPr>
        <p:spPr>
          <a:xfrm>
            <a:off x="153987" y="914400"/>
            <a:ext cx="8245475" cy="762000"/>
          </a:xfrm>
          <a:prstGeom prst="cloudCallout">
            <a:avLst>
              <a:gd name="adj1" fmla="val 10555"/>
              <a:gd name="adj2" fmla="val 37575"/>
            </a:avLst>
          </a:prstGeom>
          <a:noFill/>
          <a:ln w="9525" cap="flat" cmpd="sng">
            <a:solidFill>
              <a:srgbClr val="FF00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2400" b="0" i="0" u="none" strike="noStrike" cap="none">
                <a:solidFill>
                  <a:schemeClr val="dk1"/>
                </a:solidFill>
                <a:latin typeface="Calibri"/>
                <a:ea typeface="Calibri"/>
                <a:cs typeface="Calibri"/>
                <a:sym typeface="Calibri"/>
              </a:rPr>
              <a:t>Why Synchronization?</a:t>
            </a:r>
            <a:endParaRPr/>
          </a:p>
        </p:txBody>
      </p:sp>
      <p:sp>
        <p:nvSpPr>
          <p:cNvPr id="879" name="Google Shape;879;p7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a:t>
            </a:r>
            <a:endParaRPr/>
          </a:p>
        </p:txBody>
      </p:sp>
      <p:grpSp>
        <p:nvGrpSpPr>
          <p:cNvPr id="880" name="Google Shape;880;p71"/>
          <p:cNvGrpSpPr/>
          <p:nvPr/>
        </p:nvGrpSpPr>
        <p:grpSpPr>
          <a:xfrm>
            <a:off x="2346325" y="3548062"/>
            <a:ext cx="3756726" cy="2259039"/>
            <a:chOff x="2346325" y="3548062"/>
            <a:chExt cx="3756726" cy="2259039"/>
          </a:xfrm>
        </p:grpSpPr>
        <p:pic>
          <p:nvPicPr>
            <p:cNvPr id="881" name="Google Shape;881;p71"/>
            <p:cNvPicPr preferRelativeResize="0"/>
            <p:nvPr/>
          </p:nvPicPr>
          <p:blipFill rotWithShape="1">
            <a:blip r:embed="rId4">
              <a:alphaModFix/>
            </a:blip>
            <a:srcRect/>
            <a:stretch/>
          </p:blipFill>
          <p:spPr>
            <a:xfrm>
              <a:off x="2346325" y="3548062"/>
              <a:ext cx="3756726" cy="2259039"/>
            </a:xfrm>
            <a:prstGeom prst="rect">
              <a:avLst/>
            </a:prstGeom>
            <a:noFill/>
            <a:ln>
              <a:noFill/>
            </a:ln>
          </p:spPr>
        </p:pic>
        <p:sp>
          <p:nvSpPr>
            <p:cNvPr id="882" name="Google Shape;882;p71"/>
            <p:cNvSpPr txBox="1"/>
            <p:nvPr/>
          </p:nvSpPr>
          <p:spPr>
            <a:xfrm>
              <a:off x="3222625" y="4073525"/>
              <a:ext cx="2022475" cy="120808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Result: Corrupted object</a:t>
              </a:r>
              <a:endParaRPr/>
            </a:p>
          </p:txBody>
        </p: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78"/>
                                        </p:tgtEl>
                                        <p:attrNameLst>
                                          <p:attrName>style.visibility</p:attrName>
                                        </p:attrNameLst>
                                      </p:cBhvr>
                                      <p:to>
                                        <p:strVal val="visible"/>
                                      </p:to>
                                    </p:set>
                                    <p:animEffect transition="in" filter="fade">
                                      <p:cBhvr>
                                        <p:cTn id="7" dur="500"/>
                                        <p:tgtEl>
                                          <p:spTgt spid="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p72"/>
          <p:cNvSpPr>
            <a:spLocks noGrp="1"/>
          </p:cNvSpPr>
          <p:nvPr>
            <p:ph type="title"/>
          </p:nvPr>
        </p:nvSpPr>
        <p:spPr>
          <a:xfrm>
            <a:off x="153987" y="914400"/>
            <a:ext cx="8245475" cy="762000"/>
          </a:xfrm>
          <a:prstGeom prst="cloudCallout">
            <a:avLst>
              <a:gd name="adj1" fmla="val 10555"/>
              <a:gd name="adj2" fmla="val 37575"/>
            </a:avLst>
          </a:prstGeom>
          <a:noFill/>
          <a:ln w="9525" cap="flat" cmpd="sng">
            <a:solidFill>
              <a:srgbClr val="FF00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2400" b="0" i="0" u="none" strike="noStrike" cap="none">
                <a:solidFill>
                  <a:schemeClr val="dk1"/>
                </a:solidFill>
                <a:latin typeface="Calibri"/>
                <a:ea typeface="Calibri"/>
                <a:cs typeface="Calibri"/>
                <a:sym typeface="Calibri"/>
              </a:rPr>
              <a:t>What is the Solution?</a:t>
            </a:r>
            <a:endParaRPr/>
          </a:p>
        </p:txBody>
      </p:sp>
      <p:sp>
        <p:nvSpPr>
          <p:cNvPr id="889" name="Google Shape;889;p72"/>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grpSp>
        <p:nvGrpSpPr>
          <p:cNvPr id="890" name="Google Shape;890;p72"/>
          <p:cNvGrpSpPr/>
          <p:nvPr/>
        </p:nvGrpSpPr>
        <p:grpSpPr>
          <a:xfrm>
            <a:off x="2041525" y="2266950"/>
            <a:ext cx="4374895" cy="2471753"/>
            <a:chOff x="2041525" y="2266950"/>
            <a:chExt cx="4374895" cy="2471753"/>
          </a:xfrm>
        </p:grpSpPr>
        <p:pic>
          <p:nvPicPr>
            <p:cNvPr id="891" name="Google Shape;891;p72"/>
            <p:cNvPicPr preferRelativeResize="0"/>
            <p:nvPr/>
          </p:nvPicPr>
          <p:blipFill rotWithShape="1">
            <a:blip r:embed="rId3">
              <a:alphaModFix/>
            </a:blip>
            <a:srcRect/>
            <a:stretch/>
          </p:blipFill>
          <p:spPr>
            <a:xfrm>
              <a:off x="2041525" y="2266950"/>
              <a:ext cx="4374895" cy="2471753"/>
            </a:xfrm>
            <a:prstGeom prst="rect">
              <a:avLst/>
            </a:prstGeom>
            <a:noFill/>
            <a:ln>
              <a:noFill/>
            </a:ln>
          </p:spPr>
        </p:pic>
        <p:sp>
          <p:nvSpPr>
            <p:cNvPr id="892" name="Google Shape;892;p72"/>
            <p:cNvSpPr txBox="1"/>
            <p:nvPr/>
          </p:nvSpPr>
          <p:spPr>
            <a:xfrm>
              <a:off x="3055937" y="2844800"/>
              <a:ext cx="2351087" cy="13208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Synchronization</a:t>
              </a:r>
              <a:endParaRPr/>
            </a:p>
          </p:txBody>
        </p:sp>
      </p:grpSp>
    </p:spTree>
  </p:cSld>
  <p:clrMapOvr>
    <a:masterClrMapping/>
  </p:clrMapOvr>
  <p:transition spd="slow">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73"/>
          <p:cNvSpPr txBox="1"/>
          <p:nvPr/>
        </p:nvSpPr>
        <p:spPr>
          <a:xfrm>
            <a:off x="1219200" y="1219200"/>
            <a:ext cx="2133600" cy="381000"/>
          </a:xfrm>
          <a:prstGeom prst="rect">
            <a:avLst/>
          </a:prstGeom>
          <a:gradFill>
            <a:gsLst>
              <a:gs pos="0">
                <a:srgbClr val="FFFF99"/>
              </a:gs>
              <a:gs pos="100000">
                <a:schemeClr val="l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Unsynchronized</a:t>
            </a:r>
            <a:endParaRPr/>
          </a:p>
        </p:txBody>
      </p:sp>
      <p:sp>
        <p:nvSpPr>
          <p:cNvPr id="900" name="Google Shape;900;p73"/>
          <p:cNvSpPr txBox="1"/>
          <p:nvPr/>
        </p:nvSpPr>
        <p:spPr>
          <a:xfrm>
            <a:off x="5105400" y="1219200"/>
            <a:ext cx="2133600" cy="381000"/>
          </a:xfrm>
          <a:prstGeom prst="rect">
            <a:avLst/>
          </a:prstGeom>
          <a:gradFill>
            <a:gsLst>
              <a:gs pos="0">
                <a:srgbClr val="FFFF99"/>
              </a:gs>
              <a:gs pos="100000">
                <a:schemeClr val="lt1"/>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Synchronized</a:t>
            </a:r>
            <a:endParaRPr/>
          </a:p>
        </p:txBody>
      </p:sp>
      <p:sp>
        <p:nvSpPr>
          <p:cNvPr id="901" name="Google Shape;901;p73"/>
          <p:cNvSpPr txBox="1"/>
          <p:nvPr/>
        </p:nvSpPr>
        <p:spPr>
          <a:xfrm>
            <a:off x="685800" y="1828800"/>
            <a:ext cx="1219200" cy="381000"/>
          </a:xfrm>
          <a:prstGeom prst="rect">
            <a:avLst/>
          </a:prstGeom>
          <a:gradFill>
            <a:gsLst>
              <a:gs pos="0">
                <a:srgbClr val="FFFF99"/>
              </a:gs>
              <a:gs pos="100000">
                <a:schemeClr val="lt1"/>
              </a:gs>
            </a:gsLst>
            <a:path path="circle">
              <a:fillToRect l="50000" t="50000" r="50000" b="50000"/>
            </a:path>
            <a:tileRect/>
          </a:gradFill>
          <a:ln>
            <a:noFill/>
          </a:ln>
          <a:effectLst>
            <a:outerShdw blurRad="63500" dist="17960" dir="2700000">
              <a:srgbClr val="99995C"/>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Thread 1</a:t>
            </a:r>
            <a:endParaRPr/>
          </a:p>
        </p:txBody>
      </p:sp>
      <p:sp>
        <p:nvSpPr>
          <p:cNvPr id="902" name="Google Shape;902;p73"/>
          <p:cNvSpPr txBox="1"/>
          <p:nvPr/>
        </p:nvSpPr>
        <p:spPr>
          <a:xfrm>
            <a:off x="2438400" y="1828800"/>
            <a:ext cx="1219200" cy="381000"/>
          </a:xfrm>
          <a:prstGeom prst="rect">
            <a:avLst/>
          </a:prstGeom>
          <a:gradFill>
            <a:gsLst>
              <a:gs pos="0">
                <a:srgbClr val="FFFF99"/>
              </a:gs>
              <a:gs pos="100000">
                <a:schemeClr val="lt1"/>
              </a:gs>
            </a:gsLst>
            <a:path path="circle">
              <a:fillToRect l="50000" t="50000" r="50000" b="50000"/>
            </a:path>
            <a:tileRect/>
          </a:gradFill>
          <a:ln>
            <a:noFill/>
          </a:ln>
          <a:effectLst>
            <a:outerShdw blurRad="63500" dist="17960" dir="2700000">
              <a:srgbClr val="99995C"/>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Thread 2</a:t>
            </a:r>
            <a:endParaRPr/>
          </a:p>
        </p:txBody>
      </p:sp>
      <p:sp>
        <p:nvSpPr>
          <p:cNvPr id="903" name="Google Shape;903;p73"/>
          <p:cNvSpPr txBox="1"/>
          <p:nvPr/>
        </p:nvSpPr>
        <p:spPr>
          <a:xfrm>
            <a:off x="6400800" y="1828800"/>
            <a:ext cx="1066800" cy="304800"/>
          </a:xfrm>
          <a:prstGeom prst="rect">
            <a:avLst/>
          </a:prstGeom>
          <a:gradFill>
            <a:gsLst>
              <a:gs pos="0">
                <a:srgbClr val="FFFF99"/>
              </a:gs>
              <a:gs pos="100000">
                <a:schemeClr val="lt1"/>
              </a:gs>
            </a:gsLst>
            <a:path path="circle">
              <a:fillToRect l="50000" t="50000" r="50000" b="50000"/>
            </a:path>
            <a:tileRect/>
          </a:gradFill>
          <a:ln>
            <a:noFill/>
          </a:ln>
          <a:effectLst>
            <a:outerShdw blurRad="63500" dist="17960" dir="2700000">
              <a:srgbClr val="99995C"/>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Thread 2</a:t>
            </a:r>
            <a:endParaRPr/>
          </a:p>
        </p:txBody>
      </p:sp>
      <p:sp>
        <p:nvSpPr>
          <p:cNvPr id="904" name="Google Shape;904;p73"/>
          <p:cNvSpPr/>
          <p:nvPr/>
        </p:nvSpPr>
        <p:spPr>
          <a:xfrm>
            <a:off x="1219200" y="2438400"/>
            <a:ext cx="381000" cy="3581400"/>
          </a:xfrm>
          <a:prstGeom prst="righ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905" name="Google Shape;905;p73"/>
          <p:cNvCxnSpPr/>
          <p:nvPr/>
        </p:nvCxnSpPr>
        <p:spPr>
          <a:xfrm>
            <a:off x="1143000" y="3124200"/>
            <a:ext cx="0" cy="2590800"/>
          </a:xfrm>
          <a:prstGeom prst="straightConnector1">
            <a:avLst/>
          </a:prstGeom>
          <a:noFill/>
          <a:ln w="57150" cap="flat" cmpd="sng">
            <a:solidFill>
              <a:schemeClr val="dk1"/>
            </a:solidFill>
            <a:prstDash val="solid"/>
            <a:miter lim="800000"/>
            <a:headEnd type="none" w="sm" len="sm"/>
            <a:tailEnd type="none" w="sm" len="sm"/>
          </a:ln>
        </p:spPr>
      </p:cxnSp>
      <p:cxnSp>
        <p:nvCxnSpPr>
          <p:cNvPr id="906" name="Google Shape;906;p73"/>
          <p:cNvCxnSpPr/>
          <p:nvPr/>
        </p:nvCxnSpPr>
        <p:spPr>
          <a:xfrm rot="10800000">
            <a:off x="1143000" y="2438400"/>
            <a:ext cx="0" cy="914400"/>
          </a:xfrm>
          <a:prstGeom prst="straightConnector1">
            <a:avLst/>
          </a:prstGeom>
          <a:noFill/>
          <a:ln w="57150" cap="flat" cmpd="sng">
            <a:solidFill>
              <a:schemeClr val="dk1"/>
            </a:solidFill>
            <a:prstDash val="solid"/>
            <a:miter lim="800000"/>
            <a:headEnd type="none" w="sm" len="sm"/>
            <a:tailEnd type="none" w="sm" len="sm"/>
          </a:ln>
        </p:spPr>
      </p:cxnSp>
      <p:cxnSp>
        <p:nvCxnSpPr>
          <p:cNvPr id="907" name="Google Shape;907;p73"/>
          <p:cNvCxnSpPr/>
          <p:nvPr/>
        </p:nvCxnSpPr>
        <p:spPr>
          <a:xfrm rot="10800000">
            <a:off x="1143000" y="5562600"/>
            <a:ext cx="0" cy="457200"/>
          </a:xfrm>
          <a:prstGeom prst="straightConnector1">
            <a:avLst/>
          </a:prstGeom>
          <a:noFill/>
          <a:ln w="57150" cap="flat" cmpd="sng">
            <a:solidFill>
              <a:schemeClr val="dk1"/>
            </a:solidFill>
            <a:prstDash val="solid"/>
            <a:miter lim="800000"/>
            <a:headEnd type="none" w="sm" len="sm"/>
            <a:tailEnd type="none" w="sm" len="sm"/>
          </a:ln>
        </p:spPr>
      </p:cxnSp>
      <p:sp>
        <p:nvSpPr>
          <p:cNvPr id="908" name="Google Shape;908;p73"/>
          <p:cNvSpPr txBox="1"/>
          <p:nvPr/>
        </p:nvSpPr>
        <p:spPr>
          <a:xfrm>
            <a:off x="1690687" y="4081462"/>
            <a:ext cx="1052512" cy="261937"/>
          </a:xfrm>
          <a:prstGeom prst="rect">
            <a:avLst/>
          </a:prstGeom>
          <a:gradFill>
            <a:gsLst>
              <a:gs pos="0">
                <a:srgbClr val="FF99CC"/>
              </a:gs>
              <a:gs pos="100000">
                <a:srgbClr val="FFFF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Transfer</a:t>
            </a:r>
            <a:endParaRPr/>
          </a:p>
        </p:txBody>
      </p:sp>
      <p:sp>
        <p:nvSpPr>
          <p:cNvPr id="909" name="Google Shape;909;p73"/>
          <p:cNvSpPr/>
          <p:nvPr/>
        </p:nvSpPr>
        <p:spPr>
          <a:xfrm>
            <a:off x="2971800" y="3124200"/>
            <a:ext cx="381000" cy="2133600"/>
          </a:xfrm>
          <a:prstGeom prst="righ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910" name="Google Shape;910;p73"/>
          <p:cNvCxnSpPr/>
          <p:nvPr/>
        </p:nvCxnSpPr>
        <p:spPr>
          <a:xfrm>
            <a:off x="2895600" y="3124200"/>
            <a:ext cx="0" cy="1981200"/>
          </a:xfrm>
          <a:prstGeom prst="straightConnector1">
            <a:avLst/>
          </a:prstGeom>
          <a:noFill/>
          <a:ln w="57150" cap="flat" cmpd="sng">
            <a:solidFill>
              <a:schemeClr val="dk1"/>
            </a:solidFill>
            <a:prstDash val="solid"/>
            <a:miter lim="800000"/>
            <a:headEnd type="none" w="sm" len="sm"/>
            <a:tailEnd type="none" w="sm" len="sm"/>
          </a:ln>
        </p:spPr>
      </p:cxnSp>
      <p:cxnSp>
        <p:nvCxnSpPr>
          <p:cNvPr id="911" name="Google Shape;911;p73"/>
          <p:cNvCxnSpPr/>
          <p:nvPr/>
        </p:nvCxnSpPr>
        <p:spPr>
          <a:xfrm rot="10800000">
            <a:off x="2895600" y="2438400"/>
            <a:ext cx="0" cy="914400"/>
          </a:xfrm>
          <a:prstGeom prst="straightConnector1">
            <a:avLst/>
          </a:prstGeom>
          <a:noFill/>
          <a:ln w="57150" cap="flat" cmpd="sng">
            <a:solidFill>
              <a:schemeClr val="dk1"/>
            </a:solidFill>
            <a:prstDash val="solid"/>
            <a:miter lim="800000"/>
            <a:headEnd type="none" w="sm" len="sm"/>
            <a:tailEnd type="none" w="sm" len="sm"/>
          </a:ln>
        </p:spPr>
      </p:cxnSp>
      <p:cxnSp>
        <p:nvCxnSpPr>
          <p:cNvPr id="912" name="Google Shape;912;p73"/>
          <p:cNvCxnSpPr/>
          <p:nvPr/>
        </p:nvCxnSpPr>
        <p:spPr>
          <a:xfrm rot="10800000">
            <a:off x="2895600" y="5105400"/>
            <a:ext cx="0" cy="990600"/>
          </a:xfrm>
          <a:prstGeom prst="straightConnector1">
            <a:avLst/>
          </a:prstGeom>
          <a:noFill/>
          <a:ln w="57150" cap="flat" cmpd="sng">
            <a:solidFill>
              <a:schemeClr val="dk1"/>
            </a:solidFill>
            <a:prstDash val="solid"/>
            <a:miter lim="800000"/>
            <a:headEnd type="none" w="sm" len="sm"/>
            <a:tailEnd type="none" w="sm" len="sm"/>
          </a:ln>
        </p:spPr>
      </p:cxnSp>
      <p:sp>
        <p:nvSpPr>
          <p:cNvPr id="913" name="Google Shape;913;p73"/>
          <p:cNvSpPr txBox="1"/>
          <p:nvPr/>
        </p:nvSpPr>
        <p:spPr>
          <a:xfrm>
            <a:off x="3505200" y="4038600"/>
            <a:ext cx="990600" cy="304800"/>
          </a:xfrm>
          <a:prstGeom prst="rect">
            <a:avLst/>
          </a:prstGeom>
          <a:gradFill>
            <a:gsLst>
              <a:gs pos="0">
                <a:srgbClr val="FF99CC"/>
              </a:gs>
              <a:gs pos="100000">
                <a:srgbClr val="FFFF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Transfer</a:t>
            </a:r>
            <a:endParaRPr/>
          </a:p>
        </p:txBody>
      </p:sp>
      <p:sp>
        <p:nvSpPr>
          <p:cNvPr id="914" name="Google Shape;914;p73"/>
          <p:cNvSpPr/>
          <p:nvPr/>
        </p:nvSpPr>
        <p:spPr>
          <a:xfrm>
            <a:off x="5410200" y="2438400"/>
            <a:ext cx="304800" cy="2133600"/>
          </a:xfrm>
          <a:prstGeom prst="righ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915" name="Google Shape;915;p73"/>
          <p:cNvCxnSpPr/>
          <p:nvPr/>
        </p:nvCxnSpPr>
        <p:spPr>
          <a:xfrm>
            <a:off x="5257800" y="3962400"/>
            <a:ext cx="0" cy="2133600"/>
          </a:xfrm>
          <a:prstGeom prst="straightConnector1">
            <a:avLst/>
          </a:prstGeom>
          <a:noFill/>
          <a:ln w="57150" cap="flat" cmpd="sng">
            <a:solidFill>
              <a:schemeClr val="dk1"/>
            </a:solidFill>
            <a:prstDash val="solid"/>
            <a:miter lim="800000"/>
            <a:headEnd type="none" w="sm" len="sm"/>
            <a:tailEnd type="none" w="sm" len="sm"/>
          </a:ln>
        </p:spPr>
      </p:cxnSp>
      <p:cxnSp>
        <p:nvCxnSpPr>
          <p:cNvPr id="916" name="Google Shape;916;p73"/>
          <p:cNvCxnSpPr/>
          <p:nvPr/>
        </p:nvCxnSpPr>
        <p:spPr>
          <a:xfrm rot="10800000">
            <a:off x="5257800" y="2438400"/>
            <a:ext cx="0" cy="914400"/>
          </a:xfrm>
          <a:prstGeom prst="straightConnector1">
            <a:avLst/>
          </a:prstGeom>
          <a:noFill/>
          <a:ln w="57150" cap="flat" cmpd="sng">
            <a:solidFill>
              <a:schemeClr val="dk1"/>
            </a:solidFill>
            <a:prstDash val="solid"/>
            <a:miter lim="800000"/>
            <a:headEnd type="none" w="sm" len="sm"/>
            <a:tailEnd type="none" w="sm" len="sm"/>
          </a:ln>
        </p:spPr>
      </p:cxnSp>
      <p:cxnSp>
        <p:nvCxnSpPr>
          <p:cNvPr id="917" name="Google Shape;917;p73"/>
          <p:cNvCxnSpPr/>
          <p:nvPr/>
        </p:nvCxnSpPr>
        <p:spPr>
          <a:xfrm rot="10800000">
            <a:off x="5257800" y="3276600"/>
            <a:ext cx="0" cy="1371600"/>
          </a:xfrm>
          <a:prstGeom prst="straightConnector1">
            <a:avLst/>
          </a:prstGeom>
          <a:noFill/>
          <a:ln w="57150" cap="flat" cmpd="sng">
            <a:solidFill>
              <a:schemeClr val="dk1"/>
            </a:solidFill>
            <a:prstDash val="solid"/>
            <a:miter lim="800000"/>
            <a:headEnd type="none" w="sm" len="sm"/>
            <a:tailEnd type="none" w="sm" len="sm"/>
          </a:ln>
        </p:spPr>
      </p:cxnSp>
      <p:sp>
        <p:nvSpPr>
          <p:cNvPr id="918" name="Google Shape;918;p73"/>
          <p:cNvSpPr txBox="1"/>
          <p:nvPr/>
        </p:nvSpPr>
        <p:spPr>
          <a:xfrm>
            <a:off x="5791200" y="3333750"/>
            <a:ext cx="990600" cy="304800"/>
          </a:xfrm>
          <a:prstGeom prst="rect">
            <a:avLst/>
          </a:prstGeom>
          <a:gradFill>
            <a:gsLst>
              <a:gs pos="0">
                <a:srgbClr val="FF99CC"/>
              </a:gs>
              <a:gs pos="100000">
                <a:srgbClr val="FFFF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Transfer</a:t>
            </a:r>
            <a:endParaRPr/>
          </a:p>
        </p:txBody>
      </p:sp>
      <p:sp>
        <p:nvSpPr>
          <p:cNvPr id="919" name="Google Shape;919;p73"/>
          <p:cNvSpPr/>
          <p:nvPr/>
        </p:nvSpPr>
        <p:spPr>
          <a:xfrm>
            <a:off x="7086600" y="4572000"/>
            <a:ext cx="381000" cy="1524000"/>
          </a:xfrm>
          <a:prstGeom prst="rightBrace">
            <a:avLst>
              <a:gd name="adj1" fmla="val 8333"/>
              <a:gd name="adj2" fmla="val 5000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cxnSp>
        <p:nvCxnSpPr>
          <p:cNvPr id="920" name="Google Shape;920;p73"/>
          <p:cNvCxnSpPr/>
          <p:nvPr/>
        </p:nvCxnSpPr>
        <p:spPr>
          <a:xfrm>
            <a:off x="7010400" y="4572000"/>
            <a:ext cx="0" cy="1524000"/>
          </a:xfrm>
          <a:prstGeom prst="straightConnector1">
            <a:avLst/>
          </a:prstGeom>
          <a:noFill/>
          <a:ln w="57150" cap="flat" cmpd="sng">
            <a:solidFill>
              <a:schemeClr val="dk1"/>
            </a:solidFill>
            <a:prstDash val="solid"/>
            <a:miter lim="800000"/>
            <a:headEnd type="none" w="sm" len="sm"/>
            <a:tailEnd type="none" w="sm" len="sm"/>
          </a:ln>
        </p:spPr>
      </p:cxnSp>
      <p:cxnSp>
        <p:nvCxnSpPr>
          <p:cNvPr id="921" name="Google Shape;921;p73"/>
          <p:cNvCxnSpPr/>
          <p:nvPr/>
        </p:nvCxnSpPr>
        <p:spPr>
          <a:xfrm rot="10800000">
            <a:off x="7010400" y="2438400"/>
            <a:ext cx="0" cy="914400"/>
          </a:xfrm>
          <a:prstGeom prst="straightConnector1">
            <a:avLst/>
          </a:prstGeom>
          <a:noFill/>
          <a:ln w="57150" cap="flat" cmpd="sng">
            <a:solidFill>
              <a:schemeClr val="dk1"/>
            </a:solidFill>
            <a:prstDash val="solid"/>
            <a:miter lim="800000"/>
            <a:headEnd type="none" w="sm" len="sm"/>
            <a:tailEnd type="none" w="sm" len="sm"/>
          </a:ln>
        </p:spPr>
      </p:cxnSp>
      <p:cxnSp>
        <p:nvCxnSpPr>
          <p:cNvPr id="922" name="Google Shape;922;p73"/>
          <p:cNvCxnSpPr/>
          <p:nvPr/>
        </p:nvCxnSpPr>
        <p:spPr>
          <a:xfrm rot="10800000">
            <a:off x="7010400" y="3505200"/>
            <a:ext cx="0" cy="914400"/>
          </a:xfrm>
          <a:prstGeom prst="straightConnector1">
            <a:avLst/>
          </a:prstGeom>
          <a:noFill/>
          <a:ln w="57150" cap="flat" cmpd="sng">
            <a:solidFill>
              <a:schemeClr val="dk1"/>
            </a:solidFill>
            <a:prstDash val="solid"/>
            <a:miter lim="800000"/>
            <a:headEnd type="none" w="sm" len="sm"/>
            <a:tailEnd type="none" w="sm" len="sm"/>
          </a:ln>
        </p:spPr>
      </p:cxnSp>
      <p:sp>
        <p:nvSpPr>
          <p:cNvPr id="923" name="Google Shape;923;p73"/>
          <p:cNvSpPr txBox="1"/>
          <p:nvPr/>
        </p:nvSpPr>
        <p:spPr>
          <a:xfrm>
            <a:off x="7620000" y="5162550"/>
            <a:ext cx="990600" cy="304800"/>
          </a:xfrm>
          <a:prstGeom prst="rect">
            <a:avLst/>
          </a:prstGeom>
          <a:gradFill>
            <a:gsLst>
              <a:gs pos="0">
                <a:srgbClr val="FF99CC"/>
              </a:gs>
              <a:gs pos="100000">
                <a:srgbClr val="FFFFFF"/>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Transfer</a:t>
            </a:r>
            <a:endParaRPr/>
          </a:p>
        </p:txBody>
      </p:sp>
      <p:cxnSp>
        <p:nvCxnSpPr>
          <p:cNvPr id="924" name="Google Shape;924;p73"/>
          <p:cNvCxnSpPr/>
          <p:nvPr/>
        </p:nvCxnSpPr>
        <p:spPr>
          <a:xfrm>
            <a:off x="228600" y="2438400"/>
            <a:ext cx="0" cy="3581400"/>
          </a:xfrm>
          <a:prstGeom prst="straightConnector1">
            <a:avLst/>
          </a:prstGeom>
          <a:noFill/>
          <a:ln w="38100" cap="flat" cmpd="sng">
            <a:solidFill>
              <a:srgbClr val="236B23"/>
            </a:solidFill>
            <a:prstDash val="solid"/>
            <a:miter lim="800000"/>
            <a:headEnd type="none" w="sm" len="sm"/>
            <a:tailEnd type="stealth" w="med" len="med"/>
          </a:ln>
        </p:spPr>
      </p:cxnSp>
      <p:sp>
        <p:nvSpPr>
          <p:cNvPr id="925" name="Google Shape;925;p73"/>
          <p:cNvSpPr txBox="1"/>
          <p:nvPr/>
        </p:nvSpPr>
        <p:spPr>
          <a:xfrm>
            <a:off x="317500" y="3440112"/>
            <a:ext cx="749300" cy="3968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Time</a:t>
            </a:r>
            <a:endParaRPr/>
          </a:p>
        </p:txBody>
      </p:sp>
      <p:sp>
        <p:nvSpPr>
          <p:cNvPr id="926" name="Google Shape;926;p73"/>
          <p:cNvSpPr txBox="1"/>
          <p:nvPr/>
        </p:nvSpPr>
        <p:spPr>
          <a:xfrm>
            <a:off x="4648200" y="1828800"/>
            <a:ext cx="1219200" cy="381000"/>
          </a:xfrm>
          <a:prstGeom prst="rect">
            <a:avLst/>
          </a:prstGeom>
          <a:gradFill>
            <a:gsLst>
              <a:gs pos="0">
                <a:srgbClr val="FFFF99"/>
              </a:gs>
              <a:gs pos="100000">
                <a:schemeClr val="lt1"/>
              </a:gs>
            </a:gsLst>
            <a:path path="circle">
              <a:fillToRect l="50000" t="50000" r="50000" b="50000"/>
            </a:path>
            <a:tileRect/>
          </a:gradFill>
          <a:ln>
            <a:noFill/>
          </a:ln>
          <a:effectLst>
            <a:outerShdw blurRad="63500" dist="17960" dir="2700000">
              <a:srgbClr val="99995C"/>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Times New Roman"/>
              <a:buNone/>
            </a:pPr>
            <a:r>
              <a:rPr lang="en-US" sz="1800" b="0" i="0" u="none">
                <a:solidFill>
                  <a:schemeClr val="dk1"/>
                </a:solidFill>
                <a:latin typeface="Times New Roman"/>
                <a:ea typeface="Times New Roman"/>
                <a:cs typeface="Times New Roman"/>
                <a:sym typeface="Times New Roman"/>
              </a:rPr>
              <a:t>Thread 1</a:t>
            </a:r>
            <a:endParaRPr/>
          </a:p>
        </p:txBody>
      </p:sp>
      <p:sp>
        <p:nvSpPr>
          <p:cNvPr id="927" name="Google Shape;927;p73"/>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Tree>
  </p:cSld>
  <p:clrMapOvr>
    <a:masterClrMapping/>
  </p:clrMapOvr>
  <p:transition spd="slow">
    <p:fade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74"/>
          <p:cNvSpPr txBox="1"/>
          <p:nvPr/>
        </p:nvSpPr>
        <p:spPr>
          <a:xfrm>
            <a:off x="76200" y="4648200"/>
            <a:ext cx="8534400" cy="1143000"/>
          </a:xfrm>
          <a:prstGeom prst="rect">
            <a:avLst/>
          </a:prstGeom>
          <a:noFill/>
          <a:ln>
            <a:noFill/>
          </a:ln>
        </p:spPr>
        <p:txBody>
          <a:bodyPr spcFirstLastPara="1" wrap="square" lIns="91425" tIns="45700" rIns="91425" bIns="45700" anchor="ctr" anchorCtr="0">
            <a:noAutofit/>
          </a:bodyPr>
          <a:lstStyle/>
          <a:p>
            <a:pPr marL="457200" marR="0" lvl="0" indent="-457200" algn="l" rtl="0">
              <a:lnSpc>
                <a:spcPct val="100000"/>
              </a:lnSpc>
              <a:spcBef>
                <a:spcPts val="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1371600" marR="0" lvl="2" indent="-457200" algn="l" rtl="0">
              <a:lnSpc>
                <a:spcPct val="100000"/>
              </a:lnSpc>
              <a:spcBef>
                <a:spcPts val="360"/>
              </a:spcBef>
              <a:spcAft>
                <a:spcPts val="0"/>
              </a:spcAft>
              <a:buClr>
                <a:schemeClr val="accent1"/>
              </a:buClr>
              <a:buSzPts val="2250"/>
              <a:buFont typeface="Calibri"/>
              <a:buChar char="•"/>
            </a:pPr>
            <a:r>
              <a:rPr lang="en-US" sz="1800" b="0" i="0" u="none" strike="noStrike" cap="none">
                <a:solidFill>
                  <a:schemeClr val="dk1"/>
                </a:solidFill>
                <a:latin typeface="Calibri"/>
                <a:ea typeface="Calibri"/>
                <a:cs typeface="Calibri"/>
                <a:sym typeface="Calibri"/>
              </a:rPr>
              <a:t>The monitor controls the way in which synchronized methods access an object or class. </a:t>
            </a:r>
            <a:endParaRPr/>
          </a:p>
          <a:p>
            <a:pPr marL="1371600" marR="0" lvl="2" indent="-457200" algn="l" rtl="0">
              <a:lnSpc>
                <a:spcPct val="100000"/>
              </a:lnSpc>
              <a:spcBef>
                <a:spcPts val="360"/>
              </a:spcBef>
              <a:spcAft>
                <a:spcPts val="0"/>
              </a:spcAft>
              <a:buClr>
                <a:schemeClr val="accent1"/>
              </a:buClr>
              <a:buSzPts val="2250"/>
              <a:buFont typeface="Calibri"/>
              <a:buChar char="•"/>
            </a:pPr>
            <a:r>
              <a:rPr lang="en-US" sz="1800" b="0" i="0" u="none" strike="noStrike" cap="none">
                <a:solidFill>
                  <a:schemeClr val="dk1"/>
                </a:solidFill>
                <a:latin typeface="Calibri"/>
                <a:ea typeface="Calibri"/>
                <a:cs typeface="Calibri"/>
                <a:sym typeface="Calibri"/>
              </a:rPr>
              <a:t>To enter an object’s monitor, you need to call a synchronized method. </a:t>
            </a:r>
            <a:endParaRPr/>
          </a:p>
          <a:p>
            <a:pPr marL="1371600" marR="0" lvl="2" indent="-457200" algn="l" rtl="0">
              <a:lnSpc>
                <a:spcPct val="100000"/>
              </a:lnSpc>
              <a:spcBef>
                <a:spcPts val="36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a:t>
            </a:r>
            <a:endParaRPr/>
          </a:p>
        </p:txBody>
      </p:sp>
      <p:sp>
        <p:nvSpPr>
          <p:cNvPr id="933" name="Google Shape;933;p74"/>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
        <p:nvSpPr>
          <p:cNvPr id="934" name="Google Shape;934;p74"/>
          <p:cNvSpPr txBox="1"/>
          <p:nvPr/>
        </p:nvSpPr>
        <p:spPr>
          <a:xfrm>
            <a:off x="0" y="1524000"/>
            <a:ext cx="9144000" cy="914400"/>
          </a:xfrm>
          <a:prstGeom prst="rect">
            <a:avLst/>
          </a:prstGeom>
          <a:gradFill>
            <a:gsLst>
              <a:gs pos="0">
                <a:srgbClr val="96AB94"/>
              </a:gs>
              <a:gs pos="16999">
                <a:srgbClr val="D4DEFF"/>
              </a:gs>
              <a:gs pos="47000">
                <a:srgbClr val="D4DEFF"/>
              </a:gs>
              <a:gs pos="100000">
                <a:srgbClr val="8488C4"/>
              </a:gs>
            </a:gsLst>
            <a:lin ang="5400000" scaled="0"/>
          </a:gradFill>
          <a:ln>
            <a:noFill/>
          </a:ln>
          <a:effectLst>
            <a:outerShdw blurRad="63500" dist="17960" dir="2700000">
              <a:srgbClr val="4F5276"/>
            </a:outerShdw>
          </a:effectLst>
        </p:spPr>
        <p:txBody>
          <a:bodyPr spcFirstLastPara="1" wrap="square" lIns="91425" tIns="45700" rIns="91425" bIns="45700" anchor="ctr" anchorCtr="0">
            <a:noAutofit/>
          </a:bodyPr>
          <a:lstStyle/>
          <a:p>
            <a:pPr marL="914400" marR="0" lvl="2"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Synchronization of threads ensures that if two or more threads need to access a shared resource then that resource is used by only one thread at a time. </a:t>
            </a:r>
            <a:endParaRPr/>
          </a:p>
        </p:txBody>
      </p:sp>
      <p:sp>
        <p:nvSpPr>
          <p:cNvPr id="935" name="Google Shape;935;p74"/>
          <p:cNvSpPr txBox="1"/>
          <p:nvPr/>
        </p:nvSpPr>
        <p:spPr>
          <a:xfrm>
            <a:off x="0" y="1127125"/>
            <a:ext cx="3124200" cy="396875"/>
          </a:xfrm>
          <a:prstGeom prst="rect">
            <a:avLst/>
          </a:prstGeom>
          <a:gradFill>
            <a:gsLst>
              <a:gs pos="0">
                <a:srgbClr val="96AB94"/>
              </a:gs>
              <a:gs pos="16999">
                <a:srgbClr val="D4DEFF"/>
              </a:gs>
              <a:gs pos="47000">
                <a:srgbClr val="D4DEFF"/>
              </a:gs>
              <a:gs pos="100000">
                <a:srgbClr val="8488C4"/>
              </a:gs>
            </a:gsLst>
            <a:lin ang="5400000" scaled="0"/>
          </a:gradFill>
          <a:ln>
            <a:noFill/>
          </a:ln>
          <a:effectLst>
            <a:outerShdw blurRad="63500" dist="17960" dir="2700000">
              <a:srgbClr val="4F5276"/>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What is Synchronization?</a:t>
            </a:r>
            <a:endParaRPr/>
          </a:p>
        </p:txBody>
      </p:sp>
      <p:sp>
        <p:nvSpPr>
          <p:cNvPr id="936" name="Google Shape;936;p74"/>
          <p:cNvSpPr txBox="1"/>
          <p:nvPr/>
        </p:nvSpPr>
        <p:spPr>
          <a:xfrm>
            <a:off x="0" y="3260725"/>
            <a:ext cx="2743200" cy="396875"/>
          </a:xfrm>
          <a:prstGeom prst="rect">
            <a:avLst/>
          </a:prstGeom>
          <a:gradFill>
            <a:gsLst>
              <a:gs pos="0">
                <a:srgbClr val="96AB94"/>
              </a:gs>
              <a:gs pos="16999">
                <a:srgbClr val="D4DEFF"/>
              </a:gs>
              <a:gs pos="47000">
                <a:srgbClr val="D4DEFF"/>
              </a:gs>
              <a:gs pos="100000">
                <a:srgbClr val="8488C4"/>
              </a:gs>
            </a:gsLst>
            <a:lin ang="5400000" scaled="0"/>
          </a:gradFill>
          <a:ln>
            <a:noFill/>
          </a:ln>
          <a:effectLst>
            <a:outerShdw blurRad="63500" dist="17960" dir="2700000">
              <a:srgbClr val="4F5276"/>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What is a Monitor?</a:t>
            </a:r>
            <a:endParaRPr/>
          </a:p>
        </p:txBody>
      </p:sp>
      <p:sp>
        <p:nvSpPr>
          <p:cNvPr id="937" name="Google Shape;937;p74"/>
          <p:cNvSpPr txBox="1"/>
          <p:nvPr/>
        </p:nvSpPr>
        <p:spPr>
          <a:xfrm>
            <a:off x="0" y="3657600"/>
            <a:ext cx="9144000" cy="609600"/>
          </a:xfrm>
          <a:prstGeom prst="rect">
            <a:avLst/>
          </a:prstGeom>
          <a:gradFill>
            <a:gsLst>
              <a:gs pos="0">
                <a:srgbClr val="96AB94"/>
              </a:gs>
              <a:gs pos="16999">
                <a:srgbClr val="D4DEFF"/>
              </a:gs>
              <a:gs pos="47000">
                <a:srgbClr val="D4DEFF"/>
              </a:gs>
              <a:gs pos="100000">
                <a:srgbClr val="8488C4"/>
              </a:gs>
            </a:gsLst>
            <a:lin ang="5400000" scaled="0"/>
          </a:gradFill>
          <a:ln>
            <a:noFill/>
          </a:ln>
          <a:effectLst>
            <a:outerShdw blurRad="63500" dist="17960" dir="2700000">
              <a:srgbClr val="4F5276"/>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A monitor is an object that can block threads and notify them when it is available.</a:t>
            </a:r>
            <a:endParaRPr/>
          </a:p>
        </p:txBody>
      </p:sp>
      <p:sp>
        <p:nvSpPr>
          <p:cNvPr id="938" name="Google Shape;938;p74"/>
          <p:cNvSpPr txBox="1"/>
          <p:nvPr/>
        </p:nvSpPr>
        <p:spPr>
          <a:xfrm>
            <a:off x="76200" y="2362200"/>
            <a:ext cx="8077200" cy="838200"/>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chemeClr val="dk1"/>
              </a:buClr>
              <a:buFont typeface="Arial"/>
              <a:buNone/>
            </a:pPr>
            <a:endParaRPr sz="1800" b="0" i="0" u="none">
              <a:solidFill>
                <a:schemeClr val="dk1"/>
              </a:solidFill>
              <a:latin typeface="Calibri"/>
              <a:ea typeface="Calibri"/>
              <a:cs typeface="Calibri"/>
              <a:sym typeface="Calibri"/>
            </a:endParaRPr>
          </a:p>
          <a:p>
            <a:pPr marL="1371600" marR="0" lvl="2" indent="-457200" algn="l" rtl="0">
              <a:lnSpc>
                <a:spcPct val="100000"/>
              </a:lnSpc>
              <a:spcBef>
                <a:spcPts val="360"/>
              </a:spcBef>
              <a:spcAft>
                <a:spcPts val="0"/>
              </a:spcAft>
              <a:buClr>
                <a:schemeClr val="accent1"/>
              </a:buClr>
              <a:buSzPts val="2250"/>
              <a:buFont typeface="Calibri"/>
              <a:buChar char="•"/>
            </a:pPr>
            <a:r>
              <a:rPr lang="en-US" sz="1800" b="0" i="0" u="none" strike="noStrike" cap="none">
                <a:solidFill>
                  <a:schemeClr val="dk1"/>
                </a:solidFill>
                <a:latin typeface="Calibri"/>
                <a:ea typeface="Calibri"/>
                <a:cs typeface="Calibri"/>
                <a:sym typeface="Calibri"/>
              </a:rPr>
              <a:t>Synchronization is based on the concept of monitor. </a:t>
            </a:r>
            <a:endParaRPr/>
          </a:p>
          <a:p>
            <a:pPr marL="1371600" marR="0" lvl="2" indent="-457200" algn="l" rtl="0">
              <a:lnSpc>
                <a:spcPct val="100000"/>
              </a:lnSpc>
              <a:spcBef>
                <a:spcPts val="36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a:t>
            </a:r>
            <a:endParaRPr/>
          </a:p>
          <a:p>
            <a:pPr marL="1371600" marR="0" lvl="2" indent="-457200" algn="l" rtl="0">
              <a:lnSpc>
                <a:spcPct val="100000"/>
              </a:lnSpc>
              <a:spcBef>
                <a:spcPts val="360"/>
              </a:spcBef>
              <a:spcAft>
                <a:spcPts val="0"/>
              </a:spcAft>
              <a:buClr>
                <a:schemeClr val="dk1"/>
              </a:buClr>
              <a:buFont typeface="Arial"/>
              <a:buNone/>
            </a:pPr>
            <a:endParaRPr sz="1800" b="0" i="0" u="none" strike="noStrike" cap="none">
              <a:solidFill>
                <a:schemeClr val="dk1"/>
              </a:solidFill>
              <a:latin typeface="Calibri"/>
              <a:ea typeface="Calibri"/>
              <a:cs typeface="Calibri"/>
              <a:sym typeface="Calibri"/>
            </a:endParaRPr>
          </a:p>
          <a:p>
            <a:pPr marL="1371600" marR="0" lvl="2" indent="-457200" algn="l" rtl="0">
              <a:lnSpc>
                <a:spcPct val="100000"/>
              </a:lnSpc>
              <a:spcBef>
                <a:spcPts val="36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 </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35"/>
                                        </p:tgtEl>
                                        <p:attrNameLst>
                                          <p:attrName>style.visibility</p:attrName>
                                        </p:attrNameLst>
                                      </p:cBhvr>
                                      <p:to>
                                        <p:strVal val="visible"/>
                                      </p:to>
                                    </p:set>
                                    <p:animEffect transition="in" filter="fade">
                                      <p:cBhvr>
                                        <p:cTn id="7" dur="500"/>
                                        <p:tgtEl>
                                          <p:spTgt spid="93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34"/>
                                        </p:tgtEl>
                                        <p:attrNameLst>
                                          <p:attrName>style.visibility</p:attrName>
                                        </p:attrNameLst>
                                      </p:cBhvr>
                                      <p:to>
                                        <p:strVal val="visible"/>
                                      </p:to>
                                    </p:set>
                                    <p:animEffect transition="in" filter="fade">
                                      <p:cBhvr>
                                        <p:cTn id="11" dur="500"/>
                                        <p:tgtEl>
                                          <p:spTgt spid="93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38"/>
                                        </p:tgtEl>
                                        <p:attrNameLst>
                                          <p:attrName>style.visibility</p:attrName>
                                        </p:attrNameLst>
                                      </p:cBhvr>
                                      <p:to>
                                        <p:strVal val="visible"/>
                                      </p:to>
                                    </p:set>
                                    <p:animEffect transition="in" filter="fade">
                                      <p:cBhvr>
                                        <p:cTn id="16" dur="500"/>
                                        <p:tgtEl>
                                          <p:spTgt spid="93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936"/>
                                        </p:tgtEl>
                                        <p:attrNameLst>
                                          <p:attrName>style.visibility</p:attrName>
                                        </p:attrNameLst>
                                      </p:cBhvr>
                                      <p:to>
                                        <p:strVal val="visible"/>
                                      </p:to>
                                    </p:set>
                                    <p:animEffect transition="in" filter="fade">
                                      <p:cBhvr>
                                        <p:cTn id="21" dur="500"/>
                                        <p:tgtEl>
                                          <p:spTgt spid="936"/>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937"/>
                                        </p:tgtEl>
                                        <p:attrNameLst>
                                          <p:attrName>style.visibility</p:attrName>
                                        </p:attrNameLst>
                                      </p:cBhvr>
                                      <p:to>
                                        <p:strVal val="visible"/>
                                      </p:to>
                                    </p:set>
                                    <p:animEffect transition="in" filter="fade">
                                      <p:cBhvr>
                                        <p:cTn id="25" dur="500"/>
                                        <p:tgtEl>
                                          <p:spTgt spid="9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p75"/>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Font typeface="Calibri"/>
              <a:buNone/>
            </a:pPr>
            <a:fld id="{00000000-1234-1234-1234-123412341234}" type="slidenum">
              <a:rPr lang="en-US" sz="1200" b="0" i="0" u="none">
                <a:solidFill>
                  <a:srgbClr val="898989"/>
                </a:solidFill>
                <a:latin typeface="Calibri"/>
                <a:ea typeface="Calibri"/>
                <a:cs typeface="Calibri"/>
                <a:sym typeface="Calibri"/>
              </a:rPr>
              <a:t>59</a:t>
            </a:fld>
            <a:endParaRPr/>
          </a:p>
        </p:txBody>
      </p:sp>
      <p:sp>
        <p:nvSpPr>
          <p:cNvPr id="944" name="Google Shape;944;p7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Accessing Shared Resources</a:t>
            </a:r>
            <a:endParaRPr/>
          </a:p>
        </p:txBody>
      </p:sp>
      <p:sp>
        <p:nvSpPr>
          <p:cNvPr id="945" name="Google Shape;945;p7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Applications Access to Shared Resources need to be coordinated.</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Printer (two person jobs cannot be printed at the same time)</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Simultaneous operations on your bank account. </a:t>
            </a:r>
            <a:endParaRPr/>
          </a:p>
          <a:p>
            <a:pPr marL="742950" marR="0" lvl="1" indent="-28575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Can the following operations be done at the same time on the same account?</a:t>
            </a:r>
            <a:endParaRPr/>
          </a:p>
          <a:p>
            <a:pPr marL="11430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Deposit()</a:t>
            </a:r>
            <a:endParaRPr/>
          </a:p>
          <a:p>
            <a:pPr marL="11430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Withdraw()</a:t>
            </a:r>
            <a:endParaRPr/>
          </a:p>
          <a:p>
            <a:pPr marL="1143000" marR="0" lvl="2" indent="-228600" algn="l" rtl="0">
              <a:lnSpc>
                <a:spcPct val="100000"/>
              </a:lnSpc>
              <a:spcBef>
                <a:spcPts val="400"/>
              </a:spcBef>
              <a:spcAft>
                <a:spcPts val="0"/>
              </a:spcAft>
              <a:buClr>
                <a:schemeClr val="dk1"/>
              </a:buClr>
              <a:buSzPts val="2000"/>
              <a:buFont typeface="Arial"/>
              <a:buChar char="•"/>
            </a:pPr>
            <a:r>
              <a:rPr lang="en-US" sz="2000" b="0" i="0" u="none" strike="noStrike" cap="none">
                <a:solidFill>
                  <a:schemeClr val="dk1"/>
                </a:solidFill>
                <a:latin typeface="Calibri"/>
                <a:ea typeface="Calibri"/>
                <a:cs typeface="Calibri"/>
                <a:sym typeface="Calibri"/>
              </a:rPr>
              <a:t>Enquire()</a:t>
            </a:r>
            <a:endParaRPr/>
          </a:p>
        </p:txBody>
      </p:sp>
    </p:spTree>
  </p:cSld>
  <p:clrMapOvr>
    <a:masterClrMapping/>
  </p:clrMapOvr>
  <p:transition spd="slow">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p76"/>
          <p:cNvSpPr txBox="1"/>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Font typeface="Calibri"/>
              <a:buNone/>
            </a:pPr>
            <a:fld id="{00000000-1234-1234-1234-123412341234}" type="slidenum">
              <a:rPr lang="en-US" sz="1200" b="0" i="0" u="none">
                <a:solidFill>
                  <a:srgbClr val="898989"/>
                </a:solidFill>
                <a:latin typeface="Calibri"/>
                <a:ea typeface="Calibri"/>
                <a:cs typeface="Calibri"/>
                <a:sym typeface="Calibri"/>
              </a:rPr>
              <a:t>60</a:t>
            </a:fld>
            <a:endParaRPr/>
          </a:p>
        </p:txBody>
      </p:sp>
      <p:pic>
        <p:nvPicPr>
          <p:cNvPr id="951" name="Google Shape;951;p76"/>
          <p:cNvPicPr preferRelativeResize="0">
            <a:picLocks noGrp="1"/>
          </p:cNvPicPr>
          <p:nvPr>
            <p:ph type="body" idx="1"/>
          </p:nvPr>
        </p:nvPicPr>
        <p:blipFill rotWithShape="1">
          <a:blip r:embed="rId3">
            <a:alphaModFix/>
          </a:blip>
          <a:srcRect/>
          <a:stretch/>
        </p:blipFill>
        <p:spPr>
          <a:xfrm>
            <a:off x="152400" y="4495800"/>
            <a:ext cx="671512" cy="990600"/>
          </a:xfrm>
          <a:prstGeom prst="rect">
            <a:avLst/>
          </a:prstGeom>
          <a:noFill/>
          <a:ln>
            <a:noFill/>
          </a:ln>
        </p:spPr>
      </p:pic>
      <p:sp>
        <p:nvSpPr>
          <p:cNvPr id="952" name="Google Shape;952;p76"/>
          <p:cNvSpPr txBox="1">
            <a:spLocks noGrp="1"/>
          </p:cNvSpPr>
          <p:nvPr>
            <p:ph type="title"/>
          </p:nvPr>
        </p:nvSpPr>
        <p:spPr>
          <a:xfrm>
            <a:off x="152400" y="152400"/>
            <a:ext cx="8791575" cy="990600"/>
          </a:xfrm>
          <a:prstGeom prst="rect">
            <a:avLst/>
          </a:prstGeom>
          <a:noFill/>
          <a:ln>
            <a:noFill/>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dk1"/>
              </a:buClr>
              <a:buFont typeface="Calibri"/>
              <a:buNone/>
            </a:pPr>
            <a:r>
              <a:rPr lang="en-US" sz="3600" b="0" i="0" u="none" strike="noStrike" cap="none">
                <a:solidFill>
                  <a:schemeClr val="dk1"/>
                </a:solidFill>
                <a:latin typeface="Calibri"/>
                <a:ea typeface="Calibri"/>
                <a:cs typeface="Calibri"/>
                <a:sym typeface="Calibri"/>
              </a:rPr>
              <a:t>Online Bank: Serving Many Customers and Operations</a:t>
            </a:r>
            <a:endParaRPr/>
          </a:p>
        </p:txBody>
      </p:sp>
      <p:pic>
        <p:nvPicPr>
          <p:cNvPr id="953" name="Google Shape;953;p76"/>
          <p:cNvPicPr preferRelativeResize="0">
            <a:picLocks noGrp="1"/>
          </p:cNvPicPr>
          <p:nvPr>
            <p:ph type="body" idx="2"/>
          </p:nvPr>
        </p:nvPicPr>
        <p:blipFill rotWithShape="1">
          <a:blip r:embed="rId4">
            <a:alphaModFix/>
          </a:blip>
          <a:srcRect/>
          <a:stretch/>
        </p:blipFill>
        <p:spPr>
          <a:xfrm>
            <a:off x="0" y="2971800"/>
            <a:ext cx="1122362" cy="914400"/>
          </a:xfrm>
          <a:prstGeom prst="rect">
            <a:avLst/>
          </a:prstGeom>
          <a:noFill/>
          <a:ln>
            <a:noFill/>
          </a:ln>
        </p:spPr>
      </p:pic>
      <p:sp>
        <p:nvSpPr>
          <p:cNvPr id="954" name="Google Shape;954;p76"/>
          <p:cNvSpPr/>
          <p:nvPr/>
        </p:nvSpPr>
        <p:spPr>
          <a:xfrm>
            <a:off x="2659062" y="4273550"/>
            <a:ext cx="1328737" cy="668337"/>
          </a:xfrm>
          <a:custGeom>
            <a:avLst/>
            <a:gdLst/>
            <a:ahLst/>
            <a:cxnLst/>
            <a:rect l="l" t="t" r="r" b="b"/>
            <a:pathLst>
              <a:path w="120000" h="120000" fill="none" extrusionOk="0">
                <a:moveTo>
                  <a:pt x="119995" y="0"/>
                </a:moveTo>
                <a:cubicBezTo>
                  <a:pt x="119995" y="94"/>
                  <a:pt x="120000" y="188"/>
                  <a:pt x="120000" y="288"/>
                </a:cubicBezTo>
                <a:cubicBezTo>
                  <a:pt x="120000" y="66401"/>
                  <a:pt x="73285" y="120000"/>
                  <a:pt x="15664" y="120000"/>
                </a:cubicBezTo>
                <a:cubicBezTo>
                  <a:pt x="10419" y="120000"/>
                  <a:pt x="5182" y="119545"/>
                  <a:pt x="-4" y="118642"/>
                </a:cubicBezTo>
              </a:path>
              <a:path w="120000" h="120000" extrusionOk="0">
                <a:moveTo>
                  <a:pt x="119995" y="0"/>
                </a:moveTo>
                <a:cubicBezTo>
                  <a:pt x="119995" y="94"/>
                  <a:pt x="120000" y="188"/>
                  <a:pt x="120000" y="288"/>
                </a:cubicBezTo>
                <a:cubicBezTo>
                  <a:pt x="120000" y="66401"/>
                  <a:pt x="73285" y="120000"/>
                  <a:pt x="15664" y="120000"/>
                </a:cubicBezTo>
                <a:cubicBezTo>
                  <a:pt x="10419" y="120000"/>
                  <a:pt x="5182" y="119545"/>
                  <a:pt x="-4" y="118642"/>
                </a:cubicBezTo>
                <a:lnTo>
                  <a:pt x="15664" y="288"/>
                </a:lnTo>
                <a:close/>
              </a:path>
            </a:pathLst>
          </a:custGeom>
          <a:noFill/>
          <a:ln w="127000" cap="rnd" cmpd="sng">
            <a:solidFill>
              <a:srgbClr val="FAFD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55" name="Google Shape;955;p76"/>
          <p:cNvSpPr/>
          <p:nvPr/>
        </p:nvSpPr>
        <p:spPr>
          <a:xfrm>
            <a:off x="4049712" y="2917825"/>
            <a:ext cx="4133850" cy="2339975"/>
          </a:xfrm>
          <a:prstGeom prst="ellipse">
            <a:avLst/>
          </a:prstGeom>
          <a:solidFill>
            <a:schemeClr val="dk1"/>
          </a:solidFill>
          <a:ln w="127000" cap="flat" cmpd="sng">
            <a:solidFill>
              <a:srgbClr val="FAFD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956" name="Google Shape;956;p76"/>
          <p:cNvPicPr preferRelativeResize="0"/>
          <p:nvPr/>
        </p:nvPicPr>
        <p:blipFill rotWithShape="1">
          <a:blip r:embed="rId5">
            <a:alphaModFix/>
          </a:blip>
          <a:srcRect/>
          <a:stretch/>
        </p:blipFill>
        <p:spPr>
          <a:xfrm>
            <a:off x="6888162" y="2324100"/>
            <a:ext cx="1134447" cy="1023968"/>
          </a:xfrm>
          <a:prstGeom prst="rect">
            <a:avLst/>
          </a:prstGeom>
          <a:noFill/>
          <a:ln>
            <a:noFill/>
          </a:ln>
        </p:spPr>
      </p:pic>
      <p:pic>
        <p:nvPicPr>
          <p:cNvPr id="957" name="Google Shape;957;p76"/>
          <p:cNvPicPr preferRelativeResize="0"/>
          <p:nvPr/>
        </p:nvPicPr>
        <p:blipFill rotWithShape="1">
          <a:blip r:embed="rId6">
            <a:alphaModFix/>
          </a:blip>
          <a:srcRect/>
          <a:stretch/>
        </p:blipFill>
        <p:spPr>
          <a:xfrm>
            <a:off x="7802562" y="3797300"/>
            <a:ext cx="806232" cy="1230791"/>
          </a:xfrm>
          <a:prstGeom prst="rect">
            <a:avLst/>
          </a:prstGeom>
          <a:noFill/>
          <a:ln>
            <a:noFill/>
          </a:ln>
        </p:spPr>
      </p:pic>
      <p:pic>
        <p:nvPicPr>
          <p:cNvPr id="958" name="Google Shape;958;p76"/>
          <p:cNvPicPr preferRelativeResize="0"/>
          <p:nvPr/>
        </p:nvPicPr>
        <p:blipFill rotWithShape="1">
          <a:blip r:embed="rId7">
            <a:alphaModFix/>
          </a:blip>
          <a:srcRect/>
          <a:stretch/>
        </p:blipFill>
        <p:spPr>
          <a:xfrm>
            <a:off x="5668962" y="4495800"/>
            <a:ext cx="1286014" cy="1524253"/>
          </a:xfrm>
          <a:prstGeom prst="rect">
            <a:avLst/>
          </a:prstGeom>
          <a:noFill/>
          <a:ln>
            <a:noFill/>
          </a:ln>
        </p:spPr>
      </p:pic>
      <p:sp>
        <p:nvSpPr>
          <p:cNvPr id="959" name="Google Shape;959;p76"/>
          <p:cNvSpPr/>
          <p:nvPr/>
        </p:nvSpPr>
        <p:spPr>
          <a:xfrm rot="-10260000">
            <a:off x="2163762" y="4787900"/>
            <a:ext cx="590550" cy="228600"/>
          </a:xfrm>
          <a:prstGeom prst="rightArrow">
            <a:avLst>
              <a:gd name="adj1" fmla="val 10049"/>
              <a:gd name="adj2" fmla="val 50000"/>
            </a:avLst>
          </a:prstGeom>
          <a:solidFill>
            <a:srgbClr val="FAFD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60" name="Google Shape;960;p76"/>
          <p:cNvSpPr txBox="1"/>
          <p:nvPr/>
        </p:nvSpPr>
        <p:spPr>
          <a:xfrm>
            <a:off x="2620962" y="3111500"/>
            <a:ext cx="2103437" cy="819150"/>
          </a:xfrm>
          <a:prstGeom prst="rect">
            <a:avLst/>
          </a:prstGeom>
          <a:noFill/>
          <a:ln>
            <a:noFill/>
          </a:ln>
        </p:spPr>
        <p:txBody>
          <a:bodyPr spcFirstLastPara="1" wrap="square" lIns="90475" tIns="44450" rIns="90475" bIns="44450" anchor="t" anchorCtr="0">
            <a:noAutofit/>
          </a:bodyPr>
          <a:lstStyle/>
          <a:p>
            <a:pPr marL="0" marR="0" lvl="0" indent="0" algn="l" rtl="0">
              <a:lnSpc>
                <a:spcPct val="100000"/>
              </a:lnSpc>
              <a:spcBef>
                <a:spcPts val="0"/>
              </a:spcBef>
              <a:spcAft>
                <a:spcPts val="0"/>
              </a:spcAft>
              <a:buClr>
                <a:srgbClr val="FC0128"/>
              </a:buClr>
              <a:buFont typeface="Times New Roman"/>
              <a:buNone/>
            </a:pPr>
            <a:r>
              <a:rPr lang="en-US" sz="2400" b="1" i="0" u="none">
                <a:solidFill>
                  <a:srgbClr val="FC0128"/>
                </a:solidFill>
                <a:latin typeface="Times New Roman"/>
                <a:ea typeface="Times New Roman"/>
                <a:cs typeface="Times New Roman"/>
                <a:sym typeface="Times New Roman"/>
              </a:rPr>
              <a:t>Internet Bank Server</a:t>
            </a:r>
            <a:endParaRPr/>
          </a:p>
        </p:txBody>
      </p:sp>
      <p:sp>
        <p:nvSpPr>
          <p:cNvPr id="961" name="Google Shape;961;p76"/>
          <p:cNvSpPr txBox="1"/>
          <p:nvPr/>
        </p:nvSpPr>
        <p:spPr>
          <a:xfrm>
            <a:off x="7162800" y="1905000"/>
            <a:ext cx="1373187" cy="454025"/>
          </a:xfrm>
          <a:prstGeom prst="rect">
            <a:avLst/>
          </a:prstGeom>
          <a:noFill/>
          <a:ln>
            <a:noFill/>
          </a:ln>
        </p:spPr>
        <p:txBody>
          <a:bodyPr spcFirstLastPara="1" wrap="square" lIns="90475" tIns="44450" rIns="90475" bIns="44450" anchor="t" anchorCtr="0">
            <a:noAutofit/>
          </a:bodyPr>
          <a:lstStyle/>
          <a:p>
            <a:pPr marL="0" marR="0" lvl="0" indent="0" algn="l" rtl="0">
              <a:lnSpc>
                <a:spcPct val="100000"/>
              </a:lnSpc>
              <a:spcBef>
                <a:spcPts val="0"/>
              </a:spcBef>
              <a:spcAft>
                <a:spcPts val="0"/>
              </a:spcAft>
              <a:buClr>
                <a:srgbClr val="FC0128"/>
              </a:buClr>
              <a:buFont typeface="Times New Roman"/>
              <a:buNone/>
            </a:pPr>
            <a:r>
              <a:rPr lang="en-US" sz="2400" b="1" i="0" u="none">
                <a:solidFill>
                  <a:srgbClr val="FC0128"/>
                </a:solidFill>
                <a:latin typeface="Times New Roman"/>
                <a:ea typeface="Times New Roman"/>
                <a:cs typeface="Times New Roman"/>
                <a:sym typeface="Times New Roman"/>
              </a:rPr>
              <a:t>PC client</a:t>
            </a:r>
            <a:endParaRPr/>
          </a:p>
        </p:txBody>
      </p:sp>
      <p:sp>
        <p:nvSpPr>
          <p:cNvPr id="962" name="Google Shape;962;p76"/>
          <p:cNvSpPr txBox="1"/>
          <p:nvPr/>
        </p:nvSpPr>
        <p:spPr>
          <a:xfrm>
            <a:off x="5080000" y="3949700"/>
            <a:ext cx="2397125" cy="393700"/>
          </a:xfrm>
          <a:prstGeom prst="rect">
            <a:avLst/>
          </a:prstGeom>
          <a:noFill/>
          <a:ln>
            <a:noFill/>
          </a:ln>
        </p:spPr>
        <p:txBody>
          <a:bodyPr spcFirstLastPara="1" wrap="square" lIns="90475" tIns="44450" rIns="90475" bIns="44450" anchor="t" anchorCtr="0">
            <a:noAutofit/>
          </a:bodyPr>
          <a:lstStyle/>
          <a:p>
            <a:pPr marL="0" marR="0" lvl="0" indent="0" algn="r" rtl="0">
              <a:lnSpc>
                <a:spcPct val="100000"/>
              </a:lnSpc>
              <a:spcBef>
                <a:spcPts val="0"/>
              </a:spcBef>
              <a:spcAft>
                <a:spcPts val="0"/>
              </a:spcAft>
              <a:buClr>
                <a:srgbClr val="FC0128"/>
              </a:buClr>
              <a:buFont typeface="Times New Roman"/>
              <a:buNone/>
            </a:pPr>
            <a:r>
              <a:rPr lang="en-US" sz="2000" b="1" i="0" u="none">
                <a:solidFill>
                  <a:srgbClr val="FC0128"/>
                </a:solidFill>
                <a:latin typeface="Times New Roman"/>
                <a:ea typeface="Times New Roman"/>
                <a:cs typeface="Times New Roman"/>
                <a:sym typeface="Times New Roman"/>
              </a:rPr>
              <a:t>Local Area Network</a:t>
            </a:r>
            <a:endParaRPr/>
          </a:p>
        </p:txBody>
      </p:sp>
      <p:pic>
        <p:nvPicPr>
          <p:cNvPr id="963" name="Google Shape;963;p76"/>
          <p:cNvPicPr preferRelativeResize="0"/>
          <p:nvPr/>
        </p:nvPicPr>
        <p:blipFill rotWithShape="1">
          <a:blip r:embed="rId8">
            <a:alphaModFix/>
          </a:blip>
          <a:srcRect/>
          <a:stretch/>
        </p:blipFill>
        <p:spPr>
          <a:xfrm>
            <a:off x="3367087" y="3522662"/>
            <a:ext cx="1747304" cy="1094718"/>
          </a:xfrm>
          <a:prstGeom prst="rect">
            <a:avLst/>
          </a:prstGeom>
          <a:noFill/>
          <a:ln>
            <a:noFill/>
          </a:ln>
        </p:spPr>
      </p:pic>
      <p:grpSp>
        <p:nvGrpSpPr>
          <p:cNvPr id="964" name="Google Shape;964;p76"/>
          <p:cNvGrpSpPr/>
          <p:nvPr/>
        </p:nvGrpSpPr>
        <p:grpSpPr>
          <a:xfrm>
            <a:off x="609600" y="3200400"/>
            <a:ext cx="1782762" cy="1981200"/>
            <a:chOff x="558800" y="2867025"/>
            <a:chExt cx="1509712" cy="1773237"/>
          </a:xfrm>
        </p:grpSpPr>
        <p:sp>
          <p:nvSpPr>
            <p:cNvPr id="965" name="Google Shape;965;p76"/>
            <p:cNvSpPr/>
            <p:nvPr/>
          </p:nvSpPr>
          <p:spPr>
            <a:xfrm>
              <a:off x="558800" y="2867025"/>
              <a:ext cx="1509712" cy="1773237"/>
            </a:xfrm>
            <a:prstGeom prst="ellipse">
              <a:avLst/>
            </a:prstGeom>
            <a:solidFill>
              <a:srgbClr val="A2C1FE"/>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966" name="Google Shape;966;p76"/>
            <p:cNvGrpSpPr/>
            <p:nvPr/>
          </p:nvGrpSpPr>
          <p:grpSpPr>
            <a:xfrm>
              <a:off x="566737" y="3062287"/>
              <a:ext cx="1411288" cy="1333500"/>
              <a:chOff x="566737" y="3062287"/>
              <a:chExt cx="1411288" cy="1333500"/>
            </a:xfrm>
          </p:grpSpPr>
          <p:sp>
            <p:nvSpPr>
              <p:cNvPr id="967" name="Google Shape;967;p76"/>
              <p:cNvSpPr/>
              <p:nvPr/>
            </p:nvSpPr>
            <p:spPr>
              <a:xfrm>
                <a:off x="566737" y="3579812"/>
                <a:ext cx="465137" cy="709612"/>
              </a:xfrm>
              <a:custGeom>
                <a:avLst/>
                <a:gdLst/>
                <a:ahLst/>
                <a:cxnLst/>
                <a:rect l="l" t="t" r="r" b="b"/>
                <a:pathLst>
                  <a:path w="120000" h="120000" extrusionOk="0">
                    <a:moveTo>
                      <a:pt x="17201" y="9664"/>
                    </a:moveTo>
                    <a:lnTo>
                      <a:pt x="15153" y="15302"/>
                    </a:lnTo>
                    <a:lnTo>
                      <a:pt x="12286" y="17181"/>
                    </a:lnTo>
                    <a:lnTo>
                      <a:pt x="8191" y="18791"/>
                    </a:lnTo>
                    <a:lnTo>
                      <a:pt x="6143" y="22013"/>
                    </a:lnTo>
                    <a:lnTo>
                      <a:pt x="2866" y="27114"/>
                    </a:lnTo>
                    <a:lnTo>
                      <a:pt x="2866" y="30335"/>
                    </a:lnTo>
                    <a:lnTo>
                      <a:pt x="1638" y="34899"/>
                    </a:lnTo>
                    <a:lnTo>
                      <a:pt x="0" y="40536"/>
                    </a:lnTo>
                    <a:lnTo>
                      <a:pt x="4914" y="46174"/>
                    </a:lnTo>
                    <a:lnTo>
                      <a:pt x="9829" y="51275"/>
                    </a:lnTo>
                    <a:lnTo>
                      <a:pt x="15153" y="56644"/>
                    </a:lnTo>
                    <a:lnTo>
                      <a:pt x="17610" y="53959"/>
                    </a:lnTo>
                    <a:lnTo>
                      <a:pt x="25392" y="53959"/>
                    </a:lnTo>
                    <a:lnTo>
                      <a:pt x="36040" y="53959"/>
                    </a:lnTo>
                    <a:lnTo>
                      <a:pt x="45460" y="57181"/>
                    </a:lnTo>
                    <a:lnTo>
                      <a:pt x="45051" y="64697"/>
                    </a:lnTo>
                    <a:lnTo>
                      <a:pt x="50784" y="75436"/>
                    </a:lnTo>
                    <a:lnTo>
                      <a:pt x="51604" y="77046"/>
                    </a:lnTo>
                    <a:lnTo>
                      <a:pt x="50784" y="80000"/>
                    </a:lnTo>
                    <a:lnTo>
                      <a:pt x="53242" y="83221"/>
                    </a:lnTo>
                    <a:lnTo>
                      <a:pt x="49146" y="90469"/>
                    </a:lnTo>
                    <a:lnTo>
                      <a:pt x="52013" y="96644"/>
                    </a:lnTo>
                    <a:lnTo>
                      <a:pt x="54880" y="102281"/>
                    </a:lnTo>
                    <a:lnTo>
                      <a:pt x="56928" y="108456"/>
                    </a:lnTo>
                    <a:lnTo>
                      <a:pt x="60204" y="114630"/>
                    </a:lnTo>
                    <a:lnTo>
                      <a:pt x="63071" y="119731"/>
                    </a:lnTo>
                    <a:lnTo>
                      <a:pt x="69215" y="118926"/>
                    </a:lnTo>
                    <a:lnTo>
                      <a:pt x="80273" y="114362"/>
                    </a:lnTo>
                    <a:lnTo>
                      <a:pt x="84778" y="109261"/>
                    </a:lnTo>
                    <a:lnTo>
                      <a:pt x="84778" y="105503"/>
                    </a:lnTo>
                    <a:lnTo>
                      <a:pt x="88464" y="103355"/>
                    </a:lnTo>
                    <a:lnTo>
                      <a:pt x="90921" y="101744"/>
                    </a:lnTo>
                    <a:lnTo>
                      <a:pt x="90102" y="99060"/>
                    </a:lnTo>
                    <a:lnTo>
                      <a:pt x="89692" y="96644"/>
                    </a:lnTo>
                    <a:lnTo>
                      <a:pt x="98703" y="88322"/>
                    </a:lnTo>
                    <a:lnTo>
                      <a:pt x="100750" y="80805"/>
                    </a:lnTo>
                    <a:lnTo>
                      <a:pt x="98703" y="78657"/>
                    </a:lnTo>
                    <a:lnTo>
                      <a:pt x="99112" y="76510"/>
                    </a:lnTo>
                    <a:lnTo>
                      <a:pt x="97474" y="73557"/>
                    </a:lnTo>
                    <a:lnTo>
                      <a:pt x="103617" y="66845"/>
                    </a:lnTo>
                    <a:lnTo>
                      <a:pt x="103617" y="63355"/>
                    </a:lnTo>
                    <a:lnTo>
                      <a:pt x="113447" y="57986"/>
                    </a:lnTo>
                    <a:lnTo>
                      <a:pt x="119590" y="42684"/>
                    </a:lnTo>
                    <a:lnTo>
                      <a:pt x="110170" y="46174"/>
                    </a:lnTo>
                    <a:lnTo>
                      <a:pt x="102798" y="44026"/>
                    </a:lnTo>
                    <a:lnTo>
                      <a:pt x="103617" y="40268"/>
                    </a:lnTo>
                    <a:lnTo>
                      <a:pt x="95836" y="36241"/>
                    </a:lnTo>
                    <a:lnTo>
                      <a:pt x="92559" y="27114"/>
                    </a:lnTo>
                    <a:lnTo>
                      <a:pt x="84778" y="18523"/>
                    </a:lnTo>
                    <a:lnTo>
                      <a:pt x="85187" y="13959"/>
                    </a:lnTo>
                    <a:lnTo>
                      <a:pt x="85187" y="13154"/>
                    </a:lnTo>
                    <a:lnTo>
                      <a:pt x="80682" y="13154"/>
                    </a:lnTo>
                    <a:lnTo>
                      <a:pt x="78225" y="13959"/>
                    </a:lnTo>
                    <a:lnTo>
                      <a:pt x="67576" y="10738"/>
                    </a:lnTo>
                    <a:lnTo>
                      <a:pt x="61843" y="16107"/>
                    </a:lnTo>
                    <a:lnTo>
                      <a:pt x="57747" y="12080"/>
                    </a:lnTo>
                    <a:lnTo>
                      <a:pt x="56109" y="10201"/>
                    </a:lnTo>
                    <a:lnTo>
                      <a:pt x="50375" y="9664"/>
                    </a:lnTo>
                    <a:lnTo>
                      <a:pt x="49965" y="2953"/>
                    </a:lnTo>
                    <a:lnTo>
                      <a:pt x="41365" y="4026"/>
                    </a:lnTo>
                    <a:lnTo>
                      <a:pt x="28668" y="0"/>
                    </a:lnTo>
                    <a:lnTo>
                      <a:pt x="26211" y="3489"/>
                    </a:lnTo>
                    <a:lnTo>
                      <a:pt x="21706" y="6442"/>
                    </a:lnTo>
                    <a:lnTo>
                      <a:pt x="17201" y="9664"/>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68" name="Google Shape;968;p76"/>
              <p:cNvSpPr/>
              <p:nvPr/>
            </p:nvSpPr>
            <p:spPr>
              <a:xfrm>
                <a:off x="1898650" y="4176712"/>
                <a:ext cx="79375" cy="131762"/>
              </a:xfrm>
              <a:custGeom>
                <a:avLst/>
                <a:gdLst/>
                <a:ahLst/>
                <a:cxnLst/>
                <a:rect l="l" t="t" r="r" b="b"/>
                <a:pathLst>
                  <a:path w="120000" h="120000" extrusionOk="0">
                    <a:moveTo>
                      <a:pt x="79200" y="0"/>
                    </a:moveTo>
                    <a:lnTo>
                      <a:pt x="74400" y="40481"/>
                    </a:lnTo>
                    <a:lnTo>
                      <a:pt x="33600" y="67951"/>
                    </a:lnTo>
                    <a:lnTo>
                      <a:pt x="9600" y="89638"/>
                    </a:lnTo>
                    <a:lnTo>
                      <a:pt x="0" y="99759"/>
                    </a:lnTo>
                    <a:lnTo>
                      <a:pt x="9600" y="106987"/>
                    </a:lnTo>
                    <a:lnTo>
                      <a:pt x="33600" y="118554"/>
                    </a:lnTo>
                    <a:lnTo>
                      <a:pt x="55200" y="91084"/>
                    </a:lnTo>
                    <a:lnTo>
                      <a:pt x="88800" y="67951"/>
                    </a:lnTo>
                    <a:lnTo>
                      <a:pt x="108000" y="46265"/>
                    </a:lnTo>
                    <a:lnTo>
                      <a:pt x="117600" y="28915"/>
                    </a:lnTo>
                    <a:lnTo>
                      <a:pt x="110400" y="18795"/>
                    </a:lnTo>
                    <a:lnTo>
                      <a:pt x="792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69" name="Google Shape;969;p76"/>
              <p:cNvSpPr/>
              <p:nvPr/>
            </p:nvSpPr>
            <p:spPr>
              <a:xfrm>
                <a:off x="1608137" y="4076700"/>
                <a:ext cx="247650" cy="269875"/>
              </a:xfrm>
              <a:custGeom>
                <a:avLst/>
                <a:gdLst/>
                <a:ahLst/>
                <a:cxnLst/>
                <a:rect l="l" t="t" r="r" b="b"/>
                <a:pathLst>
                  <a:path w="120000" h="120000" extrusionOk="0">
                    <a:moveTo>
                      <a:pt x="83846" y="705"/>
                    </a:moveTo>
                    <a:lnTo>
                      <a:pt x="81538" y="7058"/>
                    </a:lnTo>
                    <a:lnTo>
                      <a:pt x="81538" y="8470"/>
                    </a:lnTo>
                    <a:lnTo>
                      <a:pt x="83076" y="11294"/>
                    </a:lnTo>
                    <a:lnTo>
                      <a:pt x="83076" y="17647"/>
                    </a:lnTo>
                    <a:lnTo>
                      <a:pt x="81538" y="20470"/>
                    </a:lnTo>
                    <a:lnTo>
                      <a:pt x="78461" y="21882"/>
                    </a:lnTo>
                    <a:lnTo>
                      <a:pt x="74615" y="19058"/>
                    </a:lnTo>
                    <a:lnTo>
                      <a:pt x="73846" y="12000"/>
                    </a:lnTo>
                    <a:lnTo>
                      <a:pt x="69230" y="1411"/>
                    </a:lnTo>
                    <a:lnTo>
                      <a:pt x="63076" y="2117"/>
                    </a:lnTo>
                    <a:lnTo>
                      <a:pt x="56153" y="0"/>
                    </a:lnTo>
                    <a:lnTo>
                      <a:pt x="56153" y="5647"/>
                    </a:lnTo>
                    <a:lnTo>
                      <a:pt x="51538" y="5647"/>
                    </a:lnTo>
                    <a:lnTo>
                      <a:pt x="48461" y="12000"/>
                    </a:lnTo>
                    <a:lnTo>
                      <a:pt x="44615" y="12705"/>
                    </a:lnTo>
                    <a:lnTo>
                      <a:pt x="41538" y="13411"/>
                    </a:lnTo>
                    <a:lnTo>
                      <a:pt x="37692" y="11294"/>
                    </a:lnTo>
                    <a:lnTo>
                      <a:pt x="30000" y="19058"/>
                    </a:lnTo>
                    <a:lnTo>
                      <a:pt x="29230" y="21882"/>
                    </a:lnTo>
                    <a:lnTo>
                      <a:pt x="26923" y="19764"/>
                    </a:lnTo>
                    <a:lnTo>
                      <a:pt x="26153" y="22588"/>
                    </a:lnTo>
                    <a:lnTo>
                      <a:pt x="26153" y="25411"/>
                    </a:lnTo>
                    <a:lnTo>
                      <a:pt x="21538" y="31764"/>
                    </a:lnTo>
                    <a:lnTo>
                      <a:pt x="16923" y="33882"/>
                    </a:lnTo>
                    <a:lnTo>
                      <a:pt x="8461" y="36000"/>
                    </a:lnTo>
                    <a:lnTo>
                      <a:pt x="2307" y="40235"/>
                    </a:lnTo>
                    <a:lnTo>
                      <a:pt x="0" y="50823"/>
                    </a:lnTo>
                    <a:lnTo>
                      <a:pt x="2307" y="64235"/>
                    </a:lnTo>
                    <a:lnTo>
                      <a:pt x="3846" y="64941"/>
                    </a:lnTo>
                    <a:lnTo>
                      <a:pt x="3846" y="65647"/>
                    </a:lnTo>
                    <a:lnTo>
                      <a:pt x="2307" y="69176"/>
                    </a:lnTo>
                    <a:lnTo>
                      <a:pt x="6153" y="79764"/>
                    </a:lnTo>
                    <a:lnTo>
                      <a:pt x="6923" y="84705"/>
                    </a:lnTo>
                    <a:lnTo>
                      <a:pt x="6153" y="91764"/>
                    </a:lnTo>
                    <a:lnTo>
                      <a:pt x="14615" y="96000"/>
                    </a:lnTo>
                    <a:lnTo>
                      <a:pt x="20769" y="91764"/>
                    </a:lnTo>
                    <a:lnTo>
                      <a:pt x="32307" y="91764"/>
                    </a:lnTo>
                    <a:lnTo>
                      <a:pt x="30769" y="88941"/>
                    </a:lnTo>
                    <a:lnTo>
                      <a:pt x="41538" y="85411"/>
                    </a:lnTo>
                    <a:lnTo>
                      <a:pt x="44615" y="85411"/>
                    </a:lnTo>
                    <a:lnTo>
                      <a:pt x="44615" y="83294"/>
                    </a:lnTo>
                    <a:lnTo>
                      <a:pt x="48461" y="82588"/>
                    </a:lnTo>
                    <a:lnTo>
                      <a:pt x="56923" y="85411"/>
                    </a:lnTo>
                    <a:lnTo>
                      <a:pt x="61538" y="85411"/>
                    </a:lnTo>
                    <a:lnTo>
                      <a:pt x="63076" y="93176"/>
                    </a:lnTo>
                    <a:lnTo>
                      <a:pt x="66153" y="93176"/>
                    </a:lnTo>
                    <a:lnTo>
                      <a:pt x="66153" y="98823"/>
                    </a:lnTo>
                    <a:lnTo>
                      <a:pt x="74615" y="99529"/>
                    </a:lnTo>
                    <a:lnTo>
                      <a:pt x="78461" y="103058"/>
                    </a:lnTo>
                    <a:lnTo>
                      <a:pt x="78461" y="110117"/>
                    </a:lnTo>
                    <a:lnTo>
                      <a:pt x="90000" y="115058"/>
                    </a:lnTo>
                    <a:lnTo>
                      <a:pt x="92307" y="119294"/>
                    </a:lnTo>
                    <a:lnTo>
                      <a:pt x="95384" y="118588"/>
                    </a:lnTo>
                    <a:lnTo>
                      <a:pt x="100769" y="113647"/>
                    </a:lnTo>
                    <a:lnTo>
                      <a:pt x="104615" y="110823"/>
                    </a:lnTo>
                    <a:lnTo>
                      <a:pt x="109230" y="110823"/>
                    </a:lnTo>
                    <a:lnTo>
                      <a:pt x="110000" y="99529"/>
                    </a:lnTo>
                    <a:lnTo>
                      <a:pt x="112307" y="89647"/>
                    </a:lnTo>
                    <a:lnTo>
                      <a:pt x="116923" y="84000"/>
                    </a:lnTo>
                    <a:lnTo>
                      <a:pt x="119230" y="76235"/>
                    </a:lnTo>
                    <a:lnTo>
                      <a:pt x="118461" y="62823"/>
                    </a:lnTo>
                    <a:lnTo>
                      <a:pt x="116923" y="54352"/>
                    </a:lnTo>
                    <a:lnTo>
                      <a:pt x="110000" y="48705"/>
                    </a:lnTo>
                    <a:lnTo>
                      <a:pt x="110000" y="43764"/>
                    </a:lnTo>
                    <a:lnTo>
                      <a:pt x="106923" y="39529"/>
                    </a:lnTo>
                    <a:lnTo>
                      <a:pt x="104615" y="36000"/>
                    </a:lnTo>
                    <a:lnTo>
                      <a:pt x="98461" y="32470"/>
                    </a:lnTo>
                    <a:lnTo>
                      <a:pt x="97692" y="25411"/>
                    </a:lnTo>
                    <a:lnTo>
                      <a:pt x="94615" y="16235"/>
                    </a:lnTo>
                    <a:lnTo>
                      <a:pt x="91538" y="8470"/>
                    </a:lnTo>
                    <a:lnTo>
                      <a:pt x="86153" y="0"/>
                    </a:lnTo>
                    <a:lnTo>
                      <a:pt x="83846" y="705"/>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0" name="Google Shape;970;p76"/>
              <p:cNvSpPr/>
              <p:nvPr/>
            </p:nvSpPr>
            <p:spPr>
              <a:xfrm>
                <a:off x="1671637" y="3944937"/>
                <a:ext cx="130175" cy="125412"/>
              </a:xfrm>
              <a:custGeom>
                <a:avLst/>
                <a:gdLst/>
                <a:ahLst/>
                <a:cxnLst/>
                <a:rect l="l" t="t" r="r" b="b"/>
                <a:pathLst>
                  <a:path w="120000" h="120000" extrusionOk="0">
                    <a:moveTo>
                      <a:pt x="0" y="0"/>
                    </a:moveTo>
                    <a:lnTo>
                      <a:pt x="7317" y="28860"/>
                    </a:lnTo>
                    <a:lnTo>
                      <a:pt x="46829" y="69873"/>
                    </a:lnTo>
                    <a:lnTo>
                      <a:pt x="71707" y="62278"/>
                    </a:lnTo>
                    <a:lnTo>
                      <a:pt x="118536" y="118481"/>
                    </a:lnTo>
                    <a:lnTo>
                      <a:pt x="92195" y="60759"/>
                    </a:lnTo>
                    <a:lnTo>
                      <a:pt x="92195" y="50126"/>
                    </a:lnTo>
                    <a:lnTo>
                      <a:pt x="96585" y="36455"/>
                    </a:lnTo>
                    <a:lnTo>
                      <a:pt x="45365" y="12151"/>
                    </a:lnTo>
                    <a:lnTo>
                      <a:pt x="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1" name="Google Shape;971;p76"/>
              <p:cNvSpPr/>
              <p:nvPr/>
            </p:nvSpPr>
            <p:spPr>
              <a:xfrm>
                <a:off x="1535112" y="3900487"/>
                <a:ext cx="77787" cy="122237"/>
              </a:xfrm>
              <a:custGeom>
                <a:avLst/>
                <a:gdLst/>
                <a:ahLst/>
                <a:cxnLst/>
                <a:rect l="l" t="t" r="r" b="b"/>
                <a:pathLst>
                  <a:path w="120000" h="120000" extrusionOk="0">
                    <a:moveTo>
                      <a:pt x="88163" y="0"/>
                    </a:moveTo>
                    <a:lnTo>
                      <a:pt x="41632" y="60779"/>
                    </a:lnTo>
                    <a:lnTo>
                      <a:pt x="0" y="62337"/>
                    </a:lnTo>
                    <a:lnTo>
                      <a:pt x="12244" y="105974"/>
                    </a:lnTo>
                    <a:lnTo>
                      <a:pt x="97959" y="118441"/>
                    </a:lnTo>
                    <a:lnTo>
                      <a:pt x="117551" y="34285"/>
                    </a:lnTo>
                    <a:lnTo>
                      <a:pt x="88163"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2" name="Google Shape;972;p76"/>
              <p:cNvSpPr/>
              <p:nvPr/>
            </p:nvSpPr>
            <p:spPr>
              <a:xfrm>
                <a:off x="1430337" y="3981450"/>
                <a:ext cx="87312" cy="76200"/>
              </a:xfrm>
              <a:custGeom>
                <a:avLst/>
                <a:gdLst/>
                <a:ahLst/>
                <a:cxnLst/>
                <a:rect l="l" t="t" r="r" b="b"/>
                <a:pathLst>
                  <a:path w="120000" h="120000" extrusionOk="0">
                    <a:moveTo>
                      <a:pt x="0" y="0"/>
                    </a:moveTo>
                    <a:lnTo>
                      <a:pt x="67636" y="115000"/>
                    </a:lnTo>
                    <a:lnTo>
                      <a:pt x="106909" y="117500"/>
                    </a:lnTo>
                    <a:lnTo>
                      <a:pt x="117818" y="80000"/>
                    </a:lnTo>
                    <a:lnTo>
                      <a:pt x="50181" y="17500"/>
                    </a:lnTo>
                    <a:lnTo>
                      <a:pt x="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3" name="Google Shape;973;p76"/>
              <p:cNvSpPr/>
              <p:nvPr/>
            </p:nvSpPr>
            <p:spPr>
              <a:xfrm>
                <a:off x="1509712" y="4057650"/>
                <a:ext cx="149225" cy="49212"/>
              </a:xfrm>
              <a:custGeom>
                <a:avLst/>
                <a:gdLst/>
                <a:ahLst/>
                <a:cxnLst/>
                <a:rect l="l" t="t" r="r" b="b"/>
                <a:pathLst>
                  <a:path w="120000" h="120000" extrusionOk="0">
                    <a:moveTo>
                      <a:pt x="0" y="0"/>
                    </a:moveTo>
                    <a:lnTo>
                      <a:pt x="24255" y="116129"/>
                    </a:lnTo>
                    <a:lnTo>
                      <a:pt x="118723" y="46451"/>
                    </a:lnTo>
                    <a:lnTo>
                      <a:pt x="29361" y="58064"/>
                    </a:lnTo>
                    <a:lnTo>
                      <a:pt x="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4" name="Google Shape;974;p76"/>
              <p:cNvSpPr/>
              <p:nvPr/>
            </p:nvSpPr>
            <p:spPr>
              <a:xfrm>
                <a:off x="1798637" y="4354512"/>
                <a:ext cx="25400" cy="41275"/>
              </a:xfrm>
              <a:custGeom>
                <a:avLst/>
                <a:gdLst/>
                <a:ahLst/>
                <a:cxnLst/>
                <a:rect l="l" t="t" r="r" b="b"/>
                <a:pathLst>
                  <a:path w="120000" h="120000" extrusionOk="0">
                    <a:moveTo>
                      <a:pt x="30000" y="0"/>
                    </a:moveTo>
                    <a:lnTo>
                      <a:pt x="0" y="0"/>
                    </a:lnTo>
                    <a:lnTo>
                      <a:pt x="0" y="27692"/>
                    </a:lnTo>
                    <a:lnTo>
                      <a:pt x="30000" y="46153"/>
                    </a:lnTo>
                    <a:lnTo>
                      <a:pt x="30000" y="87692"/>
                    </a:lnTo>
                    <a:lnTo>
                      <a:pt x="82500" y="115384"/>
                    </a:lnTo>
                    <a:lnTo>
                      <a:pt x="105000" y="96923"/>
                    </a:lnTo>
                    <a:lnTo>
                      <a:pt x="105000" y="73846"/>
                    </a:lnTo>
                    <a:lnTo>
                      <a:pt x="112500" y="55384"/>
                    </a:lnTo>
                    <a:lnTo>
                      <a:pt x="112500" y="9230"/>
                    </a:lnTo>
                    <a:lnTo>
                      <a:pt x="60000" y="18461"/>
                    </a:lnTo>
                    <a:lnTo>
                      <a:pt x="300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5" name="Google Shape;975;p76"/>
              <p:cNvSpPr/>
              <p:nvPr/>
            </p:nvSpPr>
            <p:spPr>
              <a:xfrm>
                <a:off x="1643062" y="3438525"/>
                <a:ext cx="106362" cy="195262"/>
              </a:xfrm>
              <a:custGeom>
                <a:avLst/>
                <a:gdLst/>
                <a:ahLst/>
                <a:cxnLst/>
                <a:rect l="l" t="t" r="r" b="b"/>
                <a:pathLst>
                  <a:path w="120000" h="120000" extrusionOk="0">
                    <a:moveTo>
                      <a:pt x="78805" y="0"/>
                    </a:moveTo>
                    <a:lnTo>
                      <a:pt x="78805" y="15609"/>
                    </a:lnTo>
                    <a:lnTo>
                      <a:pt x="69850" y="24390"/>
                    </a:lnTo>
                    <a:lnTo>
                      <a:pt x="71641" y="40975"/>
                    </a:lnTo>
                    <a:lnTo>
                      <a:pt x="59104" y="62439"/>
                    </a:lnTo>
                    <a:lnTo>
                      <a:pt x="41194" y="80000"/>
                    </a:lnTo>
                    <a:lnTo>
                      <a:pt x="7164" y="96585"/>
                    </a:lnTo>
                    <a:lnTo>
                      <a:pt x="0" y="119024"/>
                    </a:lnTo>
                    <a:lnTo>
                      <a:pt x="14328" y="119024"/>
                    </a:lnTo>
                    <a:lnTo>
                      <a:pt x="17910" y="98536"/>
                    </a:lnTo>
                    <a:lnTo>
                      <a:pt x="57313" y="96585"/>
                    </a:lnTo>
                    <a:lnTo>
                      <a:pt x="89552" y="81951"/>
                    </a:lnTo>
                    <a:lnTo>
                      <a:pt x="89552" y="53658"/>
                    </a:lnTo>
                    <a:lnTo>
                      <a:pt x="96716" y="41951"/>
                    </a:lnTo>
                    <a:lnTo>
                      <a:pt x="80597" y="26341"/>
                    </a:lnTo>
                    <a:lnTo>
                      <a:pt x="105671" y="19512"/>
                    </a:lnTo>
                    <a:lnTo>
                      <a:pt x="118208" y="3902"/>
                    </a:lnTo>
                    <a:lnTo>
                      <a:pt x="89552" y="7804"/>
                    </a:lnTo>
                    <a:lnTo>
                      <a:pt x="78805"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6" name="Google Shape;976;p76"/>
              <p:cNvSpPr/>
              <p:nvPr/>
            </p:nvSpPr>
            <p:spPr>
              <a:xfrm>
                <a:off x="1603375" y="3714750"/>
                <a:ext cx="17462" cy="30162"/>
              </a:xfrm>
              <a:custGeom>
                <a:avLst/>
                <a:gdLst/>
                <a:ahLst/>
                <a:cxnLst/>
                <a:rect l="l" t="t" r="r" b="b"/>
                <a:pathLst>
                  <a:path w="120000" h="120000" extrusionOk="0">
                    <a:moveTo>
                      <a:pt x="65454" y="0"/>
                    </a:moveTo>
                    <a:lnTo>
                      <a:pt x="109090" y="44210"/>
                    </a:lnTo>
                    <a:lnTo>
                      <a:pt x="43636" y="107368"/>
                    </a:lnTo>
                    <a:lnTo>
                      <a:pt x="0" y="113684"/>
                    </a:lnTo>
                    <a:lnTo>
                      <a:pt x="32727" y="50526"/>
                    </a:lnTo>
                    <a:lnTo>
                      <a:pt x="65454"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7" name="Google Shape;977;p76"/>
              <p:cNvSpPr/>
              <p:nvPr/>
            </p:nvSpPr>
            <p:spPr>
              <a:xfrm>
                <a:off x="1620837" y="3756025"/>
                <a:ext cx="23812" cy="42862"/>
              </a:xfrm>
              <a:custGeom>
                <a:avLst/>
                <a:gdLst/>
                <a:ahLst/>
                <a:cxnLst/>
                <a:rect l="l" t="t" r="r" b="b"/>
                <a:pathLst>
                  <a:path w="120000" h="120000" extrusionOk="0">
                    <a:moveTo>
                      <a:pt x="48000" y="0"/>
                    </a:moveTo>
                    <a:lnTo>
                      <a:pt x="80000" y="40000"/>
                    </a:lnTo>
                    <a:lnTo>
                      <a:pt x="40000" y="62222"/>
                    </a:lnTo>
                    <a:lnTo>
                      <a:pt x="48000" y="71111"/>
                    </a:lnTo>
                    <a:lnTo>
                      <a:pt x="112000" y="93333"/>
                    </a:lnTo>
                    <a:lnTo>
                      <a:pt x="112000" y="111111"/>
                    </a:lnTo>
                    <a:lnTo>
                      <a:pt x="72000" y="93333"/>
                    </a:lnTo>
                    <a:lnTo>
                      <a:pt x="24000" y="115555"/>
                    </a:lnTo>
                    <a:lnTo>
                      <a:pt x="0" y="88888"/>
                    </a:lnTo>
                    <a:lnTo>
                      <a:pt x="24000" y="75555"/>
                    </a:lnTo>
                    <a:lnTo>
                      <a:pt x="0" y="57777"/>
                    </a:lnTo>
                    <a:lnTo>
                      <a:pt x="480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8" name="Google Shape;978;p76"/>
              <p:cNvSpPr/>
              <p:nvPr/>
            </p:nvSpPr>
            <p:spPr>
              <a:xfrm>
                <a:off x="1643062" y="3802062"/>
                <a:ext cx="14287" cy="22225"/>
              </a:xfrm>
              <a:custGeom>
                <a:avLst/>
                <a:gdLst/>
                <a:ahLst/>
                <a:cxnLst/>
                <a:rect l="l" t="t" r="r" b="b"/>
                <a:pathLst>
                  <a:path w="120000" h="120000" extrusionOk="0">
                    <a:moveTo>
                      <a:pt x="40000" y="0"/>
                    </a:moveTo>
                    <a:lnTo>
                      <a:pt x="0" y="42857"/>
                    </a:lnTo>
                    <a:lnTo>
                      <a:pt x="80000" y="111428"/>
                    </a:lnTo>
                    <a:lnTo>
                      <a:pt x="106666" y="94285"/>
                    </a:lnTo>
                    <a:lnTo>
                      <a:pt x="400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79" name="Google Shape;979;p76"/>
              <p:cNvSpPr/>
              <p:nvPr/>
            </p:nvSpPr>
            <p:spPr>
              <a:xfrm>
                <a:off x="1627187" y="3802062"/>
                <a:ext cx="6350" cy="14287"/>
              </a:xfrm>
              <a:custGeom>
                <a:avLst/>
                <a:gdLst/>
                <a:ahLst/>
                <a:cxnLst/>
                <a:rect l="l" t="t" r="r" b="b"/>
                <a:pathLst>
                  <a:path w="120000" h="120000" extrusionOk="0">
                    <a:moveTo>
                      <a:pt x="90000" y="0"/>
                    </a:moveTo>
                    <a:lnTo>
                      <a:pt x="60000" y="106666"/>
                    </a:lnTo>
                    <a:lnTo>
                      <a:pt x="0" y="66666"/>
                    </a:lnTo>
                    <a:lnTo>
                      <a:pt x="900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0" name="Google Shape;980;p76"/>
              <p:cNvSpPr/>
              <p:nvPr/>
            </p:nvSpPr>
            <p:spPr>
              <a:xfrm>
                <a:off x="1284287" y="3933825"/>
                <a:ext cx="25400" cy="53975"/>
              </a:xfrm>
              <a:custGeom>
                <a:avLst/>
                <a:gdLst/>
                <a:ahLst/>
                <a:cxnLst/>
                <a:rect l="l" t="t" r="r" b="b"/>
                <a:pathLst>
                  <a:path w="120000" h="120000" extrusionOk="0">
                    <a:moveTo>
                      <a:pt x="52500" y="0"/>
                    </a:moveTo>
                    <a:lnTo>
                      <a:pt x="0" y="56470"/>
                    </a:lnTo>
                    <a:lnTo>
                      <a:pt x="52500" y="116470"/>
                    </a:lnTo>
                    <a:lnTo>
                      <a:pt x="112500" y="67058"/>
                    </a:lnTo>
                    <a:lnTo>
                      <a:pt x="525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1" name="Google Shape;981;p76"/>
              <p:cNvSpPr/>
              <p:nvPr/>
            </p:nvSpPr>
            <p:spPr>
              <a:xfrm>
                <a:off x="709612" y="3355975"/>
                <a:ext cx="44450" cy="84137"/>
              </a:xfrm>
              <a:custGeom>
                <a:avLst/>
                <a:gdLst/>
                <a:ahLst/>
                <a:cxnLst/>
                <a:rect l="l" t="t" r="r" b="b"/>
                <a:pathLst>
                  <a:path w="120000" h="120000" extrusionOk="0">
                    <a:moveTo>
                      <a:pt x="89999" y="0"/>
                    </a:moveTo>
                    <a:lnTo>
                      <a:pt x="64285" y="0"/>
                    </a:lnTo>
                    <a:lnTo>
                      <a:pt x="55714" y="6792"/>
                    </a:lnTo>
                    <a:lnTo>
                      <a:pt x="38571" y="15849"/>
                    </a:lnTo>
                    <a:lnTo>
                      <a:pt x="38571" y="49811"/>
                    </a:lnTo>
                    <a:lnTo>
                      <a:pt x="55714" y="56603"/>
                    </a:lnTo>
                    <a:lnTo>
                      <a:pt x="55714" y="70188"/>
                    </a:lnTo>
                    <a:lnTo>
                      <a:pt x="42857" y="72452"/>
                    </a:lnTo>
                    <a:lnTo>
                      <a:pt x="25714" y="83773"/>
                    </a:lnTo>
                    <a:lnTo>
                      <a:pt x="25714" y="99622"/>
                    </a:lnTo>
                    <a:lnTo>
                      <a:pt x="0" y="117735"/>
                    </a:lnTo>
                    <a:lnTo>
                      <a:pt x="81428" y="117735"/>
                    </a:lnTo>
                    <a:lnTo>
                      <a:pt x="115714" y="95094"/>
                    </a:lnTo>
                    <a:lnTo>
                      <a:pt x="81428" y="76981"/>
                    </a:lnTo>
                    <a:lnTo>
                      <a:pt x="81428" y="24905"/>
                    </a:lnTo>
                    <a:lnTo>
                      <a:pt x="98571" y="15849"/>
                    </a:lnTo>
                    <a:lnTo>
                      <a:pt x="72857" y="15849"/>
                    </a:lnTo>
                    <a:lnTo>
                      <a:pt x="89999"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2" name="Google Shape;982;p76"/>
              <p:cNvSpPr/>
              <p:nvPr/>
            </p:nvSpPr>
            <p:spPr>
              <a:xfrm>
                <a:off x="693737" y="3379787"/>
                <a:ext cx="28575" cy="36512"/>
              </a:xfrm>
              <a:custGeom>
                <a:avLst/>
                <a:gdLst/>
                <a:ahLst/>
                <a:cxnLst/>
                <a:rect l="l" t="t" r="r" b="b"/>
                <a:pathLst>
                  <a:path w="120000" h="120000" extrusionOk="0">
                    <a:moveTo>
                      <a:pt x="106666" y="5217"/>
                    </a:moveTo>
                    <a:lnTo>
                      <a:pt x="80000" y="0"/>
                    </a:lnTo>
                    <a:lnTo>
                      <a:pt x="46666" y="36521"/>
                    </a:lnTo>
                    <a:lnTo>
                      <a:pt x="0" y="78260"/>
                    </a:lnTo>
                    <a:lnTo>
                      <a:pt x="0" y="114782"/>
                    </a:lnTo>
                    <a:lnTo>
                      <a:pt x="60000" y="114782"/>
                    </a:lnTo>
                    <a:lnTo>
                      <a:pt x="93333" y="83478"/>
                    </a:lnTo>
                    <a:lnTo>
                      <a:pt x="86666" y="41739"/>
                    </a:lnTo>
                    <a:lnTo>
                      <a:pt x="113333" y="36521"/>
                    </a:lnTo>
                    <a:lnTo>
                      <a:pt x="106666" y="5217"/>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3" name="Google Shape;983;p76"/>
              <p:cNvSpPr/>
              <p:nvPr/>
            </p:nvSpPr>
            <p:spPr>
              <a:xfrm>
                <a:off x="965200" y="4054475"/>
                <a:ext cx="31750" cy="128587"/>
              </a:xfrm>
              <a:custGeom>
                <a:avLst/>
                <a:gdLst/>
                <a:ahLst/>
                <a:cxnLst/>
                <a:rect l="l" t="t" r="r" b="b"/>
                <a:pathLst>
                  <a:path w="120000" h="120000" extrusionOk="0">
                    <a:moveTo>
                      <a:pt x="90000" y="0"/>
                    </a:moveTo>
                    <a:lnTo>
                      <a:pt x="60000" y="29629"/>
                    </a:lnTo>
                    <a:lnTo>
                      <a:pt x="0" y="40000"/>
                    </a:lnTo>
                    <a:lnTo>
                      <a:pt x="18000" y="57777"/>
                    </a:lnTo>
                    <a:lnTo>
                      <a:pt x="18000" y="71111"/>
                    </a:lnTo>
                    <a:lnTo>
                      <a:pt x="0" y="87407"/>
                    </a:lnTo>
                    <a:lnTo>
                      <a:pt x="0" y="118518"/>
                    </a:lnTo>
                    <a:lnTo>
                      <a:pt x="84000" y="106666"/>
                    </a:lnTo>
                    <a:lnTo>
                      <a:pt x="108000" y="68148"/>
                    </a:lnTo>
                    <a:lnTo>
                      <a:pt x="114000" y="45925"/>
                    </a:lnTo>
                    <a:lnTo>
                      <a:pt x="900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4" name="Google Shape;984;p76"/>
              <p:cNvSpPr/>
              <p:nvPr/>
            </p:nvSpPr>
            <p:spPr>
              <a:xfrm>
                <a:off x="766762" y="3530600"/>
                <a:ext cx="6350" cy="14287"/>
              </a:xfrm>
              <a:custGeom>
                <a:avLst/>
                <a:gdLst/>
                <a:ahLst/>
                <a:cxnLst/>
                <a:rect l="l" t="t" r="r" b="b"/>
                <a:pathLst>
                  <a:path w="120000" h="120000" extrusionOk="0">
                    <a:moveTo>
                      <a:pt x="0" y="13333"/>
                    </a:moveTo>
                    <a:lnTo>
                      <a:pt x="0" y="106666"/>
                    </a:lnTo>
                    <a:lnTo>
                      <a:pt x="90000" y="53333"/>
                    </a:lnTo>
                    <a:lnTo>
                      <a:pt x="90000" y="0"/>
                    </a:lnTo>
                    <a:lnTo>
                      <a:pt x="0" y="13333"/>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5" name="Google Shape;985;p76"/>
              <p:cNvSpPr/>
              <p:nvPr/>
            </p:nvSpPr>
            <p:spPr>
              <a:xfrm>
                <a:off x="766762" y="3546475"/>
                <a:ext cx="7937" cy="25400"/>
              </a:xfrm>
              <a:custGeom>
                <a:avLst/>
                <a:gdLst/>
                <a:ahLst/>
                <a:cxnLst/>
                <a:rect l="l" t="t" r="r" b="b"/>
                <a:pathLst>
                  <a:path w="120000" h="120000" extrusionOk="0">
                    <a:moveTo>
                      <a:pt x="72000" y="0"/>
                    </a:moveTo>
                    <a:lnTo>
                      <a:pt x="0" y="45000"/>
                    </a:lnTo>
                    <a:lnTo>
                      <a:pt x="0" y="112500"/>
                    </a:lnTo>
                    <a:lnTo>
                      <a:pt x="96000" y="105000"/>
                    </a:lnTo>
                    <a:lnTo>
                      <a:pt x="7200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6" name="Google Shape;986;p76"/>
              <p:cNvSpPr/>
              <p:nvPr/>
            </p:nvSpPr>
            <p:spPr>
              <a:xfrm>
                <a:off x="788987" y="3584575"/>
                <a:ext cx="17462" cy="15875"/>
              </a:xfrm>
              <a:custGeom>
                <a:avLst/>
                <a:gdLst/>
                <a:ahLst/>
                <a:cxnLst/>
                <a:rect l="l" t="t" r="r" b="b"/>
                <a:pathLst>
                  <a:path w="120000" h="120000" extrusionOk="0">
                    <a:moveTo>
                      <a:pt x="0" y="0"/>
                    </a:moveTo>
                    <a:lnTo>
                      <a:pt x="98181" y="0"/>
                    </a:lnTo>
                    <a:lnTo>
                      <a:pt x="109090" y="108000"/>
                    </a:lnTo>
                    <a:lnTo>
                      <a:pt x="0" y="0"/>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87" name="Google Shape;987;p76"/>
              <p:cNvSpPr/>
              <p:nvPr/>
            </p:nvSpPr>
            <p:spPr>
              <a:xfrm>
                <a:off x="665162" y="3062287"/>
                <a:ext cx="1219200" cy="925512"/>
              </a:xfrm>
              <a:custGeom>
                <a:avLst/>
                <a:gdLst/>
                <a:ahLst/>
                <a:cxnLst/>
                <a:rect l="l" t="t" r="r" b="b"/>
                <a:pathLst>
                  <a:path w="120000" h="120000" extrusionOk="0">
                    <a:moveTo>
                      <a:pt x="41250" y="20994"/>
                    </a:moveTo>
                    <a:lnTo>
                      <a:pt x="47656" y="16260"/>
                    </a:lnTo>
                    <a:lnTo>
                      <a:pt x="57031" y="9879"/>
                    </a:lnTo>
                    <a:lnTo>
                      <a:pt x="56875" y="2675"/>
                    </a:lnTo>
                    <a:lnTo>
                      <a:pt x="64375" y="1234"/>
                    </a:lnTo>
                    <a:lnTo>
                      <a:pt x="68906" y="4528"/>
                    </a:lnTo>
                    <a:lnTo>
                      <a:pt x="77656" y="0"/>
                    </a:lnTo>
                    <a:lnTo>
                      <a:pt x="79843" y="1234"/>
                    </a:lnTo>
                    <a:lnTo>
                      <a:pt x="81562" y="2675"/>
                    </a:lnTo>
                    <a:lnTo>
                      <a:pt x="85312" y="9056"/>
                    </a:lnTo>
                    <a:lnTo>
                      <a:pt x="87343" y="12967"/>
                    </a:lnTo>
                    <a:lnTo>
                      <a:pt x="94218" y="11526"/>
                    </a:lnTo>
                    <a:lnTo>
                      <a:pt x="95781" y="11320"/>
                    </a:lnTo>
                    <a:lnTo>
                      <a:pt x="100000" y="14819"/>
                    </a:lnTo>
                    <a:lnTo>
                      <a:pt x="104687" y="14614"/>
                    </a:lnTo>
                    <a:lnTo>
                      <a:pt x="111562" y="14408"/>
                    </a:lnTo>
                    <a:lnTo>
                      <a:pt x="118750" y="17289"/>
                    </a:lnTo>
                    <a:lnTo>
                      <a:pt x="119843" y="18524"/>
                    </a:lnTo>
                    <a:lnTo>
                      <a:pt x="119843" y="20994"/>
                    </a:lnTo>
                    <a:lnTo>
                      <a:pt x="119375" y="24288"/>
                    </a:lnTo>
                    <a:lnTo>
                      <a:pt x="115000" y="26963"/>
                    </a:lnTo>
                    <a:lnTo>
                      <a:pt x="112031" y="28816"/>
                    </a:lnTo>
                    <a:lnTo>
                      <a:pt x="112968" y="32109"/>
                    </a:lnTo>
                    <a:lnTo>
                      <a:pt x="110000" y="34373"/>
                    </a:lnTo>
                    <a:lnTo>
                      <a:pt x="109687" y="38902"/>
                    </a:lnTo>
                    <a:lnTo>
                      <a:pt x="110000" y="41578"/>
                    </a:lnTo>
                    <a:lnTo>
                      <a:pt x="106718" y="47753"/>
                    </a:lnTo>
                    <a:lnTo>
                      <a:pt x="105937" y="43842"/>
                    </a:lnTo>
                    <a:lnTo>
                      <a:pt x="105937" y="41783"/>
                    </a:lnTo>
                    <a:lnTo>
                      <a:pt x="107343" y="38078"/>
                    </a:lnTo>
                    <a:lnTo>
                      <a:pt x="107031" y="29022"/>
                    </a:lnTo>
                    <a:lnTo>
                      <a:pt x="104062" y="34373"/>
                    </a:lnTo>
                    <a:lnTo>
                      <a:pt x="101562" y="36843"/>
                    </a:lnTo>
                    <a:lnTo>
                      <a:pt x="100000" y="32727"/>
                    </a:lnTo>
                    <a:lnTo>
                      <a:pt x="98593" y="38078"/>
                    </a:lnTo>
                    <a:lnTo>
                      <a:pt x="98125" y="42813"/>
                    </a:lnTo>
                    <a:lnTo>
                      <a:pt x="99687" y="42813"/>
                    </a:lnTo>
                    <a:lnTo>
                      <a:pt x="99375" y="47753"/>
                    </a:lnTo>
                    <a:lnTo>
                      <a:pt x="98125" y="54957"/>
                    </a:lnTo>
                    <a:lnTo>
                      <a:pt x="97031" y="57015"/>
                    </a:lnTo>
                    <a:lnTo>
                      <a:pt x="95781" y="59279"/>
                    </a:lnTo>
                    <a:lnTo>
                      <a:pt x="95000" y="60720"/>
                    </a:lnTo>
                    <a:lnTo>
                      <a:pt x="96250" y="63190"/>
                    </a:lnTo>
                    <a:lnTo>
                      <a:pt x="96875" y="64631"/>
                    </a:lnTo>
                    <a:lnTo>
                      <a:pt x="96250" y="67718"/>
                    </a:lnTo>
                    <a:lnTo>
                      <a:pt x="95468" y="68747"/>
                    </a:lnTo>
                    <a:lnTo>
                      <a:pt x="95156" y="66689"/>
                    </a:lnTo>
                    <a:lnTo>
                      <a:pt x="95000" y="64631"/>
                    </a:lnTo>
                    <a:lnTo>
                      <a:pt x="93593" y="62572"/>
                    </a:lnTo>
                    <a:lnTo>
                      <a:pt x="90781" y="64631"/>
                    </a:lnTo>
                    <a:lnTo>
                      <a:pt x="93281" y="73070"/>
                    </a:lnTo>
                    <a:lnTo>
                      <a:pt x="93750" y="76363"/>
                    </a:lnTo>
                    <a:lnTo>
                      <a:pt x="93281" y="81097"/>
                    </a:lnTo>
                    <a:lnTo>
                      <a:pt x="90937" y="88919"/>
                    </a:lnTo>
                    <a:lnTo>
                      <a:pt x="86718" y="91389"/>
                    </a:lnTo>
                    <a:lnTo>
                      <a:pt x="85781" y="91801"/>
                    </a:lnTo>
                    <a:lnTo>
                      <a:pt x="82343" y="91389"/>
                    </a:lnTo>
                    <a:lnTo>
                      <a:pt x="84062" y="95917"/>
                    </a:lnTo>
                    <a:lnTo>
                      <a:pt x="84531" y="102710"/>
                    </a:lnTo>
                    <a:lnTo>
                      <a:pt x="81562" y="110325"/>
                    </a:lnTo>
                    <a:lnTo>
                      <a:pt x="78125" y="106003"/>
                    </a:lnTo>
                    <a:lnTo>
                      <a:pt x="77656" y="110325"/>
                    </a:lnTo>
                    <a:lnTo>
                      <a:pt x="80312" y="114442"/>
                    </a:lnTo>
                    <a:lnTo>
                      <a:pt x="82343" y="119794"/>
                    </a:lnTo>
                    <a:lnTo>
                      <a:pt x="78750" y="116500"/>
                    </a:lnTo>
                    <a:lnTo>
                      <a:pt x="74531" y="97564"/>
                    </a:lnTo>
                    <a:lnTo>
                      <a:pt x="69218" y="92624"/>
                    </a:lnTo>
                    <a:lnTo>
                      <a:pt x="65937" y="93036"/>
                    </a:lnTo>
                    <a:lnTo>
                      <a:pt x="60937" y="103739"/>
                    </a:lnTo>
                    <a:lnTo>
                      <a:pt x="61562" y="108061"/>
                    </a:lnTo>
                    <a:lnTo>
                      <a:pt x="59843" y="115265"/>
                    </a:lnTo>
                    <a:lnTo>
                      <a:pt x="58125" y="115471"/>
                    </a:lnTo>
                    <a:lnTo>
                      <a:pt x="52656" y="99416"/>
                    </a:lnTo>
                    <a:lnTo>
                      <a:pt x="52500" y="92624"/>
                    </a:lnTo>
                    <a:lnTo>
                      <a:pt x="51406" y="95094"/>
                    </a:lnTo>
                    <a:lnTo>
                      <a:pt x="47812" y="95094"/>
                    </a:lnTo>
                    <a:lnTo>
                      <a:pt x="49687" y="90566"/>
                    </a:lnTo>
                    <a:lnTo>
                      <a:pt x="44218" y="85626"/>
                    </a:lnTo>
                    <a:lnTo>
                      <a:pt x="38750" y="85214"/>
                    </a:lnTo>
                    <a:lnTo>
                      <a:pt x="33281" y="80068"/>
                    </a:lnTo>
                    <a:lnTo>
                      <a:pt x="33125" y="85214"/>
                    </a:lnTo>
                    <a:lnTo>
                      <a:pt x="35156" y="87684"/>
                    </a:lnTo>
                    <a:lnTo>
                      <a:pt x="37500" y="90154"/>
                    </a:lnTo>
                    <a:lnTo>
                      <a:pt x="38906" y="89948"/>
                    </a:lnTo>
                    <a:lnTo>
                      <a:pt x="34531" y="96535"/>
                    </a:lnTo>
                    <a:lnTo>
                      <a:pt x="32031" y="97564"/>
                    </a:lnTo>
                    <a:lnTo>
                      <a:pt x="30156" y="98387"/>
                    </a:lnTo>
                    <a:lnTo>
                      <a:pt x="30156" y="94271"/>
                    </a:lnTo>
                    <a:lnTo>
                      <a:pt x="27031" y="87272"/>
                    </a:lnTo>
                    <a:lnTo>
                      <a:pt x="24375" y="82332"/>
                    </a:lnTo>
                    <a:lnTo>
                      <a:pt x="23125" y="79245"/>
                    </a:lnTo>
                    <a:lnTo>
                      <a:pt x="22968" y="78216"/>
                    </a:lnTo>
                    <a:lnTo>
                      <a:pt x="22812" y="77186"/>
                    </a:lnTo>
                    <a:lnTo>
                      <a:pt x="24843" y="74922"/>
                    </a:lnTo>
                    <a:lnTo>
                      <a:pt x="26562" y="72864"/>
                    </a:lnTo>
                    <a:lnTo>
                      <a:pt x="25937" y="67512"/>
                    </a:lnTo>
                    <a:lnTo>
                      <a:pt x="24843" y="69365"/>
                    </a:lnTo>
                    <a:lnTo>
                      <a:pt x="21875" y="69365"/>
                    </a:lnTo>
                    <a:lnTo>
                      <a:pt x="20468" y="67101"/>
                    </a:lnTo>
                    <a:lnTo>
                      <a:pt x="20468" y="64631"/>
                    </a:lnTo>
                    <a:lnTo>
                      <a:pt x="21250" y="64631"/>
                    </a:lnTo>
                    <a:lnTo>
                      <a:pt x="22187" y="63396"/>
                    </a:lnTo>
                    <a:lnTo>
                      <a:pt x="22812" y="63396"/>
                    </a:lnTo>
                    <a:lnTo>
                      <a:pt x="24062" y="61543"/>
                    </a:lnTo>
                    <a:lnTo>
                      <a:pt x="25937" y="61543"/>
                    </a:lnTo>
                    <a:lnTo>
                      <a:pt x="27656" y="60102"/>
                    </a:lnTo>
                    <a:lnTo>
                      <a:pt x="25937" y="57221"/>
                    </a:lnTo>
                    <a:lnTo>
                      <a:pt x="25625" y="57221"/>
                    </a:lnTo>
                    <a:lnTo>
                      <a:pt x="25625" y="53310"/>
                    </a:lnTo>
                    <a:lnTo>
                      <a:pt x="24375" y="55986"/>
                    </a:lnTo>
                    <a:lnTo>
                      <a:pt x="24843" y="56603"/>
                    </a:lnTo>
                    <a:lnTo>
                      <a:pt x="25312" y="56603"/>
                    </a:lnTo>
                    <a:lnTo>
                      <a:pt x="25000" y="57015"/>
                    </a:lnTo>
                    <a:lnTo>
                      <a:pt x="24687" y="57221"/>
                    </a:lnTo>
                    <a:lnTo>
                      <a:pt x="23750" y="58250"/>
                    </a:lnTo>
                    <a:lnTo>
                      <a:pt x="23125" y="57015"/>
                    </a:lnTo>
                    <a:lnTo>
                      <a:pt x="23593" y="56192"/>
                    </a:lnTo>
                    <a:lnTo>
                      <a:pt x="22812" y="56192"/>
                    </a:lnTo>
                    <a:lnTo>
                      <a:pt x="22343" y="55780"/>
                    </a:lnTo>
                    <a:lnTo>
                      <a:pt x="21250" y="57221"/>
                    </a:lnTo>
                    <a:lnTo>
                      <a:pt x="21250" y="60514"/>
                    </a:lnTo>
                    <a:lnTo>
                      <a:pt x="20781" y="61543"/>
                    </a:lnTo>
                    <a:lnTo>
                      <a:pt x="21718" y="63602"/>
                    </a:lnTo>
                    <a:lnTo>
                      <a:pt x="21093" y="63602"/>
                    </a:lnTo>
                    <a:lnTo>
                      <a:pt x="20468" y="64219"/>
                    </a:lnTo>
                    <a:lnTo>
                      <a:pt x="19531" y="64219"/>
                    </a:lnTo>
                    <a:lnTo>
                      <a:pt x="18593" y="65866"/>
                    </a:lnTo>
                    <a:lnTo>
                      <a:pt x="19375" y="67512"/>
                    </a:lnTo>
                    <a:lnTo>
                      <a:pt x="18281" y="69571"/>
                    </a:lnTo>
                    <a:lnTo>
                      <a:pt x="17031" y="68130"/>
                    </a:lnTo>
                    <a:lnTo>
                      <a:pt x="17500" y="67512"/>
                    </a:lnTo>
                    <a:lnTo>
                      <a:pt x="16406" y="65454"/>
                    </a:lnTo>
                    <a:lnTo>
                      <a:pt x="16406" y="63807"/>
                    </a:lnTo>
                    <a:lnTo>
                      <a:pt x="15312" y="61749"/>
                    </a:lnTo>
                    <a:lnTo>
                      <a:pt x="13437" y="58662"/>
                    </a:lnTo>
                    <a:lnTo>
                      <a:pt x="13437" y="57632"/>
                    </a:lnTo>
                    <a:lnTo>
                      <a:pt x="12656" y="57632"/>
                    </a:lnTo>
                    <a:lnTo>
                      <a:pt x="12656" y="59279"/>
                    </a:lnTo>
                    <a:lnTo>
                      <a:pt x="14062" y="62367"/>
                    </a:lnTo>
                    <a:lnTo>
                      <a:pt x="15625" y="65248"/>
                    </a:lnTo>
                    <a:lnTo>
                      <a:pt x="15312" y="65660"/>
                    </a:lnTo>
                    <a:lnTo>
                      <a:pt x="15000" y="64837"/>
                    </a:lnTo>
                    <a:lnTo>
                      <a:pt x="14531" y="65454"/>
                    </a:lnTo>
                    <a:lnTo>
                      <a:pt x="15000" y="66483"/>
                    </a:lnTo>
                    <a:lnTo>
                      <a:pt x="14375" y="67718"/>
                    </a:lnTo>
                    <a:lnTo>
                      <a:pt x="14375" y="65660"/>
                    </a:lnTo>
                    <a:lnTo>
                      <a:pt x="12812" y="63190"/>
                    </a:lnTo>
                    <a:lnTo>
                      <a:pt x="11406" y="60926"/>
                    </a:lnTo>
                    <a:lnTo>
                      <a:pt x="11562" y="59691"/>
                    </a:lnTo>
                    <a:lnTo>
                      <a:pt x="10781" y="58662"/>
                    </a:lnTo>
                    <a:lnTo>
                      <a:pt x="10312" y="59485"/>
                    </a:lnTo>
                    <a:lnTo>
                      <a:pt x="7343" y="59485"/>
                    </a:lnTo>
                    <a:lnTo>
                      <a:pt x="3750" y="66072"/>
                    </a:lnTo>
                    <a:lnTo>
                      <a:pt x="1406" y="66072"/>
                    </a:lnTo>
                    <a:lnTo>
                      <a:pt x="156" y="63807"/>
                    </a:lnTo>
                    <a:lnTo>
                      <a:pt x="0" y="60308"/>
                    </a:lnTo>
                    <a:lnTo>
                      <a:pt x="781" y="58662"/>
                    </a:lnTo>
                    <a:lnTo>
                      <a:pt x="781" y="55986"/>
                    </a:lnTo>
                    <a:lnTo>
                      <a:pt x="3125" y="55780"/>
                    </a:lnTo>
                    <a:lnTo>
                      <a:pt x="4375" y="58250"/>
                    </a:lnTo>
                    <a:lnTo>
                      <a:pt x="5468" y="55986"/>
                    </a:lnTo>
                    <a:lnTo>
                      <a:pt x="5468" y="52487"/>
                    </a:lnTo>
                    <a:lnTo>
                      <a:pt x="4375" y="50222"/>
                    </a:lnTo>
                    <a:lnTo>
                      <a:pt x="7656" y="50222"/>
                    </a:lnTo>
                    <a:lnTo>
                      <a:pt x="8437" y="48782"/>
                    </a:lnTo>
                    <a:lnTo>
                      <a:pt x="8906" y="48576"/>
                    </a:lnTo>
                    <a:lnTo>
                      <a:pt x="10312" y="46312"/>
                    </a:lnTo>
                    <a:lnTo>
                      <a:pt x="11562" y="46312"/>
                    </a:lnTo>
                    <a:lnTo>
                      <a:pt x="11718" y="42813"/>
                    </a:lnTo>
                    <a:lnTo>
                      <a:pt x="12656" y="41166"/>
                    </a:lnTo>
                    <a:lnTo>
                      <a:pt x="12656" y="42813"/>
                    </a:lnTo>
                    <a:lnTo>
                      <a:pt x="13437" y="44253"/>
                    </a:lnTo>
                    <a:lnTo>
                      <a:pt x="13437" y="44871"/>
                    </a:lnTo>
                    <a:lnTo>
                      <a:pt x="12656" y="46312"/>
                    </a:lnTo>
                    <a:lnTo>
                      <a:pt x="14062" y="46312"/>
                    </a:lnTo>
                    <a:lnTo>
                      <a:pt x="14375" y="46723"/>
                    </a:lnTo>
                    <a:lnTo>
                      <a:pt x="15625" y="45077"/>
                    </a:lnTo>
                    <a:lnTo>
                      <a:pt x="16406" y="46518"/>
                    </a:lnTo>
                    <a:lnTo>
                      <a:pt x="16875" y="45488"/>
                    </a:lnTo>
                    <a:lnTo>
                      <a:pt x="17500" y="44459"/>
                    </a:lnTo>
                    <a:lnTo>
                      <a:pt x="17500" y="41783"/>
                    </a:lnTo>
                    <a:lnTo>
                      <a:pt x="18593" y="43430"/>
                    </a:lnTo>
                    <a:lnTo>
                      <a:pt x="18593" y="39931"/>
                    </a:lnTo>
                    <a:lnTo>
                      <a:pt x="20156" y="39931"/>
                    </a:lnTo>
                    <a:lnTo>
                      <a:pt x="20468" y="38696"/>
                    </a:lnTo>
                    <a:lnTo>
                      <a:pt x="17656" y="38696"/>
                    </a:lnTo>
                    <a:lnTo>
                      <a:pt x="17031" y="37667"/>
                    </a:lnTo>
                    <a:lnTo>
                      <a:pt x="17031" y="35197"/>
                    </a:lnTo>
                    <a:lnTo>
                      <a:pt x="18281" y="32727"/>
                    </a:lnTo>
                    <a:lnTo>
                      <a:pt x="19531" y="30257"/>
                    </a:lnTo>
                    <a:lnTo>
                      <a:pt x="19375" y="28404"/>
                    </a:lnTo>
                    <a:lnTo>
                      <a:pt x="17656" y="30668"/>
                    </a:lnTo>
                    <a:lnTo>
                      <a:pt x="16406" y="32933"/>
                    </a:lnTo>
                    <a:lnTo>
                      <a:pt x="15312" y="35197"/>
                    </a:lnTo>
                    <a:lnTo>
                      <a:pt x="15625" y="37873"/>
                    </a:lnTo>
                    <a:lnTo>
                      <a:pt x="16250" y="39108"/>
                    </a:lnTo>
                    <a:lnTo>
                      <a:pt x="15312" y="40754"/>
                    </a:lnTo>
                    <a:lnTo>
                      <a:pt x="15156" y="42813"/>
                    </a:lnTo>
                    <a:lnTo>
                      <a:pt x="14375" y="44459"/>
                    </a:lnTo>
                    <a:lnTo>
                      <a:pt x="13437" y="44665"/>
                    </a:lnTo>
                    <a:lnTo>
                      <a:pt x="13437" y="40548"/>
                    </a:lnTo>
                    <a:lnTo>
                      <a:pt x="12812" y="39519"/>
                    </a:lnTo>
                    <a:lnTo>
                      <a:pt x="12031" y="40548"/>
                    </a:lnTo>
                    <a:lnTo>
                      <a:pt x="10937" y="40548"/>
                    </a:lnTo>
                    <a:lnTo>
                      <a:pt x="11093" y="35197"/>
                    </a:lnTo>
                    <a:lnTo>
                      <a:pt x="11718" y="33962"/>
                    </a:lnTo>
                    <a:lnTo>
                      <a:pt x="13437" y="30874"/>
                    </a:lnTo>
                    <a:lnTo>
                      <a:pt x="15625" y="26963"/>
                    </a:lnTo>
                    <a:lnTo>
                      <a:pt x="17031" y="24288"/>
                    </a:lnTo>
                    <a:lnTo>
                      <a:pt x="21093" y="20789"/>
                    </a:lnTo>
                    <a:lnTo>
                      <a:pt x="24843" y="24905"/>
                    </a:lnTo>
                    <a:lnTo>
                      <a:pt x="25312" y="27993"/>
                    </a:lnTo>
                    <a:lnTo>
                      <a:pt x="24375" y="28198"/>
                    </a:lnTo>
                    <a:lnTo>
                      <a:pt x="22968" y="27787"/>
                    </a:lnTo>
                    <a:lnTo>
                      <a:pt x="24843" y="31492"/>
                    </a:lnTo>
                    <a:lnTo>
                      <a:pt x="29062" y="28816"/>
                    </a:lnTo>
                    <a:lnTo>
                      <a:pt x="32812" y="26758"/>
                    </a:lnTo>
                    <a:lnTo>
                      <a:pt x="31562" y="23053"/>
                    </a:lnTo>
                    <a:lnTo>
                      <a:pt x="35000" y="17084"/>
                    </a:lnTo>
                    <a:lnTo>
                      <a:pt x="37343" y="17289"/>
                    </a:lnTo>
                    <a:lnTo>
                      <a:pt x="35156" y="19348"/>
                    </a:lnTo>
                    <a:lnTo>
                      <a:pt x="33750" y="22847"/>
                    </a:lnTo>
                    <a:lnTo>
                      <a:pt x="33281" y="24699"/>
                    </a:lnTo>
                    <a:lnTo>
                      <a:pt x="33281" y="26963"/>
                    </a:lnTo>
                    <a:lnTo>
                      <a:pt x="34687" y="28198"/>
                    </a:lnTo>
                    <a:lnTo>
                      <a:pt x="36718" y="30257"/>
                    </a:lnTo>
                    <a:lnTo>
                      <a:pt x="41250" y="20994"/>
                    </a:lnTo>
                  </a:path>
                </a:pathLst>
              </a:custGeom>
              <a:solidFill>
                <a:srgbClr val="008000"/>
              </a:solidFill>
              <a:ln w="12700"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grpSp>
      <p:sp>
        <p:nvSpPr>
          <p:cNvPr id="988" name="Google Shape;988;p76"/>
          <p:cNvSpPr txBox="1"/>
          <p:nvPr/>
        </p:nvSpPr>
        <p:spPr>
          <a:xfrm>
            <a:off x="6735762" y="5705475"/>
            <a:ext cx="1189037" cy="458787"/>
          </a:xfrm>
          <a:prstGeom prst="rect">
            <a:avLst/>
          </a:prstGeom>
          <a:noFill/>
          <a:ln>
            <a:noFill/>
          </a:ln>
        </p:spPr>
        <p:txBody>
          <a:bodyPr spcFirstLastPara="1" wrap="square" lIns="90475" tIns="44450" rIns="90475" bIns="44450" anchor="t" anchorCtr="0">
            <a:noAutofit/>
          </a:bodyPr>
          <a:lstStyle/>
          <a:p>
            <a:pPr marL="0" marR="0" lvl="0" indent="0" algn="l" rtl="0">
              <a:lnSpc>
                <a:spcPct val="100000"/>
              </a:lnSpc>
              <a:spcBef>
                <a:spcPts val="0"/>
              </a:spcBef>
              <a:spcAft>
                <a:spcPts val="0"/>
              </a:spcAft>
              <a:buClr>
                <a:srgbClr val="FC0128"/>
              </a:buClr>
              <a:buFont typeface="Times New Roman"/>
              <a:buNone/>
            </a:pPr>
            <a:r>
              <a:rPr lang="en-US" sz="2400" b="1" i="0" u="none">
                <a:solidFill>
                  <a:srgbClr val="FC0128"/>
                </a:solidFill>
                <a:latin typeface="Times New Roman"/>
                <a:ea typeface="Times New Roman"/>
                <a:cs typeface="Times New Roman"/>
                <a:sym typeface="Times New Roman"/>
              </a:rPr>
              <a:t>PDA</a:t>
            </a:r>
            <a:endParaRPr/>
          </a:p>
        </p:txBody>
      </p:sp>
      <p:sp>
        <p:nvSpPr>
          <p:cNvPr id="989" name="Google Shape;989;p76"/>
          <p:cNvSpPr/>
          <p:nvPr/>
        </p:nvSpPr>
        <p:spPr>
          <a:xfrm>
            <a:off x="3581400" y="5105400"/>
            <a:ext cx="914400" cy="1214437"/>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Bank</a:t>
            </a:r>
            <a:endParaRPr/>
          </a:p>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Database</a:t>
            </a:r>
            <a:endParaRPr/>
          </a:p>
        </p:txBody>
      </p:sp>
      <p:cxnSp>
        <p:nvCxnSpPr>
          <p:cNvPr id="990" name="Google Shape;990;p76"/>
          <p:cNvCxnSpPr/>
          <p:nvPr/>
        </p:nvCxnSpPr>
        <p:spPr>
          <a:xfrm rot="10800000">
            <a:off x="4038600" y="4572000"/>
            <a:ext cx="0" cy="685800"/>
          </a:xfrm>
          <a:prstGeom prst="straightConnector1">
            <a:avLst/>
          </a:prstGeom>
          <a:noFill/>
          <a:ln w="9525" cap="flat" cmpd="sng">
            <a:solidFill>
              <a:schemeClr val="dk1"/>
            </a:solidFill>
            <a:prstDash val="solid"/>
            <a:miter lim="800000"/>
            <a:headEnd type="triangle" w="med" len="med"/>
            <a:tailEnd type="triangle" w="med" len="med"/>
          </a:ln>
        </p:spPr>
      </p:cxnSp>
    </p:spTree>
  </p:cSld>
  <p:clrMapOvr>
    <a:masterClrMapping/>
  </p:clrMapOvr>
  <p:transition spd="slow">
    <p:fade thruBlk="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77"/>
          <p:cNvSpPr/>
          <p:nvPr/>
        </p:nvSpPr>
        <p:spPr>
          <a:xfrm>
            <a:off x="1143000" y="685800"/>
            <a:ext cx="6248400" cy="4038600"/>
          </a:xfrm>
          <a:prstGeom prst="cloudCallout">
            <a:avLst>
              <a:gd name="adj1" fmla="val 16439"/>
              <a:gd name="adj2" fmla="val 10934"/>
            </a:avLst>
          </a:prstGeom>
          <a:gradFill>
            <a:gsLst>
              <a:gs pos="0">
                <a:schemeClr val="lt1"/>
              </a:gs>
              <a:gs pos="50000">
                <a:srgbClr val="008000">
                  <a:alpha val="39607"/>
                </a:srgbClr>
              </a:gs>
              <a:gs pos="100000">
                <a:schemeClr val="lt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77"/>
          <p:cNvSpPr txBox="1"/>
          <p:nvPr/>
        </p:nvSpPr>
        <p:spPr>
          <a:xfrm rot="5400000">
            <a:off x="2729218" y="570666"/>
            <a:ext cx="2631634" cy="40817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97" name="Google Shape;997;p77"/>
          <p:cNvSpPr>
            <a:spLocks noGrp="1"/>
          </p:cNvSpPr>
          <p:nvPr>
            <p:ph type="title"/>
          </p:nvPr>
        </p:nvSpPr>
        <p:spPr>
          <a:xfrm>
            <a:off x="641838" y="762000"/>
            <a:ext cx="7282962" cy="3528646"/>
          </a:xfrm>
          <a:prstGeom prst="cloudCallout">
            <a:avLst>
              <a:gd name="adj1" fmla="val 5991"/>
              <a:gd name="adj2" fmla="val 12302"/>
            </a:avLst>
          </a:prstGeom>
          <a:gradFill>
            <a:gsLst>
              <a:gs pos="0">
                <a:schemeClr val="lt1"/>
              </a:gs>
              <a:gs pos="50000">
                <a:srgbClr val="FF9933">
                  <a:alpha val="39607"/>
                </a:srgbClr>
              </a:gs>
              <a:gs pos="100000">
                <a:schemeClr val="lt1"/>
              </a:gs>
            </a:gsLst>
            <a:lin ang="5400000" scaled="0"/>
          </a:gra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Calibri"/>
              <a:buNone/>
            </a:pPr>
            <a:r>
              <a:rPr lang="en-US" sz="2000" b="1" i="0" u="none" strike="noStrike" cap="none">
                <a:solidFill>
                  <a:schemeClr val="dk1"/>
                </a:solidFill>
                <a:latin typeface="Calibri"/>
                <a:ea typeface="Calibri"/>
                <a:cs typeface="Calibri"/>
                <a:sym typeface="Calibri"/>
              </a:rPr>
              <a:t>How To Achieve Synchronization?</a:t>
            </a:r>
            <a:endParaRPr/>
          </a:p>
        </p:txBody>
      </p:sp>
      <p:sp>
        <p:nvSpPr>
          <p:cNvPr id="998" name="Google Shape;998;p77"/>
          <p:cNvSpPr txBox="1">
            <a:spLocks noGrp="1"/>
          </p:cNvSpPr>
          <p:nvPr>
            <p:ph type="body" idx="1"/>
          </p:nvPr>
        </p:nvSpPr>
        <p:spPr>
          <a:xfrm>
            <a:off x="0" y="3352800"/>
            <a:ext cx="7848600" cy="3276600"/>
          </a:xfrm>
          <a:prstGeom prst="rect">
            <a:avLst/>
          </a:prstGeom>
          <a:noFill/>
          <a:ln>
            <a:noFill/>
          </a:ln>
        </p:spPr>
        <p:txBody>
          <a:bodyPr spcFirstLastPara="1" wrap="square" lIns="91425" tIns="45700" rIns="91425" bIns="45700" anchor="t" anchorCtr="0">
            <a:noAutofit/>
          </a:bodyPr>
          <a:lstStyle/>
          <a:p>
            <a:pPr marL="342900" marR="0" lvl="0" indent="-139700" algn="l" rtl="0">
              <a:lnSpc>
                <a:spcPct val="10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4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Object Locks</a:t>
            </a:r>
            <a:endParaRPr/>
          </a:p>
          <a:p>
            <a:pPr marL="742950" marR="0" lvl="1" indent="-285750" algn="l" rtl="0">
              <a:lnSpc>
                <a:spcPct val="100000"/>
              </a:lnSpc>
              <a:spcBef>
                <a:spcPts val="56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Keyword : </a:t>
            </a:r>
            <a:r>
              <a:rPr lang="en-US" sz="2800" b="0" i="0" u="none" strike="noStrike" cap="none">
                <a:solidFill>
                  <a:srgbClr val="0C25E0"/>
                </a:solidFill>
                <a:latin typeface="Calibri"/>
                <a:ea typeface="Calibri"/>
                <a:cs typeface="Calibri"/>
                <a:sym typeface="Calibri"/>
              </a:rPr>
              <a:t>synchronized</a:t>
            </a:r>
            <a:endParaRPr/>
          </a:p>
          <a:p>
            <a:pPr marL="342900" marR="0" lvl="0" indent="-165100" algn="l" rtl="0">
              <a:spcBef>
                <a:spcPts val="560"/>
              </a:spcBef>
              <a:spcAft>
                <a:spcPts val="0"/>
              </a:spcAft>
              <a:buClr>
                <a:schemeClr val="dk1"/>
              </a:buClr>
              <a:buSzPts val="2800"/>
              <a:buFont typeface="Arial"/>
              <a:buNone/>
            </a:pPr>
            <a:endParaRPr sz="2800" b="0" i="0" u="none" strike="noStrike" cap="none">
              <a:solidFill>
                <a:srgbClr val="0C25E0"/>
              </a:solidFill>
              <a:latin typeface="Calibri"/>
              <a:ea typeface="Calibri"/>
              <a:cs typeface="Calibri"/>
              <a:sym typeface="Calibri"/>
            </a:endParaRPr>
          </a:p>
        </p:txBody>
      </p:sp>
      <p:sp>
        <p:nvSpPr>
          <p:cNvPr id="999" name="Google Shape;999;p77"/>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
        <p:nvSpPr>
          <p:cNvPr id="1000" name="Google Shape;1000;p77"/>
          <p:cNvSpPr/>
          <p:nvPr/>
        </p:nvSpPr>
        <p:spPr>
          <a:xfrm rot="5400000">
            <a:off x="4191000" y="1524000"/>
            <a:ext cx="914400" cy="1828800"/>
          </a:xfrm>
          <a:custGeom>
            <a:avLst/>
            <a:gdLst/>
            <a:ahLst/>
            <a:cxnLst/>
            <a:rect l="l" t="t" r="r" b="b"/>
            <a:pathLst>
              <a:path w="120000" h="120000" extrusionOk="0">
                <a:moveTo>
                  <a:pt x="90000" y="0"/>
                </a:moveTo>
                <a:lnTo>
                  <a:pt x="90000" y="30000"/>
                </a:lnTo>
                <a:lnTo>
                  <a:pt x="18750" y="30000"/>
                </a:lnTo>
                <a:lnTo>
                  <a:pt x="18750" y="90000"/>
                </a:lnTo>
                <a:lnTo>
                  <a:pt x="90000" y="90000"/>
                </a:lnTo>
                <a:lnTo>
                  <a:pt x="90000" y="120000"/>
                </a:lnTo>
                <a:lnTo>
                  <a:pt x="120000" y="60000"/>
                </a:lnTo>
                <a:close/>
              </a:path>
              <a:path w="120000" h="120000" extrusionOk="0">
                <a:moveTo>
                  <a:pt x="7500" y="30000"/>
                </a:moveTo>
                <a:lnTo>
                  <a:pt x="7500" y="90000"/>
                </a:lnTo>
                <a:lnTo>
                  <a:pt x="15000" y="90000"/>
                </a:lnTo>
                <a:lnTo>
                  <a:pt x="15000" y="30000"/>
                </a:lnTo>
                <a:close/>
              </a:path>
              <a:path w="120000" h="120000" extrusionOk="0">
                <a:moveTo>
                  <a:pt x="0" y="30000"/>
                </a:moveTo>
                <a:lnTo>
                  <a:pt x="0" y="90000"/>
                </a:lnTo>
                <a:lnTo>
                  <a:pt x="3750" y="90000"/>
                </a:lnTo>
                <a:lnTo>
                  <a:pt x="3750" y="30000"/>
                </a:lnTo>
                <a:close/>
              </a:path>
            </a:pathLst>
          </a:custGeom>
          <a:gradFill>
            <a:gsLst>
              <a:gs pos="0">
                <a:schemeClr val="lt1"/>
              </a:gs>
              <a:gs pos="50000">
                <a:srgbClr val="FF3300">
                  <a:alpha val="39607"/>
                </a:srgbClr>
              </a:gs>
              <a:gs pos="100000">
                <a:schemeClr val="lt1"/>
              </a:gs>
            </a:gsLst>
            <a:lin ang="5400000" scaled="0"/>
          </a:gra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77"/>
          <p:cNvSpPr txBox="1"/>
          <p:nvPr/>
        </p:nvSpPr>
        <p:spPr>
          <a:xfrm rot="10800000">
            <a:off x="3733800" y="1981200"/>
            <a:ext cx="1828800" cy="914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Using</a:t>
            </a:r>
            <a:endParaRPr/>
          </a:p>
        </p:txBody>
      </p:sp>
      <p:sp>
        <p:nvSpPr>
          <p:cNvPr id="1002" name="Google Shape;1002;p77"/>
          <p:cNvSpPr/>
          <p:nvPr/>
        </p:nvSpPr>
        <p:spPr>
          <a:xfrm rot="5400000">
            <a:off x="4114800" y="1828800"/>
            <a:ext cx="1143000" cy="3581400"/>
          </a:xfrm>
          <a:prstGeom prst="star32">
            <a:avLst>
              <a:gd name="adj" fmla="val 37500"/>
            </a:avLst>
          </a:prstGeom>
          <a:gradFill>
            <a:gsLst>
              <a:gs pos="0">
                <a:schemeClr val="lt1"/>
              </a:gs>
              <a:gs pos="50000">
                <a:srgbClr val="FF3300">
                  <a:alpha val="39607"/>
                </a:srgbClr>
              </a:gs>
              <a:gs pos="100000">
                <a:schemeClr val="lt1"/>
              </a:gs>
            </a:gsLst>
            <a:lin ang="5400000" scaled="0"/>
          </a:gra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77"/>
          <p:cNvSpPr txBox="1"/>
          <p:nvPr/>
        </p:nvSpPr>
        <p:spPr>
          <a:xfrm rot="10800000">
            <a:off x="3736638" y="3316416"/>
            <a:ext cx="1899324" cy="60616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200" b="0" i="0" u="none">
                <a:solidFill>
                  <a:schemeClr val="dk1"/>
                </a:solidFill>
                <a:latin typeface="Calibri"/>
                <a:ea typeface="Calibri"/>
                <a:cs typeface="Calibri"/>
                <a:sym typeface="Calibri"/>
              </a:rPr>
              <a:t>synchronized keyword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995"/>
                                        </p:tgtEl>
                                        <p:attrNameLst>
                                          <p:attrName>style.visibility</p:attrName>
                                        </p:attrNameLst>
                                      </p:cBhvr>
                                      <p:to>
                                        <p:strVal val="visible"/>
                                      </p:to>
                                    </p:set>
                                    <p:anim calcmode="lin" valueType="num">
                                      <p:cBhvr additive="base">
                                        <p:cTn id="7" dur="500"/>
                                        <p:tgtEl>
                                          <p:spTgt spid="995"/>
                                        </p:tgtEl>
                                        <p:attrNameLst>
                                          <p:attrName>ppt_w</p:attrName>
                                        </p:attrNameLst>
                                      </p:cBhvr>
                                      <p:tavLst>
                                        <p:tav tm="0">
                                          <p:val>
                                            <p:strVal val="0"/>
                                          </p:val>
                                        </p:tav>
                                        <p:tav tm="100000">
                                          <p:val>
                                            <p:strVal val="#ppt_w"/>
                                          </p:val>
                                        </p:tav>
                                      </p:tavLst>
                                    </p:anim>
                                    <p:anim calcmode="lin" valueType="num">
                                      <p:cBhvr additive="base">
                                        <p:cTn id="8" dur="500"/>
                                        <p:tgtEl>
                                          <p:spTgt spid="99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997"/>
                                        </p:tgtEl>
                                        <p:attrNameLst>
                                          <p:attrName>style.visibility</p:attrName>
                                        </p:attrNameLst>
                                      </p:cBhvr>
                                      <p:to>
                                        <p:strVal val="visible"/>
                                      </p:to>
                                    </p:set>
                                    <p:anim calcmode="lin" valueType="num">
                                      <p:cBhvr additive="base">
                                        <p:cTn id="11" dur="500"/>
                                        <p:tgtEl>
                                          <p:spTgt spid="997"/>
                                        </p:tgtEl>
                                        <p:attrNameLst>
                                          <p:attrName>ppt_w</p:attrName>
                                        </p:attrNameLst>
                                      </p:cBhvr>
                                      <p:tavLst>
                                        <p:tav tm="0">
                                          <p:val>
                                            <p:strVal val="0"/>
                                          </p:val>
                                        </p:tav>
                                        <p:tav tm="100000">
                                          <p:val>
                                            <p:strVal val="#ppt_w"/>
                                          </p:val>
                                        </p:tav>
                                      </p:tavLst>
                                    </p:anim>
                                    <p:anim calcmode="lin" valueType="num">
                                      <p:cBhvr additive="base">
                                        <p:cTn id="12" dur="500"/>
                                        <p:tgtEl>
                                          <p:spTgt spid="997"/>
                                        </p:tgtEl>
                                        <p:attrNameLst>
                                          <p:attrName>ppt_h</p:attrName>
                                        </p:attrNameLst>
                                      </p:cBhvr>
                                      <p:tavLst>
                                        <p:tav tm="0">
                                          <p:val>
                                            <p:str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00"/>
                                        </p:tgtEl>
                                        <p:attrNameLst>
                                          <p:attrName>style.visibility</p:attrName>
                                        </p:attrNameLst>
                                      </p:cBhvr>
                                      <p:to>
                                        <p:strVal val="visible"/>
                                      </p:to>
                                    </p:set>
                                    <p:animEffect transition="in" filter="fade">
                                      <p:cBhvr>
                                        <p:cTn id="17" dur="500"/>
                                        <p:tgtEl>
                                          <p:spTgt spid="1000"/>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1002"/>
                                        </p:tgtEl>
                                        <p:attrNameLst>
                                          <p:attrName>style.visibility</p:attrName>
                                        </p:attrNameLst>
                                      </p:cBhvr>
                                      <p:to>
                                        <p:strVal val="visible"/>
                                      </p:to>
                                    </p:set>
                                    <p:animEffect transition="in" filter="fade">
                                      <p:cBhvr>
                                        <p:cTn id="21" dur="1000"/>
                                        <p:tgtEl>
                                          <p:spTgt spid="1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78"/>
          <p:cNvSpPr/>
          <p:nvPr/>
        </p:nvSpPr>
        <p:spPr>
          <a:xfrm>
            <a:off x="0" y="685800"/>
            <a:ext cx="9144000" cy="5638800"/>
          </a:xfrm>
          <a:prstGeom prst="cloudCallout">
            <a:avLst>
              <a:gd name="adj1" fmla="val 15851"/>
              <a:gd name="adj2" fmla="val 10934"/>
            </a:avLst>
          </a:prstGeom>
          <a:gradFill>
            <a:gsLst>
              <a:gs pos="0">
                <a:schemeClr val="lt1"/>
              </a:gs>
              <a:gs pos="50000">
                <a:srgbClr val="008000">
                  <a:alpha val="39607"/>
                </a:srgbClr>
              </a:gs>
              <a:gs pos="100000">
                <a:schemeClr val="lt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78"/>
          <p:cNvSpPr txBox="1"/>
          <p:nvPr/>
        </p:nvSpPr>
        <p:spPr>
          <a:xfrm rot="5400000">
            <a:off x="2409702" y="387925"/>
            <a:ext cx="3674357" cy="597323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10" name="Google Shape;1010;p78"/>
          <p:cNvSpPr>
            <a:spLocks noGrp="1"/>
          </p:cNvSpPr>
          <p:nvPr>
            <p:ph type="title"/>
          </p:nvPr>
        </p:nvSpPr>
        <p:spPr>
          <a:xfrm>
            <a:off x="0" y="581025"/>
            <a:ext cx="9144000" cy="5867400"/>
          </a:xfrm>
          <a:prstGeom prst="cloudCallout">
            <a:avLst>
              <a:gd name="adj1" fmla="val 7493"/>
              <a:gd name="adj2" fmla="val 12302"/>
            </a:avLst>
          </a:prstGeom>
          <a:gradFill>
            <a:gsLst>
              <a:gs pos="0">
                <a:schemeClr val="lt1"/>
              </a:gs>
              <a:gs pos="50000">
                <a:srgbClr val="FF9933">
                  <a:alpha val="39607"/>
                </a:srgbClr>
              </a:gs>
              <a:gs pos="100000">
                <a:schemeClr val="lt1"/>
              </a:gs>
            </a:gsLst>
            <a:lin ang="5400000" scaled="0"/>
          </a:gra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Calibri"/>
              <a:buNone/>
            </a:pPr>
            <a:r>
              <a:rPr lang="en-US" sz="2000" b="1" i="0" u="none" strike="noStrike" cap="none">
                <a:solidFill>
                  <a:schemeClr val="dk1"/>
                </a:solidFill>
                <a:latin typeface="Calibri"/>
                <a:ea typeface="Calibri"/>
                <a:cs typeface="Calibri"/>
                <a:sym typeface="Calibri"/>
              </a:rPr>
              <a:t>        </a:t>
            </a:r>
            <a:r>
              <a:rPr lang="en-US" sz="2400" b="1" i="0" u="none" strike="noStrike" cap="none">
                <a:solidFill>
                  <a:schemeClr val="dk1"/>
                </a:solidFill>
                <a:latin typeface="Calibri"/>
                <a:ea typeface="Calibri"/>
                <a:cs typeface="Calibri"/>
                <a:sym typeface="Calibri"/>
              </a:rPr>
              <a:t>Synchronization can be achieved at two levels</a:t>
            </a:r>
            <a:br>
              <a:rPr lang="en-US" sz="2400" b="1" i="0" u="none" strike="noStrike" cap="none">
                <a:solidFill>
                  <a:schemeClr val="dk1"/>
                </a:solidFill>
                <a:latin typeface="Calibri"/>
                <a:ea typeface="Calibri"/>
                <a:cs typeface="Calibri"/>
                <a:sym typeface="Calibri"/>
              </a:rPr>
            </a:br>
            <a:endParaRPr/>
          </a:p>
        </p:txBody>
      </p:sp>
      <p:sp>
        <p:nvSpPr>
          <p:cNvPr id="1011" name="Google Shape;1011;p78"/>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
        <p:nvSpPr>
          <p:cNvPr id="1012" name="Google Shape;1012;p78" descr="Stationery"/>
          <p:cNvSpPr txBox="1"/>
          <p:nvPr/>
        </p:nvSpPr>
        <p:spPr>
          <a:xfrm>
            <a:off x="3573462" y="2798762"/>
            <a:ext cx="1989137" cy="396875"/>
          </a:xfrm>
          <a:prstGeom prst="rect">
            <a:avLst/>
          </a:prstGeom>
          <a:blipFill rotWithShape="1">
            <a:blip r:embed="rId3">
              <a:alphaModFix/>
            </a:blip>
            <a:stretch>
              <a:fillRect/>
            </a:stretch>
          </a:blipFill>
          <a:ln>
            <a:noFill/>
          </a:ln>
          <a:effectLst>
            <a:outerShdw blurRad="63500" dist="17960" dir="2700000">
              <a:srgbClr val="99997A"/>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1. Method Level</a:t>
            </a:r>
            <a:endParaRPr/>
          </a:p>
        </p:txBody>
      </p:sp>
      <p:sp>
        <p:nvSpPr>
          <p:cNvPr id="1013" name="Google Shape;1013;p78" descr="Stationery"/>
          <p:cNvSpPr txBox="1"/>
          <p:nvPr/>
        </p:nvSpPr>
        <p:spPr>
          <a:xfrm>
            <a:off x="3573462" y="3429000"/>
            <a:ext cx="1989137" cy="396875"/>
          </a:xfrm>
          <a:prstGeom prst="rect">
            <a:avLst/>
          </a:prstGeom>
          <a:blipFill rotWithShape="1">
            <a:blip r:embed="rId3">
              <a:alphaModFix/>
            </a:blip>
            <a:stretch>
              <a:fillRect/>
            </a:stretch>
          </a:blipFill>
          <a:ln>
            <a:noFill/>
          </a:ln>
          <a:effectLst>
            <a:outerShdw blurRad="63500" dist="17960" dir="2700000">
              <a:srgbClr val="99997A"/>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2. Object Level</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2"/>
                                        </p:tgtEl>
                                        <p:attrNameLst>
                                          <p:attrName>style.visibility</p:attrName>
                                        </p:attrNameLst>
                                      </p:cBhvr>
                                      <p:to>
                                        <p:strVal val="visible"/>
                                      </p:to>
                                    </p:set>
                                    <p:animEffect transition="in" filter="fade">
                                      <p:cBhvr>
                                        <p:cTn id="7" dur="80"/>
                                        <p:tgtEl>
                                          <p:spTgt spid="10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3"/>
                                        </p:tgtEl>
                                        <p:attrNameLst>
                                          <p:attrName>style.visibility</p:attrName>
                                        </p:attrNameLst>
                                      </p:cBhvr>
                                      <p:to>
                                        <p:strVal val="visible"/>
                                      </p:to>
                                    </p:set>
                                    <p:animEffect transition="in" filter="fade">
                                      <p:cBhvr>
                                        <p:cTn id="12" dur="80"/>
                                        <p:tgtEl>
                                          <p:spTgt spid="1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p79"/>
          <p:cNvSpPr/>
          <p:nvPr/>
        </p:nvSpPr>
        <p:spPr>
          <a:xfrm>
            <a:off x="0" y="685800"/>
            <a:ext cx="9144000" cy="5638800"/>
          </a:xfrm>
          <a:prstGeom prst="cloudCallout">
            <a:avLst>
              <a:gd name="adj1" fmla="val 15851"/>
              <a:gd name="adj2" fmla="val 10934"/>
            </a:avLst>
          </a:prstGeom>
          <a:gradFill>
            <a:gsLst>
              <a:gs pos="0">
                <a:schemeClr val="lt1"/>
              </a:gs>
              <a:gs pos="50000">
                <a:srgbClr val="008000">
                  <a:alpha val="39607"/>
                </a:srgbClr>
              </a:gs>
              <a:gs pos="100000">
                <a:schemeClr val="lt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79"/>
          <p:cNvSpPr txBox="1"/>
          <p:nvPr/>
        </p:nvSpPr>
        <p:spPr>
          <a:xfrm rot="5400000">
            <a:off x="2409702" y="387925"/>
            <a:ext cx="3674357" cy="597323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20" name="Google Shape;1020;p79"/>
          <p:cNvSpPr>
            <a:spLocks noGrp="1"/>
          </p:cNvSpPr>
          <p:nvPr>
            <p:ph type="title"/>
          </p:nvPr>
        </p:nvSpPr>
        <p:spPr>
          <a:xfrm>
            <a:off x="0" y="581025"/>
            <a:ext cx="9144000" cy="5867400"/>
          </a:xfrm>
          <a:prstGeom prst="cloudCallout">
            <a:avLst>
              <a:gd name="adj1" fmla="val 7493"/>
              <a:gd name="adj2" fmla="val 12302"/>
            </a:avLst>
          </a:prstGeom>
          <a:gradFill>
            <a:gsLst>
              <a:gs pos="0">
                <a:schemeClr val="lt1"/>
              </a:gs>
              <a:gs pos="50000">
                <a:srgbClr val="FF9933">
                  <a:alpha val="39607"/>
                </a:srgbClr>
              </a:gs>
              <a:gs pos="100000">
                <a:schemeClr val="lt1"/>
              </a:gs>
            </a:gsLst>
            <a:lin ang="5400000" scaled="0"/>
          </a:gra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Calibri"/>
              <a:buNone/>
            </a:pPr>
            <a:r>
              <a:rPr lang="en-US" sz="2000" b="1" i="0" u="none" strike="noStrike" cap="none">
                <a:solidFill>
                  <a:schemeClr val="dk1"/>
                </a:solidFill>
                <a:latin typeface="Calibri"/>
                <a:ea typeface="Calibri"/>
                <a:cs typeface="Calibri"/>
                <a:sym typeface="Calibri"/>
              </a:rPr>
              <a:t>        </a:t>
            </a:r>
            <a:r>
              <a:rPr lang="en-US" sz="2400" b="1" i="0" u="none" strike="noStrike" cap="none">
                <a:solidFill>
                  <a:schemeClr val="dk1"/>
                </a:solidFill>
                <a:latin typeface="Calibri"/>
                <a:ea typeface="Calibri"/>
                <a:cs typeface="Calibri"/>
                <a:sym typeface="Calibri"/>
              </a:rPr>
              <a:t>1. Synchronizing A Method</a:t>
            </a:r>
            <a:endParaRPr/>
          </a:p>
        </p:txBody>
      </p:sp>
      <p:sp>
        <p:nvSpPr>
          <p:cNvPr id="1021" name="Google Shape;1021;p79"/>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
        <p:nvSpPr>
          <p:cNvPr id="1022" name="Google Shape;1022;p79"/>
          <p:cNvSpPr txBox="1"/>
          <p:nvPr/>
        </p:nvSpPr>
        <p:spPr>
          <a:xfrm>
            <a:off x="2470150" y="2798762"/>
            <a:ext cx="4856162" cy="21796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public synchronized void updateRecord()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 critical code goes here …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2"/>
                                        </p:tgtEl>
                                        <p:attrNameLst>
                                          <p:attrName>style.visibility</p:attrName>
                                        </p:attrNameLst>
                                      </p:cBhvr>
                                      <p:to>
                                        <p:strVal val="visible"/>
                                      </p:to>
                                    </p:set>
                                    <p:animEffect transition="in" filter="fade">
                                      <p:cBhvr>
                                        <p:cTn id="7" dur="80"/>
                                        <p:tgtEl>
                                          <p:spTgt spid="1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80"/>
          <p:cNvSpPr/>
          <p:nvPr/>
        </p:nvSpPr>
        <p:spPr>
          <a:xfrm>
            <a:off x="0" y="685800"/>
            <a:ext cx="9144000" cy="5638800"/>
          </a:xfrm>
          <a:prstGeom prst="cloudCallout">
            <a:avLst>
              <a:gd name="adj1" fmla="val 15851"/>
              <a:gd name="adj2" fmla="val 10934"/>
            </a:avLst>
          </a:prstGeom>
          <a:gradFill>
            <a:gsLst>
              <a:gs pos="0">
                <a:schemeClr val="lt1"/>
              </a:gs>
              <a:gs pos="50000">
                <a:srgbClr val="008000">
                  <a:alpha val="39607"/>
                </a:srgbClr>
              </a:gs>
              <a:gs pos="100000">
                <a:schemeClr val="lt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80"/>
          <p:cNvSpPr txBox="1"/>
          <p:nvPr/>
        </p:nvSpPr>
        <p:spPr>
          <a:xfrm rot="5400000">
            <a:off x="2409702" y="387925"/>
            <a:ext cx="3674357" cy="597323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31" name="Google Shape;1031;p80"/>
          <p:cNvSpPr>
            <a:spLocks noGrp="1"/>
          </p:cNvSpPr>
          <p:nvPr>
            <p:ph type="title"/>
          </p:nvPr>
        </p:nvSpPr>
        <p:spPr>
          <a:xfrm>
            <a:off x="0" y="581025"/>
            <a:ext cx="9144000" cy="5867400"/>
          </a:xfrm>
          <a:prstGeom prst="cloudCallout">
            <a:avLst>
              <a:gd name="adj1" fmla="val 7493"/>
              <a:gd name="adj2" fmla="val 12302"/>
            </a:avLst>
          </a:prstGeom>
          <a:gradFill>
            <a:gsLst>
              <a:gs pos="0">
                <a:schemeClr val="lt1"/>
              </a:gs>
              <a:gs pos="50000">
                <a:srgbClr val="FF9933">
                  <a:alpha val="39607"/>
                </a:srgbClr>
              </a:gs>
              <a:gs pos="100000">
                <a:schemeClr val="lt1"/>
              </a:gs>
            </a:gsLst>
            <a:lin ang="5400000" scaled="0"/>
          </a:gra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Calibri"/>
              <a:buNone/>
            </a:pPr>
            <a:r>
              <a:rPr lang="en-US" sz="2000" b="1" i="0" u="none" strike="noStrike" cap="none">
                <a:solidFill>
                  <a:schemeClr val="dk1"/>
                </a:solidFill>
                <a:latin typeface="Calibri"/>
                <a:ea typeface="Calibri"/>
                <a:cs typeface="Calibri"/>
                <a:sym typeface="Calibri"/>
              </a:rPr>
              <a:t>        </a:t>
            </a:r>
            <a:r>
              <a:rPr lang="en-US" sz="2400" b="1" i="0" u="none" strike="noStrike" cap="none">
                <a:solidFill>
                  <a:schemeClr val="dk1"/>
                </a:solidFill>
                <a:latin typeface="Calibri"/>
                <a:ea typeface="Calibri"/>
                <a:cs typeface="Calibri"/>
                <a:sym typeface="Calibri"/>
              </a:rPr>
              <a:t>1.</a:t>
            </a:r>
            <a:r>
              <a:rPr lang="en-US" sz="2000" b="1" i="0" u="none" strike="noStrike" cap="none">
                <a:solidFill>
                  <a:schemeClr val="dk1"/>
                </a:solidFill>
                <a:latin typeface="Calibri"/>
                <a:ea typeface="Calibri"/>
                <a:cs typeface="Calibri"/>
                <a:sym typeface="Calibri"/>
              </a:rPr>
              <a:t> </a:t>
            </a:r>
            <a:r>
              <a:rPr lang="en-US" sz="2400" b="1" i="0" u="none" strike="noStrike" cap="none">
                <a:solidFill>
                  <a:schemeClr val="dk1"/>
                </a:solidFill>
                <a:latin typeface="Calibri"/>
                <a:ea typeface="Calibri"/>
                <a:cs typeface="Calibri"/>
                <a:sym typeface="Calibri"/>
              </a:rPr>
              <a:t>Synchronizing A Method</a:t>
            </a:r>
            <a:endParaRPr/>
          </a:p>
        </p:txBody>
      </p:sp>
      <p:sp>
        <p:nvSpPr>
          <p:cNvPr id="1032" name="Google Shape;1032;p80"/>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
        <p:nvSpPr>
          <p:cNvPr id="1033" name="Google Shape;1033;p80"/>
          <p:cNvSpPr txBox="1"/>
          <p:nvPr/>
        </p:nvSpPr>
        <p:spPr>
          <a:xfrm>
            <a:off x="2470150" y="2798762"/>
            <a:ext cx="4997450" cy="21796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public </a:t>
            </a:r>
            <a:r>
              <a:rPr lang="en-US" sz="2000" b="0" i="1" u="none">
                <a:solidFill>
                  <a:schemeClr val="dk1"/>
                </a:solidFill>
                <a:latin typeface="Calibri"/>
                <a:ea typeface="Calibri"/>
                <a:cs typeface="Calibri"/>
                <a:sym typeface="Calibri"/>
              </a:rPr>
              <a:t>synchronized</a:t>
            </a:r>
            <a:r>
              <a:rPr lang="en-US" sz="2000" b="0" i="0" u="none">
                <a:solidFill>
                  <a:schemeClr val="dk1"/>
                </a:solidFill>
                <a:latin typeface="Calibri"/>
                <a:ea typeface="Calibri"/>
                <a:cs typeface="Calibri"/>
                <a:sym typeface="Calibri"/>
              </a:rPr>
              <a:t> void updateRecord()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 critical code goes here …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p:sp>
        <p:nvSpPr>
          <p:cNvPr id="1034" name="Google Shape;1034;p80"/>
          <p:cNvSpPr txBox="1"/>
          <p:nvPr/>
        </p:nvSpPr>
        <p:spPr>
          <a:xfrm>
            <a:off x="3305175" y="2819400"/>
            <a:ext cx="1676400" cy="381000"/>
          </a:xfrm>
          <a:prstGeom prst="rect">
            <a:avLst/>
          </a:prstGeom>
          <a:no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1035" name="Google Shape;1035;p80"/>
          <p:cNvGrpSpPr/>
          <p:nvPr/>
        </p:nvGrpSpPr>
        <p:grpSpPr>
          <a:xfrm>
            <a:off x="1311275" y="3133725"/>
            <a:ext cx="1989137" cy="1985962"/>
            <a:chOff x="1311275" y="3133725"/>
            <a:chExt cx="1989137" cy="1985962"/>
          </a:xfrm>
        </p:grpSpPr>
        <p:pic>
          <p:nvPicPr>
            <p:cNvPr id="1036" name="Google Shape;1036;p80"/>
            <p:cNvPicPr preferRelativeResize="0"/>
            <p:nvPr/>
          </p:nvPicPr>
          <p:blipFill rotWithShape="1">
            <a:blip r:embed="rId3">
              <a:alphaModFix/>
            </a:blip>
            <a:srcRect/>
            <a:stretch/>
          </p:blipFill>
          <p:spPr>
            <a:xfrm>
              <a:off x="1311275" y="3133725"/>
              <a:ext cx="1987032" cy="1958618"/>
            </a:xfrm>
            <a:prstGeom prst="rect">
              <a:avLst/>
            </a:prstGeom>
            <a:noFill/>
            <a:ln>
              <a:noFill/>
            </a:ln>
          </p:spPr>
        </p:pic>
        <p:sp>
          <p:nvSpPr>
            <p:cNvPr id="1037" name="Google Shape;1037;p80"/>
            <p:cNvSpPr txBox="1"/>
            <p:nvPr/>
          </p:nvSpPr>
          <p:spPr>
            <a:xfrm>
              <a:off x="1319212" y="3138487"/>
              <a:ext cx="1981200" cy="1981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1038" name="Google Shape;1038;p80"/>
          <p:cNvSpPr/>
          <p:nvPr/>
        </p:nvSpPr>
        <p:spPr>
          <a:xfrm>
            <a:off x="3692525" y="4343400"/>
            <a:ext cx="4918075" cy="1828800"/>
          </a:xfrm>
          <a:prstGeom prst="verticalScroll">
            <a:avLst>
              <a:gd name="adj" fmla="val 12500"/>
            </a:avLst>
          </a:prstGeom>
          <a:noFill/>
          <a:ln w="19050" cap="flat" cmpd="sng">
            <a:solidFill>
              <a:srgbClr val="FF826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1800" b="0" i="0" u="none">
                <a:solidFill>
                  <a:schemeClr val="dk1"/>
                </a:solidFill>
                <a:latin typeface="Calibri"/>
                <a:ea typeface="Calibri"/>
                <a:cs typeface="Calibri"/>
                <a:sym typeface="Calibri"/>
              </a:rPr>
              <a:t>Only one thread will be inside the body of the updateRecord() method. The second call will be blocked until the first call returns or wait() is called inside the synchronized method.</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38"/>
                                        </p:tgtEl>
                                        <p:attrNameLst>
                                          <p:attrName>style.visibility</p:attrName>
                                        </p:attrNameLst>
                                      </p:cBhvr>
                                      <p:to>
                                        <p:strVal val="visible"/>
                                      </p:to>
                                    </p:set>
                                    <p:animEffect transition="in" filter="fade">
                                      <p:cBhvr>
                                        <p:cTn id="7" dur="500"/>
                                        <p:tgtEl>
                                          <p:spTgt spid="1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81"/>
          <p:cNvSpPr/>
          <p:nvPr/>
        </p:nvSpPr>
        <p:spPr>
          <a:xfrm>
            <a:off x="0" y="685800"/>
            <a:ext cx="9144000" cy="5638800"/>
          </a:xfrm>
          <a:prstGeom prst="cloudCallout">
            <a:avLst>
              <a:gd name="adj1" fmla="val 15851"/>
              <a:gd name="adj2" fmla="val 10934"/>
            </a:avLst>
          </a:prstGeom>
          <a:gradFill>
            <a:gsLst>
              <a:gs pos="0">
                <a:schemeClr val="lt1"/>
              </a:gs>
              <a:gs pos="50000">
                <a:srgbClr val="008000">
                  <a:alpha val="39607"/>
                </a:srgbClr>
              </a:gs>
              <a:gs pos="100000">
                <a:schemeClr val="lt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81"/>
          <p:cNvSpPr txBox="1"/>
          <p:nvPr/>
        </p:nvSpPr>
        <p:spPr>
          <a:xfrm rot="5400000">
            <a:off x="2409702" y="387925"/>
            <a:ext cx="3674357" cy="597323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46" name="Google Shape;1046;p81"/>
          <p:cNvSpPr>
            <a:spLocks noGrp="1"/>
          </p:cNvSpPr>
          <p:nvPr>
            <p:ph type="title"/>
          </p:nvPr>
        </p:nvSpPr>
        <p:spPr>
          <a:xfrm>
            <a:off x="0" y="581025"/>
            <a:ext cx="9144000" cy="5867400"/>
          </a:xfrm>
          <a:prstGeom prst="cloudCallout">
            <a:avLst>
              <a:gd name="adj1" fmla="val 7493"/>
              <a:gd name="adj2" fmla="val 12302"/>
            </a:avLst>
          </a:prstGeom>
          <a:gradFill>
            <a:gsLst>
              <a:gs pos="0">
                <a:schemeClr val="lt1"/>
              </a:gs>
              <a:gs pos="50000">
                <a:srgbClr val="FF9933">
                  <a:alpha val="39607"/>
                </a:srgbClr>
              </a:gs>
              <a:gs pos="100000">
                <a:schemeClr val="lt1"/>
              </a:gs>
            </a:gsLst>
            <a:lin ang="5400000" scaled="0"/>
          </a:gra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Calibri"/>
              <a:buNone/>
            </a:pPr>
            <a:r>
              <a:rPr lang="en-US" sz="2400" b="1" i="0" u="none" strike="noStrike" cap="none">
                <a:solidFill>
                  <a:schemeClr val="dk1"/>
                </a:solidFill>
                <a:latin typeface="Calibri"/>
                <a:ea typeface="Calibri"/>
                <a:cs typeface="Calibri"/>
                <a:sym typeface="Calibri"/>
              </a:rPr>
              <a:t>2.  Synchronizing An Object</a:t>
            </a:r>
            <a:endParaRPr/>
          </a:p>
        </p:txBody>
      </p:sp>
      <p:sp>
        <p:nvSpPr>
          <p:cNvPr id="1047" name="Google Shape;1047;p8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
        <p:nvSpPr>
          <p:cNvPr id="1048" name="Google Shape;1048;p81"/>
          <p:cNvSpPr txBox="1"/>
          <p:nvPr/>
        </p:nvSpPr>
        <p:spPr>
          <a:xfrm>
            <a:off x="2470150" y="2773362"/>
            <a:ext cx="4171950" cy="35512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public void updateRecord()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synchronized (this)</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 critical code goes here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8"/>
                                        </p:tgtEl>
                                        <p:attrNameLst>
                                          <p:attrName>style.visibility</p:attrName>
                                        </p:attrNameLst>
                                      </p:cBhvr>
                                      <p:to>
                                        <p:strVal val="visible"/>
                                      </p:to>
                                    </p:set>
                                    <p:animEffect transition="in" filter="fade">
                                      <p:cBhvr>
                                        <p:cTn id="7" dur="80"/>
                                        <p:tgtEl>
                                          <p:spTgt spid="1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82"/>
          <p:cNvSpPr/>
          <p:nvPr/>
        </p:nvSpPr>
        <p:spPr>
          <a:xfrm>
            <a:off x="0" y="685800"/>
            <a:ext cx="9144000" cy="5638800"/>
          </a:xfrm>
          <a:prstGeom prst="cloudCallout">
            <a:avLst>
              <a:gd name="adj1" fmla="val 15851"/>
              <a:gd name="adj2" fmla="val 10934"/>
            </a:avLst>
          </a:prstGeom>
          <a:gradFill>
            <a:gsLst>
              <a:gs pos="0">
                <a:schemeClr val="lt1"/>
              </a:gs>
              <a:gs pos="50000">
                <a:srgbClr val="008000">
                  <a:alpha val="39607"/>
                </a:srgbClr>
              </a:gs>
              <a:gs pos="100000">
                <a:schemeClr val="lt1"/>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82"/>
          <p:cNvSpPr txBox="1"/>
          <p:nvPr/>
        </p:nvSpPr>
        <p:spPr>
          <a:xfrm rot="5400000">
            <a:off x="2409702" y="387925"/>
            <a:ext cx="3674357" cy="597323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56" name="Google Shape;1056;p82"/>
          <p:cNvSpPr>
            <a:spLocks noGrp="1"/>
          </p:cNvSpPr>
          <p:nvPr>
            <p:ph type="title"/>
          </p:nvPr>
        </p:nvSpPr>
        <p:spPr>
          <a:xfrm>
            <a:off x="0" y="581025"/>
            <a:ext cx="9144000" cy="5867400"/>
          </a:xfrm>
          <a:prstGeom prst="cloudCallout">
            <a:avLst>
              <a:gd name="adj1" fmla="val 7493"/>
              <a:gd name="adj2" fmla="val 12302"/>
            </a:avLst>
          </a:prstGeom>
          <a:gradFill>
            <a:gsLst>
              <a:gs pos="0">
                <a:schemeClr val="lt1"/>
              </a:gs>
              <a:gs pos="50000">
                <a:srgbClr val="FF9933">
                  <a:alpha val="39607"/>
                </a:srgbClr>
              </a:gs>
              <a:gs pos="100000">
                <a:schemeClr val="lt1"/>
              </a:gs>
            </a:gsLst>
            <a:lin ang="5400000" scaled="0"/>
          </a:gra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Font typeface="Calibri"/>
              <a:buNone/>
            </a:pPr>
            <a:r>
              <a:rPr lang="en-US" sz="2400" b="1" i="0" u="none" strike="noStrike" cap="none">
                <a:solidFill>
                  <a:schemeClr val="dk1"/>
                </a:solidFill>
                <a:latin typeface="Calibri"/>
                <a:ea typeface="Calibri"/>
                <a:cs typeface="Calibri"/>
                <a:sym typeface="Calibri"/>
              </a:rPr>
              <a:t>2.  Synchronizing An Object</a:t>
            </a:r>
            <a:endParaRPr/>
          </a:p>
        </p:txBody>
      </p:sp>
      <p:sp>
        <p:nvSpPr>
          <p:cNvPr id="1057" name="Google Shape;1057;p82"/>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Thread Synchronization (Contd.)</a:t>
            </a:r>
            <a:endParaRPr/>
          </a:p>
        </p:txBody>
      </p:sp>
      <p:sp>
        <p:nvSpPr>
          <p:cNvPr id="1058" name="Google Shape;1058;p82"/>
          <p:cNvSpPr txBox="1"/>
          <p:nvPr/>
        </p:nvSpPr>
        <p:spPr>
          <a:xfrm>
            <a:off x="2470150" y="2773362"/>
            <a:ext cx="4171950" cy="35512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public void updateRecord()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a:t>
            </a:r>
            <a:r>
              <a:rPr lang="en-US" sz="2000" b="0" i="1" u="none">
                <a:solidFill>
                  <a:schemeClr val="dk1"/>
                </a:solidFill>
                <a:latin typeface="Calibri"/>
                <a:ea typeface="Calibri"/>
                <a:cs typeface="Calibri"/>
                <a:sym typeface="Calibri"/>
              </a:rPr>
              <a:t>synchronized (this)</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 critical code goes here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    } </a:t>
            </a:r>
            <a:endParaRPr/>
          </a:p>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None/>
            </a:pPr>
            <a:endParaRPr sz="2000" b="0" i="0" u="none">
              <a:solidFill>
                <a:schemeClr val="dk1"/>
              </a:solidFill>
              <a:latin typeface="Calibri"/>
              <a:ea typeface="Calibri"/>
              <a:cs typeface="Calibri"/>
              <a:sym typeface="Calibri"/>
            </a:endParaRPr>
          </a:p>
        </p:txBody>
      </p:sp>
      <p:sp>
        <p:nvSpPr>
          <p:cNvPr id="1059" name="Google Shape;1059;p82"/>
          <p:cNvSpPr txBox="1"/>
          <p:nvPr/>
        </p:nvSpPr>
        <p:spPr>
          <a:xfrm>
            <a:off x="2667000" y="3429000"/>
            <a:ext cx="2409825" cy="381000"/>
          </a:xfrm>
          <a:prstGeom prst="rect">
            <a:avLst/>
          </a:prstGeom>
          <a:noFill/>
          <a:ln w="28575" cap="flat" cmpd="sng">
            <a:solidFill>
              <a:srgbClr val="0066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transition spd="slow">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p83"/>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Font typeface="Calibri"/>
              <a:buNone/>
            </a:pPr>
            <a:fld id="{00000000-1234-1234-1234-123412341234}" type="slidenum">
              <a:rPr lang="en-US" sz="1200" b="0" i="0" u="none">
                <a:solidFill>
                  <a:srgbClr val="898989"/>
                </a:solidFill>
                <a:latin typeface="Calibri"/>
                <a:ea typeface="Calibri"/>
                <a:cs typeface="Calibri"/>
                <a:sym typeface="Calibri"/>
              </a:rPr>
              <a:t>67</a:t>
            </a:fld>
            <a:endParaRPr/>
          </a:p>
        </p:txBody>
      </p:sp>
      <p:sp>
        <p:nvSpPr>
          <p:cNvPr id="1066" name="Google Shape;1066;p83"/>
          <p:cNvSpPr txBox="1">
            <a:spLocks noGrp="1"/>
          </p:cNvSpPr>
          <p:nvPr>
            <p:ph type="title"/>
          </p:nvPr>
        </p:nvSpPr>
        <p:spPr>
          <a:xfrm>
            <a:off x="1081087" y="388937"/>
            <a:ext cx="7772400" cy="506412"/>
          </a:xfrm>
          <a:prstGeom prst="rect">
            <a:avLst/>
          </a:prstGeom>
          <a:noFill/>
          <a:ln>
            <a:noFill/>
          </a:ln>
        </p:spPr>
        <p:txBody>
          <a:bodyPr spcFirstLastPara="1" wrap="square" lIns="92075" tIns="46025" rIns="92075" bIns="46025" anchor="ctr" anchorCtr="0">
            <a:noAutofit/>
          </a:bodyPr>
          <a:lstStyle/>
          <a:p>
            <a:pPr marL="0" marR="0" lvl="0" indent="0" algn="ctr" rtl="0">
              <a:lnSpc>
                <a:spcPct val="100000"/>
              </a:lnSpc>
              <a:spcBef>
                <a:spcPts val="0"/>
              </a:spcBef>
              <a:spcAft>
                <a:spcPts val="0"/>
              </a:spcAft>
              <a:buClr>
                <a:schemeClr val="dk1"/>
              </a:buClr>
              <a:buFont typeface="Calibri"/>
              <a:buNone/>
            </a:pPr>
            <a:r>
              <a:rPr lang="en-US" sz="3600" b="0" i="0" u="none" strike="noStrike" cap="none">
                <a:solidFill>
                  <a:schemeClr val="dk1"/>
                </a:solidFill>
                <a:latin typeface="Calibri"/>
                <a:ea typeface="Calibri"/>
                <a:cs typeface="Calibri"/>
                <a:sym typeface="Calibri"/>
              </a:rPr>
              <a:t>the driver: 3</a:t>
            </a:r>
            <a:r>
              <a:rPr lang="en-US" sz="3600" b="0" i="0" u="none" strike="noStrike" cap="none" baseline="30000">
                <a:solidFill>
                  <a:schemeClr val="dk1"/>
                </a:solidFill>
                <a:latin typeface="Calibri"/>
                <a:ea typeface="Calibri"/>
                <a:cs typeface="Calibri"/>
                <a:sym typeface="Calibri"/>
              </a:rPr>
              <a:t>rd</a:t>
            </a:r>
            <a:r>
              <a:rPr lang="en-US" sz="3600" b="0" i="0" u="none" strike="noStrike" cap="none">
                <a:solidFill>
                  <a:schemeClr val="dk1"/>
                </a:solidFill>
                <a:latin typeface="Calibri"/>
                <a:ea typeface="Calibri"/>
                <a:cs typeface="Calibri"/>
                <a:sym typeface="Calibri"/>
              </a:rPr>
              <a:t> Threads sharing the same object</a:t>
            </a:r>
            <a:endParaRPr/>
          </a:p>
        </p:txBody>
      </p:sp>
      <p:sp>
        <p:nvSpPr>
          <p:cNvPr id="1067" name="Google Shape;1067;p83"/>
          <p:cNvSpPr txBox="1"/>
          <p:nvPr/>
        </p:nvSpPr>
        <p:spPr>
          <a:xfrm>
            <a:off x="990600" y="1752600"/>
            <a:ext cx="7392987" cy="4352925"/>
          </a:xfrm>
          <a:prstGeom prst="rect">
            <a:avLst/>
          </a:prstGeom>
          <a:noFill/>
          <a:ln>
            <a:noFill/>
          </a:ln>
        </p:spPr>
        <p:txBody>
          <a:bodyPr spcFirstLastPara="1" wrap="square" lIns="92075" tIns="46025" rIns="92075" bIns="46025" anchor="t" anchorCtr="0">
            <a:noAutofit/>
          </a:bodyPr>
          <a:lstStyle/>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class InternetBankingSystem {</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public static void main(String [] args  ) {</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Account </a:t>
            </a:r>
            <a:r>
              <a:rPr lang="en-US" sz="2400" b="0" i="0" u="none">
                <a:solidFill>
                  <a:srgbClr val="FF6633"/>
                </a:solidFill>
                <a:latin typeface="Times New Roman"/>
                <a:ea typeface="Times New Roman"/>
                <a:cs typeface="Times New Roman"/>
                <a:sym typeface="Times New Roman"/>
              </a:rPr>
              <a:t>accountObject</a:t>
            </a:r>
            <a:r>
              <a:rPr lang="en-US" sz="2400" b="0" i="0" u="none">
                <a:solidFill>
                  <a:schemeClr val="dk1"/>
                </a:solidFill>
                <a:latin typeface="Times New Roman"/>
                <a:ea typeface="Times New Roman"/>
                <a:cs typeface="Times New Roman"/>
                <a:sym typeface="Times New Roman"/>
              </a:rPr>
              <a:t> = new Account (); </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a:t>
            </a:r>
            <a:r>
              <a:rPr lang="en-US" sz="2000" b="0" i="0" u="none">
                <a:solidFill>
                  <a:schemeClr val="dk1"/>
                </a:solidFill>
                <a:latin typeface="Times New Roman"/>
                <a:ea typeface="Times New Roman"/>
                <a:cs typeface="Times New Roman"/>
                <a:sym typeface="Times New Roman"/>
              </a:rPr>
              <a:t>Thread t1 = new Thread(new MyThread(</a:t>
            </a:r>
            <a:r>
              <a:rPr lang="en-US" sz="2000" b="1" i="0" u="none">
                <a:solidFill>
                  <a:srgbClr val="FF6633"/>
                </a:solidFill>
                <a:latin typeface="Times New Roman"/>
                <a:ea typeface="Times New Roman"/>
                <a:cs typeface="Times New Roman"/>
                <a:sym typeface="Times New Roman"/>
              </a:rPr>
              <a:t>accountObject</a:t>
            </a:r>
            <a:r>
              <a:rPr lang="en-US" sz="2000" b="0" i="0" u="none">
                <a:solidFill>
                  <a:schemeClr val="dk1"/>
                </a:solidFill>
                <a:latin typeface="Times New Roman"/>
                <a:ea typeface="Times New Roman"/>
                <a:cs typeface="Times New Roman"/>
                <a:sym typeface="Times New Roman"/>
              </a:rPr>
              <a:t>));</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Thread t2 = new Thread(new YourThread(</a:t>
            </a:r>
            <a:r>
              <a:rPr lang="en-US" sz="2000" b="1" i="0" u="none">
                <a:solidFill>
                  <a:srgbClr val="FF6633"/>
                </a:solidFill>
                <a:latin typeface="Times New Roman"/>
                <a:ea typeface="Times New Roman"/>
                <a:cs typeface="Times New Roman"/>
                <a:sym typeface="Times New Roman"/>
              </a:rPr>
              <a:t>accountObject</a:t>
            </a:r>
            <a:r>
              <a:rPr lang="en-US" sz="2000" b="0" i="0" u="none">
                <a:solidFill>
                  <a:schemeClr val="dk1"/>
                </a:solidFill>
                <a:latin typeface="Times New Roman"/>
                <a:ea typeface="Times New Roman"/>
                <a:cs typeface="Times New Roman"/>
                <a:sym typeface="Times New Roman"/>
              </a:rPr>
              <a:t>));</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Thread t3 = new Thread(new HerThread(</a:t>
            </a:r>
            <a:r>
              <a:rPr lang="en-US" sz="2000" b="1" i="0" u="none">
                <a:solidFill>
                  <a:srgbClr val="FF6633"/>
                </a:solidFill>
                <a:latin typeface="Times New Roman"/>
                <a:ea typeface="Times New Roman"/>
                <a:cs typeface="Times New Roman"/>
                <a:sym typeface="Times New Roman"/>
              </a:rPr>
              <a:t>accountObject</a:t>
            </a:r>
            <a:r>
              <a:rPr lang="en-US" sz="2000" b="0" i="0" u="none">
                <a:solidFill>
                  <a:schemeClr val="dk1"/>
                </a:solidFill>
                <a:latin typeface="Times New Roman"/>
                <a:ea typeface="Times New Roman"/>
                <a:cs typeface="Times New Roman"/>
                <a:sym typeface="Times New Roman"/>
              </a:rPr>
              <a:t>));</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t1.start();</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t2.start();</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t3.start();</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 DO some other operation</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 // end main()</a:t>
            </a:r>
            <a:endParaRPr/>
          </a:p>
          <a:p>
            <a:pPr marL="0" marR="0" lvl="0" indent="0" algn="l" rtl="0">
              <a:lnSpc>
                <a:spcPct val="100000"/>
              </a:lnSpc>
              <a:spcBef>
                <a:spcPts val="0"/>
              </a:spcBef>
              <a:spcAft>
                <a:spcPts val="0"/>
              </a:spcAft>
              <a:buClr>
                <a:schemeClr val="dk1"/>
              </a:buClr>
              <a:buFont typeface="Times New Roman"/>
              <a:buNone/>
            </a:pPr>
            <a:r>
              <a:rPr lang="en-US" sz="2400" b="0" i="0" u="none">
                <a:solidFill>
                  <a:schemeClr val="dk1"/>
                </a:solidFill>
                <a:latin typeface="Times New Roman"/>
                <a:ea typeface="Times New Roman"/>
                <a:cs typeface="Times New Roman"/>
                <a:sym typeface="Times New Roman"/>
              </a:rPr>
              <a:t>}   </a:t>
            </a:r>
            <a:endParaRPr/>
          </a:p>
        </p:txBody>
      </p:sp>
    </p:spTree>
  </p:cSld>
  <p:clrMapOvr>
    <a:masterClrMapping/>
  </p:clrMapOvr>
  <p:transition spd="slow">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sp>
        <p:nvSpPr>
          <p:cNvPr id="1072" name="Google Shape;1072;p84"/>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Font typeface="Calibri"/>
              <a:buNone/>
            </a:pPr>
            <a:fld id="{00000000-1234-1234-1234-123412341234}" type="slidenum">
              <a:rPr lang="en-US" sz="1200" b="0" i="0" u="none">
                <a:solidFill>
                  <a:srgbClr val="898989"/>
                </a:solidFill>
                <a:latin typeface="Calibri"/>
                <a:ea typeface="Calibri"/>
                <a:cs typeface="Calibri"/>
                <a:sym typeface="Calibri"/>
              </a:rPr>
              <a:t>68</a:t>
            </a:fld>
            <a:endParaRPr/>
          </a:p>
        </p:txBody>
      </p:sp>
      <p:sp>
        <p:nvSpPr>
          <p:cNvPr id="1073" name="Google Shape;1073;p84"/>
          <p:cNvSpPr txBox="1">
            <a:spLocks noGrp="1"/>
          </p:cNvSpPr>
          <p:nvPr>
            <p:ph type="title"/>
          </p:nvPr>
        </p:nvSpPr>
        <p:spPr>
          <a:xfrm>
            <a:off x="1219200" y="304800"/>
            <a:ext cx="7543800" cy="609600"/>
          </a:xfrm>
          <a:prstGeom prst="rect">
            <a:avLst/>
          </a:prstGeom>
          <a:noFill/>
          <a:ln>
            <a:noFill/>
          </a:ln>
        </p:spPr>
        <p:txBody>
          <a:bodyPr spcFirstLastPara="1" wrap="square" lIns="92075" tIns="46025" rIns="92075" bIns="46025" anchor="ctr" anchorCtr="0">
            <a:noAutofit/>
          </a:bodyPr>
          <a:lstStyle/>
          <a:p>
            <a:pPr marL="0" marR="0" lvl="0" indent="0" algn="ctr" rtl="0">
              <a:lnSpc>
                <a:spcPct val="100000"/>
              </a:lnSpc>
              <a:spcBef>
                <a:spcPts val="0"/>
              </a:spcBef>
              <a:spcAft>
                <a:spcPts val="0"/>
              </a:spcAft>
              <a:buClr>
                <a:schemeClr val="dk1"/>
              </a:buClr>
              <a:buFont typeface="Arial"/>
              <a:buNone/>
            </a:pPr>
            <a:r>
              <a:rPr lang="en-US" sz="4000" b="1" i="0" u="none" strike="noStrike" cap="none">
                <a:solidFill>
                  <a:schemeClr val="dk1"/>
                </a:solidFill>
                <a:latin typeface="Arial"/>
                <a:ea typeface="Arial"/>
                <a:cs typeface="Arial"/>
                <a:sym typeface="Arial"/>
              </a:rPr>
              <a:t>Shared account object between 3 threads</a:t>
            </a:r>
            <a:endParaRPr/>
          </a:p>
        </p:txBody>
      </p:sp>
      <p:sp>
        <p:nvSpPr>
          <p:cNvPr id="1074" name="Google Shape;1074;p84"/>
          <p:cNvSpPr txBox="1"/>
          <p:nvPr/>
        </p:nvSpPr>
        <p:spPr>
          <a:xfrm>
            <a:off x="533400" y="1371600"/>
            <a:ext cx="6019800" cy="5273675"/>
          </a:xfrm>
          <a:prstGeom prst="rect">
            <a:avLst/>
          </a:prstGeom>
          <a:noFill/>
          <a:ln>
            <a:noFill/>
          </a:ln>
        </p:spPr>
        <p:txBody>
          <a:bodyPr spcFirstLastPara="1" wrap="square" lIns="92075" tIns="46025" rIns="92075" bIns="46025" anchor="t" anchorCtr="0">
            <a:noAutofit/>
          </a:bodyPr>
          <a:lstStyle/>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class MyThread implements Runnable  {</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a:t>
            </a:r>
            <a:r>
              <a:rPr lang="en-US" sz="1800" b="0" i="0" u="none">
                <a:solidFill>
                  <a:schemeClr val="dk1"/>
                </a:solidFill>
                <a:latin typeface="Arial"/>
                <a:ea typeface="Arial"/>
                <a:cs typeface="Arial"/>
                <a:sym typeface="Arial"/>
              </a:rPr>
              <a:t>Account</a:t>
            </a:r>
            <a:r>
              <a:rPr lang="en-US" sz="2000" b="0" i="0" u="none">
                <a:solidFill>
                  <a:schemeClr val="dk1"/>
                </a:solidFill>
                <a:latin typeface="Times New Roman"/>
                <a:ea typeface="Times New Roman"/>
                <a:cs typeface="Times New Roman"/>
                <a:sym typeface="Times New Roman"/>
              </a:rPr>
              <a:t> account;</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public MyThread (</a:t>
            </a:r>
            <a:r>
              <a:rPr lang="en-US" sz="1800" b="0" i="0" u="none">
                <a:solidFill>
                  <a:schemeClr val="dk1"/>
                </a:solidFill>
                <a:latin typeface="Arial"/>
                <a:ea typeface="Arial"/>
                <a:cs typeface="Arial"/>
                <a:sym typeface="Arial"/>
              </a:rPr>
              <a:t>Account</a:t>
            </a:r>
            <a:r>
              <a:rPr lang="en-US" sz="2000" b="0" i="0" u="none">
                <a:solidFill>
                  <a:schemeClr val="dk1"/>
                </a:solidFill>
                <a:latin typeface="Times New Roman"/>
                <a:ea typeface="Times New Roman"/>
                <a:cs typeface="Times New Roman"/>
                <a:sym typeface="Times New Roman"/>
              </a:rPr>
              <a:t> s) {  account = s;}</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public void run() { </a:t>
            </a:r>
            <a:r>
              <a:rPr lang="en-US" sz="2000" b="0" i="0" u="sng">
                <a:solidFill>
                  <a:schemeClr val="dk1"/>
                </a:solidFill>
                <a:latin typeface="Times New Roman"/>
                <a:ea typeface="Times New Roman"/>
                <a:cs typeface="Times New Roman"/>
                <a:sym typeface="Times New Roman"/>
              </a:rPr>
              <a:t>account.deposit</a:t>
            </a:r>
            <a:r>
              <a:rPr lang="en-US" sz="2000" b="0" i="0" u="none">
                <a:solidFill>
                  <a:schemeClr val="dk1"/>
                </a:solidFill>
                <a:latin typeface="Times New Roman"/>
                <a:ea typeface="Times New Roman"/>
                <a:cs typeface="Times New Roman"/>
                <a:sym typeface="Times New Roman"/>
              </a:rPr>
              <a:t>(); }</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 end class MyThread</a:t>
            </a:r>
            <a:endParaRPr/>
          </a:p>
          <a:p>
            <a:pPr marL="0" marR="0" lvl="0" indent="0" algn="l" rtl="0">
              <a:lnSpc>
                <a:spcPct val="100000"/>
              </a:lnSpc>
              <a:spcBef>
                <a:spcPts val="0"/>
              </a:spcBef>
              <a:spcAft>
                <a:spcPts val="0"/>
              </a:spcAft>
              <a:buClr>
                <a:schemeClr val="dk1"/>
              </a:buClr>
              <a:buFont typeface="Arial"/>
              <a:buNone/>
            </a:pPr>
            <a:endParaRPr sz="20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class YourThread implements Runnable  {</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a:t>
            </a:r>
            <a:r>
              <a:rPr lang="en-US" sz="1800" b="0" i="0" u="none">
                <a:solidFill>
                  <a:schemeClr val="dk1"/>
                </a:solidFill>
                <a:latin typeface="Arial"/>
                <a:ea typeface="Arial"/>
                <a:cs typeface="Arial"/>
                <a:sym typeface="Arial"/>
              </a:rPr>
              <a:t>Account </a:t>
            </a:r>
            <a:r>
              <a:rPr lang="en-US" sz="2000" b="0" i="0" u="none">
                <a:solidFill>
                  <a:schemeClr val="dk1"/>
                </a:solidFill>
                <a:latin typeface="Times New Roman"/>
                <a:ea typeface="Times New Roman"/>
                <a:cs typeface="Times New Roman"/>
                <a:sym typeface="Times New Roman"/>
              </a:rPr>
              <a:t>account;</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public YourThread (</a:t>
            </a:r>
            <a:r>
              <a:rPr lang="en-US" sz="1800" b="0" i="0" u="none">
                <a:solidFill>
                  <a:schemeClr val="dk1"/>
                </a:solidFill>
                <a:latin typeface="Arial"/>
                <a:ea typeface="Arial"/>
                <a:cs typeface="Arial"/>
                <a:sym typeface="Arial"/>
              </a:rPr>
              <a:t>Account</a:t>
            </a:r>
            <a:r>
              <a:rPr lang="en-US" sz="2000" b="0" i="0" u="none">
                <a:solidFill>
                  <a:schemeClr val="dk1"/>
                </a:solidFill>
                <a:latin typeface="Times New Roman"/>
                <a:ea typeface="Times New Roman"/>
                <a:cs typeface="Times New Roman"/>
                <a:sym typeface="Times New Roman"/>
              </a:rPr>
              <a:t> s) { account = s;}</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public void run() { </a:t>
            </a:r>
            <a:r>
              <a:rPr lang="en-US" sz="2000" b="0" i="0" u="sng">
                <a:solidFill>
                  <a:schemeClr val="dk1"/>
                </a:solidFill>
                <a:latin typeface="Times New Roman"/>
                <a:ea typeface="Times New Roman"/>
                <a:cs typeface="Times New Roman"/>
                <a:sym typeface="Times New Roman"/>
              </a:rPr>
              <a:t>account.withdraw</a:t>
            </a:r>
            <a:r>
              <a:rPr lang="en-US" sz="2000" b="0" i="0" u="none">
                <a:solidFill>
                  <a:schemeClr val="dk1"/>
                </a:solidFill>
                <a:latin typeface="Times New Roman"/>
                <a:ea typeface="Times New Roman"/>
                <a:cs typeface="Times New Roman"/>
                <a:sym typeface="Times New Roman"/>
              </a:rPr>
              <a:t>(); }     </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 end class YourThread</a:t>
            </a:r>
            <a:endParaRPr/>
          </a:p>
          <a:p>
            <a:pPr marL="0" marR="0" lvl="0" indent="0" algn="l" rtl="0">
              <a:lnSpc>
                <a:spcPct val="100000"/>
              </a:lnSpc>
              <a:spcBef>
                <a:spcPts val="0"/>
              </a:spcBef>
              <a:spcAft>
                <a:spcPts val="0"/>
              </a:spcAft>
              <a:buClr>
                <a:schemeClr val="dk1"/>
              </a:buClr>
              <a:buFont typeface="Arial"/>
              <a:buNone/>
            </a:pPr>
            <a:endParaRPr sz="2000" b="0" i="0" u="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class HerThread implements Runnable  {</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a:t>
            </a:r>
            <a:r>
              <a:rPr lang="en-US" sz="1800" b="0" i="0" u="none">
                <a:solidFill>
                  <a:schemeClr val="dk1"/>
                </a:solidFill>
                <a:latin typeface="Arial"/>
                <a:ea typeface="Arial"/>
                <a:cs typeface="Arial"/>
                <a:sym typeface="Arial"/>
              </a:rPr>
              <a:t>Account </a:t>
            </a:r>
            <a:r>
              <a:rPr lang="en-US" sz="2000" b="0" i="0" u="none">
                <a:solidFill>
                  <a:schemeClr val="dk1"/>
                </a:solidFill>
                <a:latin typeface="Times New Roman"/>
                <a:ea typeface="Times New Roman"/>
                <a:cs typeface="Times New Roman"/>
                <a:sym typeface="Times New Roman"/>
              </a:rPr>
              <a:t>account;</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public HerThread (</a:t>
            </a:r>
            <a:r>
              <a:rPr lang="en-US" sz="1800" b="0" i="0" u="none">
                <a:solidFill>
                  <a:schemeClr val="dk1"/>
                </a:solidFill>
                <a:latin typeface="Arial"/>
                <a:ea typeface="Arial"/>
                <a:cs typeface="Arial"/>
                <a:sym typeface="Arial"/>
              </a:rPr>
              <a:t>Account</a:t>
            </a:r>
            <a:r>
              <a:rPr lang="en-US" sz="2000" b="0" i="0" u="none">
                <a:solidFill>
                  <a:schemeClr val="dk1"/>
                </a:solidFill>
                <a:latin typeface="Times New Roman"/>
                <a:ea typeface="Times New Roman"/>
                <a:cs typeface="Times New Roman"/>
                <a:sym typeface="Times New Roman"/>
              </a:rPr>
              <a:t> s) { account = s; }</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public void run() {</a:t>
            </a:r>
            <a:r>
              <a:rPr lang="en-US" sz="2000" b="0" i="0" u="sng">
                <a:solidFill>
                  <a:schemeClr val="dk1"/>
                </a:solidFill>
                <a:latin typeface="Times New Roman"/>
                <a:ea typeface="Times New Roman"/>
                <a:cs typeface="Times New Roman"/>
                <a:sym typeface="Times New Roman"/>
              </a:rPr>
              <a:t>account.enquire</a:t>
            </a:r>
            <a:r>
              <a:rPr lang="en-US" sz="2000" b="0" i="0" u="none">
                <a:solidFill>
                  <a:schemeClr val="dk1"/>
                </a:solidFill>
                <a:latin typeface="Times New Roman"/>
                <a:ea typeface="Times New Roman"/>
                <a:cs typeface="Times New Roman"/>
                <a:sym typeface="Times New Roman"/>
              </a:rPr>
              <a:t>(); }</a:t>
            </a:r>
            <a:endParaRPr/>
          </a:p>
          <a:p>
            <a:pPr marL="0" marR="0" lvl="0" indent="0" algn="l" rtl="0">
              <a:lnSpc>
                <a:spcPct val="100000"/>
              </a:lnSpc>
              <a:spcBef>
                <a:spcPts val="0"/>
              </a:spcBef>
              <a:spcAft>
                <a:spcPts val="0"/>
              </a:spcAft>
              <a:buClr>
                <a:schemeClr val="dk1"/>
              </a:buClr>
              <a:buFont typeface="Times New Roman"/>
              <a:buNone/>
            </a:pPr>
            <a:r>
              <a:rPr lang="en-US" sz="2000" b="0" i="0" u="none">
                <a:solidFill>
                  <a:schemeClr val="dk1"/>
                </a:solidFill>
                <a:latin typeface="Times New Roman"/>
                <a:ea typeface="Times New Roman"/>
                <a:cs typeface="Times New Roman"/>
                <a:sym typeface="Times New Roman"/>
              </a:rPr>
              <a:t>} // end class HerThread</a:t>
            </a:r>
            <a:endParaRPr/>
          </a:p>
        </p:txBody>
      </p:sp>
      <p:sp>
        <p:nvSpPr>
          <p:cNvPr id="1075" name="Google Shape;1075;p84"/>
          <p:cNvSpPr/>
          <p:nvPr/>
        </p:nvSpPr>
        <p:spPr>
          <a:xfrm>
            <a:off x="6934200" y="2895600"/>
            <a:ext cx="2209800" cy="1905000"/>
          </a:xfrm>
          <a:prstGeom prst="star16">
            <a:avLst>
              <a:gd name="adj" fmla="val 37500"/>
            </a:avLst>
          </a:prstGeom>
          <a:solidFill>
            <a:srgbClr val="FFFF0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76" name="Google Shape;1076;p84"/>
          <p:cNvSpPr/>
          <p:nvPr/>
        </p:nvSpPr>
        <p:spPr>
          <a:xfrm rot="-4440000">
            <a:off x="5924550" y="1792287"/>
            <a:ext cx="547687" cy="2160587"/>
          </a:xfrm>
          <a:prstGeom prst="downArrow">
            <a:avLst>
              <a:gd name="adj1" fmla="val 10799"/>
              <a:gd name="adj2" fmla="val 50000"/>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77" name="Google Shape;1077;p84"/>
          <p:cNvSpPr/>
          <p:nvPr/>
        </p:nvSpPr>
        <p:spPr>
          <a:xfrm rot="-6180000">
            <a:off x="5889625" y="3194050"/>
            <a:ext cx="641350" cy="1901825"/>
          </a:xfrm>
          <a:prstGeom prst="downArrow">
            <a:avLst>
              <a:gd name="adj1" fmla="val 10799"/>
              <a:gd name="adj2" fmla="val 50000"/>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78" name="Google Shape;1078;p84"/>
          <p:cNvSpPr/>
          <p:nvPr/>
        </p:nvSpPr>
        <p:spPr>
          <a:xfrm rot="-7620000">
            <a:off x="6199187" y="4451350"/>
            <a:ext cx="549275" cy="2279650"/>
          </a:xfrm>
          <a:prstGeom prst="downArrow">
            <a:avLst>
              <a:gd name="adj1" fmla="val 10799"/>
              <a:gd name="adj2" fmla="val 50000"/>
            </a:avLst>
          </a:prstGeom>
          <a:solidFill>
            <a:schemeClr val="accen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79" name="Google Shape;1079;p84"/>
          <p:cNvSpPr txBox="1"/>
          <p:nvPr/>
        </p:nvSpPr>
        <p:spPr>
          <a:xfrm>
            <a:off x="7315200" y="3001962"/>
            <a:ext cx="1905000" cy="1570037"/>
          </a:xfrm>
          <a:prstGeom prst="rect">
            <a:avLst/>
          </a:prstGeom>
          <a:noFill/>
          <a:ln>
            <a:noFill/>
          </a:ln>
        </p:spPr>
        <p:txBody>
          <a:bodyPr spcFirstLastPara="1" wrap="square" lIns="92075" tIns="46025" rIns="92075" bIns="46025" anchor="t" anchorCtr="0">
            <a:noAutofit/>
          </a:bodyPr>
          <a:lstStyle/>
          <a:p>
            <a:pPr marL="0" marR="0" lvl="0" indent="0" algn="l" rtl="0">
              <a:lnSpc>
                <a:spcPct val="100000"/>
              </a:lnSpc>
              <a:spcBef>
                <a:spcPts val="0"/>
              </a:spcBef>
              <a:spcAft>
                <a:spcPts val="0"/>
              </a:spcAft>
              <a:buClr>
                <a:schemeClr val="lt2"/>
              </a:buClr>
              <a:buFont typeface="Times New Roman"/>
              <a:buNone/>
            </a:pPr>
            <a:r>
              <a:rPr lang="en-US" sz="3200" b="0" i="0" u="none">
                <a:solidFill>
                  <a:schemeClr val="lt2"/>
                </a:solidFill>
                <a:latin typeface="Times New Roman"/>
                <a:ea typeface="Times New Roman"/>
                <a:cs typeface="Times New Roman"/>
                <a:sym typeface="Times New Roman"/>
              </a:rPr>
              <a:t>account</a:t>
            </a:r>
            <a:endParaRPr/>
          </a:p>
          <a:p>
            <a:pPr marL="0" marR="0" lvl="0" indent="0" algn="l" rtl="0">
              <a:lnSpc>
                <a:spcPct val="100000"/>
              </a:lnSpc>
              <a:spcBef>
                <a:spcPts val="0"/>
              </a:spcBef>
              <a:spcAft>
                <a:spcPts val="0"/>
              </a:spcAft>
              <a:buClr>
                <a:schemeClr val="lt2"/>
              </a:buClr>
              <a:buFont typeface="Times New Roman"/>
              <a:buNone/>
            </a:pPr>
            <a:r>
              <a:rPr lang="en-US" sz="3200" b="0" i="0" u="none">
                <a:solidFill>
                  <a:schemeClr val="lt2"/>
                </a:solidFill>
                <a:latin typeface="Times New Roman"/>
                <a:ea typeface="Times New Roman"/>
                <a:cs typeface="Times New Roman"/>
                <a:sym typeface="Times New Roman"/>
              </a:rPr>
              <a:t>(shared object)</a:t>
            </a:r>
            <a:endParaRPr/>
          </a:p>
        </p:txBody>
      </p:sp>
    </p:spTree>
  </p:cSld>
  <p:clrMapOvr>
    <a:masterClrMapping/>
  </p:clrMapOvr>
  <p:transition spd="slow">
    <p:fade thruBlk="1"/>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85"/>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898989"/>
              </a:buClr>
              <a:buFont typeface="Calibri"/>
              <a:buNone/>
            </a:pPr>
            <a:fld id="{00000000-1234-1234-1234-123412341234}" type="slidenum">
              <a:rPr lang="en-US" sz="1200" b="0" i="0" u="none">
                <a:solidFill>
                  <a:srgbClr val="898989"/>
                </a:solidFill>
                <a:latin typeface="Calibri"/>
                <a:ea typeface="Calibri"/>
                <a:cs typeface="Calibri"/>
                <a:sym typeface="Calibri"/>
              </a:rPr>
              <a:t>69</a:t>
            </a:fld>
            <a:endParaRPr/>
          </a:p>
        </p:txBody>
      </p:sp>
      <p:sp>
        <p:nvSpPr>
          <p:cNvPr id="1085" name="Google Shape;1085;p8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3600" b="0" i="0" u="none" strike="noStrike" cap="none">
                <a:solidFill>
                  <a:schemeClr val="dk1"/>
                </a:solidFill>
                <a:latin typeface="Calibri"/>
                <a:ea typeface="Calibri"/>
                <a:cs typeface="Calibri"/>
                <a:sym typeface="Calibri"/>
              </a:rPr>
              <a:t>Monitor (shared object access): serializes operation on shared object</a:t>
            </a:r>
            <a:endParaRPr/>
          </a:p>
        </p:txBody>
      </p:sp>
      <p:sp>
        <p:nvSpPr>
          <p:cNvPr id="1086" name="Google Shape;1086;p8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dk1"/>
              </a:buClr>
              <a:buFont typeface="Arial"/>
              <a:buNone/>
            </a:pPr>
            <a:r>
              <a:rPr lang="en-US" sz="2000" b="0" i="0" u="none" strike="noStrike" cap="none">
                <a:solidFill>
                  <a:schemeClr val="dk1"/>
                </a:solidFill>
                <a:latin typeface="Calibri"/>
                <a:ea typeface="Calibri"/>
                <a:cs typeface="Calibri"/>
                <a:sym typeface="Calibri"/>
              </a:rPr>
              <a:t>class Account {   // the 'monitor'</a:t>
            </a:r>
            <a:endParaRPr/>
          </a:p>
          <a:p>
            <a:pPr marL="342900" marR="0" lvl="0" indent="-342900" algn="l" rtl="0">
              <a:lnSpc>
                <a:spcPct val="80000"/>
              </a:lnSpc>
              <a:spcBef>
                <a:spcPts val="400"/>
              </a:spcBef>
              <a:spcAft>
                <a:spcPts val="0"/>
              </a:spcAft>
              <a:buClr>
                <a:schemeClr val="dk1"/>
              </a:buClr>
              <a:buFont typeface="Arial"/>
              <a:buNone/>
            </a:pPr>
            <a:r>
              <a:rPr lang="en-US" sz="2000" b="0" i="0" u="none" strike="noStrike" cap="none">
                <a:solidFill>
                  <a:schemeClr val="dk1"/>
                </a:solidFill>
                <a:latin typeface="Calibri"/>
                <a:ea typeface="Calibri"/>
                <a:cs typeface="Calibri"/>
                <a:sym typeface="Calibri"/>
              </a:rPr>
              <a:t>   int balance;</a:t>
            </a:r>
            <a:endParaRPr/>
          </a:p>
          <a:p>
            <a:pPr marL="342900" marR="0" lvl="0" indent="-342900" algn="l" rtl="0">
              <a:lnSpc>
                <a:spcPct val="80000"/>
              </a:lnSpc>
              <a:spcBef>
                <a:spcPts val="400"/>
              </a:spcBef>
              <a:spcAft>
                <a:spcPts val="0"/>
              </a:spcAft>
              <a:buClr>
                <a:schemeClr val="dk1"/>
              </a:buClr>
              <a:buFont typeface="Arial"/>
              <a:buNone/>
            </a:pPr>
            <a:endParaRPr sz="2000" b="0" i="0" u="none" strike="noStrike" cap="none">
              <a:solidFill>
                <a:schemeClr val="dk1"/>
              </a:solidFill>
              <a:latin typeface="Calibri"/>
              <a:ea typeface="Calibri"/>
              <a:cs typeface="Calibri"/>
              <a:sym typeface="Calibri"/>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if 'synchronized' is removed, the outcome is unpredictable</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public </a:t>
            </a:r>
            <a:r>
              <a:rPr lang="en-US" sz="1800" b="0" i="0" u="sng" strike="noStrike" cap="none">
                <a:solidFill>
                  <a:schemeClr val="hlink"/>
                </a:solidFill>
                <a:latin typeface="Calibri"/>
                <a:ea typeface="Calibri"/>
                <a:cs typeface="Calibri"/>
                <a:sym typeface="Calibri"/>
              </a:rPr>
              <a:t>synchronized</a:t>
            </a:r>
            <a:r>
              <a:rPr lang="en-US" sz="1800" b="0" i="0" u="none" strike="noStrike" cap="none">
                <a:solidFill>
                  <a:schemeClr val="dk1"/>
                </a:solidFill>
                <a:latin typeface="Calibri"/>
                <a:ea typeface="Calibri"/>
                <a:cs typeface="Calibri"/>
                <a:sym typeface="Calibri"/>
              </a:rPr>
              <a:t> void deposit( ) {</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 METHOD BODY : balance += deposit_amount;</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 </a:t>
            </a:r>
            <a:endParaRPr/>
          </a:p>
          <a:p>
            <a:pPr marL="742950" marR="0" lvl="1" indent="-285750" algn="l" rtl="0">
              <a:lnSpc>
                <a:spcPct val="80000"/>
              </a:lnSpc>
              <a:spcBef>
                <a:spcPts val="360"/>
              </a:spcBef>
              <a:spcAft>
                <a:spcPts val="0"/>
              </a:spcAft>
              <a:buClr>
                <a:schemeClr val="dk1"/>
              </a:buClr>
              <a:buFont typeface="Arial"/>
              <a:buNone/>
            </a:pPr>
            <a:endParaRPr sz="1800" b="0" i="0" u="none" strike="noStrike" cap="none">
              <a:solidFill>
                <a:schemeClr val="dk1"/>
              </a:solidFill>
              <a:latin typeface="Calibri"/>
              <a:ea typeface="Calibri"/>
              <a:cs typeface="Calibri"/>
              <a:sym typeface="Calibri"/>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public </a:t>
            </a:r>
            <a:r>
              <a:rPr lang="en-US" sz="1800" b="0" i="0" u="sng" strike="noStrike" cap="none">
                <a:solidFill>
                  <a:schemeClr val="hlink"/>
                </a:solidFill>
                <a:latin typeface="Calibri"/>
                <a:ea typeface="Calibri"/>
                <a:cs typeface="Calibri"/>
                <a:sym typeface="Calibri"/>
              </a:rPr>
              <a:t>synchronized</a:t>
            </a:r>
            <a:r>
              <a:rPr lang="en-US" sz="1800" b="0" i="0" u="none" strike="noStrike" cap="none">
                <a:solidFill>
                  <a:schemeClr val="dk1"/>
                </a:solidFill>
                <a:latin typeface="Calibri"/>
                <a:ea typeface="Calibri"/>
                <a:cs typeface="Calibri"/>
                <a:sym typeface="Calibri"/>
              </a:rPr>
              <a:t> void withdraw( ) {</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 METHOD BODY: balance -= deposit_amount;</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 </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public </a:t>
            </a:r>
            <a:r>
              <a:rPr lang="en-US" sz="1800" b="0" i="0" u="sng" strike="noStrike" cap="none">
                <a:solidFill>
                  <a:schemeClr val="hlink"/>
                </a:solidFill>
                <a:latin typeface="Calibri"/>
                <a:ea typeface="Calibri"/>
                <a:cs typeface="Calibri"/>
                <a:sym typeface="Calibri"/>
              </a:rPr>
              <a:t>synchronized</a:t>
            </a:r>
            <a:r>
              <a:rPr lang="en-US" sz="1800" b="0" i="0" u="none" strike="noStrike" cap="none">
                <a:solidFill>
                  <a:schemeClr val="dk1"/>
                </a:solidFill>
                <a:latin typeface="Calibri"/>
                <a:ea typeface="Calibri"/>
                <a:cs typeface="Calibri"/>
                <a:sym typeface="Calibri"/>
              </a:rPr>
              <a:t> void enquire( ) {</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 METHOD BODY: display balance.</a:t>
            </a:r>
            <a:endParaRPr/>
          </a:p>
          <a:p>
            <a:pPr marL="742950" marR="0" lvl="1" indent="-285750" algn="l" rtl="0">
              <a:lnSpc>
                <a:spcPct val="80000"/>
              </a:lnSpc>
              <a:spcBef>
                <a:spcPts val="360"/>
              </a:spcBef>
              <a:spcAft>
                <a:spcPts val="0"/>
              </a:spcAft>
              <a:buClr>
                <a:schemeClr val="dk1"/>
              </a:buClr>
              <a:buFont typeface="Arial"/>
              <a:buNone/>
            </a:pPr>
            <a:r>
              <a:rPr lang="en-US" sz="1800" b="0" i="0" u="none" strike="noStrike" cap="none">
                <a:solidFill>
                  <a:schemeClr val="dk1"/>
                </a:solidFill>
                <a:latin typeface="Calibri"/>
                <a:ea typeface="Calibri"/>
                <a:cs typeface="Calibri"/>
                <a:sym typeface="Calibri"/>
              </a:rPr>
              <a:t>   }</a:t>
            </a:r>
            <a:endParaRPr/>
          </a:p>
          <a:p>
            <a:pPr marL="342900" marR="0" lvl="0" indent="-342900" algn="l" rtl="0">
              <a:lnSpc>
                <a:spcPct val="80000"/>
              </a:lnSpc>
              <a:spcBef>
                <a:spcPts val="400"/>
              </a:spcBef>
              <a:spcAft>
                <a:spcPts val="0"/>
              </a:spcAft>
              <a:buClr>
                <a:schemeClr val="dk1"/>
              </a:buClr>
              <a:buFont typeface="Arial"/>
              <a:buNone/>
            </a:pPr>
            <a:r>
              <a:rPr lang="en-US" sz="2000" b="0" i="0" u="none" strike="noStrike" cap="none">
                <a:solidFill>
                  <a:schemeClr val="dk1"/>
                </a:solidFill>
                <a:latin typeface="Calibri"/>
                <a:ea typeface="Calibri"/>
                <a:cs typeface="Calibri"/>
                <a:sym typeface="Calibri"/>
              </a:rPr>
              <a:t>}</a:t>
            </a:r>
            <a:endParaRPr/>
          </a:p>
          <a:p>
            <a:pPr marL="342900" marR="0" lvl="0" indent="-215900" algn="l" rtl="0">
              <a:spcBef>
                <a:spcPts val="400"/>
              </a:spcBef>
              <a:spcAft>
                <a:spcPts val="0"/>
              </a:spcAft>
              <a:buClr>
                <a:schemeClr val="dk1"/>
              </a:buClr>
              <a:buSzPts val="2000"/>
              <a:buFont typeface="Arial"/>
              <a:buNone/>
            </a:pPr>
            <a:endParaRPr sz="2000" b="0" i="0" u="none" strike="noStrike" cap="none">
              <a:solidFill>
                <a:schemeClr val="dk1"/>
              </a:solidFill>
              <a:latin typeface="Calibri"/>
              <a:ea typeface="Calibri"/>
              <a:cs typeface="Calibri"/>
              <a:sym typeface="Calibri"/>
            </a:endParaRPr>
          </a:p>
        </p:txBody>
      </p:sp>
    </p:spTree>
  </p:cSld>
  <p:clrMapOvr>
    <a:masterClrMapping/>
  </p:clrMapOvr>
  <p:transition spd="slow">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86"/>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endParaRPr sz="1200" b="0" i="0" u="none">
              <a:solidFill>
                <a:srgbClr val="898989"/>
              </a:solidFill>
              <a:latin typeface="Calibri"/>
              <a:ea typeface="Calibri"/>
              <a:cs typeface="Calibri"/>
              <a:sym typeface="Calibri"/>
            </a:endParaRPr>
          </a:p>
          <a:p>
            <a:pPr marL="0" marR="0" lvl="0" indent="0" algn="l" rtl="0">
              <a:lnSpc>
                <a:spcPct val="100000"/>
              </a:lnSpc>
              <a:spcBef>
                <a:spcPts val="0"/>
              </a:spcBef>
              <a:spcAft>
                <a:spcPts val="0"/>
              </a:spcAft>
              <a:buClr>
                <a:srgbClr val="898989"/>
              </a:buClr>
              <a:buFont typeface="Calibri"/>
              <a:buNone/>
            </a:pPr>
            <a:r>
              <a:rPr lang="en-US" sz="1200" b="0" i="0" u="none">
                <a:solidFill>
                  <a:srgbClr val="898989"/>
                </a:solidFill>
                <a:latin typeface="Calibri"/>
                <a:ea typeface="Calibri"/>
                <a:cs typeface="Calibri"/>
                <a:sym typeface="Calibri"/>
              </a:rPr>
              <a:t>Copyright © 2002, DeLorme</a:t>
            </a:r>
            <a:endParaRPr/>
          </a:p>
        </p:txBody>
      </p:sp>
      <p:sp>
        <p:nvSpPr>
          <p:cNvPr id="1092" name="Google Shape;1092;p8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Inside Monitors</a:t>
            </a:r>
            <a:endParaRPr/>
          </a:p>
        </p:txBody>
      </p:sp>
      <p:sp>
        <p:nvSpPr>
          <p:cNvPr id="1093" name="Google Shape;1093;p86"/>
          <p:cNvSpPr/>
          <p:nvPr/>
        </p:nvSpPr>
        <p:spPr>
          <a:xfrm>
            <a:off x="2590800" y="2133600"/>
            <a:ext cx="4114800" cy="26670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1">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PrimeCache</a:t>
            </a:r>
            <a:endParaRPr/>
          </a:p>
        </p:txBody>
      </p:sp>
      <p:sp>
        <p:nvSpPr>
          <p:cNvPr id="1094" name="Google Shape;1094;p86"/>
          <p:cNvSpPr txBox="1"/>
          <p:nvPr/>
        </p:nvSpPr>
        <p:spPr>
          <a:xfrm>
            <a:off x="6858000" y="4419600"/>
            <a:ext cx="911225"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isPrime</a:t>
            </a:r>
            <a:endParaRPr/>
          </a:p>
        </p:txBody>
      </p:sp>
      <p:sp>
        <p:nvSpPr>
          <p:cNvPr id="1095" name="Google Shape;1095;p86"/>
          <p:cNvSpPr txBox="1"/>
          <p:nvPr/>
        </p:nvSpPr>
        <p:spPr>
          <a:xfrm>
            <a:off x="609600" y="2133600"/>
            <a:ext cx="1998662"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addPrimeToCache</a:t>
            </a:r>
            <a:endParaRPr/>
          </a:p>
        </p:txBody>
      </p:sp>
      <p:sp>
        <p:nvSpPr>
          <p:cNvPr id="1096" name="Google Shape;1096;p86"/>
          <p:cNvSpPr/>
          <p:nvPr/>
        </p:nvSpPr>
        <p:spPr>
          <a:xfrm>
            <a:off x="7086600" y="3124200"/>
            <a:ext cx="1066800" cy="609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main</a:t>
            </a:r>
            <a:endParaRPr/>
          </a:p>
        </p:txBody>
      </p:sp>
      <p:sp>
        <p:nvSpPr>
          <p:cNvPr id="1097" name="Google Shape;1097;p86"/>
          <p:cNvSpPr/>
          <p:nvPr/>
        </p:nvSpPr>
        <p:spPr>
          <a:xfrm>
            <a:off x="990600" y="3048000"/>
            <a:ext cx="1066800" cy="609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run</a:t>
            </a:r>
            <a:endParaRPr/>
          </a:p>
        </p:txBody>
      </p:sp>
      <p:sp>
        <p:nvSpPr>
          <p:cNvPr id="1098" name="Google Shape;1098;p86"/>
          <p:cNvSpPr/>
          <p:nvPr/>
        </p:nvSpPr>
        <p:spPr>
          <a:xfrm>
            <a:off x="3429000" y="2819400"/>
            <a:ext cx="9906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primes</a:t>
            </a:r>
            <a:endParaRPr/>
          </a:p>
        </p:txBody>
      </p:sp>
      <p:sp>
        <p:nvSpPr>
          <p:cNvPr id="1099" name="Google Shape;1099;p86"/>
          <p:cNvSpPr/>
          <p:nvPr/>
        </p:nvSpPr>
        <p:spPr>
          <a:xfrm>
            <a:off x="4800600" y="2819400"/>
            <a:ext cx="10668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maxPrime</a:t>
            </a:r>
            <a:endParaRPr/>
          </a:p>
        </p:txBody>
      </p:sp>
      <p:cxnSp>
        <p:nvCxnSpPr>
          <p:cNvPr id="1100" name="Google Shape;1100;p86"/>
          <p:cNvCxnSpPr/>
          <p:nvPr/>
        </p:nvCxnSpPr>
        <p:spPr>
          <a:xfrm rot="10800000">
            <a:off x="6705600" y="4191000"/>
            <a:ext cx="1447800" cy="0"/>
          </a:xfrm>
          <a:prstGeom prst="straightConnector1">
            <a:avLst/>
          </a:prstGeom>
          <a:noFill/>
          <a:ln w="38100" cap="flat" cmpd="sng">
            <a:solidFill>
              <a:schemeClr val="hlink"/>
            </a:solidFill>
            <a:prstDash val="solid"/>
            <a:miter lim="800000"/>
            <a:headEnd type="none" w="sm" len="sm"/>
            <a:tailEnd type="oval" w="sm" len="sm"/>
          </a:ln>
        </p:spPr>
      </p:cxnSp>
      <p:cxnSp>
        <p:nvCxnSpPr>
          <p:cNvPr id="1101" name="Google Shape;1101;p86"/>
          <p:cNvCxnSpPr/>
          <p:nvPr/>
        </p:nvCxnSpPr>
        <p:spPr>
          <a:xfrm rot="10800000">
            <a:off x="1143000" y="2590800"/>
            <a:ext cx="1447800" cy="0"/>
          </a:xfrm>
          <a:prstGeom prst="straightConnector1">
            <a:avLst/>
          </a:prstGeom>
          <a:noFill/>
          <a:ln w="38100" cap="flat" cmpd="sng">
            <a:solidFill>
              <a:schemeClr val="hlink"/>
            </a:solidFill>
            <a:prstDash val="solid"/>
            <a:miter lim="800000"/>
            <a:headEnd type="oval" w="sm" len="sm"/>
            <a:tailEnd type="none" w="sm" len="sm"/>
          </a:ln>
        </p:spPr>
      </p:cxnSp>
    </p:spTree>
  </p:cSld>
  <p:clrMapOvr>
    <a:masterClrMapping/>
  </p:clrMapOvr>
  <p:transition spd="slow">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87"/>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endParaRPr sz="1200" b="0" i="0" u="none">
              <a:solidFill>
                <a:srgbClr val="898989"/>
              </a:solidFill>
              <a:latin typeface="Calibri"/>
              <a:ea typeface="Calibri"/>
              <a:cs typeface="Calibri"/>
              <a:sym typeface="Calibri"/>
            </a:endParaRPr>
          </a:p>
          <a:p>
            <a:pPr marL="0" marR="0" lvl="0" indent="0" algn="l" rtl="0">
              <a:lnSpc>
                <a:spcPct val="100000"/>
              </a:lnSpc>
              <a:spcBef>
                <a:spcPts val="0"/>
              </a:spcBef>
              <a:spcAft>
                <a:spcPts val="0"/>
              </a:spcAft>
              <a:buClr>
                <a:srgbClr val="898989"/>
              </a:buClr>
              <a:buFont typeface="Calibri"/>
              <a:buNone/>
            </a:pPr>
            <a:r>
              <a:rPr lang="en-US" sz="1200" b="0" i="0" u="none">
                <a:solidFill>
                  <a:srgbClr val="898989"/>
                </a:solidFill>
                <a:latin typeface="Calibri"/>
                <a:ea typeface="Calibri"/>
                <a:cs typeface="Calibri"/>
                <a:sym typeface="Calibri"/>
              </a:rPr>
              <a:t>Copyright © 2002, DeLorme</a:t>
            </a:r>
            <a:endParaRPr/>
          </a:p>
        </p:txBody>
      </p:sp>
      <p:sp>
        <p:nvSpPr>
          <p:cNvPr id="1107" name="Google Shape;1107;p8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Inside Monitors</a:t>
            </a:r>
            <a:endParaRPr/>
          </a:p>
        </p:txBody>
      </p:sp>
      <p:sp>
        <p:nvSpPr>
          <p:cNvPr id="1108" name="Google Shape;1108;p87"/>
          <p:cNvSpPr/>
          <p:nvPr/>
        </p:nvSpPr>
        <p:spPr>
          <a:xfrm>
            <a:off x="2590800" y="2133600"/>
            <a:ext cx="4114800" cy="26670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1">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PrimeCache</a:t>
            </a:r>
            <a:endParaRPr/>
          </a:p>
        </p:txBody>
      </p:sp>
      <p:cxnSp>
        <p:nvCxnSpPr>
          <p:cNvPr id="1109" name="Google Shape;1109;p87"/>
          <p:cNvCxnSpPr/>
          <p:nvPr/>
        </p:nvCxnSpPr>
        <p:spPr>
          <a:xfrm>
            <a:off x="2590800" y="2590800"/>
            <a:ext cx="0" cy="1524000"/>
          </a:xfrm>
          <a:prstGeom prst="straightConnector1">
            <a:avLst/>
          </a:prstGeom>
          <a:noFill/>
          <a:ln w="38100" cap="flat" cmpd="sng">
            <a:solidFill>
              <a:schemeClr val="hlink"/>
            </a:solidFill>
            <a:prstDash val="solid"/>
            <a:miter lim="800000"/>
            <a:headEnd type="oval" w="sm" len="sm"/>
            <a:tailEnd type="none" w="sm" len="sm"/>
          </a:ln>
        </p:spPr>
      </p:cxnSp>
      <p:cxnSp>
        <p:nvCxnSpPr>
          <p:cNvPr id="1110" name="Google Shape;1110;p87"/>
          <p:cNvCxnSpPr/>
          <p:nvPr/>
        </p:nvCxnSpPr>
        <p:spPr>
          <a:xfrm>
            <a:off x="6705600" y="2590800"/>
            <a:ext cx="0" cy="1600200"/>
          </a:xfrm>
          <a:prstGeom prst="straightConnector1">
            <a:avLst/>
          </a:prstGeom>
          <a:noFill/>
          <a:ln w="38100" cap="flat" cmpd="sng">
            <a:solidFill>
              <a:schemeClr val="hlink"/>
            </a:solidFill>
            <a:prstDash val="solid"/>
            <a:miter lim="800000"/>
            <a:headEnd type="none" w="sm" len="sm"/>
            <a:tailEnd type="oval" w="sm" len="sm"/>
          </a:ln>
        </p:spPr>
      </p:cxnSp>
      <p:sp>
        <p:nvSpPr>
          <p:cNvPr id="1111" name="Google Shape;1111;p87"/>
          <p:cNvSpPr txBox="1"/>
          <p:nvPr/>
        </p:nvSpPr>
        <p:spPr>
          <a:xfrm>
            <a:off x="6858000" y="4419600"/>
            <a:ext cx="911225"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isPrime</a:t>
            </a:r>
            <a:endParaRPr/>
          </a:p>
        </p:txBody>
      </p:sp>
      <p:sp>
        <p:nvSpPr>
          <p:cNvPr id="1112" name="Google Shape;1112;p87"/>
          <p:cNvSpPr txBox="1"/>
          <p:nvPr/>
        </p:nvSpPr>
        <p:spPr>
          <a:xfrm>
            <a:off x="609600" y="2133600"/>
            <a:ext cx="1998662"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addPrimeToCache</a:t>
            </a:r>
            <a:endParaRPr/>
          </a:p>
        </p:txBody>
      </p:sp>
      <p:sp>
        <p:nvSpPr>
          <p:cNvPr id="1113" name="Google Shape;1113;p87"/>
          <p:cNvSpPr/>
          <p:nvPr/>
        </p:nvSpPr>
        <p:spPr>
          <a:xfrm>
            <a:off x="7086600" y="3124200"/>
            <a:ext cx="1066800" cy="609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main</a:t>
            </a:r>
            <a:endParaRPr/>
          </a:p>
        </p:txBody>
      </p:sp>
      <p:sp>
        <p:nvSpPr>
          <p:cNvPr id="1114" name="Google Shape;1114;p87"/>
          <p:cNvSpPr/>
          <p:nvPr/>
        </p:nvSpPr>
        <p:spPr>
          <a:xfrm>
            <a:off x="3124200" y="3962400"/>
            <a:ext cx="1066800" cy="609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run</a:t>
            </a:r>
            <a:endParaRPr/>
          </a:p>
        </p:txBody>
      </p:sp>
      <p:sp>
        <p:nvSpPr>
          <p:cNvPr id="1115" name="Google Shape;1115;p87"/>
          <p:cNvSpPr/>
          <p:nvPr/>
        </p:nvSpPr>
        <p:spPr>
          <a:xfrm>
            <a:off x="3429000" y="2819400"/>
            <a:ext cx="9906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primes</a:t>
            </a:r>
            <a:endParaRPr/>
          </a:p>
        </p:txBody>
      </p:sp>
      <p:sp>
        <p:nvSpPr>
          <p:cNvPr id="1116" name="Google Shape;1116;p87"/>
          <p:cNvSpPr/>
          <p:nvPr/>
        </p:nvSpPr>
        <p:spPr>
          <a:xfrm>
            <a:off x="4800600" y="2819400"/>
            <a:ext cx="10668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maxPrime</a:t>
            </a:r>
            <a:endParaRPr/>
          </a:p>
        </p:txBody>
      </p:sp>
    </p:spTree>
  </p:cSld>
  <p:clrMapOvr>
    <a:masterClrMapping/>
  </p:clrMapOvr>
  <p:transition spd="slow">
    <p:fade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88"/>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endParaRPr sz="1200" b="0" i="0" u="none">
              <a:solidFill>
                <a:srgbClr val="898989"/>
              </a:solidFill>
              <a:latin typeface="Calibri"/>
              <a:ea typeface="Calibri"/>
              <a:cs typeface="Calibri"/>
              <a:sym typeface="Calibri"/>
            </a:endParaRPr>
          </a:p>
          <a:p>
            <a:pPr marL="0" marR="0" lvl="0" indent="0" algn="l" rtl="0">
              <a:lnSpc>
                <a:spcPct val="100000"/>
              </a:lnSpc>
              <a:spcBef>
                <a:spcPts val="0"/>
              </a:spcBef>
              <a:spcAft>
                <a:spcPts val="0"/>
              </a:spcAft>
              <a:buClr>
                <a:srgbClr val="898989"/>
              </a:buClr>
              <a:buFont typeface="Calibri"/>
              <a:buNone/>
            </a:pPr>
            <a:r>
              <a:rPr lang="en-US" sz="1200" b="0" i="0" u="none">
                <a:solidFill>
                  <a:srgbClr val="898989"/>
                </a:solidFill>
                <a:latin typeface="Calibri"/>
                <a:ea typeface="Calibri"/>
                <a:cs typeface="Calibri"/>
                <a:sym typeface="Calibri"/>
              </a:rPr>
              <a:t>Copyright © 2002, DeLorme</a:t>
            </a:r>
            <a:endParaRPr/>
          </a:p>
        </p:txBody>
      </p:sp>
      <p:sp>
        <p:nvSpPr>
          <p:cNvPr id="1122" name="Google Shape;1122;p88"/>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Inside Monitors</a:t>
            </a:r>
            <a:endParaRPr/>
          </a:p>
        </p:txBody>
      </p:sp>
      <p:sp>
        <p:nvSpPr>
          <p:cNvPr id="1123" name="Google Shape;1123;p88"/>
          <p:cNvSpPr/>
          <p:nvPr/>
        </p:nvSpPr>
        <p:spPr>
          <a:xfrm>
            <a:off x="2590800" y="2133600"/>
            <a:ext cx="4114800" cy="26670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1">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PrimeCache</a:t>
            </a:r>
            <a:endParaRPr/>
          </a:p>
        </p:txBody>
      </p:sp>
      <p:sp>
        <p:nvSpPr>
          <p:cNvPr id="1124" name="Google Shape;1124;p88"/>
          <p:cNvSpPr txBox="1"/>
          <p:nvPr/>
        </p:nvSpPr>
        <p:spPr>
          <a:xfrm>
            <a:off x="6858000" y="4419600"/>
            <a:ext cx="911225"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isPrime</a:t>
            </a:r>
            <a:endParaRPr/>
          </a:p>
        </p:txBody>
      </p:sp>
      <p:sp>
        <p:nvSpPr>
          <p:cNvPr id="1125" name="Google Shape;1125;p88"/>
          <p:cNvSpPr txBox="1"/>
          <p:nvPr/>
        </p:nvSpPr>
        <p:spPr>
          <a:xfrm>
            <a:off x="609600" y="2133600"/>
            <a:ext cx="1998662"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addPrimeToCache</a:t>
            </a:r>
            <a:endParaRPr/>
          </a:p>
        </p:txBody>
      </p:sp>
      <p:sp>
        <p:nvSpPr>
          <p:cNvPr id="1126" name="Google Shape;1126;p88"/>
          <p:cNvSpPr/>
          <p:nvPr/>
        </p:nvSpPr>
        <p:spPr>
          <a:xfrm>
            <a:off x="7086600" y="3124200"/>
            <a:ext cx="1066800" cy="609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main</a:t>
            </a:r>
            <a:endParaRPr/>
          </a:p>
        </p:txBody>
      </p:sp>
      <p:sp>
        <p:nvSpPr>
          <p:cNvPr id="1127" name="Google Shape;1127;p88"/>
          <p:cNvSpPr/>
          <p:nvPr/>
        </p:nvSpPr>
        <p:spPr>
          <a:xfrm>
            <a:off x="3429000" y="2819400"/>
            <a:ext cx="9906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primes</a:t>
            </a:r>
            <a:endParaRPr/>
          </a:p>
        </p:txBody>
      </p:sp>
      <p:sp>
        <p:nvSpPr>
          <p:cNvPr id="1128" name="Google Shape;1128;p88"/>
          <p:cNvSpPr/>
          <p:nvPr/>
        </p:nvSpPr>
        <p:spPr>
          <a:xfrm>
            <a:off x="4800600" y="2819400"/>
            <a:ext cx="10668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maxPrime</a:t>
            </a:r>
            <a:endParaRPr/>
          </a:p>
        </p:txBody>
      </p:sp>
      <p:cxnSp>
        <p:nvCxnSpPr>
          <p:cNvPr id="1129" name="Google Shape;1129;p88"/>
          <p:cNvCxnSpPr/>
          <p:nvPr/>
        </p:nvCxnSpPr>
        <p:spPr>
          <a:xfrm rot="10800000">
            <a:off x="6705600" y="4191000"/>
            <a:ext cx="1447800" cy="0"/>
          </a:xfrm>
          <a:prstGeom prst="straightConnector1">
            <a:avLst/>
          </a:prstGeom>
          <a:noFill/>
          <a:ln w="38100" cap="flat" cmpd="sng">
            <a:solidFill>
              <a:schemeClr val="hlink"/>
            </a:solidFill>
            <a:prstDash val="solid"/>
            <a:miter lim="800000"/>
            <a:headEnd type="none" w="sm" len="sm"/>
            <a:tailEnd type="oval" w="sm" len="sm"/>
          </a:ln>
        </p:spPr>
      </p:cxnSp>
      <p:cxnSp>
        <p:nvCxnSpPr>
          <p:cNvPr id="1130" name="Google Shape;1130;p88"/>
          <p:cNvCxnSpPr/>
          <p:nvPr/>
        </p:nvCxnSpPr>
        <p:spPr>
          <a:xfrm rot="10800000">
            <a:off x="1143000" y="2590800"/>
            <a:ext cx="1447800" cy="0"/>
          </a:xfrm>
          <a:prstGeom prst="straightConnector1">
            <a:avLst/>
          </a:prstGeom>
          <a:noFill/>
          <a:ln w="38100" cap="flat" cmpd="sng">
            <a:solidFill>
              <a:schemeClr val="hlink"/>
            </a:solidFill>
            <a:prstDash val="solid"/>
            <a:miter lim="800000"/>
            <a:headEnd type="oval" w="sm" len="sm"/>
            <a:tailEnd type="none" w="sm" len="sm"/>
          </a:ln>
        </p:spPr>
      </p:cxnSp>
    </p:spTree>
  </p:cSld>
  <p:clrMapOvr>
    <a:masterClrMapping/>
  </p:clrMapOvr>
  <p:transition spd="slow">
    <p:fade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89"/>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endParaRPr sz="1200" b="0" i="0" u="none">
              <a:solidFill>
                <a:srgbClr val="898989"/>
              </a:solidFill>
              <a:latin typeface="Calibri"/>
              <a:ea typeface="Calibri"/>
              <a:cs typeface="Calibri"/>
              <a:sym typeface="Calibri"/>
            </a:endParaRPr>
          </a:p>
          <a:p>
            <a:pPr marL="0" marR="0" lvl="0" indent="0" algn="l" rtl="0">
              <a:lnSpc>
                <a:spcPct val="100000"/>
              </a:lnSpc>
              <a:spcBef>
                <a:spcPts val="0"/>
              </a:spcBef>
              <a:spcAft>
                <a:spcPts val="0"/>
              </a:spcAft>
              <a:buClr>
                <a:srgbClr val="898989"/>
              </a:buClr>
              <a:buFont typeface="Calibri"/>
              <a:buNone/>
            </a:pPr>
            <a:r>
              <a:rPr lang="en-US" sz="1200" b="0" i="0" u="none">
                <a:solidFill>
                  <a:srgbClr val="898989"/>
                </a:solidFill>
                <a:latin typeface="Calibri"/>
                <a:ea typeface="Calibri"/>
                <a:cs typeface="Calibri"/>
                <a:sym typeface="Calibri"/>
              </a:rPr>
              <a:t>Copyright © 2002, DeLorme</a:t>
            </a:r>
            <a:endParaRPr/>
          </a:p>
        </p:txBody>
      </p:sp>
      <p:sp>
        <p:nvSpPr>
          <p:cNvPr id="1136" name="Google Shape;1136;p8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Inside Monitors</a:t>
            </a:r>
            <a:endParaRPr/>
          </a:p>
        </p:txBody>
      </p:sp>
      <p:sp>
        <p:nvSpPr>
          <p:cNvPr id="1137" name="Google Shape;1137;p89"/>
          <p:cNvSpPr/>
          <p:nvPr/>
        </p:nvSpPr>
        <p:spPr>
          <a:xfrm>
            <a:off x="2590800" y="2133600"/>
            <a:ext cx="4114800" cy="26670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1">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PrimeCache</a:t>
            </a:r>
            <a:endParaRPr/>
          </a:p>
        </p:txBody>
      </p:sp>
      <p:cxnSp>
        <p:nvCxnSpPr>
          <p:cNvPr id="1138" name="Google Shape;1138;p89"/>
          <p:cNvCxnSpPr/>
          <p:nvPr/>
        </p:nvCxnSpPr>
        <p:spPr>
          <a:xfrm>
            <a:off x="2590800" y="2590800"/>
            <a:ext cx="0" cy="1524000"/>
          </a:xfrm>
          <a:prstGeom prst="straightConnector1">
            <a:avLst/>
          </a:prstGeom>
          <a:noFill/>
          <a:ln w="38100" cap="flat" cmpd="sng">
            <a:solidFill>
              <a:schemeClr val="hlink"/>
            </a:solidFill>
            <a:prstDash val="solid"/>
            <a:miter lim="800000"/>
            <a:headEnd type="oval" w="sm" len="sm"/>
            <a:tailEnd type="none" w="sm" len="sm"/>
          </a:ln>
        </p:spPr>
      </p:cxnSp>
      <p:cxnSp>
        <p:nvCxnSpPr>
          <p:cNvPr id="1139" name="Google Shape;1139;p89"/>
          <p:cNvCxnSpPr/>
          <p:nvPr/>
        </p:nvCxnSpPr>
        <p:spPr>
          <a:xfrm>
            <a:off x="6705600" y="2590800"/>
            <a:ext cx="0" cy="1600200"/>
          </a:xfrm>
          <a:prstGeom prst="straightConnector1">
            <a:avLst/>
          </a:prstGeom>
          <a:noFill/>
          <a:ln w="38100" cap="flat" cmpd="sng">
            <a:solidFill>
              <a:schemeClr val="hlink"/>
            </a:solidFill>
            <a:prstDash val="solid"/>
            <a:miter lim="800000"/>
            <a:headEnd type="none" w="sm" len="sm"/>
            <a:tailEnd type="oval" w="sm" len="sm"/>
          </a:ln>
        </p:spPr>
      </p:cxnSp>
      <p:sp>
        <p:nvSpPr>
          <p:cNvPr id="1140" name="Google Shape;1140;p89"/>
          <p:cNvSpPr txBox="1"/>
          <p:nvPr/>
        </p:nvSpPr>
        <p:spPr>
          <a:xfrm>
            <a:off x="6858000" y="4419600"/>
            <a:ext cx="911225"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isPrime</a:t>
            </a:r>
            <a:endParaRPr/>
          </a:p>
        </p:txBody>
      </p:sp>
      <p:sp>
        <p:nvSpPr>
          <p:cNvPr id="1141" name="Google Shape;1141;p89"/>
          <p:cNvSpPr txBox="1"/>
          <p:nvPr/>
        </p:nvSpPr>
        <p:spPr>
          <a:xfrm>
            <a:off x="609600" y="2133600"/>
            <a:ext cx="1998662"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addPrimeToCache</a:t>
            </a:r>
            <a:endParaRPr/>
          </a:p>
        </p:txBody>
      </p:sp>
      <p:sp>
        <p:nvSpPr>
          <p:cNvPr id="1142" name="Google Shape;1142;p89"/>
          <p:cNvSpPr/>
          <p:nvPr/>
        </p:nvSpPr>
        <p:spPr>
          <a:xfrm>
            <a:off x="5029200" y="4038600"/>
            <a:ext cx="1066800" cy="609600"/>
          </a:xfrm>
          <a:prstGeom prst="ellipse">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main</a:t>
            </a:r>
            <a:endParaRPr/>
          </a:p>
        </p:txBody>
      </p:sp>
      <p:sp>
        <p:nvSpPr>
          <p:cNvPr id="1143" name="Google Shape;1143;p89"/>
          <p:cNvSpPr/>
          <p:nvPr/>
        </p:nvSpPr>
        <p:spPr>
          <a:xfrm>
            <a:off x="3429000" y="2819400"/>
            <a:ext cx="9906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primes</a:t>
            </a:r>
            <a:endParaRPr/>
          </a:p>
        </p:txBody>
      </p:sp>
      <p:sp>
        <p:nvSpPr>
          <p:cNvPr id="1144" name="Google Shape;1144;p89"/>
          <p:cNvSpPr/>
          <p:nvPr/>
        </p:nvSpPr>
        <p:spPr>
          <a:xfrm>
            <a:off x="4800600" y="2819400"/>
            <a:ext cx="10668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maxPrime</a:t>
            </a:r>
            <a:endParaRPr/>
          </a:p>
        </p:txBody>
      </p:sp>
    </p:spTree>
  </p:cSld>
  <p:clrMapOvr>
    <a:masterClrMapping/>
  </p:clrMapOvr>
  <p:transition spd="slow">
    <p:fade thruBlk="1"/>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90"/>
          <p:cNvSpPr txBox="1"/>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endParaRPr sz="1200" b="0" i="0" u="none">
              <a:solidFill>
                <a:srgbClr val="898989"/>
              </a:solidFill>
              <a:latin typeface="Calibri"/>
              <a:ea typeface="Calibri"/>
              <a:cs typeface="Calibri"/>
              <a:sym typeface="Calibri"/>
            </a:endParaRPr>
          </a:p>
          <a:p>
            <a:pPr marL="0" marR="0" lvl="0" indent="0" algn="l" rtl="0">
              <a:lnSpc>
                <a:spcPct val="100000"/>
              </a:lnSpc>
              <a:spcBef>
                <a:spcPts val="0"/>
              </a:spcBef>
              <a:spcAft>
                <a:spcPts val="0"/>
              </a:spcAft>
              <a:buClr>
                <a:srgbClr val="898989"/>
              </a:buClr>
              <a:buFont typeface="Calibri"/>
              <a:buNone/>
            </a:pPr>
            <a:r>
              <a:rPr lang="en-US" sz="1200" b="0" i="0" u="none">
                <a:solidFill>
                  <a:srgbClr val="898989"/>
                </a:solidFill>
                <a:latin typeface="Calibri"/>
                <a:ea typeface="Calibri"/>
                <a:cs typeface="Calibri"/>
                <a:sym typeface="Calibri"/>
              </a:rPr>
              <a:t>Copyright © 2002, DeLorme</a:t>
            </a:r>
            <a:endParaRPr/>
          </a:p>
        </p:txBody>
      </p:sp>
      <p:sp>
        <p:nvSpPr>
          <p:cNvPr id="1150" name="Google Shape;1150;p9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Font typeface="Calibri"/>
              <a:buNone/>
            </a:pPr>
            <a:r>
              <a:rPr lang="en-US" sz="4400" b="0" i="0" u="none" strike="noStrike" cap="none">
                <a:solidFill>
                  <a:schemeClr val="dk1"/>
                </a:solidFill>
                <a:latin typeface="Calibri"/>
                <a:ea typeface="Calibri"/>
                <a:cs typeface="Calibri"/>
                <a:sym typeface="Calibri"/>
              </a:rPr>
              <a:t>Inside Monitors</a:t>
            </a:r>
            <a:endParaRPr/>
          </a:p>
        </p:txBody>
      </p:sp>
      <p:sp>
        <p:nvSpPr>
          <p:cNvPr id="1151" name="Google Shape;1151;p90"/>
          <p:cNvSpPr/>
          <p:nvPr/>
        </p:nvSpPr>
        <p:spPr>
          <a:xfrm>
            <a:off x="2590800" y="2133600"/>
            <a:ext cx="4114800" cy="2667000"/>
          </a:xfrm>
          <a:prstGeom prst="roundRect">
            <a:avLst>
              <a:gd name="adj" fmla="val 16667"/>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1">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PrimeCache</a:t>
            </a:r>
            <a:endParaRPr/>
          </a:p>
        </p:txBody>
      </p:sp>
      <p:sp>
        <p:nvSpPr>
          <p:cNvPr id="1152" name="Google Shape;1152;p90"/>
          <p:cNvSpPr txBox="1"/>
          <p:nvPr/>
        </p:nvSpPr>
        <p:spPr>
          <a:xfrm>
            <a:off x="6858000" y="4419600"/>
            <a:ext cx="911225"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isPrime</a:t>
            </a:r>
            <a:endParaRPr/>
          </a:p>
        </p:txBody>
      </p:sp>
      <p:sp>
        <p:nvSpPr>
          <p:cNvPr id="1153" name="Google Shape;1153;p90"/>
          <p:cNvSpPr txBox="1"/>
          <p:nvPr/>
        </p:nvSpPr>
        <p:spPr>
          <a:xfrm>
            <a:off x="609600" y="2133600"/>
            <a:ext cx="1998662" cy="36671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addPrimeToCache</a:t>
            </a:r>
            <a:endParaRPr/>
          </a:p>
        </p:txBody>
      </p:sp>
      <p:sp>
        <p:nvSpPr>
          <p:cNvPr id="1154" name="Google Shape;1154;p90"/>
          <p:cNvSpPr/>
          <p:nvPr/>
        </p:nvSpPr>
        <p:spPr>
          <a:xfrm>
            <a:off x="3429000" y="2819400"/>
            <a:ext cx="9906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primes</a:t>
            </a:r>
            <a:endParaRPr/>
          </a:p>
        </p:txBody>
      </p:sp>
      <p:sp>
        <p:nvSpPr>
          <p:cNvPr id="1155" name="Google Shape;1155;p90"/>
          <p:cNvSpPr/>
          <p:nvPr/>
        </p:nvSpPr>
        <p:spPr>
          <a:xfrm>
            <a:off x="4800600" y="2819400"/>
            <a:ext cx="1066800" cy="990600"/>
          </a:xfrm>
          <a:prstGeom prst="can">
            <a:avLst>
              <a:gd name="adj"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Arial"/>
              <a:buNone/>
            </a:pPr>
            <a:r>
              <a:rPr lang="en-US" sz="1800" b="0" i="0" u="none">
                <a:solidFill>
                  <a:schemeClr val="dk1"/>
                </a:solidFill>
                <a:latin typeface="Arial"/>
                <a:ea typeface="Arial"/>
                <a:cs typeface="Arial"/>
                <a:sym typeface="Arial"/>
              </a:rPr>
              <a:t>maxPrime</a:t>
            </a:r>
            <a:endParaRPr/>
          </a:p>
        </p:txBody>
      </p:sp>
      <p:cxnSp>
        <p:nvCxnSpPr>
          <p:cNvPr id="1156" name="Google Shape;1156;p90"/>
          <p:cNvCxnSpPr/>
          <p:nvPr/>
        </p:nvCxnSpPr>
        <p:spPr>
          <a:xfrm rot="10800000">
            <a:off x="6705600" y="4191000"/>
            <a:ext cx="1447800" cy="0"/>
          </a:xfrm>
          <a:prstGeom prst="straightConnector1">
            <a:avLst/>
          </a:prstGeom>
          <a:noFill/>
          <a:ln w="38100" cap="flat" cmpd="sng">
            <a:solidFill>
              <a:schemeClr val="hlink"/>
            </a:solidFill>
            <a:prstDash val="solid"/>
            <a:miter lim="800000"/>
            <a:headEnd type="none" w="sm" len="sm"/>
            <a:tailEnd type="oval" w="sm" len="sm"/>
          </a:ln>
        </p:spPr>
      </p:cxnSp>
      <p:cxnSp>
        <p:nvCxnSpPr>
          <p:cNvPr id="1157" name="Google Shape;1157;p90"/>
          <p:cNvCxnSpPr/>
          <p:nvPr/>
        </p:nvCxnSpPr>
        <p:spPr>
          <a:xfrm rot="10800000">
            <a:off x="1143000" y="2590800"/>
            <a:ext cx="1447800" cy="0"/>
          </a:xfrm>
          <a:prstGeom prst="straightConnector1">
            <a:avLst/>
          </a:prstGeom>
          <a:noFill/>
          <a:ln w="38100" cap="flat" cmpd="sng">
            <a:solidFill>
              <a:schemeClr val="hlink"/>
            </a:solidFill>
            <a:prstDash val="solid"/>
            <a:miter lim="800000"/>
            <a:headEnd type="oval" w="sm" len="sm"/>
            <a:tailEnd type="none" w="sm" len="sm"/>
          </a:ln>
        </p:spPr>
      </p:cxnSp>
    </p:spTree>
  </p:cSld>
  <p:clrMapOvr>
    <a:masterClrMapping/>
  </p:clrMapOvr>
  <p:transition spd="slow">
    <p:fade thruBlk="1"/>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91"/>
          <p:cNvSpPr txBox="1"/>
          <p:nvPr/>
        </p:nvSpPr>
        <p:spPr>
          <a:xfrm>
            <a:off x="228600" y="2667000"/>
            <a:ext cx="8077200" cy="3657600"/>
          </a:xfrm>
          <a:prstGeom prst="rect">
            <a:avLst/>
          </a:prstGeom>
          <a:noFill/>
          <a:ln>
            <a:noFill/>
          </a:ln>
        </p:spPr>
        <p:txBody>
          <a:bodyPr spcFirstLastPara="1" wrap="square" lIns="91425" tIns="45700" rIns="91425" bIns="45700" anchor="t" anchorCtr="0">
            <a:noAutofit/>
          </a:bodyPr>
          <a:lstStyle/>
          <a:p>
            <a:pPr marL="914400" marR="0" lvl="1" indent="-279400" algn="l" rtl="0">
              <a:lnSpc>
                <a:spcPct val="100000"/>
              </a:lnSpc>
              <a:spcBef>
                <a:spcPts val="0"/>
              </a:spcBef>
              <a:spcAft>
                <a:spcPts val="0"/>
              </a:spcAft>
              <a:buClr>
                <a:schemeClr val="dk1"/>
              </a:buClr>
              <a:buSzPts val="2800"/>
              <a:buFont typeface="Arial"/>
              <a:buNone/>
            </a:pPr>
            <a:endParaRPr sz="2000" b="0" i="0" u="none" strike="noStrike" cap="none" dirty="0">
              <a:solidFill>
                <a:schemeClr val="dk1"/>
              </a:solidFill>
              <a:latin typeface="Calibri"/>
              <a:ea typeface="Calibri"/>
              <a:cs typeface="Calibri"/>
              <a:sym typeface="Calibri"/>
            </a:endParaRPr>
          </a:p>
          <a:p>
            <a:pPr marL="1371600" marR="0" lvl="2" indent="-457200" algn="l" rtl="0">
              <a:lnSpc>
                <a:spcPct val="100000"/>
              </a:lnSpc>
              <a:spcBef>
                <a:spcPts val="400"/>
              </a:spcBef>
              <a:spcAft>
                <a:spcPts val="0"/>
              </a:spcAft>
              <a:buClr>
                <a:schemeClr val="accent1"/>
              </a:buClr>
              <a:buSzPts val="2500"/>
              <a:buFont typeface="Calibri"/>
              <a:buChar char="•"/>
            </a:pPr>
            <a:r>
              <a:rPr lang="en-US" sz="2000" b="0" i="0" u="none" strike="noStrike" cap="none" dirty="0">
                <a:solidFill>
                  <a:schemeClr val="dk1"/>
                </a:solidFill>
                <a:latin typeface="Calibri"/>
                <a:ea typeface="Calibri"/>
                <a:cs typeface="Calibri"/>
                <a:sym typeface="Calibri"/>
              </a:rPr>
              <a:t>The various methods used in </a:t>
            </a:r>
            <a:r>
              <a:rPr lang="en-US" sz="2000" b="0" i="0" u="none" strike="noStrike" cap="none" dirty="0" err="1">
                <a:solidFill>
                  <a:schemeClr val="dk1"/>
                </a:solidFill>
                <a:latin typeface="Calibri"/>
                <a:ea typeface="Calibri"/>
                <a:cs typeface="Calibri"/>
                <a:sym typeface="Calibri"/>
              </a:rPr>
              <a:t>interthread</a:t>
            </a:r>
            <a:r>
              <a:rPr lang="en-US" sz="2000" b="0" i="0" u="none" strike="noStrike" cap="none" dirty="0">
                <a:solidFill>
                  <a:schemeClr val="dk1"/>
                </a:solidFill>
                <a:latin typeface="Calibri"/>
                <a:ea typeface="Calibri"/>
                <a:cs typeface="Calibri"/>
                <a:sym typeface="Calibri"/>
              </a:rPr>
              <a:t> communication are:</a:t>
            </a:r>
            <a:endParaRPr dirty="0"/>
          </a:p>
          <a:p>
            <a:pPr marL="1828800" marR="0" lvl="3" indent="-457200" algn="l" rtl="0">
              <a:lnSpc>
                <a:spcPct val="100000"/>
              </a:lnSpc>
              <a:spcBef>
                <a:spcPts val="400"/>
              </a:spcBef>
              <a:spcAft>
                <a:spcPts val="0"/>
              </a:spcAft>
              <a:buClr>
                <a:schemeClr val="accent1"/>
              </a:buClr>
              <a:buSzPts val="2500"/>
              <a:buFont typeface="Noto Sans Symbols"/>
              <a:buChar char="✓"/>
            </a:pPr>
            <a:r>
              <a:rPr lang="en-US" sz="2000" b="0" i="0" u="none" strike="noStrike" cap="none" dirty="0">
                <a:solidFill>
                  <a:schemeClr val="dk1"/>
                </a:solidFill>
                <a:latin typeface="Calibri"/>
                <a:ea typeface="Calibri"/>
                <a:cs typeface="Calibri"/>
                <a:sym typeface="Calibri"/>
              </a:rPr>
              <a:t>wait()</a:t>
            </a:r>
            <a:endParaRPr dirty="0"/>
          </a:p>
          <a:p>
            <a:pPr marL="1828800" marR="0" lvl="3" indent="-457200" algn="l" rtl="0">
              <a:lnSpc>
                <a:spcPct val="100000"/>
              </a:lnSpc>
              <a:spcBef>
                <a:spcPts val="400"/>
              </a:spcBef>
              <a:spcAft>
                <a:spcPts val="0"/>
              </a:spcAft>
              <a:buClr>
                <a:schemeClr val="accent1"/>
              </a:buClr>
              <a:buSzPts val="2500"/>
              <a:buFont typeface="Noto Sans Symbols"/>
              <a:buChar char="✓"/>
            </a:pPr>
            <a:r>
              <a:rPr lang="en-US" sz="2000" b="0" i="0" u="none" strike="noStrike" cap="none" dirty="0">
                <a:solidFill>
                  <a:schemeClr val="dk1"/>
                </a:solidFill>
                <a:latin typeface="Calibri"/>
                <a:ea typeface="Calibri"/>
                <a:cs typeface="Calibri"/>
                <a:sym typeface="Calibri"/>
              </a:rPr>
              <a:t>notify()</a:t>
            </a:r>
            <a:endParaRPr dirty="0"/>
          </a:p>
          <a:p>
            <a:pPr marL="1828800" marR="0" lvl="3" indent="-457200" algn="l" rtl="0">
              <a:lnSpc>
                <a:spcPct val="100000"/>
              </a:lnSpc>
              <a:spcBef>
                <a:spcPts val="400"/>
              </a:spcBef>
              <a:spcAft>
                <a:spcPts val="0"/>
              </a:spcAft>
              <a:buClr>
                <a:schemeClr val="accent1"/>
              </a:buClr>
              <a:buSzPts val="2500"/>
              <a:buFont typeface="Noto Sans Symbols"/>
              <a:buChar char="✓"/>
            </a:pPr>
            <a:r>
              <a:rPr lang="en-US" sz="2000" b="0" i="0" u="none" strike="noStrike" cap="none" dirty="0" err="1">
                <a:solidFill>
                  <a:schemeClr val="dk1"/>
                </a:solidFill>
                <a:latin typeface="Calibri"/>
                <a:ea typeface="Calibri"/>
                <a:cs typeface="Calibri"/>
                <a:sym typeface="Calibri"/>
              </a:rPr>
              <a:t>notifyAll</a:t>
            </a:r>
            <a:r>
              <a:rPr lang="en-US" sz="2000" b="0" i="0" u="none" strike="noStrike" cap="none" dirty="0">
                <a:solidFill>
                  <a:schemeClr val="dk1"/>
                </a:solidFill>
                <a:latin typeface="Calibri"/>
                <a:ea typeface="Calibri"/>
                <a:cs typeface="Calibri"/>
                <a:sym typeface="Calibri"/>
              </a:rPr>
              <a:t>() </a:t>
            </a:r>
            <a:endParaRPr dirty="0"/>
          </a:p>
          <a:p>
            <a:pPr marL="0" marR="0" lvl="0" indent="0" algn="l" rtl="0">
              <a:lnSpc>
                <a:spcPct val="100000"/>
              </a:lnSpc>
              <a:spcBef>
                <a:spcPts val="0"/>
              </a:spcBef>
              <a:spcAft>
                <a:spcPts val="0"/>
              </a:spcAft>
              <a:buNone/>
            </a:pPr>
            <a:endParaRPr sz="2000" b="0" i="0" u="none" strike="noStrike" cap="none" dirty="0">
              <a:solidFill>
                <a:schemeClr val="dk1"/>
              </a:solidFill>
              <a:latin typeface="Calibri"/>
              <a:ea typeface="Calibri"/>
              <a:cs typeface="Calibri"/>
              <a:sym typeface="Calibri"/>
            </a:endParaRPr>
          </a:p>
        </p:txBody>
      </p:sp>
      <p:sp>
        <p:nvSpPr>
          <p:cNvPr id="1164" name="Google Shape;1164;p91"/>
          <p:cNvSpPr txBox="1"/>
          <p:nvPr/>
        </p:nvSpPr>
        <p:spPr>
          <a:xfrm>
            <a:off x="0" y="381000"/>
            <a:ext cx="9144000" cy="498475"/>
          </a:xfrm>
          <a:prstGeom prst="rect">
            <a:avLst/>
          </a:prstGeom>
          <a:gradFill>
            <a:gsLst>
              <a:gs pos="0">
                <a:srgbClr val="4F81BD">
                  <a:alpha val="39607"/>
                </a:srgbClr>
              </a:gs>
              <a:gs pos="50000">
                <a:schemeClr val="lt1"/>
              </a:gs>
              <a:gs pos="100000">
                <a:srgbClr val="4F81BD">
                  <a:alpha val="39607"/>
                </a:srgbClr>
              </a:gs>
            </a:gsLst>
            <a:lin ang="5400000" scaled="0"/>
          </a:gradFill>
          <a:ln>
            <a:noFill/>
          </a:ln>
        </p:spPr>
        <p:txBody>
          <a:bodyPr spcFirstLastPara="1" wrap="square" lIns="92075" tIns="46025" rIns="92075" bIns="46025" anchor="b" anchorCtr="0">
            <a:noAutofit/>
          </a:bodyPr>
          <a:lstStyle/>
          <a:p>
            <a:pPr marL="0" marR="0" lvl="0" indent="0" algn="l" rtl="0">
              <a:lnSpc>
                <a:spcPct val="90000"/>
              </a:lnSpc>
              <a:spcBef>
                <a:spcPts val="0"/>
              </a:spcBef>
              <a:spcAft>
                <a:spcPts val="0"/>
              </a:spcAft>
              <a:buClr>
                <a:schemeClr val="dk2"/>
              </a:buClr>
              <a:buFont typeface="Calibri"/>
              <a:buNone/>
            </a:pPr>
            <a:r>
              <a:rPr lang="en-US" sz="2800" b="0" i="0" u="none">
                <a:solidFill>
                  <a:schemeClr val="dk2"/>
                </a:solidFill>
                <a:latin typeface="Calibri"/>
                <a:ea typeface="Calibri"/>
                <a:cs typeface="Calibri"/>
                <a:sym typeface="Calibri"/>
              </a:rPr>
              <a:t>InterThread Communication</a:t>
            </a:r>
            <a:endParaRPr/>
          </a:p>
        </p:txBody>
      </p:sp>
      <p:sp>
        <p:nvSpPr>
          <p:cNvPr id="1165" name="Google Shape;1165;p91"/>
          <p:cNvSpPr txBox="1"/>
          <p:nvPr/>
        </p:nvSpPr>
        <p:spPr>
          <a:xfrm>
            <a:off x="0" y="1828800"/>
            <a:ext cx="9144000" cy="990600"/>
          </a:xfrm>
          <a:prstGeom prst="rect">
            <a:avLst/>
          </a:prstGeom>
          <a:gradFill>
            <a:gsLst>
              <a:gs pos="0">
                <a:srgbClr val="96AB94"/>
              </a:gs>
              <a:gs pos="16999">
                <a:srgbClr val="D4DEFF"/>
              </a:gs>
              <a:gs pos="47000">
                <a:srgbClr val="D4DEFF"/>
              </a:gs>
              <a:gs pos="100000">
                <a:srgbClr val="8488C4"/>
              </a:gs>
            </a:gsLst>
            <a:lin ang="5400000" scaled="0"/>
          </a:gradFill>
          <a:ln>
            <a:noFill/>
          </a:ln>
          <a:effectLst>
            <a:outerShdw blurRad="63500" dist="17960" dir="2700000">
              <a:srgbClr val="4F5276"/>
            </a:outerShdw>
          </a:effectLst>
        </p:spPr>
        <p:txBody>
          <a:bodyPr spcFirstLastPara="1" wrap="square" lIns="91425" tIns="45700" rIns="91425" bIns="45700" anchor="ctr" anchorCtr="0">
            <a:noAutofit/>
          </a:bodyPr>
          <a:lstStyle/>
          <a:p>
            <a:pPr marL="914400" marR="0" lvl="2" indent="0" algn="l" rtl="0">
              <a:lnSpc>
                <a:spcPct val="100000"/>
              </a:lnSpc>
              <a:spcBef>
                <a:spcPts val="0"/>
              </a:spcBef>
              <a:spcAft>
                <a:spcPts val="0"/>
              </a:spcAft>
              <a:buClr>
                <a:schemeClr val="dk1"/>
              </a:buClr>
              <a:buFont typeface="Calibri"/>
              <a:buNone/>
            </a:pPr>
            <a:r>
              <a:rPr lang="en-US" sz="1800" b="0" i="0" u="none" strike="noStrike" cap="none">
                <a:solidFill>
                  <a:schemeClr val="dk1"/>
                </a:solidFill>
                <a:latin typeface="Calibri"/>
                <a:ea typeface="Calibri"/>
                <a:cs typeface="Calibri"/>
                <a:sym typeface="Calibri"/>
              </a:rPr>
              <a:t>A thread may notify another thread that the task has been completed. This communication between threads is known as interthread communication. </a:t>
            </a:r>
            <a:endParaRPr/>
          </a:p>
        </p:txBody>
      </p:sp>
      <p:sp>
        <p:nvSpPr>
          <p:cNvPr id="1166" name="Google Shape;1166;p91"/>
          <p:cNvSpPr txBox="1"/>
          <p:nvPr/>
        </p:nvSpPr>
        <p:spPr>
          <a:xfrm>
            <a:off x="0" y="1295400"/>
            <a:ext cx="4343400" cy="533400"/>
          </a:xfrm>
          <a:prstGeom prst="rect">
            <a:avLst/>
          </a:prstGeom>
          <a:gradFill>
            <a:gsLst>
              <a:gs pos="0">
                <a:srgbClr val="96AB94"/>
              </a:gs>
              <a:gs pos="16999">
                <a:srgbClr val="D4DEFF"/>
              </a:gs>
              <a:gs pos="47000">
                <a:srgbClr val="D4DEFF"/>
              </a:gs>
              <a:gs pos="100000">
                <a:srgbClr val="8488C4"/>
              </a:gs>
            </a:gsLst>
            <a:lin ang="5400000" scaled="0"/>
          </a:gradFill>
          <a:ln>
            <a:noFill/>
          </a:ln>
          <a:effectLst>
            <a:outerShdw blurRad="63500" dist="17960" dir="2700000">
              <a:srgbClr val="4F5276"/>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Font typeface="Calibri"/>
              <a:buNone/>
            </a:pPr>
            <a:r>
              <a:rPr lang="en-US" sz="2000" b="0" i="0" u="none">
                <a:solidFill>
                  <a:schemeClr val="dk1"/>
                </a:solidFill>
                <a:latin typeface="Calibri"/>
                <a:ea typeface="Calibri"/>
                <a:cs typeface="Calibri"/>
                <a:sym typeface="Calibri"/>
              </a:rPr>
              <a:t>What is Interthread communication?</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66"/>
                                        </p:tgtEl>
                                        <p:attrNameLst>
                                          <p:attrName>style.visibility</p:attrName>
                                        </p:attrNameLst>
                                      </p:cBhvr>
                                      <p:to>
                                        <p:strVal val="visible"/>
                                      </p:to>
                                    </p:set>
                                    <p:animEffect transition="in" filter="fade">
                                      <p:cBhvr>
                                        <p:cTn id="7" dur="500"/>
                                        <p:tgtEl>
                                          <p:spTgt spid="116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165"/>
                                        </p:tgtEl>
                                        <p:attrNameLst>
                                          <p:attrName>style.visibility</p:attrName>
                                        </p:attrNameLst>
                                      </p:cBhvr>
                                      <p:to>
                                        <p:strVal val="visible"/>
                                      </p:to>
                                    </p:set>
                                    <p:animEffect transition="in" filter="fade">
                                      <p:cBhvr>
                                        <p:cTn id="11" dur="500"/>
                                        <p:tgtEl>
                                          <p:spTgt spid="1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5">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resentation5">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6226AAA7F4B542A10FCC523231F55A" ma:contentTypeVersion="3" ma:contentTypeDescription="Create a new document." ma:contentTypeScope="" ma:versionID="784d34875c8804f0120ac89ceb5bfe3c">
  <xsd:schema xmlns:xsd="http://www.w3.org/2001/XMLSchema" xmlns:xs="http://www.w3.org/2001/XMLSchema" xmlns:p="http://schemas.microsoft.com/office/2006/metadata/properties" xmlns:ns2="86d9dd93-5116-43e5-bce8-674d1673b63e" targetNamespace="http://schemas.microsoft.com/office/2006/metadata/properties" ma:root="true" ma:fieldsID="8f9017261e4237658df159888ddd00b3" ns2:_="">
    <xsd:import namespace="86d9dd93-5116-43e5-bce8-674d1673b63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d9dd93-5116-43e5-bce8-674d1673b6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1B07E28-2018-4B92-900B-F8E886EDF612}"/>
</file>

<file path=customXml/itemProps2.xml><?xml version="1.0" encoding="utf-8"?>
<ds:datastoreItem xmlns:ds="http://schemas.openxmlformats.org/officeDocument/2006/customXml" ds:itemID="{E341DA4B-B8A7-442C-8F87-41C22AC2A5EE}"/>
</file>

<file path=customXml/itemProps3.xml><?xml version="1.0" encoding="utf-8"?>
<ds:datastoreItem xmlns:ds="http://schemas.openxmlformats.org/officeDocument/2006/customXml" ds:itemID="{286C6B62-EE22-4749-8A52-891622377B13}"/>
</file>

<file path=docProps/app.xml><?xml version="1.0" encoding="utf-8"?>
<Properties xmlns="http://schemas.openxmlformats.org/officeDocument/2006/extended-properties" xmlns:vt="http://schemas.openxmlformats.org/officeDocument/2006/docPropsVTypes">
  <TotalTime>86</TotalTime>
  <Words>5221</Words>
  <Application>Microsoft Office PowerPoint</Application>
  <PresentationFormat>On-screen Show (4:3)</PresentationFormat>
  <Paragraphs>1003</Paragraphs>
  <Slides>75</Slides>
  <Notes>75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75</vt:i4>
      </vt:variant>
    </vt:vector>
  </HeadingPairs>
  <TitlesOfParts>
    <vt:vector size="82" baseType="lpstr">
      <vt:lpstr>Arial</vt:lpstr>
      <vt:lpstr>Times New Roman</vt:lpstr>
      <vt:lpstr>Noto Sans Symbols</vt:lpstr>
      <vt:lpstr>Calibri</vt:lpstr>
      <vt:lpstr>Verdana</vt:lpstr>
      <vt:lpstr>Presentation5</vt:lpstr>
      <vt:lpstr>1_Presentation5</vt:lpstr>
      <vt:lpstr>PowerPoint Presentation</vt:lpstr>
      <vt:lpstr>Syllabus</vt:lpstr>
      <vt:lpstr>PowerPoint Presentation</vt:lpstr>
      <vt:lpstr>PowerPoint Presentation</vt:lpstr>
      <vt:lpstr>PowerPoint Presentation</vt:lpstr>
      <vt:lpstr>PowerPoint Presentation</vt:lpstr>
      <vt:lpstr>PowerPoint Presentation</vt:lpstr>
      <vt:lpstr>PowerPoint Presentation</vt:lpstr>
      <vt:lpstr>Example on Thread</vt:lpstr>
      <vt:lpstr>Example on Thread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States of thread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Java MultiThreading Example</vt:lpstr>
      <vt:lpstr>PowerPoint Presentation</vt:lpstr>
      <vt:lpstr>Controlling the main thread</vt:lpstr>
      <vt:lpstr>PowerPoint Presentation</vt:lpstr>
      <vt:lpstr>PowerPoint Presentation</vt:lpstr>
      <vt:lpstr>PowerPoint Presentation</vt:lpstr>
      <vt:lpstr>Thread Priority Example</vt:lpstr>
      <vt:lpstr>Why Synchronization?</vt:lpstr>
      <vt:lpstr>What is the Solution?</vt:lpstr>
      <vt:lpstr>PowerPoint Presentation</vt:lpstr>
      <vt:lpstr>PowerPoint Presentation</vt:lpstr>
      <vt:lpstr>Accessing Shared Resources</vt:lpstr>
      <vt:lpstr>Online Bank: Serving Many Customers and Operations</vt:lpstr>
      <vt:lpstr>How To Achieve Synchronization?</vt:lpstr>
      <vt:lpstr>        Synchronization can be achieved at two levels </vt:lpstr>
      <vt:lpstr>        1. Synchronizing A Method</vt:lpstr>
      <vt:lpstr>        1. Synchronizing A Method</vt:lpstr>
      <vt:lpstr>2.  Synchronizing An Object</vt:lpstr>
      <vt:lpstr>2.  Synchronizing An Object</vt:lpstr>
      <vt:lpstr>the driver: 3rd Threads sharing the same object</vt:lpstr>
      <vt:lpstr>Shared account object between 3 threads</vt:lpstr>
      <vt:lpstr>Monitor (shared object access): serializes operation on shared object</vt:lpstr>
      <vt:lpstr>Inside Monitors</vt:lpstr>
      <vt:lpstr>Inside Monitors</vt:lpstr>
      <vt:lpstr>Inside Monitors</vt:lpstr>
      <vt:lpstr>Inside Monitors</vt:lpstr>
      <vt:lpstr>Inside Monitors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Zahirabbas Mulani</cp:lastModifiedBy>
  <cp:revision>6</cp:revision>
  <dcterms:modified xsi:type="dcterms:W3CDTF">2026-08-25T06:02:20Z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0x010100316226AAA7F4B542A10FCC523231F55A</vt:lpwstr>
  </property>
</Properties>
</file>